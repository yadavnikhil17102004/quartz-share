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3" d="100"/>
          <a:sy n="73" d="100"/>
        </p:scale>
        <p:origin x="166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8" name="Group 17"/>
          <p:cNvGrpSpPr/>
          <p:nvPr/>
        </p:nvGrpSpPr>
        <p:grpSpPr>
          <a:xfrm>
            <a:off x="0" y="0"/>
            <a:ext cx="9144677" cy="6858000"/>
            <a:chOff x="0" y="0"/>
            <a:chExt cx="9144677" cy="6858000"/>
          </a:xfrm>
        </p:grpSpPr>
        <p:pic>
          <p:nvPicPr>
            <p:cNvPr id="8" name="Picture 7" descr="S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1" name="Rectangle 10"/>
            <p:cNvSpPr/>
            <p:nvPr/>
          </p:nvSpPr>
          <p:spPr>
            <a:xfrm>
              <a:off x="1515532" y="1520422"/>
              <a:ext cx="6112935" cy="3818468"/>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2" name="Picture 11"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0" y="3128434"/>
              <a:ext cx="1664208" cy="612648"/>
            </a:xfrm>
            <a:prstGeom prst="rect">
              <a:avLst/>
            </a:prstGeom>
          </p:spPr>
        </p:pic>
        <p:pic>
          <p:nvPicPr>
            <p:cNvPr id="13" name="Picture 12"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7480469" y="3128434"/>
              <a:ext cx="1664208" cy="612648"/>
            </a:xfrm>
            <a:prstGeom prst="rect">
              <a:avLst/>
            </a:prstGeom>
          </p:spPr>
        </p:pic>
      </p:grpSp>
      <p:sp>
        <p:nvSpPr>
          <p:cNvPr id="2" name="Title 1"/>
          <p:cNvSpPr>
            <a:spLocks noGrp="1"/>
          </p:cNvSpPr>
          <p:nvPr>
            <p:ph type="ctrTitle"/>
          </p:nvPr>
        </p:nvSpPr>
        <p:spPr>
          <a:xfrm>
            <a:off x="1921934" y="1811863"/>
            <a:ext cx="5308866" cy="1515533"/>
          </a:xfrm>
        </p:spPr>
        <p:txBody>
          <a:bodyPr anchor="b">
            <a:noAutofit/>
          </a:bodyPr>
          <a:lstStyle>
            <a:lvl1pPr algn="ct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1921934" y="3598327"/>
            <a:ext cx="5308866" cy="1377651"/>
          </a:xfrm>
        </p:spPr>
        <p:txBody>
          <a:bodyPr anchor="t">
            <a:normAutofit/>
          </a:bodyPr>
          <a:lstStyle>
            <a:lvl1pPr marL="0" indent="0" algn="ctr">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6065417" y="5054602"/>
            <a:ext cx="673276" cy="279400"/>
          </a:xfrm>
        </p:spPr>
        <p:txBody>
          <a:bodyPr/>
          <a:lstStyle/>
          <a:p>
            <a:fld id="{662CAD2A-3876-4C08-83D4-E46912DDD072}" type="datetimeFigureOut">
              <a:rPr lang="en-US" smtClean="0"/>
              <a:pPr/>
              <a:t>2/25/2026</a:t>
            </a:fld>
            <a:endParaRPr lang="en-US"/>
          </a:p>
        </p:txBody>
      </p:sp>
      <p:sp>
        <p:nvSpPr>
          <p:cNvPr id="5" name="Footer Placeholder 4"/>
          <p:cNvSpPr>
            <a:spLocks noGrp="1"/>
          </p:cNvSpPr>
          <p:nvPr>
            <p:ph type="ftr" sz="quarter" idx="11"/>
          </p:nvPr>
        </p:nvSpPr>
        <p:spPr>
          <a:xfrm>
            <a:off x="1921934" y="5054602"/>
            <a:ext cx="4064860" cy="279400"/>
          </a:xfrm>
        </p:spPr>
        <p:txBody>
          <a:bodyPr/>
          <a:lstStyle/>
          <a:p>
            <a:endParaRPr lang="en-US"/>
          </a:p>
        </p:txBody>
      </p:sp>
      <p:sp>
        <p:nvSpPr>
          <p:cNvPr id="6" name="Slide Number Placeholder 5"/>
          <p:cNvSpPr>
            <a:spLocks noGrp="1"/>
          </p:cNvSpPr>
          <p:nvPr>
            <p:ph type="sldNum" sz="quarter" idx="12"/>
          </p:nvPr>
        </p:nvSpPr>
        <p:spPr>
          <a:xfrm>
            <a:off x="6817317" y="5054602"/>
            <a:ext cx="413483" cy="279400"/>
          </a:xfrm>
        </p:spPr>
        <p:txBody>
          <a:bodyPr/>
          <a:lstStyle/>
          <a:p>
            <a:fld id="{DF73EB27-202E-4166-88A4-FFF5C9490BC8}" type="slidenum">
              <a:rPr lang="en-US" smtClean="0"/>
              <a:pPr/>
              <a:t>‹#›</a:t>
            </a:fld>
            <a:endParaRPr lang="en-US"/>
          </a:p>
        </p:txBody>
      </p:sp>
      <p:cxnSp>
        <p:nvCxnSpPr>
          <p:cNvPr id="15" name="Straight Connector 14"/>
          <p:cNvCxnSpPr/>
          <p:nvPr/>
        </p:nvCxnSpPr>
        <p:spPr>
          <a:xfrm>
            <a:off x="2019825" y="3471329"/>
            <a:ext cx="5113083"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951465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62CAD2A-3876-4C08-83D4-E46912DDD072}" type="datetimeFigureOut">
              <a:rPr lang="en-US" smtClean="0"/>
              <a:pPr/>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73EB27-202E-4166-88A4-FFF5C9490BC8}" type="slidenum">
              <a:rPr lang="en-US" smtClean="0"/>
              <a:pPr/>
              <a:t>‹#›</a:t>
            </a:fld>
            <a:endParaRPr lang="en-US"/>
          </a:p>
        </p:txBody>
      </p:sp>
    </p:spTree>
    <p:extLst>
      <p:ext uri="{BB962C8B-B14F-4D97-AF65-F5344CB8AC3E}">
        <p14:creationId xmlns:p14="http://schemas.microsoft.com/office/powerpoint/2010/main" val="41206977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78465" y="1641413"/>
            <a:ext cx="6595534" cy="1822514"/>
          </a:xfrm>
        </p:spPr>
        <p:txBody>
          <a:bodyPr anchor="b">
            <a:normAutofit/>
          </a:bodyPr>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78465" y="3734859"/>
            <a:ext cx="6595534" cy="1090015"/>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62CAD2A-3876-4C08-83D4-E46912DDD072}" type="datetimeFigureOut">
              <a:rPr lang="en-US" smtClean="0"/>
              <a:pPr/>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73EB27-202E-4166-88A4-FFF5C9490BC8}" type="slidenum">
              <a:rPr lang="en-US" smtClean="0"/>
              <a:pPr/>
              <a:t>‹#›</a:t>
            </a:fld>
            <a:endParaRPr lang="en-US"/>
          </a:p>
        </p:txBody>
      </p:sp>
      <p:cxnSp>
        <p:nvCxnSpPr>
          <p:cNvPr id="31" name="Straight Connector 30"/>
          <p:cNvCxnSpPr/>
          <p:nvPr/>
        </p:nvCxnSpPr>
        <p:spPr>
          <a:xfrm>
            <a:off x="1278466" y="3599392"/>
            <a:ext cx="6595533"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360805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176866" y="915337"/>
            <a:ext cx="6798734" cy="130386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176866" y="2487168"/>
            <a:ext cx="3337560" cy="34472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5152" y="2487168"/>
            <a:ext cx="3337560" cy="34472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62CAD2A-3876-4C08-83D4-E46912DDD072}" type="datetimeFigureOut">
              <a:rPr lang="en-US" smtClean="0"/>
              <a:pPr/>
              <a:t>2/25/2026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F73EB27-202E-4166-88A4-FFF5C9490BC8}" type="slidenum">
              <a:rPr lang="en-US" smtClean="0"/>
              <a:pPr/>
              <a:t>‹#›</a:t>
            </a:fld>
            <a:endParaRPr lang="en-US"/>
          </a:p>
        </p:txBody>
      </p:sp>
    </p:spTree>
    <p:extLst>
      <p:ext uri="{BB962C8B-B14F-4D97-AF65-F5344CB8AC3E}">
        <p14:creationId xmlns:p14="http://schemas.microsoft.com/office/powerpoint/2010/main" val="17284086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76868"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76868" y="3243263"/>
            <a:ext cx="3337560" cy="270662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1832"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1832" y="3243263"/>
            <a:ext cx="3337560" cy="270662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62CAD2A-3876-4C08-83D4-E46912DDD072}" type="datetimeFigureOut">
              <a:rPr lang="en-US" smtClean="0"/>
              <a:pPr/>
              <a:t>2/25/2026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F73EB27-202E-4166-88A4-FFF5C9490BC8}" type="slidenum">
              <a:rPr lang="en-US" smtClean="0"/>
              <a:pPr/>
              <a:t>‹#›</a:t>
            </a:fld>
            <a:endParaRPr lang="en-US"/>
          </a:p>
        </p:txBody>
      </p:sp>
      <p:cxnSp>
        <p:nvCxnSpPr>
          <p:cNvPr id="41" name="Straight Connector 40"/>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866414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176865" y="915337"/>
            <a:ext cx="6798735" cy="1303867"/>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62CAD2A-3876-4C08-83D4-E46912DDD072}" type="datetimeFigureOut">
              <a:rPr lang="en-US" smtClean="0"/>
              <a:pPr/>
              <a:t>2/25/2026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F73EB27-202E-4166-88A4-FFF5C9490BC8}" type="slidenum">
              <a:rPr lang="en-US" smtClean="0"/>
              <a:pPr/>
              <a:t>‹#›</a:t>
            </a:fld>
            <a:endParaRPr lang="en-US"/>
          </a:p>
        </p:txBody>
      </p:sp>
      <p:cxnSp>
        <p:nvCxnSpPr>
          <p:cNvPr id="14" name="Straight Connector 13"/>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960576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62CAD2A-3876-4C08-83D4-E46912DDD072}" type="datetimeFigureOut">
              <a:rPr lang="en-US" smtClean="0"/>
              <a:pPr/>
              <a:t>2/25/2026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F73EB27-202E-4166-88A4-FFF5C9490BC8}" type="slidenum">
              <a:rPr lang="en-US" smtClean="0"/>
              <a:pPr/>
              <a:t>‹#›</a:t>
            </a:fld>
            <a:endParaRPr lang="en-US"/>
          </a:p>
        </p:txBody>
      </p:sp>
    </p:spTree>
    <p:extLst>
      <p:ext uri="{BB962C8B-B14F-4D97-AF65-F5344CB8AC3E}">
        <p14:creationId xmlns:p14="http://schemas.microsoft.com/office/powerpoint/2010/main" val="32175570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5" y="1388534"/>
            <a:ext cx="2536798"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120062" y="982132"/>
            <a:ext cx="3855539"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76865" y="3031065"/>
            <a:ext cx="2536798"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62CAD2A-3876-4C08-83D4-E46912DDD072}" type="datetimeFigureOut">
              <a:rPr lang="en-US" smtClean="0"/>
              <a:pPr/>
              <a:t>2/25/2026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F73EB27-202E-4166-88A4-FFF5C9490BC8}" type="slidenum">
              <a:rPr lang="en-US" smtClean="0"/>
              <a:pPr/>
              <a:t>‹#›</a:t>
            </a:fld>
            <a:endParaRPr lang="en-US"/>
          </a:p>
        </p:txBody>
      </p:sp>
      <p:cxnSp>
        <p:nvCxnSpPr>
          <p:cNvPr id="16" name="Straight Connector 15"/>
          <p:cNvCxnSpPr/>
          <p:nvPr/>
        </p:nvCxnSpPr>
        <p:spPr>
          <a:xfrm>
            <a:off x="1278466" y="2912533"/>
            <a:ext cx="233359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995649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5" y="1883832"/>
            <a:ext cx="3632202" cy="1371600"/>
          </a:xfrm>
        </p:spPr>
        <p:txBody>
          <a:bodyPr anchor="b">
            <a:normAutofit/>
          </a:bodyPr>
          <a:lstStyle>
            <a:lvl1pPr algn="ctr">
              <a:defRPr sz="24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5183069" y="1032933"/>
            <a:ext cx="2929463" cy="4792136"/>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76865" y="3255432"/>
            <a:ext cx="3632201" cy="182880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62CAD2A-3876-4C08-83D4-E46912DDD072}" type="datetimeFigureOut">
              <a:rPr lang="en-US" smtClean="0"/>
              <a:pPr/>
              <a:t>2/25/2026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F73EB27-202E-4166-88A4-FFF5C9490BC8}" type="slidenum">
              <a:rPr lang="en-US" smtClean="0"/>
              <a:pPr/>
              <a:t>‹#›</a:t>
            </a:fld>
            <a:endParaRPr lang="en-US"/>
          </a:p>
        </p:txBody>
      </p:sp>
    </p:spTree>
    <p:extLst>
      <p:ext uri="{BB962C8B-B14F-4D97-AF65-F5344CB8AC3E}">
        <p14:creationId xmlns:p14="http://schemas.microsoft.com/office/powerpoint/2010/main" val="34247027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6" y="4815415"/>
            <a:ext cx="6798734"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26260" y="1032933"/>
            <a:ext cx="7091482" cy="3361269"/>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76866" y="5382153"/>
            <a:ext cx="6798734" cy="493712"/>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62CAD2A-3876-4C08-83D4-E46912DDD072}" type="datetimeFigureOut">
              <a:rPr lang="en-US" smtClean="0"/>
              <a:pPr/>
              <a:t>2/25/2026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F73EB27-202E-4166-88A4-FFF5C9490BC8}" type="slidenum">
              <a:rPr lang="en-US" smtClean="0"/>
              <a:pPr/>
              <a:t>‹#›</a:t>
            </a:fld>
            <a:endParaRPr lang="en-US"/>
          </a:p>
        </p:txBody>
      </p:sp>
    </p:spTree>
    <p:extLst>
      <p:ext uri="{BB962C8B-B14F-4D97-AF65-F5344CB8AC3E}">
        <p14:creationId xmlns:p14="http://schemas.microsoft.com/office/powerpoint/2010/main" val="13597679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6" y="906873"/>
            <a:ext cx="6798734" cy="309786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76865" y="4275666"/>
            <a:ext cx="6798736" cy="1600202"/>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62CAD2A-3876-4C08-83D4-E46912DDD072}" type="datetimeFigureOut">
              <a:rPr lang="en-US" smtClean="0"/>
              <a:pPr/>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73EB27-202E-4166-88A4-FFF5C9490BC8}" type="slidenum">
              <a:rPr lang="en-US" smtClean="0"/>
              <a:pPr/>
              <a:t>‹#›</a:t>
            </a:fld>
            <a:endParaRPr lang="en-US"/>
          </a:p>
        </p:txBody>
      </p:sp>
      <p:cxnSp>
        <p:nvCxnSpPr>
          <p:cNvPr id="15" name="Straight Connector 14"/>
          <p:cNvCxnSpPr/>
          <p:nvPr/>
        </p:nvCxnSpPr>
        <p:spPr>
          <a:xfrm>
            <a:off x="1278465" y="4140199"/>
            <a:ext cx="660642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430831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34333" y="982132"/>
            <a:ext cx="6400250"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00200" y="3352799"/>
            <a:ext cx="5892798" cy="651933"/>
          </a:xfrm>
        </p:spPr>
        <p:txBody>
          <a:bodyPr anchor="ctr">
            <a:normAutofit/>
          </a:bodyPr>
          <a:lstStyle>
            <a:lvl1pPr marL="0" indent="0" algn="r">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76863" y="4343400"/>
            <a:ext cx="6798738"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62CAD2A-3876-4C08-83D4-E46912DDD072}" type="datetimeFigureOut">
              <a:rPr lang="en-US" smtClean="0"/>
              <a:pPr/>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73EB27-202E-4166-88A4-FFF5C9490BC8}" type="slidenum">
              <a:rPr lang="en-US" smtClean="0"/>
              <a:pPr/>
              <a:t>‹#›</a:t>
            </a:fld>
            <a:endParaRPr lang="en-US"/>
          </a:p>
        </p:txBody>
      </p:sp>
      <p:sp>
        <p:nvSpPr>
          <p:cNvPr id="14" name="TextBox 13"/>
          <p:cNvSpPr txBox="1"/>
          <p:nvPr/>
        </p:nvSpPr>
        <p:spPr>
          <a:xfrm>
            <a:off x="849969" y="905362"/>
            <a:ext cx="457319" cy="584776"/>
          </a:xfrm>
          <a:prstGeom prst="rect">
            <a:avLst/>
          </a:prstGeom>
        </p:spPr>
        <p:txBody>
          <a:bodyPr vert="horz" lIns="91440" tIns="45720" rIns="91440" bIns="45720" rtlCol="0" anchor="ctr">
            <a:noAutofit/>
          </a:bodyPr>
          <a:lstStyle/>
          <a:p>
            <a:pPr lvl="0"/>
            <a:r>
              <a:rPr lang="en-US" sz="7200" dirty="0">
                <a:solidFill>
                  <a:schemeClr val="tx1"/>
                </a:solidFill>
                <a:effectLst/>
              </a:rPr>
              <a:t>“</a:t>
            </a:r>
          </a:p>
        </p:txBody>
      </p:sp>
      <p:sp>
        <p:nvSpPr>
          <p:cNvPr id="15" name="TextBox 14"/>
          <p:cNvSpPr txBox="1"/>
          <p:nvPr/>
        </p:nvSpPr>
        <p:spPr>
          <a:xfrm>
            <a:off x="7633503" y="2827870"/>
            <a:ext cx="457319" cy="584776"/>
          </a:xfrm>
          <a:prstGeom prst="rect">
            <a:avLst/>
          </a:prstGeom>
        </p:spPr>
        <p:txBody>
          <a:bodyPr vert="horz" lIns="91440" tIns="45720" rIns="91440" bIns="45720" rtlCol="0" anchor="ctr">
            <a:noAutofit/>
          </a:bodyPr>
          <a:lstStyle/>
          <a:p>
            <a:pPr lvl="0" algn="r"/>
            <a:r>
              <a:rPr lang="en-US" sz="7200" dirty="0">
                <a:solidFill>
                  <a:schemeClr val="tx1"/>
                </a:solidFill>
                <a:effectLst/>
              </a:rPr>
              <a:t>”</a:t>
            </a:r>
          </a:p>
        </p:txBody>
      </p:sp>
      <p:cxnSp>
        <p:nvCxnSpPr>
          <p:cNvPr id="19" name="Straight Connector 18"/>
          <p:cNvCxnSpPr/>
          <p:nvPr/>
        </p:nvCxnSpPr>
        <p:spPr>
          <a:xfrm>
            <a:off x="1278466" y="4140199"/>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587879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76869" y="3308581"/>
            <a:ext cx="679872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76868" y="4777381"/>
            <a:ext cx="6798730" cy="8604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62CAD2A-3876-4C08-83D4-E46912DDD072}" type="datetimeFigureOut">
              <a:rPr lang="en-US" smtClean="0"/>
              <a:pPr/>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73EB27-202E-4166-88A4-FFF5C9490BC8}" type="slidenum">
              <a:rPr lang="en-US" smtClean="0"/>
              <a:pPr/>
              <a:t>‹#›</a:t>
            </a:fld>
            <a:endParaRPr lang="en-US"/>
          </a:p>
        </p:txBody>
      </p:sp>
    </p:spTree>
    <p:extLst>
      <p:ext uri="{BB962C8B-B14F-4D97-AF65-F5344CB8AC3E}">
        <p14:creationId xmlns:p14="http://schemas.microsoft.com/office/powerpoint/2010/main" val="27779588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09416" y="982132"/>
            <a:ext cx="632516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8" name="Text Placeholder 2"/>
          <p:cNvSpPr>
            <a:spLocks noGrp="1"/>
          </p:cNvSpPr>
          <p:nvPr>
            <p:ph type="body" idx="13"/>
          </p:nvPr>
        </p:nvSpPr>
        <p:spPr>
          <a:xfrm>
            <a:off x="1176868" y="3639312"/>
            <a:ext cx="6798730" cy="886968"/>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176865" y="4529667"/>
            <a:ext cx="6798736" cy="13462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62CAD2A-3876-4C08-83D4-E46912DDD072}" type="datetimeFigureOut">
              <a:rPr lang="en-US" smtClean="0"/>
              <a:pPr/>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73EB27-202E-4166-88A4-FFF5C9490BC8}" type="slidenum">
              <a:rPr lang="en-US" smtClean="0"/>
              <a:pPr/>
              <a:t>‹#›</a:t>
            </a:fld>
            <a:endParaRPr lang="en-US"/>
          </a:p>
        </p:txBody>
      </p:sp>
      <p:sp>
        <p:nvSpPr>
          <p:cNvPr id="12" name="TextBox 11"/>
          <p:cNvSpPr txBox="1"/>
          <p:nvPr/>
        </p:nvSpPr>
        <p:spPr>
          <a:xfrm>
            <a:off x="878060" y="896895"/>
            <a:ext cx="457319"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7649796" y="2607728"/>
            <a:ext cx="457319"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278466" y="342900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75486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76865" y="982131"/>
            <a:ext cx="6798734" cy="2294467"/>
          </a:xfrm>
        </p:spPr>
        <p:txBody>
          <a:bodyPr vert="horz" lIns="91440" tIns="45720" rIns="91440" bIns="45720" rtlCol="0" anchor="ctr">
            <a:normAutofit/>
          </a:bodyPr>
          <a:lstStyle>
            <a:lvl1pPr>
              <a:defRPr lang="en-US" sz="3200" b="0" dirty="0"/>
            </a:lvl1pPr>
          </a:lstStyle>
          <a:p>
            <a:pPr marL="0" lvl="0"/>
            <a:r>
              <a:rPr lang="en-US"/>
              <a:t>Click to edit Master title style</a:t>
            </a:r>
            <a:endParaRPr lang="en-US" dirty="0"/>
          </a:p>
        </p:txBody>
      </p:sp>
      <p:sp>
        <p:nvSpPr>
          <p:cNvPr id="14" name="Text Placeholder 2"/>
          <p:cNvSpPr>
            <a:spLocks noGrp="1"/>
          </p:cNvSpPr>
          <p:nvPr>
            <p:ph type="body" idx="13"/>
          </p:nvPr>
        </p:nvSpPr>
        <p:spPr>
          <a:xfrm>
            <a:off x="1176868" y="3566160"/>
            <a:ext cx="6798730" cy="905256"/>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176866" y="4470400"/>
            <a:ext cx="6798734" cy="1405467"/>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62CAD2A-3876-4C08-83D4-E46912DDD072}" type="datetimeFigureOut">
              <a:rPr lang="en-US" smtClean="0"/>
              <a:pPr/>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73EB27-202E-4166-88A4-FFF5C9490BC8}" type="slidenum">
              <a:rPr lang="en-US" smtClean="0"/>
              <a:pPr/>
              <a:t>‹#›</a:t>
            </a:fld>
            <a:endParaRPr lang="en-US"/>
          </a:p>
        </p:txBody>
      </p:sp>
      <p:cxnSp>
        <p:nvCxnSpPr>
          <p:cNvPr id="15" name="Straight Connector 14"/>
          <p:cNvCxnSpPr/>
          <p:nvPr/>
        </p:nvCxnSpPr>
        <p:spPr>
          <a:xfrm>
            <a:off x="1278469" y="3429000"/>
            <a:ext cx="6606421"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4311968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176865" y="2490135"/>
            <a:ext cx="6798736" cy="338573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62CAD2A-3876-4C08-83D4-E46912DDD072}" type="datetimeFigureOut">
              <a:rPr lang="en-US" smtClean="0"/>
              <a:pPr/>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73EB27-202E-4166-88A4-FFF5C9490BC8}" type="slidenum">
              <a:rPr lang="en-US" smtClean="0"/>
              <a:pPr/>
              <a:t>‹#›</a:t>
            </a:fld>
            <a:endParaRPr lang="en-US"/>
          </a:p>
        </p:txBody>
      </p:sp>
      <p:cxnSp>
        <p:nvCxnSpPr>
          <p:cNvPr id="14" name="Straight Connector 13"/>
          <p:cNvCxnSpPr/>
          <p:nvPr/>
        </p:nvCxnSpPr>
        <p:spPr>
          <a:xfrm>
            <a:off x="1278466" y="2354670"/>
            <a:ext cx="660642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100027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56667" y="906873"/>
            <a:ext cx="1618930" cy="496899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76867" y="906873"/>
            <a:ext cx="4915509" cy="496899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62CAD2A-3876-4C08-83D4-E46912DDD072}" type="datetimeFigureOut">
              <a:rPr lang="en-US" smtClean="0"/>
              <a:pPr/>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73EB27-202E-4166-88A4-FFF5C9490BC8}" type="slidenum">
              <a:rPr lang="en-US" smtClean="0"/>
              <a:pPr/>
              <a:t>‹#›</a:t>
            </a:fld>
            <a:endParaRPr lang="en-US"/>
          </a:p>
        </p:txBody>
      </p:sp>
      <p:cxnSp>
        <p:nvCxnSpPr>
          <p:cNvPr id="14" name="Straight Connector 13"/>
          <p:cNvCxnSpPr/>
          <p:nvPr/>
        </p:nvCxnSpPr>
        <p:spPr>
          <a:xfrm>
            <a:off x="6245512" y="906873"/>
            <a:ext cx="0" cy="4968993"/>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427850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0" y="0"/>
            <a:ext cx="9152467" cy="6858000"/>
            <a:chOff x="0" y="0"/>
            <a:chExt cx="9152467" cy="6858000"/>
          </a:xfrm>
        </p:grpSpPr>
        <p:pic>
          <p:nvPicPr>
            <p:cNvPr id="8" name="Picture 7" descr="S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9" name="Rectangle 8"/>
            <p:cNvSpPr/>
            <p:nvPr/>
          </p:nvSpPr>
          <p:spPr>
            <a:xfrm>
              <a:off x="553888" y="542807"/>
              <a:ext cx="8039776" cy="5756392"/>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0" y="3128434"/>
              <a:ext cx="68580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8466667" y="3128434"/>
              <a:ext cx="685800" cy="606425"/>
            </a:xfrm>
            <a:prstGeom prst="rect">
              <a:avLst/>
            </a:prstGeom>
          </p:spPr>
        </p:pic>
      </p:grpSp>
      <p:sp>
        <p:nvSpPr>
          <p:cNvPr id="2" name="Title Placeholder 1"/>
          <p:cNvSpPr>
            <a:spLocks noGrp="1"/>
          </p:cNvSpPr>
          <p:nvPr>
            <p:ph type="title"/>
          </p:nvPr>
        </p:nvSpPr>
        <p:spPr>
          <a:xfrm>
            <a:off x="1176866" y="915337"/>
            <a:ext cx="6798734"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76865" y="2490135"/>
            <a:ext cx="6798736" cy="3444997"/>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356670" y="5960533"/>
            <a:ext cx="1148283"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62CAD2A-3876-4C08-83D4-E46912DDD072}" type="datetimeFigureOut">
              <a:rPr lang="en-US" smtClean="0"/>
              <a:pPr/>
              <a:t>2/25/2026</a:t>
            </a:fld>
            <a:endParaRPr lang="en-US"/>
          </a:p>
        </p:txBody>
      </p:sp>
      <p:sp>
        <p:nvSpPr>
          <p:cNvPr id="5" name="Footer Placeholder 4"/>
          <p:cNvSpPr>
            <a:spLocks noGrp="1"/>
          </p:cNvSpPr>
          <p:nvPr>
            <p:ph type="ftr" sz="quarter" idx="3"/>
          </p:nvPr>
        </p:nvSpPr>
        <p:spPr>
          <a:xfrm>
            <a:off x="1176865" y="5960533"/>
            <a:ext cx="5104667"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7580091" y="5960533"/>
            <a:ext cx="39551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F73EB27-202E-4166-88A4-FFF5C9490BC8}" type="slidenum">
              <a:rPr lang="en-US" smtClean="0"/>
              <a:pPr/>
              <a:t>‹#›</a:t>
            </a:fld>
            <a:endParaRPr lang="en-US"/>
          </a:p>
        </p:txBody>
      </p:sp>
    </p:spTree>
    <p:extLst>
      <p:ext uri="{BB962C8B-B14F-4D97-AF65-F5344CB8AC3E}">
        <p14:creationId xmlns:p14="http://schemas.microsoft.com/office/powerpoint/2010/main" val="163593182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Lst>
  <p:txStyles>
    <p:titleStyle>
      <a:lvl1pPr algn="ctr" defTabSz="457200" rtl="0" eaLnBrk="1" latinLnBrk="0" hangingPunct="1">
        <a:spcBef>
          <a:spcPct val="0"/>
        </a:spcBef>
        <a:buNone/>
        <a:defRPr sz="40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sz="6000" dirty="0">
                <a:latin typeface="Algerian" pitchFamily="82" charset="0"/>
              </a:rPr>
              <a:t>Cloud Forensics</a:t>
            </a:r>
          </a:p>
        </p:txBody>
      </p:sp>
      <p:sp>
        <p:nvSpPr>
          <p:cNvPr id="3" name="Subtitle 2"/>
          <p:cNvSpPr>
            <a:spLocks noGrp="1"/>
          </p:cNvSpPr>
          <p:nvPr>
            <p:ph type="subTitle" idx="1"/>
          </p:nvPr>
        </p:nvSpPr>
        <p:spPr/>
        <p:txBody>
          <a:bodyPr>
            <a:normAutofit/>
          </a:bodyPr>
          <a:lstStyle/>
          <a:p>
            <a:r>
              <a:rPr lang="en-US" sz="5400" dirty="0">
                <a:latin typeface="Algerian" pitchFamily="82" charset="0"/>
              </a:rPr>
              <a:t>Unit 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lgerian" pitchFamily="82" charset="0"/>
              </a:rPr>
              <a:t>Cloud Forensics</a:t>
            </a:r>
            <a:endParaRPr lang="en-US" dirty="0"/>
          </a:p>
        </p:txBody>
      </p:sp>
      <p:sp>
        <p:nvSpPr>
          <p:cNvPr id="3" name="Content Placeholder 2"/>
          <p:cNvSpPr>
            <a:spLocks noGrp="1"/>
          </p:cNvSpPr>
          <p:nvPr>
            <p:ph idx="1"/>
          </p:nvPr>
        </p:nvSpPr>
        <p:spPr/>
        <p:txBody>
          <a:bodyPr>
            <a:normAutofit/>
          </a:bodyPr>
          <a:lstStyle/>
          <a:p>
            <a:pPr>
              <a:buNone/>
            </a:pPr>
            <a:r>
              <a:rPr lang="en-US" sz="2400" dirty="0">
                <a:latin typeface="Times New Roman" pitchFamily="18" charset="0"/>
                <a:cs typeface="Times New Roman" pitchFamily="18" charset="0"/>
              </a:rPr>
              <a:t>An Overview of Cloud Computing </a:t>
            </a:r>
          </a:p>
          <a:p>
            <a:r>
              <a:rPr lang="en-US" sz="2400" dirty="0">
                <a:latin typeface="Times New Roman" pitchFamily="18" charset="0"/>
                <a:cs typeface="Times New Roman" pitchFamily="18" charset="0"/>
              </a:rPr>
              <a:t>4.1.1 Cloud Service Levels and Deployment Methods </a:t>
            </a:r>
          </a:p>
          <a:p>
            <a:r>
              <a:rPr lang="en-US" sz="2400" dirty="0">
                <a:latin typeface="Times New Roman" pitchFamily="18" charset="0"/>
                <a:cs typeface="Times New Roman" pitchFamily="18" charset="0"/>
              </a:rPr>
              <a:t>4.1.2 Cloud Vendors </a:t>
            </a:r>
          </a:p>
          <a:p>
            <a:r>
              <a:rPr lang="en-US" sz="2400" dirty="0">
                <a:latin typeface="Times New Roman" pitchFamily="18" charset="0"/>
                <a:cs typeface="Times New Roman" pitchFamily="18" charset="0"/>
              </a:rPr>
              <a:t>4.1.3 Basic Concepts of Cloud Forensics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latin typeface="Algerian" pitchFamily="82" charset="0"/>
                <a:cs typeface="Times New Roman" pitchFamily="18" charset="0"/>
              </a:rPr>
              <a:t>An Overview of Cloud Computing</a:t>
            </a:r>
            <a:br>
              <a:rPr lang="en-US" sz="3600" dirty="0">
                <a:latin typeface="Algerian" pitchFamily="82" charset="0"/>
                <a:cs typeface="Times New Roman" pitchFamily="18" charset="0"/>
              </a:rPr>
            </a:br>
            <a:endParaRPr lang="en-US" sz="3600" dirty="0">
              <a:latin typeface="Algerian" pitchFamily="82" charset="0"/>
            </a:endParaRPr>
          </a:p>
        </p:txBody>
      </p:sp>
      <p:sp>
        <p:nvSpPr>
          <p:cNvPr id="3" name="Content Placeholder 2"/>
          <p:cNvSpPr>
            <a:spLocks noGrp="1"/>
          </p:cNvSpPr>
          <p:nvPr>
            <p:ph idx="1"/>
          </p:nvPr>
        </p:nvSpPr>
        <p:spPr/>
        <p:txBody>
          <a:bodyPr>
            <a:normAutofit fontScale="92500" lnSpcReduction="10000"/>
          </a:bodyPr>
          <a:lstStyle/>
          <a:p>
            <a:pPr>
              <a:buNone/>
            </a:pPr>
            <a:r>
              <a:rPr lang="en-US" sz="2400" b="1" dirty="0">
                <a:latin typeface="Times New Roman" pitchFamily="18" charset="0"/>
                <a:cs typeface="Times New Roman" pitchFamily="18" charset="0"/>
              </a:rPr>
              <a:t>An Overview of Cloud Computing</a:t>
            </a:r>
          </a:p>
          <a:p>
            <a:pPr>
              <a:buNone/>
            </a:pPr>
            <a:endParaRPr lang="en-US" sz="2400" dirty="0">
              <a:latin typeface="Times New Roman" pitchFamily="18" charset="0"/>
              <a:cs typeface="Times New Roman" pitchFamily="18" charset="0"/>
            </a:endParaRPr>
          </a:p>
          <a:p>
            <a:pPr>
              <a:buFont typeface="Wingdings" pitchFamily="2" charset="2"/>
              <a:buChar char="Ø"/>
            </a:pPr>
            <a:r>
              <a:rPr lang="en-US" sz="2400" dirty="0">
                <a:latin typeface="Times New Roman" pitchFamily="18" charset="0"/>
                <a:cs typeface="Times New Roman" pitchFamily="18" charset="0"/>
              </a:rPr>
              <a:t>Cloud computing is a technology that enables the delivery of computing services such as servers, storage, databases, networking, software, and more over the internet.</a:t>
            </a:r>
          </a:p>
          <a:p>
            <a:pPr>
              <a:buFont typeface="Wingdings" pitchFamily="2" charset="2"/>
              <a:buChar char="Ø"/>
            </a:pPr>
            <a:r>
              <a:rPr lang="en-US" sz="2400" dirty="0">
                <a:latin typeface="Times New Roman" pitchFamily="18" charset="0"/>
                <a:cs typeface="Times New Roman" pitchFamily="18" charset="0"/>
              </a:rPr>
              <a:t> It provides on-demand access to resources, allowing businesses and individuals to scale and manage IT infrastructure efficiently.</a:t>
            </a:r>
          </a:p>
          <a:p>
            <a:endParaRPr lang="en-US" sz="2400" dirty="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1752600"/>
          </a:xfrm>
        </p:spPr>
        <p:txBody>
          <a:bodyPr>
            <a:noAutofit/>
          </a:bodyPr>
          <a:lstStyle/>
          <a:p>
            <a:r>
              <a:rPr lang="en-US" sz="3600" dirty="0">
                <a:latin typeface="Algerian" pitchFamily="82" charset="0"/>
              </a:rPr>
              <a:t>Cloud Service Levels and Deployment Methods</a:t>
            </a:r>
            <a:br>
              <a:rPr lang="en-US" sz="3600" dirty="0">
                <a:latin typeface="Algerian" pitchFamily="82" charset="0"/>
              </a:rPr>
            </a:br>
            <a:endParaRPr lang="en-US" sz="3600" dirty="0">
              <a:latin typeface="Algerian" pitchFamily="82" charset="0"/>
            </a:endParaRPr>
          </a:p>
        </p:txBody>
      </p:sp>
      <p:sp>
        <p:nvSpPr>
          <p:cNvPr id="3" name="Content Placeholder 2"/>
          <p:cNvSpPr>
            <a:spLocks noGrp="1"/>
          </p:cNvSpPr>
          <p:nvPr>
            <p:ph idx="1"/>
          </p:nvPr>
        </p:nvSpPr>
        <p:spPr/>
        <p:txBody>
          <a:bodyPr>
            <a:normAutofit fontScale="85000" lnSpcReduction="20000"/>
          </a:bodyPr>
          <a:lstStyle/>
          <a:p>
            <a:pPr>
              <a:buNone/>
            </a:pPr>
            <a:r>
              <a:rPr lang="en-US" sz="2400" b="1" dirty="0">
                <a:latin typeface="Times New Roman" pitchFamily="18" charset="0"/>
                <a:cs typeface="Times New Roman" pitchFamily="18" charset="0"/>
              </a:rPr>
              <a:t>Cloud Service Models</a:t>
            </a:r>
          </a:p>
          <a:p>
            <a:pPr>
              <a:buNone/>
            </a:pPr>
            <a:r>
              <a:rPr lang="en-US" sz="2400" dirty="0">
                <a:latin typeface="Times New Roman" pitchFamily="18" charset="0"/>
                <a:cs typeface="Times New Roman" pitchFamily="18" charset="0"/>
              </a:rPr>
              <a:t>		Cloud computing services are typically categorized into three primary models</a:t>
            </a:r>
          </a:p>
          <a:p>
            <a:endParaRPr lang="en-US" sz="2400" dirty="0">
              <a:latin typeface="Times New Roman" pitchFamily="18" charset="0"/>
              <a:cs typeface="Times New Roman" pitchFamily="18" charset="0"/>
            </a:endParaRPr>
          </a:p>
          <a:p>
            <a:pPr>
              <a:buNone/>
            </a:pPr>
            <a:r>
              <a:rPr lang="en-US" sz="2400" b="1" dirty="0">
                <a:latin typeface="Times New Roman" pitchFamily="18" charset="0"/>
                <a:cs typeface="Times New Roman" pitchFamily="18" charset="0"/>
              </a:rPr>
              <a:t>1.Infrastructure as a Service (</a:t>
            </a:r>
            <a:r>
              <a:rPr lang="en-US" sz="2400" b="1" dirty="0" err="1">
                <a:latin typeface="Times New Roman" pitchFamily="18" charset="0"/>
                <a:cs typeface="Times New Roman" pitchFamily="18" charset="0"/>
              </a:rPr>
              <a:t>IaaS</a:t>
            </a:r>
            <a:r>
              <a:rPr lang="en-US" sz="2400" b="1" dirty="0">
                <a:latin typeface="Times New Roman" pitchFamily="18" charset="0"/>
                <a:cs typeface="Times New Roman" pitchFamily="18" charset="0"/>
              </a:rPr>
              <a:t>)</a:t>
            </a:r>
            <a:r>
              <a:rPr lang="en-US" sz="2400" dirty="0">
                <a:latin typeface="Times New Roman" pitchFamily="18" charset="0"/>
                <a:cs typeface="Times New Roman" pitchFamily="18" charset="0"/>
              </a:rPr>
              <a:t>: </a:t>
            </a:r>
          </a:p>
          <a:p>
            <a:pPr>
              <a:buFont typeface="Wingdings" pitchFamily="2" charset="2"/>
              <a:buChar char="Ø"/>
            </a:pPr>
            <a:r>
              <a:rPr lang="en-US" sz="2400" dirty="0">
                <a:latin typeface="Times New Roman" pitchFamily="18" charset="0"/>
                <a:cs typeface="Times New Roman" pitchFamily="18" charset="0"/>
              </a:rPr>
              <a:t>Provides virtualized computing resources over the internet.</a:t>
            </a:r>
          </a:p>
          <a:p>
            <a:pPr>
              <a:buFont typeface="Wingdings" pitchFamily="2" charset="2"/>
              <a:buChar char="Ø"/>
            </a:pPr>
            <a:r>
              <a:rPr lang="en-US" sz="2400" dirty="0">
                <a:latin typeface="Times New Roman" pitchFamily="18" charset="0"/>
                <a:cs typeface="Times New Roman" pitchFamily="18" charset="0"/>
              </a:rPr>
              <a:t> Users can rent infrastructure components like virtual machines, storage, and networks. </a:t>
            </a:r>
          </a:p>
          <a:p>
            <a:pPr>
              <a:buFont typeface="Wingdings" pitchFamily="2" charset="2"/>
              <a:buChar char="Ø"/>
            </a:pPr>
            <a:r>
              <a:rPr lang="en-US" sz="2400" dirty="0">
                <a:latin typeface="Times New Roman" pitchFamily="18" charset="0"/>
                <a:cs typeface="Times New Roman" pitchFamily="18" charset="0"/>
              </a:rPr>
              <a:t>Examples: Amazon EC2, Google Compute Engine, Microsoft Azure Virtual Machines.</a:t>
            </a:r>
          </a:p>
          <a:p>
            <a:pPr>
              <a:buNone/>
            </a:pPr>
            <a:endParaRPr lang="en-US" sz="2400" dirty="0">
              <a:latin typeface="Times New Roman" pitchFamily="18" charset="0"/>
              <a:cs typeface="Times New Roman"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752600"/>
          </a:xfrm>
        </p:spPr>
        <p:txBody>
          <a:bodyPr>
            <a:normAutofit fontScale="90000"/>
          </a:bodyPr>
          <a:lstStyle/>
          <a:p>
            <a:r>
              <a:rPr lang="en-US" dirty="0">
                <a:latin typeface="Algerian" pitchFamily="82" charset="0"/>
              </a:rPr>
              <a:t>Cloud Service Levels and Deployment Methods</a:t>
            </a:r>
            <a:br>
              <a:rPr lang="en-US" dirty="0">
                <a:latin typeface="Algerian" pitchFamily="82" charset="0"/>
              </a:rPr>
            </a:br>
            <a:endParaRPr lang="en-US" dirty="0"/>
          </a:p>
        </p:txBody>
      </p:sp>
      <p:sp>
        <p:nvSpPr>
          <p:cNvPr id="3" name="Content Placeholder 2"/>
          <p:cNvSpPr>
            <a:spLocks noGrp="1"/>
          </p:cNvSpPr>
          <p:nvPr>
            <p:ph idx="1"/>
          </p:nvPr>
        </p:nvSpPr>
        <p:spPr/>
        <p:txBody>
          <a:bodyPr>
            <a:noAutofit/>
          </a:bodyPr>
          <a:lstStyle/>
          <a:p>
            <a:pPr>
              <a:buNone/>
            </a:pPr>
            <a:r>
              <a:rPr lang="en-US" sz="2400" b="1" dirty="0">
                <a:latin typeface="Times New Roman" pitchFamily="18" charset="0"/>
                <a:cs typeface="Times New Roman" pitchFamily="18" charset="0"/>
              </a:rPr>
              <a:t>2.Platform as a Service (</a:t>
            </a:r>
            <a:r>
              <a:rPr lang="en-US" sz="2400" b="1" dirty="0" err="1">
                <a:latin typeface="Times New Roman" pitchFamily="18" charset="0"/>
                <a:cs typeface="Times New Roman" pitchFamily="18" charset="0"/>
              </a:rPr>
              <a:t>PaaS</a:t>
            </a:r>
            <a:r>
              <a:rPr lang="en-US" sz="2400" b="1" dirty="0">
                <a:latin typeface="Times New Roman" pitchFamily="18" charset="0"/>
                <a:cs typeface="Times New Roman" pitchFamily="18" charset="0"/>
              </a:rPr>
              <a:t>)</a:t>
            </a:r>
            <a:r>
              <a:rPr lang="en-US" sz="2400" dirty="0">
                <a:latin typeface="Times New Roman" pitchFamily="18" charset="0"/>
                <a:cs typeface="Times New Roman" pitchFamily="18" charset="0"/>
              </a:rPr>
              <a:t>: </a:t>
            </a:r>
          </a:p>
          <a:p>
            <a:pPr>
              <a:buFont typeface="Wingdings" pitchFamily="2" charset="2"/>
              <a:buChar char="Ø"/>
            </a:pPr>
            <a:r>
              <a:rPr lang="en-US" sz="2400" dirty="0">
                <a:latin typeface="Times New Roman" pitchFamily="18" charset="0"/>
                <a:cs typeface="Times New Roman" pitchFamily="18" charset="0"/>
              </a:rPr>
              <a:t>Offers a platform that includes operating systems, development tools, and database management systems to support application development. </a:t>
            </a:r>
          </a:p>
          <a:p>
            <a:pPr>
              <a:buFont typeface="Wingdings" pitchFamily="2" charset="2"/>
              <a:buChar char="Ø"/>
            </a:pPr>
            <a:r>
              <a:rPr lang="en-US" sz="2400" dirty="0">
                <a:latin typeface="Times New Roman" pitchFamily="18" charset="0"/>
                <a:cs typeface="Times New Roman" pitchFamily="18" charset="0"/>
              </a:rPr>
              <a:t>Examples: Google App Engine, Microsoft Azure App Services, AWS Elastic Beanstalk.</a:t>
            </a:r>
          </a:p>
          <a:p>
            <a:pPr>
              <a:buNone/>
            </a:pPr>
            <a:r>
              <a:rPr lang="en-US" sz="2400" b="1" dirty="0">
                <a:latin typeface="Times New Roman" pitchFamily="18" charset="0"/>
                <a:cs typeface="Times New Roman" pitchFamily="18" charset="0"/>
              </a:rPr>
              <a:t>3.Software as a Service (</a:t>
            </a:r>
            <a:r>
              <a:rPr lang="en-US" sz="2400" b="1" dirty="0" err="1">
                <a:latin typeface="Times New Roman" pitchFamily="18" charset="0"/>
                <a:cs typeface="Times New Roman" pitchFamily="18" charset="0"/>
              </a:rPr>
              <a:t>SaaS</a:t>
            </a:r>
            <a:r>
              <a:rPr lang="en-US" sz="2400" b="1" dirty="0">
                <a:latin typeface="Times New Roman" pitchFamily="18" charset="0"/>
                <a:cs typeface="Times New Roman" pitchFamily="18" charset="0"/>
              </a:rPr>
              <a:t>)</a:t>
            </a:r>
            <a:r>
              <a:rPr lang="en-US" sz="2400" dirty="0">
                <a:latin typeface="Times New Roman" pitchFamily="18" charset="0"/>
                <a:cs typeface="Times New Roman" pitchFamily="18" charset="0"/>
              </a:rPr>
              <a:t>:</a:t>
            </a:r>
          </a:p>
          <a:p>
            <a:pPr>
              <a:buFont typeface="Wingdings" pitchFamily="2" charset="2"/>
              <a:buChar char="Ø"/>
            </a:pPr>
            <a:r>
              <a:rPr lang="en-US" sz="2400" dirty="0">
                <a:latin typeface="Times New Roman" pitchFamily="18" charset="0"/>
                <a:cs typeface="Times New Roman" pitchFamily="18" charset="0"/>
              </a:rPr>
              <a:t> Delivers software applications over the internet, eliminating the need for installation and maintenance on local devices.</a:t>
            </a:r>
          </a:p>
          <a:p>
            <a:pPr>
              <a:buFont typeface="Wingdings" pitchFamily="2" charset="2"/>
              <a:buChar char="Ø"/>
            </a:pPr>
            <a:r>
              <a:rPr lang="en-US" sz="2400" dirty="0">
                <a:latin typeface="Times New Roman" pitchFamily="18" charset="0"/>
                <a:cs typeface="Times New Roman" pitchFamily="18" charset="0"/>
              </a:rPr>
              <a:t>Examples: Google Workspace, Microsoft 365, </a:t>
            </a:r>
            <a:r>
              <a:rPr lang="en-US" sz="2400" dirty="0" err="1">
                <a:latin typeface="Times New Roman" pitchFamily="18" charset="0"/>
                <a:cs typeface="Times New Roman" pitchFamily="18" charset="0"/>
              </a:rPr>
              <a:t>Salesforce</a:t>
            </a:r>
            <a:r>
              <a:rPr lang="en-US" sz="2400" dirty="0">
                <a:latin typeface="Times New Roman" pitchFamily="18" charset="0"/>
                <a:cs typeface="Times New Roman" pitchFamily="18" charset="0"/>
              </a:rPr>
              <a:t>.</a:t>
            </a:r>
          </a:p>
          <a:p>
            <a:endParaRPr lang="en-US" sz="2400" dirty="0">
              <a:latin typeface="Times New Roman" pitchFamily="18" charset="0"/>
              <a:cs typeface="Times New Roman"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Algerian" pitchFamily="82" charset="0"/>
              </a:rPr>
              <a:t>Cloud Deployment Models</a:t>
            </a:r>
            <a:br>
              <a:rPr lang="en-US" dirty="0">
                <a:latin typeface="Algerian" pitchFamily="82" charset="0"/>
              </a:rPr>
            </a:br>
            <a:endParaRPr lang="en-US" dirty="0">
              <a:latin typeface="Algerian" pitchFamily="82" charset="0"/>
            </a:endParaRPr>
          </a:p>
        </p:txBody>
      </p:sp>
      <p:sp>
        <p:nvSpPr>
          <p:cNvPr id="3" name="Content Placeholder 2"/>
          <p:cNvSpPr>
            <a:spLocks noGrp="1"/>
          </p:cNvSpPr>
          <p:nvPr>
            <p:ph idx="1"/>
          </p:nvPr>
        </p:nvSpPr>
        <p:spPr>
          <a:xfrm>
            <a:off x="1172632" y="2362200"/>
            <a:ext cx="6798736" cy="3444997"/>
          </a:xfrm>
        </p:spPr>
        <p:txBody>
          <a:bodyPr>
            <a:noAutofit/>
          </a:bodyPr>
          <a:lstStyle/>
          <a:p>
            <a:pPr>
              <a:buNone/>
            </a:pPr>
            <a:r>
              <a:rPr lang="en-US" sz="2400" b="1" dirty="0">
                <a:latin typeface="Times New Roman" pitchFamily="18" charset="0"/>
                <a:cs typeface="Times New Roman" pitchFamily="18" charset="0"/>
              </a:rPr>
              <a:t>1.Public Cloud</a:t>
            </a:r>
            <a:r>
              <a:rPr lang="en-US" sz="2400" dirty="0">
                <a:latin typeface="Times New Roman" pitchFamily="18" charset="0"/>
                <a:cs typeface="Times New Roman" pitchFamily="18" charset="0"/>
              </a:rPr>
              <a:t>: </a:t>
            </a:r>
          </a:p>
          <a:p>
            <a:pPr>
              <a:buFont typeface="Wingdings" pitchFamily="2" charset="2"/>
              <a:buChar char="Ø"/>
            </a:pPr>
            <a:r>
              <a:rPr lang="en-US" sz="2400" dirty="0">
                <a:latin typeface="Times New Roman" pitchFamily="18" charset="0"/>
                <a:cs typeface="Times New Roman" pitchFamily="18" charset="0"/>
              </a:rPr>
              <a:t>Services are offered over the internet by third-party providers, making them accessible to multiple customers.</a:t>
            </a:r>
          </a:p>
          <a:p>
            <a:pPr>
              <a:buFont typeface="Wingdings" pitchFamily="2" charset="2"/>
              <a:buChar char="Ø"/>
            </a:pPr>
            <a:r>
              <a:rPr lang="en-US" sz="2400" dirty="0">
                <a:latin typeface="Times New Roman" pitchFamily="18" charset="0"/>
                <a:cs typeface="Times New Roman" pitchFamily="18" charset="0"/>
              </a:rPr>
              <a:t> Examples: AWS, Google Cloud, Microsoft Azure.</a:t>
            </a:r>
          </a:p>
          <a:p>
            <a:pPr>
              <a:buNone/>
            </a:pPr>
            <a:r>
              <a:rPr lang="en-US" sz="2400" b="1" dirty="0">
                <a:latin typeface="Times New Roman" pitchFamily="18" charset="0"/>
                <a:cs typeface="Times New Roman" pitchFamily="18" charset="0"/>
              </a:rPr>
              <a:t>2.Private Cloud</a:t>
            </a:r>
            <a:r>
              <a:rPr lang="en-US" sz="2400" dirty="0">
                <a:latin typeface="Times New Roman" pitchFamily="18" charset="0"/>
                <a:cs typeface="Times New Roman" pitchFamily="18" charset="0"/>
              </a:rPr>
              <a:t>:</a:t>
            </a:r>
          </a:p>
          <a:p>
            <a:pPr>
              <a:buFont typeface="Wingdings" pitchFamily="2" charset="2"/>
              <a:buChar char="Ø"/>
            </a:pPr>
            <a:r>
              <a:rPr lang="en-US" sz="2400" dirty="0">
                <a:latin typeface="Times New Roman" pitchFamily="18" charset="0"/>
                <a:cs typeface="Times New Roman" pitchFamily="18" charset="0"/>
              </a:rPr>
              <a:t> Infrastructure is dedicated to a single organization, providing enhanced security and control. </a:t>
            </a:r>
          </a:p>
          <a:p>
            <a:pPr>
              <a:buFont typeface="Wingdings" pitchFamily="2" charset="2"/>
              <a:buChar char="Ø"/>
            </a:pPr>
            <a:r>
              <a:rPr lang="en-US" sz="2400" dirty="0">
                <a:latin typeface="Times New Roman" pitchFamily="18" charset="0"/>
                <a:cs typeface="Times New Roman" pitchFamily="18" charset="0"/>
              </a:rPr>
              <a:t>Examples: VMware Private Cloud, </a:t>
            </a:r>
            <a:r>
              <a:rPr lang="en-US" sz="2400" dirty="0" err="1">
                <a:latin typeface="Times New Roman" pitchFamily="18" charset="0"/>
                <a:cs typeface="Times New Roman" pitchFamily="18" charset="0"/>
              </a:rPr>
              <a:t>OpenStack</a:t>
            </a:r>
            <a:endParaRPr lang="en-US"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Algerian" pitchFamily="82" charset="0"/>
              </a:rPr>
              <a:t>Cloud Deployment Models</a:t>
            </a:r>
            <a:br>
              <a:rPr lang="en-US" dirty="0">
                <a:latin typeface="Algerian" pitchFamily="82" charset="0"/>
              </a:rPr>
            </a:br>
            <a:endParaRPr lang="en-US" dirty="0"/>
          </a:p>
        </p:txBody>
      </p:sp>
      <p:sp>
        <p:nvSpPr>
          <p:cNvPr id="3" name="Content Placeholder 2"/>
          <p:cNvSpPr>
            <a:spLocks noGrp="1"/>
          </p:cNvSpPr>
          <p:nvPr>
            <p:ph idx="1"/>
          </p:nvPr>
        </p:nvSpPr>
        <p:spPr/>
        <p:txBody>
          <a:bodyPr>
            <a:normAutofit fontScale="92500" lnSpcReduction="20000"/>
          </a:bodyPr>
          <a:lstStyle/>
          <a:p>
            <a:pPr>
              <a:buNone/>
            </a:pPr>
            <a:r>
              <a:rPr lang="en-US" sz="2400" b="1" dirty="0">
                <a:latin typeface="Times New Roman" pitchFamily="18" charset="0"/>
                <a:cs typeface="Times New Roman" pitchFamily="18" charset="0"/>
              </a:rPr>
              <a:t>3.Hybrid Cloud</a:t>
            </a:r>
            <a:r>
              <a:rPr lang="en-US" sz="2400" dirty="0">
                <a:latin typeface="Times New Roman" pitchFamily="18" charset="0"/>
                <a:cs typeface="Times New Roman" pitchFamily="18" charset="0"/>
              </a:rPr>
              <a:t>: </a:t>
            </a:r>
          </a:p>
          <a:p>
            <a:pPr>
              <a:buFont typeface="Wingdings" pitchFamily="2" charset="2"/>
              <a:buChar char="Ø"/>
            </a:pPr>
            <a:r>
              <a:rPr lang="en-US" sz="2400" dirty="0">
                <a:latin typeface="Times New Roman" pitchFamily="18" charset="0"/>
                <a:cs typeface="Times New Roman" pitchFamily="18" charset="0"/>
              </a:rPr>
              <a:t>A combination of public and private clouds, enabling businesses to balance workloads efficiently.</a:t>
            </a:r>
          </a:p>
          <a:p>
            <a:pPr>
              <a:buFont typeface="Wingdings" pitchFamily="2" charset="2"/>
              <a:buChar char="Ø"/>
            </a:pPr>
            <a:r>
              <a:rPr lang="en-US" sz="2400" dirty="0">
                <a:latin typeface="Times New Roman" pitchFamily="18" charset="0"/>
                <a:cs typeface="Times New Roman" pitchFamily="18" charset="0"/>
              </a:rPr>
              <a:t>Examples: AWS Outposts, Azure Hybrid Cloud.</a:t>
            </a:r>
          </a:p>
          <a:p>
            <a:endParaRPr lang="en-US" sz="2400" dirty="0">
              <a:latin typeface="Times New Roman" pitchFamily="18" charset="0"/>
              <a:cs typeface="Times New Roman" pitchFamily="18" charset="0"/>
            </a:endParaRPr>
          </a:p>
          <a:p>
            <a:pPr>
              <a:buNone/>
            </a:pPr>
            <a:r>
              <a:rPr lang="en-US" sz="2400" b="1" dirty="0">
                <a:latin typeface="Times New Roman" pitchFamily="18" charset="0"/>
                <a:cs typeface="Times New Roman" pitchFamily="18" charset="0"/>
              </a:rPr>
              <a:t>4.Community Cloud</a:t>
            </a:r>
            <a:r>
              <a:rPr lang="en-US" sz="2400" dirty="0">
                <a:latin typeface="Times New Roman" pitchFamily="18" charset="0"/>
                <a:cs typeface="Times New Roman" pitchFamily="18" charset="0"/>
              </a:rPr>
              <a:t>:</a:t>
            </a:r>
          </a:p>
          <a:p>
            <a:pPr>
              <a:buFont typeface="Wingdings" pitchFamily="2" charset="2"/>
              <a:buChar char="Ø"/>
            </a:pPr>
            <a:r>
              <a:rPr lang="en-US" sz="2400" dirty="0">
                <a:latin typeface="Times New Roman" pitchFamily="18" charset="0"/>
                <a:cs typeface="Times New Roman" pitchFamily="18" charset="0"/>
              </a:rPr>
              <a:t> Shared infrastructure for a specific group or organization with common concerns. </a:t>
            </a:r>
          </a:p>
          <a:p>
            <a:pPr>
              <a:buFont typeface="Wingdings" pitchFamily="2" charset="2"/>
              <a:buChar char="Ø"/>
            </a:pPr>
            <a:r>
              <a:rPr lang="en-US" sz="2400" dirty="0">
                <a:latin typeface="Times New Roman" pitchFamily="18" charset="0"/>
                <a:cs typeface="Times New Roman" pitchFamily="18" charset="0"/>
              </a:rPr>
              <a:t>Examples: Government or healthcare cloud services.</a:t>
            </a:r>
          </a:p>
          <a:p>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Algerian" pitchFamily="82" charset="0"/>
              </a:rPr>
              <a:t>Cloud Vendors</a:t>
            </a:r>
            <a:br>
              <a:rPr lang="en-US" dirty="0">
                <a:latin typeface="Algerian" pitchFamily="82" charset="0"/>
              </a:rPr>
            </a:br>
            <a:endParaRPr lang="en-US" dirty="0">
              <a:latin typeface="Algerian" pitchFamily="82" charset="0"/>
            </a:endParaRPr>
          </a:p>
        </p:txBody>
      </p:sp>
      <p:sp>
        <p:nvSpPr>
          <p:cNvPr id="3" name="Content Placeholder 2"/>
          <p:cNvSpPr>
            <a:spLocks noGrp="1"/>
          </p:cNvSpPr>
          <p:nvPr>
            <p:ph idx="1"/>
          </p:nvPr>
        </p:nvSpPr>
        <p:spPr>
          <a:xfrm>
            <a:off x="457200" y="1981200"/>
            <a:ext cx="8229600" cy="4593336"/>
          </a:xfrm>
        </p:spPr>
        <p:txBody>
          <a:bodyPr>
            <a:noAutofit/>
          </a:bodyPr>
          <a:lstStyle/>
          <a:p>
            <a:pPr>
              <a:buNone/>
            </a:pPr>
            <a:r>
              <a:rPr lang="en-US" sz="2400" dirty="0">
                <a:latin typeface="Times New Roman" pitchFamily="18" charset="0"/>
                <a:cs typeface="Times New Roman" pitchFamily="18" charset="0"/>
              </a:rPr>
              <a:t>Cloud vendors provide cloud computing services across various models and deployment types. Some of the leading cloud vendors include:</a:t>
            </a:r>
          </a:p>
          <a:p>
            <a:pPr>
              <a:buFont typeface="Wingdings" pitchFamily="2" charset="2"/>
              <a:buChar char="Ø"/>
            </a:pPr>
            <a:r>
              <a:rPr lang="en-US" sz="2400" b="1" dirty="0">
                <a:latin typeface="Times New Roman" pitchFamily="18" charset="0"/>
                <a:cs typeface="Times New Roman" pitchFamily="18" charset="0"/>
              </a:rPr>
              <a:t>Amazon Web Services (AWS)</a:t>
            </a:r>
            <a:r>
              <a:rPr lang="en-US" sz="2400" dirty="0">
                <a:latin typeface="Times New Roman" pitchFamily="18" charset="0"/>
                <a:cs typeface="Times New Roman" pitchFamily="18" charset="0"/>
              </a:rPr>
              <a:t>: A comprehensive cloud platform offering </a:t>
            </a:r>
            <a:r>
              <a:rPr lang="en-US" sz="2400" dirty="0" err="1">
                <a:latin typeface="Times New Roman" pitchFamily="18" charset="0"/>
                <a:cs typeface="Times New Roman" pitchFamily="18" charset="0"/>
              </a:rPr>
              <a:t>IaaS</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PaaS</a:t>
            </a:r>
            <a:r>
              <a:rPr lang="en-US" sz="2400" dirty="0">
                <a:latin typeface="Times New Roman" pitchFamily="18" charset="0"/>
                <a:cs typeface="Times New Roman" pitchFamily="18" charset="0"/>
              </a:rPr>
              <a:t>, and </a:t>
            </a:r>
            <a:r>
              <a:rPr lang="en-US" sz="2400" dirty="0" err="1">
                <a:latin typeface="Times New Roman" pitchFamily="18" charset="0"/>
                <a:cs typeface="Times New Roman" pitchFamily="18" charset="0"/>
              </a:rPr>
              <a:t>SaaS</a:t>
            </a:r>
            <a:r>
              <a:rPr lang="en-US" sz="2400" dirty="0">
                <a:latin typeface="Times New Roman" pitchFamily="18" charset="0"/>
                <a:cs typeface="Times New Roman" pitchFamily="18" charset="0"/>
              </a:rPr>
              <a:t> solutions, including compute, storage, AI, and </a:t>
            </a:r>
            <a:r>
              <a:rPr lang="en-US" sz="2400" dirty="0" err="1">
                <a:latin typeface="Times New Roman" pitchFamily="18" charset="0"/>
                <a:cs typeface="Times New Roman" pitchFamily="18" charset="0"/>
              </a:rPr>
              <a:t>IoT</a:t>
            </a:r>
            <a:r>
              <a:rPr lang="en-US" sz="2400" dirty="0">
                <a:latin typeface="Times New Roman" pitchFamily="18" charset="0"/>
                <a:cs typeface="Times New Roman" pitchFamily="18" charset="0"/>
              </a:rPr>
              <a:t> services.</a:t>
            </a:r>
          </a:p>
          <a:p>
            <a:pPr>
              <a:buFont typeface="Wingdings" pitchFamily="2" charset="2"/>
              <a:buChar char="Ø"/>
            </a:pPr>
            <a:r>
              <a:rPr lang="en-US" sz="2400" b="1" dirty="0">
                <a:latin typeface="Times New Roman" pitchFamily="18" charset="0"/>
                <a:cs typeface="Times New Roman" pitchFamily="18" charset="0"/>
              </a:rPr>
              <a:t>Microsoft Azure</a:t>
            </a:r>
            <a:r>
              <a:rPr lang="en-US" sz="2400" dirty="0">
                <a:latin typeface="Times New Roman" pitchFamily="18" charset="0"/>
                <a:cs typeface="Times New Roman" pitchFamily="18" charset="0"/>
              </a:rPr>
              <a:t>: A leading cloud provider offering hybrid cloud solutions, enterprise applications, and integration with Microsoft products.</a:t>
            </a:r>
          </a:p>
          <a:p>
            <a:pPr>
              <a:buFont typeface="Wingdings" pitchFamily="2" charset="2"/>
              <a:buChar char="Ø"/>
            </a:pPr>
            <a:r>
              <a:rPr lang="en-US" sz="2400" b="1" dirty="0">
                <a:latin typeface="Times New Roman" pitchFamily="18" charset="0"/>
                <a:cs typeface="Times New Roman" pitchFamily="18" charset="0"/>
              </a:rPr>
              <a:t>Google Cloud Platform (GCP)</a:t>
            </a:r>
            <a:r>
              <a:rPr lang="en-US" sz="2400" dirty="0">
                <a:latin typeface="Times New Roman" pitchFamily="18" charset="0"/>
                <a:cs typeface="Times New Roman" pitchFamily="18" charset="0"/>
              </a:rPr>
              <a:t>: Focuses on AI, machine learning, and data analytics while offering a range of cloud services.</a:t>
            </a:r>
          </a:p>
          <a:p>
            <a:endParaRPr lang="en-US" sz="2400" dirty="0">
              <a:latin typeface="Times New Roman" pitchFamily="18" charset="0"/>
              <a:cs typeface="Times New Roman"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Algerian" pitchFamily="82" charset="0"/>
              </a:rPr>
              <a:t>Cloud Vendors</a:t>
            </a:r>
            <a:br>
              <a:rPr lang="en-US" dirty="0">
                <a:latin typeface="Algerian" pitchFamily="82" charset="0"/>
              </a:rPr>
            </a:br>
            <a:endParaRPr lang="en-US" dirty="0"/>
          </a:p>
        </p:txBody>
      </p:sp>
      <p:sp>
        <p:nvSpPr>
          <p:cNvPr id="3" name="Content Placeholder 2"/>
          <p:cNvSpPr>
            <a:spLocks noGrp="1"/>
          </p:cNvSpPr>
          <p:nvPr>
            <p:ph idx="1"/>
          </p:nvPr>
        </p:nvSpPr>
        <p:spPr/>
        <p:txBody>
          <a:bodyPr>
            <a:normAutofit/>
          </a:bodyPr>
          <a:lstStyle/>
          <a:p>
            <a:pPr>
              <a:buFont typeface="Wingdings" pitchFamily="2" charset="2"/>
              <a:buChar char="Ø"/>
            </a:pPr>
            <a:r>
              <a:rPr lang="en-US" sz="2400" b="1" dirty="0">
                <a:latin typeface="Times New Roman" pitchFamily="18" charset="0"/>
                <a:cs typeface="Times New Roman" pitchFamily="18" charset="0"/>
              </a:rPr>
              <a:t>IBM Cloud</a:t>
            </a:r>
            <a:r>
              <a:rPr lang="en-US" sz="2400" dirty="0">
                <a:latin typeface="Times New Roman" pitchFamily="18" charset="0"/>
                <a:cs typeface="Times New Roman" pitchFamily="18" charset="0"/>
              </a:rPr>
              <a:t>: Provides AI-powered solutions, hybrid cloud capabilities, and enterprise-focused services.</a:t>
            </a:r>
          </a:p>
          <a:p>
            <a:pPr>
              <a:buFont typeface="Wingdings" pitchFamily="2" charset="2"/>
              <a:buChar char="Ø"/>
            </a:pPr>
            <a:r>
              <a:rPr lang="en-US" sz="2400" b="1" dirty="0">
                <a:latin typeface="Times New Roman" pitchFamily="18" charset="0"/>
                <a:cs typeface="Times New Roman" pitchFamily="18" charset="0"/>
              </a:rPr>
              <a:t>Oracle Cloud</a:t>
            </a:r>
            <a:r>
              <a:rPr lang="en-US" sz="2400" dirty="0">
                <a:latin typeface="Times New Roman" pitchFamily="18" charset="0"/>
                <a:cs typeface="Times New Roman" pitchFamily="18" charset="0"/>
              </a:rPr>
              <a:t>: Specializes in database management, cloud infrastructure, and </a:t>
            </a:r>
            <a:r>
              <a:rPr lang="en-US" sz="2400" dirty="0" err="1">
                <a:latin typeface="Times New Roman" pitchFamily="18" charset="0"/>
                <a:cs typeface="Times New Roman" pitchFamily="18" charset="0"/>
              </a:rPr>
              <a:t>SaaS</a:t>
            </a:r>
            <a:r>
              <a:rPr lang="en-US" sz="2400" dirty="0">
                <a:latin typeface="Times New Roman" pitchFamily="18" charset="0"/>
                <a:cs typeface="Times New Roman" pitchFamily="18" charset="0"/>
              </a:rPr>
              <a:t> applications for enterprise users.</a:t>
            </a:r>
          </a:p>
          <a:p>
            <a:endParaRPr lang="en-US" sz="2400" dirty="0">
              <a:latin typeface="Times New Roman" pitchFamily="18" charset="0"/>
              <a:cs typeface="Times New Roman"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Algerian" pitchFamily="82" charset="0"/>
              </a:rPr>
              <a:t>Concepts of Cloud Forensics</a:t>
            </a:r>
            <a:br>
              <a:rPr lang="en-US" dirty="0">
                <a:latin typeface="Algerian" pitchFamily="82" charset="0"/>
              </a:rPr>
            </a:br>
            <a:endParaRPr lang="en-US" dirty="0">
              <a:latin typeface="Algerian" pitchFamily="82" charset="0"/>
            </a:endParaRPr>
          </a:p>
        </p:txBody>
      </p:sp>
      <p:sp>
        <p:nvSpPr>
          <p:cNvPr id="3" name="Content Placeholder 2"/>
          <p:cNvSpPr>
            <a:spLocks noGrp="1"/>
          </p:cNvSpPr>
          <p:nvPr>
            <p:ph idx="1"/>
          </p:nvPr>
        </p:nvSpPr>
        <p:spPr/>
        <p:txBody>
          <a:bodyPr>
            <a:normAutofit fontScale="85000" lnSpcReduction="20000"/>
          </a:bodyPr>
          <a:lstStyle/>
          <a:p>
            <a:pPr>
              <a:buFont typeface="Wingdings" pitchFamily="2" charset="2"/>
              <a:buChar char="Ø"/>
            </a:pPr>
            <a:r>
              <a:rPr lang="en-US" sz="2400" dirty="0">
                <a:latin typeface="Times New Roman" pitchFamily="18" charset="0"/>
                <a:cs typeface="Times New Roman" pitchFamily="18" charset="0"/>
              </a:rPr>
              <a:t>Cloud forensics is a branch of digital forensics that focuses on investigating cyber incidents and crimes in cloud environments. </a:t>
            </a:r>
          </a:p>
          <a:p>
            <a:pPr>
              <a:buFont typeface="Wingdings" pitchFamily="2" charset="2"/>
              <a:buChar char="Ø"/>
            </a:pPr>
            <a:r>
              <a:rPr lang="en-US" sz="2400" dirty="0">
                <a:latin typeface="Times New Roman" pitchFamily="18" charset="0"/>
                <a:cs typeface="Times New Roman" pitchFamily="18" charset="0"/>
              </a:rPr>
              <a:t>It involves identifying, collecting, analyzing, and preserving digital evidence in cloud-based infrastructures.</a:t>
            </a:r>
          </a:p>
          <a:p>
            <a:pPr>
              <a:buNone/>
            </a:pPr>
            <a:r>
              <a:rPr lang="en-US" sz="2400" b="1" dirty="0">
                <a:latin typeface="Times New Roman" pitchFamily="18" charset="0"/>
                <a:cs typeface="Times New Roman" pitchFamily="18" charset="0"/>
              </a:rPr>
              <a:t>Key Concepts in Cloud Forensics</a:t>
            </a:r>
          </a:p>
          <a:p>
            <a:pPr>
              <a:buFont typeface="Wingdings" pitchFamily="2" charset="2"/>
              <a:buChar char="Ø"/>
            </a:pPr>
            <a:r>
              <a:rPr lang="en-US" sz="2400" b="1" dirty="0">
                <a:latin typeface="Times New Roman" pitchFamily="18" charset="0"/>
                <a:cs typeface="Times New Roman" pitchFamily="18" charset="0"/>
              </a:rPr>
              <a:t>Data Collection: </a:t>
            </a:r>
            <a:r>
              <a:rPr lang="en-US" sz="2400" dirty="0">
                <a:latin typeface="Times New Roman" pitchFamily="18" charset="0"/>
                <a:cs typeface="Times New Roman" pitchFamily="18" charset="0"/>
              </a:rPr>
              <a:t>Capturing logs, snapshots, and metadata from cloud environments.</a:t>
            </a:r>
          </a:p>
          <a:p>
            <a:pPr>
              <a:buFont typeface="Wingdings" pitchFamily="2" charset="2"/>
              <a:buChar char="Ø"/>
            </a:pPr>
            <a:r>
              <a:rPr lang="en-US" sz="2400" b="1" dirty="0">
                <a:latin typeface="Times New Roman" pitchFamily="18" charset="0"/>
                <a:cs typeface="Times New Roman" pitchFamily="18" charset="0"/>
              </a:rPr>
              <a:t>Evidence Acquisition: </a:t>
            </a:r>
            <a:r>
              <a:rPr lang="en-US" sz="2400" dirty="0">
                <a:latin typeface="Times New Roman" pitchFamily="18" charset="0"/>
                <a:cs typeface="Times New Roman" pitchFamily="18" charset="0"/>
              </a:rPr>
              <a:t>Gathering data using forensic tools without compromising integrity.</a:t>
            </a:r>
          </a:p>
          <a:p>
            <a:endParaRPr lang="en-US" sz="2400" dirty="0">
              <a:latin typeface="Times New Roman" pitchFamily="18" charset="0"/>
              <a:cs typeface="Times New Roman"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Algerian" pitchFamily="82" charset="0"/>
              </a:rPr>
              <a:t>Concepts of Cloud Forensics</a:t>
            </a:r>
            <a:br>
              <a:rPr lang="en-US" dirty="0">
                <a:latin typeface="Algerian" pitchFamily="82" charset="0"/>
              </a:rPr>
            </a:br>
            <a:endParaRPr lang="en-US" dirty="0"/>
          </a:p>
        </p:txBody>
      </p:sp>
      <p:sp>
        <p:nvSpPr>
          <p:cNvPr id="3" name="Content Placeholder 2"/>
          <p:cNvSpPr>
            <a:spLocks noGrp="1"/>
          </p:cNvSpPr>
          <p:nvPr>
            <p:ph idx="1"/>
          </p:nvPr>
        </p:nvSpPr>
        <p:spPr/>
        <p:txBody>
          <a:bodyPr>
            <a:normAutofit/>
          </a:bodyPr>
          <a:lstStyle/>
          <a:p>
            <a:pPr>
              <a:buFont typeface="Wingdings" pitchFamily="2" charset="2"/>
              <a:buChar char="Ø"/>
            </a:pPr>
            <a:r>
              <a:rPr lang="en-US" sz="2400" b="1" dirty="0">
                <a:latin typeface="Times New Roman" pitchFamily="18" charset="0"/>
                <a:cs typeface="Times New Roman" pitchFamily="18" charset="0"/>
              </a:rPr>
              <a:t>Chain of Custody</a:t>
            </a:r>
            <a:r>
              <a:rPr lang="en-US" sz="2400" dirty="0">
                <a:latin typeface="Times New Roman" pitchFamily="18" charset="0"/>
                <a:cs typeface="Times New Roman" pitchFamily="18" charset="0"/>
              </a:rPr>
              <a:t>: Ensuring the integrity and authenticity of collected evidence.</a:t>
            </a:r>
          </a:p>
          <a:p>
            <a:pPr>
              <a:buFont typeface="Wingdings" pitchFamily="2" charset="2"/>
              <a:buChar char="Ø"/>
            </a:pPr>
            <a:r>
              <a:rPr lang="en-US" sz="2400" b="1" dirty="0">
                <a:latin typeface="Times New Roman" pitchFamily="18" charset="0"/>
                <a:cs typeface="Times New Roman" pitchFamily="18" charset="0"/>
              </a:rPr>
              <a:t>Legal and Compliance Issues</a:t>
            </a:r>
            <a:r>
              <a:rPr lang="en-US" sz="2400" dirty="0">
                <a:latin typeface="Times New Roman" pitchFamily="18" charset="0"/>
                <a:cs typeface="Times New Roman" pitchFamily="18" charset="0"/>
              </a:rPr>
              <a:t>: Addressing jurisdictional challenges and compliance with regulations such as GDPR and HIPAA.</a:t>
            </a:r>
          </a:p>
          <a:p>
            <a:pPr>
              <a:buFont typeface="Wingdings" pitchFamily="2" charset="2"/>
              <a:buChar char="Ø"/>
            </a:pPr>
            <a:r>
              <a:rPr lang="en-US" sz="2400" b="1" dirty="0">
                <a:latin typeface="Times New Roman" pitchFamily="18" charset="0"/>
                <a:cs typeface="Times New Roman" pitchFamily="18" charset="0"/>
              </a:rPr>
              <a:t>Forensic Tools</a:t>
            </a:r>
            <a:r>
              <a:rPr lang="en-US" sz="2400" dirty="0">
                <a:latin typeface="Times New Roman" pitchFamily="18" charset="0"/>
                <a:cs typeface="Times New Roman" pitchFamily="18" charset="0"/>
              </a:rPr>
              <a:t>: Utilizing tools like AWS </a:t>
            </a:r>
            <a:r>
              <a:rPr lang="en-US" sz="2400" dirty="0" err="1">
                <a:latin typeface="Times New Roman" pitchFamily="18" charset="0"/>
                <a:cs typeface="Times New Roman" pitchFamily="18" charset="0"/>
              </a:rPr>
              <a:t>CloudTrail</a:t>
            </a:r>
            <a:r>
              <a:rPr lang="en-US" sz="2400" dirty="0">
                <a:latin typeface="Times New Roman" pitchFamily="18" charset="0"/>
                <a:cs typeface="Times New Roman" pitchFamily="18" charset="0"/>
              </a:rPr>
              <a:t>, Azure Security Center, and forensic analysis software for investigations.</a:t>
            </a:r>
          </a:p>
          <a:p>
            <a:pPr>
              <a:buFont typeface="Wingdings" pitchFamily="2" charset="2"/>
              <a:buChar char="Ø"/>
            </a:pPr>
            <a:endParaRPr lang="en-US" sz="2400" dirty="0">
              <a:latin typeface="Times New Roman" pitchFamily="18" charset="0"/>
              <a:cs typeface="Times New Roman"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buNone/>
            </a:pPr>
            <a:r>
              <a:rPr lang="en-US" sz="2400" dirty="0">
                <a:latin typeface="Times New Roman" pitchFamily="18" charset="0"/>
                <a:cs typeface="Times New Roman" pitchFamily="18" charset="0"/>
              </a:rPr>
              <a:t>Legal Challenges in Cloud Forensics </a:t>
            </a:r>
          </a:p>
          <a:p>
            <a:r>
              <a:rPr lang="en-US" sz="2400" dirty="0">
                <a:latin typeface="Times New Roman" pitchFamily="18" charset="0"/>
                <a:cs typeface="Times New Roman" pitchFamily="18" charset="0"/>
              </a:rPr>
              <a:t>4.2.1 Service Level Agreements </a:t>
            </a:r>
          </a:p>
          <a:p>
            <a:r>
              <a:rPr lang="en-US" sz="2400" dirty="0">
                <a:latin typeface="Times New Roman" pitchFamily="18" charset="0"/>
                <a:cs typeface="Times New Roman" pitchFamily="18" charset="0"/>
              </a:rPr>
              <a:t>4.2.2 Jurisdiction Issues </a:t>
            </a:r>
          </a:p>
          <a:p>
            <a:r>
              <a:rPr lang="en-US" sz="2400" dirty="0">
                <a:latin typeface="Times New Roman" pitchFamily="18" charset="0"/>
                <a:cs typeface="Times New Roman" pitchFamily="18" charset="0"/>
              </a:rPr>
              <a:t>4.2.3 Accessing Evidence in the Cloud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Algerian" pitchFamily="82" charset="0"/>
              </a:rPr>
              <a:t>Legal Challenges in Cloud Forensics</a:t>
            </a:r>
            <a:br>
              <a:rPr lang="en-US" dirty="0">
                <a:latin typeface="Algerian" pitchFamily="82" charset="0"/>
              </a:rPr>
            </a:br>
            <a:endParaRPr lang="en-US" dirty="0">
              <a:latin typeface="Algerian" pitchFamily="82" charset="0"/>
            </a:endParaRPr>
          </a:p>
        </p:txBody>
      </p:sp>
      <p:sp>
        <p:nvSpPr>
          <p:cNvPr id="3" name="Content Placeholder 2"/>
          <p:cNvSpPr>
            <a:spLocks noGrp="1"/>
          </p:cNvSpPr>
          <p:nvPr>
            <p:ph idx="1"/>
          </p:nvPr>
        </p:nvSpPr>
        <p:spPr/>
        <p:txBody>
          <a:bodyPr>
            <a:normAutofit fontScale="92500" lnSpcReduction="20000"/>
          </a:bodyPr>
          <a:lstStyle/>
          <a:p>
            <a:pPr>
              <a:buNone/>
            </a:pPr>
            <a:r>
              <a:rPr lang="en-US" sz="2400" b="1" dirty="0">
                <a:latin typeface="Times New Roman" pitchFamily="18" charset="0"/>
                <a:cs typeface="Times New Roman" pitchFamily="18" charset="0"/>
              </a:rPr>
              <a:t>Service Level Agreements</a:t>
            </a:r>
          </a:p>
          <a:p>
            <a:pPr>
              <a:buFont typeface="Wingdings" pitchFamily="2" charset="2"/>
              <a:buChar char="Ø"/>
            </a:pPr>
            <a:r>
              <a:rPr lang="en-US" sz="2400" dirty="0">
                <a:latin typeface="Times New Roman" pitchFamily="18" charset="0"/>
                <a:cs typeface="Times New Roman" pitchFamily="18" charset="0"/>
              </a:rPr>
              <a:t>Service Level Agreements (SLAs) define the responsibilities and expectations between cloud service providers and customers. Challenges include:</a:t>
            </a:r>
          </a:p>
          <a:p>
            <a:pPr>
              <a:buFont typeface="Wingdings" pitchFamily="2" charset="2"/>
              <a:buChar char="Ø"/>
            </a:pPr>
            <a:r>
              <a:rPr lang="en-US" sz="2400" dirty="0">
                <a:latin typeface="Times New Roman" pitchFamily="18" charset="0"/>
                <a:cs typeface="Times New Roman" pitchFamily="18" charset="0"/>
              </a:rPr>
              <a:t>Lack of clarity in terms of data ownership and security responsibilities.</a:t>
            </a:r>
          </a:p>
          <a:p>
            <a:pPr>
              <a:buFont typeface="Wingdings" pitchFamily="2" charset="2"/>
              <a:buChar char="Ø"/>
            </a:pPr>
            <a:r>
              <a:rPr lang="en-US" sz="2400" dirty="0">
                <a:latin typeface="Times New Roman" pitchFamily="18" charset="0"/>
                <a:cs typeface="Times New Roman" pitchFamily="18" charset="0"/>
              </a:rPr>
              <a:t>Limited access to forensic data due to provider policies.</a:t>
            </a:r>
          </a:p>
          <a:p>
            <a:pPr>
              <a:buFont typeface="Wingdings" pitchFamily="2" charset="2"/>
              <a:buChar char="Ø"/>
            </a:pPr>
            <a:r>
              <a:rPr lang="en-US" sz="2400" dirty="0">
                <a:latin typeface="Times New Roman" pitchFamily="18" charset="0"/>
                <a:cs typeface="Times New Roman" pitchFamily="18" charset="0"/>
              </a:rPr>
              <a:t>Varying SLA terms across different vendors, complicating forensic investigations.</a:t>
            </a:r>
          </a:p>
          <a:p>
            <a:endParaRPr lang="en-US" sz="2400" dirty="0">
              <a:latin typeface="Times New Roman" pitchFamily="18" charset="0"/>
              <a:cs typeface="Times New Roman"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Algerian" pitchFamily="82" charset="0"/>
              </a:rPr>
              <a:t>Legal Challenges in Cloud Forensics</a:t>
            </a:r>
            <a:br>
              <a:rPr lang="en-US" dirty="0">
                <a:latin typeface="Algerian" pitchFamily="82" charset="0"/>
              </a:rPr>
            </a:br>
            <a:endParaRPr lang="en-US" dirty="0"/>
          </a:p>
        </p:txBody>
      </p:sp>
      <p:sp>
        <p:nvSpPr>
          <p:cNvPr id="3" name="Content Placeholder 2"/>
          <p:cNvSpPr>
            <a:spLocks noGrp="1"/>
          </p:cNvSpPr>
          <p:nvPr>
            <p:ph idx="1"/>
          </p:nvPr>
        </p:nvSpPr>
        <p:spPr/>
        <p:txBody>
          <a:bodyPr>
            <a:normAutofit fontScale="92500"/>
          </a:bodyPr>
          <a:lstStyle/>
          <a:p>
            <a:pPr>
              <a:buNone/>
            </a:pPr>
            <a:r>
              <a:rPr lang="en-US" sz="2400" b="1" dirty="0">
                <a:latin typeface="Times New Roman" pitchFamily="18" charset="0"/>
                <a:cs typeface="Times New Roman" pitchFamily="18" charset="0"/>
              </a:rPr>
              <a:t>Jurisdiction Issues</a:t>
            </a:r>
          </a:p>
          <a:p>
            <a:pPr>
              <a:buFont typeface="Wingdings" pitchFamily="2" charset="2"/>
              <a:buChar char="Ø"/>
            </a:pPr>
            <a:r>
              <a:rPr lang="en-US" sz="2400" dirty="0">
                <a:latin typeface="Times New Roman" pitchFamily="18" charset="0"/>
                <a:cs typeface="Times New Roman" pitchFamily="18" charset="0"/>
              </a:rPr>
              <a:t>Cloud data can be stored in multiple locations across different countries, leading to jurisdictional challenges such as:</a:t>
            </a:r>
          </a:p>
          <a:p>
            <a:pPr>
              <a:buFont typeface="Wingdings" pitchFamily="2" charset="2"/>
              <a:buChar char="Ø"/>
            </a:pPr>
            <a:r>
              <a:rPr lang="en-US" sz="2400" dirty="0">
                <a:latin typeface="Times New Roman" pitchFamily="18" charset="0"/>
                <a:cs typeface="Times New Roman" pitchFamily="18" charset="0"/>
              </a:rPr>
              <a:t>Conflicts between international laws and regulations.</a:t>
            </a:r>
          </a:p>
          <a:p>
            <a:pPr>
              <a:buFont typeface="Wingdings" pitchFamily="2" charset="2"/>
              <a:buChar char="Ø"/>
            </a:pPr>
            <a:r>
              <a:rPr lang="en-US" sz="2400" dirty="0">
                <a:latin typeface="Times New Roman" pitchFamily="18" charset="0"/>
                <a:cs typeface="Times New Roman" pitchFamily="18" charset="0"/>
              </a:rPr>
              <a:t>Difficulty obtaining evidence from foreign jurisdictions.</a:t>
            </a:r>
          </a:p>
          <a:p>
            <a:pPr>
              <a:buFont typeface="Wingdings" pitchFamily="2" charset="2"/>
              <a:buChar char="Ø"/>
            </a:pPr>
            <a:r>
              <a:rPr lang="en-US" sz="2400" dirty="0">
                <a:latin typeface="Times New Roman" pitchFamily="18" charset="0"/>
                <a:cs typeface="Times New Roman" pitchFamily="18" charset="0"/>
              </a:rPr>
              <a:t>Compliance requirements varying by country, impacting forensic procedures</a:t>
            </a:r>
          </a:p>
          <a:p>
            <a:endParaRPr lang="en-US" sz="2400" dirty="0">
              <a:latin typeface="Times New Roman" pitchFamily="18" charset="0"/>
              <a:cs typeface="Times New Roman"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Algerian" pitchFamily="82" charset="0"/>
              </a:rPr>
              <a:t>Legal Challenges in Cloud Forensics</a:t>
            </a:r>
            <a:br>
              <a:rPr lang="en-US" dirty="0">
                <a:latin typeface="Algerian" pitchFamily="82" charset="0"/>
              </a:rPr>
            </a:br>
            <a:endParaRPr lang="en-US" dirty="0"/>
          </a:p>
        </p:txBody>
      </p:sp>
      <p:sp>
        <p:nvSpPr>
          <p:cNvPr id="3" name="Content Placeholder 2"/>
          <p:cNvSpPr>
            <a:spLocks noGrp="1"/>
          </p:cNvSpPr>
          <p:nvPr>
            <p:ph idx="1"/>
          </p:nvPr>
        </p:nvSpPr>
        <p:spPr/>
        <p:txBody>
          <a:bodyPr>
            <a:normAutofit fontScale="92500" lnSpcReduction="20000"/>
          </a:bodyPr>
          <a:lstStyle/>
          <a:p>
            <a:pPr>
              <a:buNone/>
            </a:pPr>
            <a:r>
              <a:rPr lang="en-US" sz="2400" b="1" dirty="0">
                <a:latin typeface="Times New Roman" pitchFamily="18" charset="0"/>
                <a:cs typeface="Times New Roman" pitchFamily="18" charset="0"/>
              </a:rPr>
              <a:t>Accessing Evidence in the Cloud</a:t>
            </a:r>
          </a:p>
          <a:p>
            <a:pPr>
              <a:buFont typeface="Wingdings" pitchFamily="2" charset="2"/>
              <a:buChar char="Ø"/>
            </a:pPr>
            <a:r>
              <a:rPr lang="en-US" sz="2400" dirty="0">
                <a:latin typeface="Times New Roman" pitchFamily="18" charset="0"/>
                <a:cs typeface="Times New Roman" pitchFamily="18" charset="0"/>
              </a:rPr>
              <a:t>Challenges in accessing cloud-based forensic evidence include:</a:t>
            </a:r>
          </a:p>
          <a:p>
            <a:pPr>
              <a:buFont typeface="Wingdings" pitchFamily="2" charset="2"/>
              <a:buChar char="Ø"/>
            </a:pPr>
            <a:r>
              <a:rPr lang="en-US" sz="2400" dirty="0">
                <a:latin typeface="Times New Roman" pitchFamily="18" charset="0"/>
                <a:cs typeface="Times New Roman" pitchFamily="18" charset="0"/>
              </a:rPr>
              <a:t>Dependence on cloud providers for log access and data retrieval.</a:t>
            </a:r>
          </a:p>
          <a:p>
            <a:pPr>
              <a:buFont typeface="Wingdings" pitchFamily="2" charset="2"/>
              <a:buChar char="Ø"/>
            </a:pPr>
            <a:r>
              <a:rPr lang="en-US" sz="2400" dirty="0">
                <a:latin typeface="Times New Roman" pitchFamily="18" charset="0"/>
                <a:cs typeface="Times New Roman" pitchFamily="18" charset="0"/>
              </a:rPr>
              <a:t>Encryption and security mechanisms that hinder data extraction.</a:t>
            </a:r>
          </a:p>
          <a:p>
            <a:pPr>
              <a:buFont typeface="Wingdings" pitchFamily="2" charset="2"/>
              <a:buChar char="Ø"/>
            </a:pPr>
            <a:r>
              <a:rPr lang="en-US" sz="2400" dirty="0">
                <a:latin typeface="Times New Roman" pitchFamily="18" charset="0"/>
                <a:cs typeface="Times New Roman" pitchFamily="18" charset="0"/>
              </a:rPr>
              <a:t>Lack of standardized forensic procedures across cloud platforms.</a:t>
            </a:r>
          </a:p>
          <a:p>
            <a:endParaRPr lang="en-US" sz="2400" dirty="0">
              <a:latin typeface="Times New Roman" pitchFamily="18" charset="0"/>
              <a:cs typeface="Times New Roman"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Algerian" pitchFamily="82" charset="0"/>
              </a:rPr>
              <a:t>Technical Challenges in Cloud Forensics</a:t>
            </a:r>
          </a:p>
        </p:txBody>
      </p:sp>
      <p:sp>
        <p:nvSpPr>
          <p:cNvPr id="3" name="Content Placeholder 2"/>
          <p:cNvSpPr>
            <a:spLocks noGrp="1"/>
          </p:cNvSpPr>
          <p:nvPr>
            <p:ph idx="1"/>
          </p:nvPr>
        </p:nvSpPr>
        <p:spPr/>
        <p:txBody>
          <a:bodyPr>
            <a:normAutofit/>
          </a:bodyPr>
          <a:lstStyle/>
          <a:p>
            <a:pPr>
              <a:buFont typeface="Wingdings" pitchFamily="2" charset="2"/>
              <a:buChar char="Ø"/>
            </a:pPr>
            <a:r>
              <a:rPr lang="en-US" sz="2400" dirty="0">
                <a:latin typeface="Times New Roman" pitchFamily="18" charset="0"/>
                <a:cs typeface="Times New Roman" pitchFamily="18" charset="0"/>
              </a:rPr>
              <a:t>Cloud forensics is a specialized field of digital forensics that deals with the investigation and analysis of incidents in cloud environments. </a:t>
            </a:r>
          </a:p>
          <a:p>
            <a:pPr>
              <a:buFont typeface="Wingdings" pitchFamily="2" charset="2"/>
              <a:buChar char="Ø"/>
            </a:pPr>
            <a:r>
              <a:rPr lang="en-US" sz="2400" dirty="0">
                <a:latin typeface="Times New Roman" pitchFamily="18" charset="0"/>
                <a:cs typeface="Times New Roman" pitchFamily="18" charset="0"/>
              </a:rPr>
              <a:t>As cloud computing becomes more widespread, the challenges of forensics in such environments have grown increasingly complex.</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Algerian" pitchFamily="82" charset="0"/>
              </a:rPr>
              <a:t>Technical Challenges in Cloud Forensics</a:t>
            </a:r>
            <a:endParaRPr lang="en-US" dirty="0"/>
          </a:p>
        </p:txBody>
      </p:sp>
      <p:sp>
        <p:nvSpPr>
          <p:cNvPr id="3" name="Content Placeholder 2"/>
          <p:cNvSpPr>
            <a:spLocks noGrp="1"/>
          </p:cNvSpPr>
          <p:nvPr>
            <p:ph idx="1"/>
          </p:nvPr>
        </p:nvSpPr>
        <p:spPr/>
        <p:txBody>
          <a:bodyPr>
            <a:normAutofit fontScale="85000" lnSpcReduction="20000"/>
          </a:bodyPr>
          <a:lstStyle/>
          <a:p>
            <a:pPr>
              <a:buNone/>
            </a:pPr>
            <a:r>
              <a:rPr lang="en-US" sz="2400" b="1" dirty="0">
                <a:latin typeface="Times New Roman" pitchFamily="18" charset="0"/>
                <a:cs typeface="Times New Roman" pitchFamily="18" charset="0"/>
              </a:rPr>
              <a:t>1.Distributed Nature of Cloud Infrastructure</a:t>
            </a:r>
          </a:p>
          <a:p>
            <a:pPr>
              <a:buNone/>
            </a:pPr>
            <a:endParaRPr lang="en-US" sz="2400" b="1" dirty="0">
              <a:latin typeface="Times New Roman" pitchFamily="18" charset="0"/>
              <a:cs typeface="Times New Roman" pitchFamily="18" charset="0"/>
            </a:endParaRPr>
          </a:p>
          <a:p>
            <a:pPr>
              <a:buNone/>
            </a:pPr>
            <a:r>
              <a:rPr lang="en-US" sz="2400" b="1" dirty="0">
                <a:latin typeface="Times New Roman" pitchFamily="18" charset="0"/>
                <a:cs typeface="Times New Roman" pitchFamily="18" charset="0"/>
              </a:rPr>
              <a:t>Challenge</a:t>
            </a:r>
            <a:r>
              <a:rPr lang="en-US" sz="2400" dirty="0">
                <a:latin typeface="Times New Roman" pitchFamily="18" charset="0"/>
                <a:cs typeface="Times New Roman" pitchFamily="18" charset="0"/>
              </a:rPr>
              <a:t>: Cloud environments are inherently distributed, meaning data and services are spread across multiple physical and virtual </a:t>
            </a:r>
            <a:r>
              <a:rPr lang="en-US" sz="2400" dirty="0" err="1">
                <a:latin typeface="Times New Roman" pitchFamily="18" charset="0"/>
                <a:cs typeface="Times New Roman" pitchFamily="18" charset="0"/>
              </a:rPr>
              <a:t>servers.This</a:t>
            </a:r>
            <a:r>
              <a:rPr lang="en-US" sz="2400" dirty="0">
                <a:latin typeface="Times New Roman" pitchFamily="18" charset="0"/>
                <a:cs typeface="Times New Roman" pitchFamily="18" charset="0"/>
              </a:rPr>
              <a:t> makes tracking and collecting evidence more difficult because the data may be stored in different regions or on different platforms, and it could be subject to different legal frameworks.</a:t>
            </a:r>
          </a:p>
          <a:p>
            <a:pPr>
              <a:buNone/>
            </a:pPr>
            <a:r>
              <a:rPr lang="en-US" sz="2400" b="1" dirty="0">
                <a:latin typeface="Times New Roman" pitchFamily="18" charset="0"/>
                <a:cs typeface="Times New Roman" pitchFamily="18" charset="0"/>
              </a:rPr>
              <a:t>Impact</a:t>
            </a:r>
            <a:r>
              <a:rPr lang="en-US" sz="2400" dirty="0">
                <a:latin typeface="Times New Roman" pitchFamily="18" charset="0"/>
                <a:cs typeface="Times New Roman" pitchFamily="18" charset="0"/>
              </a:rPr>
              <a:t>: Investigators must deal with potential latency, data fragmentation, issues when collecting and analyzing cloud-based evidence.</a:t>
            </a:r>
          </a:p>
          <a:p>
            <a:endParaRPr lang="en-US" sz="2400" dirty="0">
              <a:latin typeface="Times New Roman" pitchFamily="18" charset="0"/>
              <a:cs typeface="Times New Roman"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Algerian" pitchFamily="82" charset="0"/>
              </a:rPr>
              <a:t>Technical Challenges in Cloud Forensics</a:t>
            </a:r>
            <a:endParaRPr lang="en-US" dirty="0"/>
          </a:p>
        </p:txBody>
      </p:sp>
      <p:sp>
        <p:nvSpPr>
          <p:cNvPr id="3" name="Content Placeholder 2"/>
          <p:cNvSpPr>
            <a:spLocks noGrp="1"/>
          </p:cNvSpPr>
          <p:nvPr>
            <p:ph idx="1"/>
          </p:nvPr>
        </p:nvSpPr>
        <p:spPr/>
        <p:txBody>
          <a:bodyPr>
            <a:noAutofit/>
          </a:bodyPr>
          <a:lstStyle/>
          <a:p>
            <a:pPr>
              <a:buNone/>
            </a:pPr>
            <a:r>
              <a:rPr lang="en-US" sz="2400" b="1" dirty="0">
                <a:latin typeface="Times New Roman" pitchFamily="18" charset="0"/>
                <a:cs typeface="Times New Roman" pitchFamily="18" charset="0"/>
              </a:rPr>
              <a:t>2.Lack of Control Over Cloud Infrastructure</a:t>
            </a:r>
          </a:p>
          <a:p>
            <a:pPr>
              <a:buNone/>
            </a:pPr>
            <a:endParaRPr lang="en-US" sz="2400" b="1" dirty="0">
              <a:latin typeface="Times New Roman" pitchFamily="18" charset="0"/>
              <a:cs typeface="Times New Roman" pitchFamily="18" charset="0"/>
            </a:endParaRPr>
          </a:p>
          <a:p>
            <a:pPr>
              <a:buNone/>
            </a:pPr>
            <a:r>
              <a:rPr lang="en-US" sz="2400" b="1" dirty="0">
                <a:latin typeface="Times New Roman" pitchFamily="18" charset="0"/>
                <a:cs typeface="Times New Roman" pitchFamily="18" charset="0"/>
              </a:rPr>
              <a:t>Challenge</a:t>
            </a:r>
            <a:r>
              <a:rPr lang="en-US" sz="2400" dirty="0">
                <a:latin typeface="Times New Roman" pitchFamily="18" charset="0"/>
                <a:cs typeface="Times New Roman" pitchFamily="18" charset="0"/>
              </a:rPr>
              <a:t>: In a cloud environment, users often don't have direct access to the underlying physical hardware, limiting their ability to collect data directly from servers or storage devices. The cloud service provider (CSP) manages and controls the infrastructure, which means that investigators must rely on the CSP’s cooperation to access logs and other evidence.</a:t>
            </a:r>
          </a:p>
          <a:p>
            <a:pPr>
              <a:buNone/>
            </a:pPr>
            <a:r>
              <a:rPr lang="en-US" sz="2400" b="1" dirty="0">
                <a:latin typeface="Times New Roman" pitchFamily="18" charset="0"/>
                <a:cs typeface="Times New Roman" pitchFamily="18" charset="0"/>
              </a:rPr>
              <a:t>Impact</a:t>
            </a:r>
            <a:r>
              <a:rPr lang="en-US" sz="2400" dirty="0">
                <a:latin typeface="Times New Roman" pitchFamily="18" charset="0"/>
                <a:cs typeface="Times New Roman" pitchFamily="18" charset="0"/>
              </a:rPr>
              <a:t>: There may be challenges in obtaining critical logs, especially if the provider doesn't retain them for the required duration or doesn't offer adequate log granularity.</a:t>
            </a:r>
          </a:p>
          <a:p>
            <a:endParaRPr lang="en-US" sz="2400" dirty="0">
              <a:latin typeface="Times New Roman" pitchFamily="18" charset="0"/>
              <a:cs typeface="Times New Roman"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Algerian" pitchFamily="82" charset="0"/>
              </a:rPr>
              <a:t>Technical Challenges in Cloud Forensics</a:t>
            </a:r>
            <a:endParaRPr lang="en-US" dirty="0"/>
          </a:p>
        </p:txBody>
      </p:sp>
      <p:sp>
        <p:nvSpPr>
          <p:cNvPr id="3" name="Content Placeholder 2"/>
          <p:cNvSpPr>
            <a:spLocks noGrp="1"/>
          </p:cNvSpPr>
          <p:nvPr>
            <p:ph idx="1"/>
          </p:nvPr>
        </p:nvSpPr>
        <p:spPr/>
        <p:txBody>
          <a:bodyPr>
            <a:normAutofit fontScale="92500" lnSpcReduction="20000"/>
          </a:bodyPr>
          <a:lstStyle/>
          <a:p>
            <a:pPr>
              <a:buNone/>
            </a:pPr>
            <a:r>
              <a:rPr lang="en-US" sz="2400" b="1" dirty="0">
                <a:latin typeface="Times New Roman" pitchFamily="18" charset="0"/>
                <a:cs typeface="Times New Roman" pitchFamily="18" charset="0"/>
              </a:rPr>
              <a:t>3.Encryption</a:t>
            </a:r>
          </a:p>
          <a:p>
            <a:pPr>
              <a:buNone/>
            </a:pPr>
            <a:endParaRPr lang="en-US" sz="2400" b="1" dirty="0">
              <a:latin typeface="Times New Roman" pitchFamily="18" charset="0"/>
              <a:cs typeface="Times New Roman" pitchFamily="18" charset="0"/>
            </a:endParaRPr>
          </a:p>
          <a:p>
            <a:pPr>
              <a:buNone/>
            </a:pPr>
            <a:r>
              <a:rPr lang="en-US" sz="2400" b="1" dirty="0">
                <a:latin typeface="Times New Roman" pitchFamily="18" charset="0"/>
                <a:cs typeface="Times New Roman" pitchFamily="18" charset="0"/>
              </a:rPr>
              <a:t>Challenge</a:t>
            </a:r>
            <a:r>
              <a:rPr lang="en-US" sz="2400" dirty="0">
                <a:latin typeface="Times New Roman" pitchFamily="18" charset="0"/>
                <a:cs typeface="Times New Roman" pitchFamily="18" charset="0"/>
              </a:rPr>
              <a:t>: Cloud service providers often encrypt data both in transit and at rest, and users may also implement their own encryption techniques. This makes it more difficult for investigators to access and analyze data without the proper decryption keys.</a:t>
            </a:r>
          </a:p>
          <a:p>
            <a:pPr>
              <a:buNone/>
            </a:pPr>
            <a:r>
              <a:rPr lang="en-US" sz="2400" b="1" dirty="0">
                <a:latin typeface="Times New Roman" pitchFamily="18" charset="0"/>
                <a:cs typeface="Times New Roman" pitchFamily="18" charset="0"/>
              </a:rPr>
              <a:t>Impact</a:t>
            </a:r>
            <a:r>
              <a:rPr lang="en-US" sz="2400" dirty="0">
                <a:latin typeface="Times New Roman" pitchFamily="18" charset="0"/>
                <a:cs typeface="Times New Roman" pitchFamily="18" charset="0"/>
              </a:rPr>
              <a:t>: Investigators may be blocked from accessing critical data unless they can obtain the necessary keys from the service provider or the cloud customer.</a:t>
            </a:r>
          </a:p>
          <a:p>
            <a:endParaRPr lang="en-US" sz="2400" dirty="0">
              <a:latin typeface="Times New Roman" pitchFamily="18" charset="0"/>
              <a:cs typeface="Times New Roman"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Algerian" pitchFamily="82" charset="0"/>
              </a:rPr>
              <a:t>Technical Challenges in Cloud Forensics</a:t>
            </a:r>
            <a:endParaRPr lang="en-US" dirty="0"/>
          </a:p>
        </p:txBody>
      </p:sp>
      <p:sp>
        <p:nvSpPr>
          <p:cNvPr id="3" name="Content Placeholder 2"/>
          <p:cNvSpPr>
            <a:spLocks noGrp="1"/>
          </p:cNvSpPr>
          <p:nvPr>
            <p:ph idx="1"/>
          </p:nvPr>
        </p:nvSpPr>
        <p:spPr/>
        <p:txBody>
          <a:bodyPr>
            <a:normAutofit fontScale="85000" lnSpcReduction="20000"/>
          </a:bodyPr>
          <a:lstStyle/>
          <a:p>
            <a:pPr>
              <a:buNone/>
            </a:pPr>
            <a:r>
              <a:rPr lang="en-US" sz="2400" b="1" dirty="0">
                <a:latin typeface="Times New Roman" pitchFamily="18" charset="0"/>
                <a:cs typeface="Times New Roman" pitchFamily="18" charset="0"/>
              </a:rPr>
              <a:t>4.Data Fragmentation and Redundancy</a:t>
            </a:r>
          </a:p>
          <a:p>
            <a:pPr>
              <a:buNone/>
            </a:pPr>
            <a:endParaRPr lang="en-US" sz="2400" b="1" dirty="0">
              <a:latin typeface="Times New Roman" pitchFamily="18" charset="0"/>
              <a:cs typeface="Times New Roman" pitchFamily="18" charset="0"/>
            </a:endParaRPr>
          </a:p>
          <a:p>
            <a:pPr>
              <a:buNone/>
            </a:pPr>
            <a:r>
              <a:rPr lang="en-US" sz="2400" b="1" dirty="0">
                <a:latin typeface="Times New Roman" pitchFamily="18" charset="0"/>
                <a:cs typeface="Times New Roman" pitchFamily="18" charset="0"/>
              </a:rPr>
              <a:t>Challenge</a:t>
            </a:r>
            <a:r>
              <a:rPr lang="en-US" sz="2400" dirty="0">
                <a:latin typeface="Times New Roman" pitchFamily="18" charset="0"/>
                <a:cs typeface="Times New Roman" pitchFamily="18" charset="0"/>
              </a:rPr>
              <a:t>: Cloud providers often use techniques like data replication, </a:t>
            </a:r>
            <a:r>
              <a:rPr lang="en-US" sz="2400" dirty="0" err="1">
                <a:latin typeface="Times New Roman" pitchFamily="18" charset="0"/>
                <a:cs typeface="Times New Roman" pitchFamily="18" charset="0"/>
              </a:rPr>
              <a:t>sharding</a:t>
            </a:r>
            <a:r>
              <a:rPr lang="en-US" sz="2400" dirty="0">
                <a:latin typeface="Times New Roman" pitchFamily="18" charset="0"/>
                <a:cs typeface="Times New Roman" pitchFamily="18" charset="0"/>
              </a:rPr>
              <a:t>, and distributed storage to improve performance and reliability. As a result, data may be fragmented across multiple locations, or identical data may be stored in multiple places.</a:t>
            </a:r>
          </a:p>
          <a:p>
            <a:pPr>
              <a:buNone/>
            </a:pPr>
            <a:r>
              <a:rPr lang="en-US" sz="2400" b="1" dirty="0">
                <a:latin typeface="Times New Roman" pitchFamily="18" charset="0"/>
                <a:cs typeface="Times New Roman" pitchFamily="18" charset="0"/>
              </a:rPr>
              <a:t>Impact</a:t>
            </a:r>
            <a:r>
              <a:rPr lang="en-US" sz="2400" dirty="0">
                <a:latin typeface="Times New Roman" pitchFamily="18" charset="0"/>
                <a:cs typeface="Times New Roman" pitchFamily="18" charset="0"/>
              </a:rPr>
              <a:t>: Investigators must determine which copies of the data are relevant and which may contain important timestamps or versions of documents. Finding the original source of data can be time-consuming and difficult.</a:t>
            </a:r>
          </a:p>
          <a:p>
            <a:endParaRPr lang="en-US" sz="2400" dirty="0">
              <a:latin typeface="Times New Roman" pitchFamily="18" charset="0"/>
              <a:cs typeface="Times New Roman"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Algerian" pitchFamily="82" charset="0"/>
              </a:rPr>
              <a:t>Technical Challenges in Cloud Forensics</a:t>
            </a:r>
            <a:endParaRPr lang="en-US" dirty="0"/>
          </a:p>
        </p:txBody>
      </p:sp>
      <p:sp>
        <p:nvSpPr>
          <p:cNvPr id="3" name="Content Placeholder 2"/>
          <p:cNvSpPr>
            <a:spLocks noGrp="1"/>
          </p:cNvSpPr>
          <p:nvPr>
            <p:ph idx="1"/>
          </p:nvPr>
        </p:nvSpPr>
        <p:spPr/>
        <p:txBody>
          <a:bodyPr>
            <a:normAutofit fontScale="85000" lnSpcReduction="20000"/>
          </a:bodyPr>
          <a:lstStyle/>
          <a:p>
            <a:pPr>
              <a:buNone/>
            </a:pPr>
            <a:r>
              <a:rPr lang="en-US" sz="2400" b="1" dirty="0">
                <a:latin typeface="Times New Roman" pitchFamily="18" charset="0"/>
                <a:cs typeface="Times New Roman" pitchFamily="18" charset="0"/>
              </a:rPr>
              <a:t>5.Lack of Standardization</a:t>
            </a:r>
          </a:p>
          <a:p>
            <a:pPr>
              <a:buNone/>
            </a:pPr>
            <a:endParaRPr lang="en-US" sz="2400" b="1" dirty="0">
              <a:latin typeface="Times New Roman" pitchFamily="18" charset="0"/>
              <a:cs typeface="Times New Roman" pitchFamily="18" charset="0"/>
            </a:endParaRPr>
          </a:p>
          <a:p>
            <a:pPr>
              <a:buNone/>
            </a:pPr>
            <a:r>
              <a:rPr lang="en-US" sz="2400" b="1" dirty="0">
                <a:latin typeface="Times New Roman" pitchFamily="18" charset="0"/>
                <a:cs typeface="Times New Roman" pitchFamily="18" charset="0"/>
              </a:rPr>
              <a:t>Challenge</a:t>
            </a:r>
            <a:r>
              <a:rPr lang="en-US" sz="2400" dirty="0">
                <a:latin typeface="Times New Roman" pitchFamily="18" charset="0"/>
                <a:cs typeface="Times New Roman" pitchFamily="18" charset="0"/>
              </a:rPr>
              <a:t>: Unlike traditional on-premise environments, cloud infrastructures do not have standardized forensic tools, techniques, or processes. Different cloud service providers (Amazon Web Services, Microsoft Azure, Google Cloud, etc.) may have different APIs, logging mechanisms, and access controls, complicating the forensic process.</a:t>
            </a:r>
          </a:p>
          <a:p>
            <a:pPr>
              <a:buNone/>
            </a:pPr>
            <a:r>
              <a:rPr lang="en-US" sz="2400" b="1" dirty="0">
                <a:latin typeface="Times New Roman" pitchFamily="18" charset="0"/>
                <a:cs typeface="Times New Roman" pitchFamily="18" charset="0"/>
              </a:rPr>
              <a:t>Impact</a:t>
            </a:r>
            <a:r>
              <a:rPr lang="en-US" sz="2400" dirty="0">
                <a:latin typeface="Times New Roman" pitchFamily="18" charset="0"/>
                <a:cs typeface="Times New Roman" pitchFamily="18" charset="0"/>
              </a:rPr>
              <a:t>: Investigators may need to develop custom solutions to collect and analyze evidence from various cloud platforms, which can lead to inconsistent results.</a:t>
            </a:r>
          </a:p>
          <a:p>
            <a:endParaRPr lang="en-US" sz="2400" dirty="0">
              <a:latin typeface="Times New Roman" pitchFamily="18" charset="0"/>
              <a:cs typeface="Times New Roman"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Algerian" pitchFamily="82" charset="0"/>
              </a:rPr>
              <a:t>Technical Challenges in Cloud Forensics</a:t>
            </a:r>
            <a:endParaRPr lang="en-US" dirty="0"/>
          </a:p>
        </p:txBody>
      </p:sp>
      <p:sp>
        <p:nvSpPr>
          <p:cNvPr id="3" name="Content Placeholder 2"/>
          <p:cNvSpPr>
            <a:spLocks noGrp="1"/>
          </p:cNvSpPr>
          <p:nvPr>
            <p:ph idx="1"/>
          </p:nvPr>
        </p:nvSpPr>
        <p:spPr/>
        <p:txBody>
          <a:bodyPr>
            <a:normAutofit fontScale="92500" lnSpcReduction="20000"/>
          </a:bodyPr>
          <a:lstStyle/>
          <a:p>
            <a:pPr>
              <a:buNone/>
            </a:pPr>
            <a:r>
              <a:rPr lang="en-US" sz="2400" b="1" dirty="0">
                <a:latin typeface="Times New Roman" pitchFamily="18" charset="0"/>
                <a:cs typeface="Times New Roman" pitchFamily="18" charset="0"/>
              </a:rPr>
              <a:t>6.Time-Related Issues</a:t>
            </a:r>
          </a:p>
          <a:p>
            <a:pPr>
              <a:buNone/>
            </a:pPr>
            <a:endParaRPr lang="en-US" sz="2400" b="1" dirty="0">
              <a:latin typeface="Times New Roman" pitchFamily="18" charset="0"/>
              <a:cs typeface="Times New Roman" pitchFamily="18" charset="0"/>
            </a:endParaRPr>
          </a:p>
          <a:p>
            <a:pPr>
              <a:buNone/>
            </a:pPr>
            <a:r>
              <a:rPr lang="en-US" sz="2400" b="1" dirty="0">
                <a:latin typeface="Times New Roman" pitchFamily="18" charset="0"/>
                <a:cs typeface="Times New Roman" pitchFamily="18" charset="0"/>
              </a:rPr>
              <a:t>Challenge</a:t>
            </a:r>
            <a:r>
              <a:rPr lang="en-US" sz="2400" dirty="0">
                <a:latin typeface="Times New Roman" pitchFamily="18" charset="0"/>
                <a:cs typeface="Times New Roman" pitchFamily="18" charset="0"/>
              </a:rPr>
              <a:t>: Cloud systems may be spread across different time zones, and there can be discrepancies in timestamps across services. Additionally, cloud providers may use different time synchronization methods (e.g., UTC </a:t>
            </a:r>
            <a:r>
              <a:rPr lang="en-US" sz="2400" dirty="0" err="1">
                <a:latin typeface="Times New Roman" pitchFamily="18" charset="0"/>
                <a:cs typeface="Times New Roman" pitchFamily="18" charset="0"/>
              </a:rPr>
              <a:t>vs</a:t>
            </a:r>
            <a:r>
              <a:rPr lang="en-US" sz="2400" dirty="0">
                <a:latin typeface="Times New Roman" pitchFamily="18" charset="0"/>
                <a:cs typeface="Times New Roman" pitchFamily="18" charset="0"/>
              </a:rPr>
              <a:t> local time).</a:t>
            </a:r>
          </a:p>
          <a:p>
            <a:pPr>
              <a:buNone/>
            </a:pPr>
            <a:r>
              <a:rPr lang="en-US" sz="2400" b="1" dirty="0">
                <a:latin typeface="Times New Roman" pitchFamily="18" charset="0"/>
                <a:cs typeface="Times New Roman" pitchFamily="18" charset="0"/>
              </a:rPr>
              <a:t>Impact</a:t>
            </a:r>
            <a:r>
              <a:rPr lang="en-US" sz="2400" dirty="0">
                <a:latin typeface="Times New Roman" pitchFamily="18" charset="0"/>
                <a:cs typeface="Times New Roman" pitchFamily="18" charset="0"/>
              </a:rPr>
              <a:t>: Timestamps may not match up perfectly, making it difficult to correlate events or establish a timeline of activities.</a:t>
            </a:r>
          </a:p>
          <a:p>
            <a:endParaRPr lang="en-US" sz="2400" dirty="0">
              <a:latin typeface="Times New Roman" pitchFamily="18" charset="0"/>
              <a:cs typeface="Times New Roman"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Algerian" pitchFamily="82" charset="0"/>
              </a:rPr>
              <a:t>Technical Challenges in Cloud Forensics</a:t>
            </a:r>
            <a:endParaRPr lang="en-US" dirty="0"/>
          </a:p>
        </p:txBody>
      </p:sp>
      <p:sp>
        <p:nvSpPr>
          <p:cNvPr id="3" name="Content Placeholder 2"/>
          <p:cNvSpPr>
            <a:spLocks noGrp="1"/>
          </p:cNvSpPr>
          <p:nvPr>
            <p:ph idx="1"/>
          </p:nvPr>
        </p:nvSpPr>
        <p:spPr/>
        <p:txBody>
          <a:bodyPr>
            <a:normAutofit fontScale="85000" lnSpcReduction="20000"/>
          </a:bodyPr>
          <a:lstStyle/>
          <a:p>
            <a:pPr>
              <a:buNone/>
            </a:pPr>
            <a:r>
              <a:rPr lang="en-US" sz="2400" b="1" dirty="0">
                <a:latin typeface="Times New Roman" pitchFamily="18" charset="0"/>
                <a:cs typeface="Times New Roman" pitchFamily="18" charset="0"/>
              </a:rPr>
              <a:t>7.Cloud Provider’s Internal Forensic Tools</a:t>
            </a:r>
          </a:p>
          <a:p>
            <a:pPr>
              <a:buNone/>
            </a:pPr>
            <a:endParaRPr lang="en-US" sz="2400" b="1" dirty="0">
              <a:latin typeface="Times New Roman" pitchFamily="18" charset="0"/>
              <a:cs typeface="Times New Roman" pitchFamily="18" charset="0"/>
            </a:endParaRPr>
          </a:p>
          <a:p>
            <a:pPr>
              <a:buNone/>
            </a:pPr>
            <a:r>
              <a:rPr lang="en-US" sz="2400" b="1" dirty="0">
                <a:latin typeface="Times New Roman" pitchFamily="18" charset="0"/>
                <a:cs typeface="Times New Roman" pitchFamily="18" charset="0"/>
              </a:rPr>
              <a:t>Challenge</a:t>
            </a:r>
            <a:r>
              <a:rPr lang="en-US" sz="2400" dirty="0">
                <a:latin typeface="Times New Roman" pitchFamily="18" charset="0"/>
                <a:cs typeface="Times New Roman" pitchFamily="18" charset="0"/>
              </a:rPr>
              <a:t>: Many cloud providers offer internal forensic tools to help monitor and investigate suspicious activity. However, these tools may not always be accessible to external investigators or law enforcement without proper legal or administrative access.</a:t>
            </a:r>
          </a:p>
          <a:p>
            <a:pPr>
              <a:buNone/>
            </a:pPr>
            <a:r>
              <a:rPr lang="en-US" sz="2400" b="1" dirty="0">
                <a:latin typeface="Times New Roman" pitchFamily="18" charset="0"/>
                <a:cs typeface="Times New Roman" pitchFamily="18" charset="0"/>
              </a:rPr>
              <a:t>Impact</a:t>
            </a:r>
            <a:r>
              <a:rPr lang="en-US" sz="2400" dirty="0">
                <a:latin typeface="Times New Roman" pitchFamily="18" charset="0"/>
                <a:cs typeface="Times New Roman" pitchFamily="18" charset="0"/>
              </a:rPr>
              <a:t>: External forensic teams may be at a disadvantage if they cannot access the cloud provider’s built-in tools, or they may not have access to the same level of visibility as the provider’s internal team.</a:t>
            </a:r>
          </a:p>
          <a:p>
            <a:endParaRPr lang="en-US" sz="2400" dirty="0">
              <a:latin typeface="Times New Roman" pitchFamily="18" charset="0"/>
              <a:cs typeface="Times New Roman"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Algerian" pitchFamily="82" charset="0"/>
              </a:rPr>
              <a:t>Technical Challenges in Cloud Forensics</a:t>
            </a:r>
            <a:endParaRPr lang="en-US" dirty="0"/>
          </a:p>
        </p:txBody>
      </p:sp>
      <p:sp>
        <p:nvSpPr>
          <p:cNvPr id="3" name="Content Placeholder 2"/>
          <p:cNvSpPr>
            <a:spLocks noGrp="1"/>
          </p:cNvSpPr>
          <p:nvPr>
            <p:ph idx="1"/>
          </p:nvPr>
        </p:nvSpPr>
        <p:spPr/>
        <p:txBody>
          <a:bodyPr>
            <a:normAutofit fontScale="85000" lnSpcReduction="10000"/>
          </a:bodyPr>
          <a:lstStyle/>
          <a:p>
            <a:pPr>
              <a:buNone/>
            </a:pPr>
            <a:r>
              <a:rPr lang="en-US" sz="2400" b="1" dirty="0">
                <a:latin typeface="Times New Roman" pitchFamily="18" charset="0"/>
                <a:cs typeface="Times New Roman" pitchFamily="18" charset="0"/>
              </a:rPr>
              <a:t>8.Data Integrity and Chain of Custody</a:t>
            </a:r>
          </a:p>
          <a:p>
            <a:pPr>
              <a:buNone/>
            </a:pPr>
            <a:endParaRPr lang="en-US" sz="2400" b="1" dirty="0">
              <a:latin typeface="Times New Roman" pitchFamily="18" charset="0"/>
              <a:cs typeface="Times New Roman" pitchFamily="18" charset="0"/>
            </a:endParaRPr>
          </a:p>
          <a:p>
            <a:pPr>
              <a:buNone/>
            </a:pPr>
            <a:r>
              <a:rPr lang="en-US" sz="2400" b="1" dirty="0">
                <a:latin typeface="Times New Roman" pitchFamily="18" charset="0"/>
                <a:cs typeface="Times New Roman" pitchFamily="18" charset="0"/>
              </a:rPr>
              <a:t>Challenge</a:t>
            </a:r>
            <a:r>
              <a:rPr lang="en-US" sz="2400" dirty="0">
                <a:latin typeface="Times New Roman" pitchFamily="18" charset="0"/>
                <a:cs typeface="Times New Roman" pitchFamily="18" charset="0"/>
              </a:rPr>
              <a:t>: Maintaining the integrity and authenticity of data is crucial in forensic investigations. In the cloud, ensuring the integrity of data from collection to presentation in court can be difficult due to the distributed nature of the environment and the reliance on third-party providers.</a:t>
            </a:r>
          </a:p>
          <a:p>
            <a:pPr>
              <a:buNone/>
            </a:pPr>
            <a:r>
              <a:rPr lang="en-US" sz="2400" b="1" dirty="0">
                <a:latin typeface="Times New Roman" pitchFamily="18" charset="0"/>
                <a:cs typeface="Times New Roman" pitchFamily="18" charset="0"/>
              </a:rPr>
              <a:t>Impact</a:t>
            </a:r>
            <a:r>
              <a:rPr lang="en-US" sz="2400" dirty="0">
                <a:latin typeface="Times New Roman" pitchFamily="18" charset="0"/>
                <a:cs typeface="Times New Roman" pitchFamily="18" charset="0"/>
              </a:rPr>
              <a:t>: The ability to establish a chain of custody may be more complex and less transparent in the cloud, making it harder to prove that the evidence has not been tampered with.</a:t>
            </a:r>
          </a:p>
          <a:p>
            <a:endParaRPr lang="en-US" sz="2400" dirty="0">
              <a:latin typeface="Times New Roman" pitchFamily="18" charset="0"/>
              <a:cs typeface="Times New Roman"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Algerian" pitchFamily="82" charset="0"/>
              </a:rPr>
              <a:t>Cloud Forensics Analysis Process</a:t>
            </a:r>
          </a:p>
        </p:txBody>
      </p:sp>
      <p:sp>
        <p:nvSpPr>
          <p:cNvPr id="3" name="Content Placeholder 2"/>
          <p:cNvSpPr>
            <a:spLocks noGrp="1"/>
          </p:cNvSpPr>
          <p:nvPr>
            <p:ph idx="1"/>
          </p:nvPr>
        </p:nvSpPr>
        <p:spPr/>
        <p:txBody>
          <a:bodyPr>
            <a:normAutofit fontScale="92500" lnSpcReduction="20000"/>
          </a:bodyPr>
          <a:lstStyle/>
          <a:p>
            <a:pPr>
              <a:buNone/>
            </a:pPr>
            <a:r>
              <a:rPr lang="en-US" sz="2400" b="1" dirty="0">
                <a:latin typeface="Times New Roman" pitchFamily="18" charset="0"/>
                <a:cs typeface="Times New Roman" pitchFamily="18" charset="0"/>
              </a:rPr>
              <a:t>Incident Identification and Reporting</a:t>
            </a:r>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Establish an incident response team and ensure an effective reporting mechanism.</a:t>
            </a:r>
          </a:p>
          <a:p>
            <a:pPr>
              <a:buNone/>
            </a:pPr>
            <a:r>
              <a:rPr lang="en-US" sz="2400" b="1" dirty="0">
                <a:latin typeface="Times New Roman" pitchFamily="18" charset="0"/>
                <a:cs typeface="Times New Roman" pitchFamily="18" charset="0"/>
              </a:rPr>
              <a:t>Data Collection</a:t>
            </a:r>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Collect relevant data sources from the cloud (e.g., logs, images, network traffic, virtual machines).</a:t>
            </a:r>
          </a:p>
          <a:p>
            <a:pPr>
              <a:buNone/>
            </a:pPr>
            <a:r>
              <a:rPr lang="en-US" sz="2400" b="1" dirty="0">
                <a:latin typeface="Times New Roman" pitchFamily="18" charset="0"/>
                <a:cs typeface="Times New Roman" pitchFamily="18" charset="0"/>
              </a:rPr>
              <a:t>Data Preservation</a:t>
            </a:r>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Ensure proper preservation methods are followed to maintain the integrity of the evidence.</a:t>
            </a:r>
          </a:p>
          <a:p>
            <a:endParaRPr lang="en-US" sz="2400" dirty="0">
              <a:latin typeface="Times New Roman" pitchFamily="18" charset="0"/>
              <a:cs typeface="Times New Roman"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Algerian" pitchFamily="82" charset="0"/>
              </a:rPr>
              <a:t>Cloud Forensics Analysis Process</a:t>
            </a:r>
            <a:endParaRPr lang="en-US" dirty="0"/>
          </a:p>
        </p:txBody>
      </p:sp>
      <p:sp>
        <p:nvSpPr>
          <p:cNvPr id="3" name="Content Placeholder 2"/>
          <p:cNvSpPr>
            <a:spLocks noGrp="1"/>
          </p:cNvSpPr>
          <p:nvPr>
            <p:ph idx="1"/>
          </p:nvPr>
        </p:nvSpPr>
        <p:spPr/>
        <p:txBody>
          <a:bodyPr>
            <a:normAutofit fontScale="85000" lnSpcReduction="10000"/>
          </a:bodyPr>
          <a:lstStyle/>
          <a:p>
            <a:pPr>
              <a:buNone/>
            </a:pPr>
            <a:r>
              <a:rPr lang="en-US" sz="2400" b="1" dirty="0">
                <a:latin typeface="Times New Roman" pitchFamily="18" charset="0"/>
                <a:cs typeface="Times New Roman" pitchFamily="18" charset="0"/>
              </a:rPr>
              <a:t>Data Examination and Analysis</a:t>
            </a:r>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Analyze the collected data using forensic tools. This may include identifying unauthorized access, detecting anomalies, and correlating activities across different data sources.</a:t>
            </a:r>
          </a:p>
          <a:p>
            <a:pPr>
              <a:buNone/>
            </a:pPr>
            <a:endParaRPr lang="en-US" sz="2400" b="1" dirty="0">
              <a:latin typeface="Times New Roman" pitchFamily="18" charset="0"/>
              <a:cs typeface="Times New Roman" pitchFamily="18" charset="0"/>
            </a:endParaRPr>
          </a:p>
          <a:p>
            <a:pPr>
              <a:buNone/>
            </a:pPr>
            <a:r>
              <a:rPr lang="en-US" sz="2400" b="1" dirty="0">
                <a:latin typeface="Times New Roman" pitchFamily="18" charset="0"/>
                <a:cs typeface="Times New Roman" pitchFamily="18" charset="0"/>
              </a:rPr>
              <a:t>Reporting and Presentation</a:t>
            </a:r>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After analysis, create a report that outlines findings and establishes how the event or breach occurred. Ensure the report is understandable and admissible in a legal setting.</a:t>
            </a:r>
          </a:p>
          <a:p>
            <a:endParaRPr lang="en-US" sz="2400" dirty="0">
              <a:latin typeface="Times New Roman" pitchFamily="18" charset="0"/>
              <a:cs typeface="Times New Roman"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Algerian" pitchFamily="82" charset="0"/>
              </a:rPr>
              <a:t>Cloud Forensics Analysis Process</a:t>
            </a:r>
            <a:endParaRPr lang="en-US" dirty="0"/>
          </a:p>
        </p:txBody>
      </p:sp>
      <p:sp>
        <p:nvSpPr>
          <p:cNvPr id="3" name="Content Placeholder 2"/>
          <p:cNvSpPr>
            <a:spLocks noGrp="1"/>
          </p:cNvSpPr>
          <p:nvPr>
            <p:ph idx="1"/>
          </p:nvPr>
        </p:nvSpPr>
        <p:spPr/>
        <p:txBody>
          <a:bodyPr>
            <a:normAutofit/>
          </a:bodyPr>
          <a:lstStyle/>
          <a:p>
            <a:pPr>
              <a:buNone/>
            </a:pPr>
            <a:r>
              <a:rPr lang="en-US" sz="2400" b="1" dirty="0">
                <a:latin typeface="Times New Roman" pitchFamily="18" charset="0"/>
                <a:cs typeface="Times New Roman" pitchFamily="18" charset="0"/>
              </a:rPr>
              <a:t>Post-Incident Remediation</a:t>
            </a:r>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After completing the analysis, provide recommendations for improving security and preventing future incidents.</a:t>
            </a:r>
          </a:p>
          <a:p>
            <a:endParaRPr lang="en-US" sz="2400" dirty="0">
              <a:latin typeface="Times New Roman" pitchFamily="18" charset="0"/>
              <a:cs typeface="Times New Roman"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Algerian" pitchFamily="82" charset="0"/>
                <a:cs typeface="Times New Roman" pitchFamily="18" charset="0"/>
              </a:rPr>
              <a:t>Technologies Supporting Cloud Forensic Data Analysis</a:t>
            </a:r>
            <a:br>
              <a:rPr lang="en-US" dirty="0">
                <a:latin typeface="Algerian" pitchFamily="82" charset="0"/>
                <a:cs typeface="Times New Roman" pitchFamily="18" charset="0"/>
              </a:rPr>
            </a:br>
            <a:endParaRPr lang="en-US" dirty="0">
              <a:latin typeface="Algerian" pitchFamily="82" charset="0"/>
            </a:endParaRPr>
          </a:p>
        </p:txBody>
      </p:sp>
      <p:sp>
        <p:nvSpPr>
          <p:cNvPr id="3" name="Content Placeholder 2"/>
          <p:cNvSpPr>
            <a:spLocks noGrp="1"/>
          </p:cNvSpPr>
          <p:nvPr>
            <p:ph idx="1"/>
          </p:nvPr>
        </p:nvSpPr>
        <p:spPr/>
        <p:txBody>
          <a:bodyPr>
            <a:normAutofit fontScale="92500" lnSpcReduction="10000"/>
          </a:bodyPr>
          <a:lstStyle/>
          <a:p>
            <a:pPr>
              <a:buNone/>
            </a:pPr>
            <a:endParaRPr lang="en-US" sz="2400" b="1" dirty="0">
              <a:latin typeface="Times New Roman" pitchFamily="18" charset="0"/>
              <a:cs typeface="Times New Roman" pitchFamily="18" charset="0"/>
            </a:endParaRPr>
          </a:p>
          <a:p>
            <a:r>
              <a:rPr lang="en-US" sz="2400" b="1" dirty="0">
                <a:latin typeface="Times New Roman" pitchFamily="18" charset="0"/>
                <a:cs typeface="Times New Roman" pitchFamily="18" charset="0"/>
              </a:rPr>
              <a:t>Machine Learning and AI</a:t>
            </a:r>
            <a:r>
              <a:rPr lang="en-US" sz="2400" dirty="0">
                <a:latin typeface="Times New Roman" pitchFamily="18" charset="0"/>
                <a:cs typeface="Times New Roman" pitchFamily="18" charset="0"/>
              </a:rPr>
              <a:t>: To analyze vast amounts of data quickly and effectively, machine learning algorithms can be employed to detect patterns and anomalies in cloud environments.</a:t>
            </a:r>
          </a:p>
          <a:p>
            <a:endParaRPr lang="en-US" sz="2400" dirty="0">
              <a:latin typeface="Times New Roman" pitchFamily="18" charset="0"/>
              <a:cs typeface="Times New Roman" pitchFamily="18" charset="0"/>
            </a:endParaRPr>
          </a:p>
          <a:p>
            <a:r>
              <a:rPr lang="en-US" sz="2400" b="1" dirty="0" err="1">
                <a:latin typeface="Times New Roman" pitchFamily="18" charset="0"/>
                <a:cs typeface="Times New Roman" pitchFamily="18" charset="0"/>
              </a:rPr>
              <a:t>Blockchain</a:t>
            </a:r>
            <a:r>
              <a:rPr lang="en-US" sz="2400" b="1" dirty="0">
                <a:latin typeface="Times New Roman" pitchFamily="18" charset="0"/>
                <a:cs typeface="Times New Roman" pitchFamily="18" charset="0"/>
              </a:rPr>
              <a:t> for Evidence Integrity</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Blockchain</a:t>
            </a:r>
            <a:r>
              <a:rPr lang="en-US" sz="2400" dirty="0">
                <a:latin typeface="Times New Roman" pitchFamily="18" charset="0"/>
                <a:cs typeface="Times New Roman" pitchFamily="18" charset="0"/>
              </a:rPr>
              <a:t> can be used to create an immutable record of the forensic process, ensuring the integrity of the collected evidence.</a:t>
            </a:r>
          </a:p>
          <a:p>
            <a:endParaRPr lang="en-US" sz="2400" dirty="0">
              <a:latin typeface="Times New Roman" pitchFamily="18" charset="0"/>
              <a:cs typeface="Times New Roman" pitchFamily="18" charset="0"/>
            </a:endParaRPr>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rotWithShape="1">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64</TotalTime>
  <Words>1773</Words>
  <Application>Microsoft Office PowerPoint</Application>
  <PresentationFormat>On-screen Show (4:3)</PresentationFormat>
  <Paragraphs>146</Paragraphs>
  <Slides>28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Algerian</vt:lpstr>
      <vt:lpstr>Arial</vt:lpstr>
      <vt:lpstr>Garamond</vt:lpstr>
      <vt:lpstr>Times New Roman</vt:lpstr>
      <vt:lpstr>Wingdings</vt:lpstr>
      <vt:lpstr>Organic</vt:lpstr>
      <vt:lpstr>Cloud Forensics</vt:lpstr>
      <vt:lpstr>Cloud Forensics</vt:lpstr>
      <vt:lpstr>An Overview of Cloud Computing </vt:lpstr>
      <vt:lpstr>Cloud Service Levels and Deployment Methods </vt:lpstr>
      <vt:lpstr>Cloud Service Levels and Deployment Methods </vt:lpstr>
      <vt:lpstr>Cloud Deployment Models </vt:lpstr>
      <vt:lpstr>Cloud Deployment Models </vt:lpstr>
      <vt:lpstr>Cloud Vendors </vt:lpstr>
      <vt:lpstr>Cloud Vendors </vt:lpstr>
      <vt:lpstr>Concepts of Cloud Forensics </vt:lpstr>
      <vt:lpstr>Concepts of Cloud Forensics </vt:lpstr>
      <vt:lpstr>PowerPoint Presentation</vt:lpstr>
      <vt:lpstr>Legal Challenges in Cloud Forensics </vt:lpstr>
      <vt:lpstr>Legal Challenges in Cloud Forensics </vt:lpstr>
      <vt:lpstr>Legal Challenges in Cloud Forensics </vt:lpstr>
      <vt:lpstr>Technical Challenges in Cloud Forensics</vt:lpstr>
      <vt:lpstr>Technical Challenges in Cloud Forensics</vt:lpstr>
      <vt:lpstr>Technical Challenges in Cloud Forensics</vt:lpstr>
      <vt:lpstr>Technical Challenges in Cloud Forensics</vt:lpstr>
      <vt:lpstr>Technical Challenges in Cloud Forensics</vt:lpstr>
      <vt:lpstr>Technical Challenges in Cloud Forensics</vt:lpstr>
      <vt:lpstr>Technical Challenges in Cloud Forensics</vt:lpstr>
      <vt:lpstr>Technical Challenges in Cloud Forensics</vt:lpstr>
      <vt:lpstr>Technical Challenges in Cloud Forensics</vt:lpstr>
      <vt:lpstr>Cloud Forensics Analysis Process</vt:lpstr>
      <vt:lpstr>Cloud Forensics Analysis Process</vt:lpstr>
      <vt:lpstr>Cloud Forensics Analysis Process</vt:lpstr>
      <vt:lpstr>Technologies Supporting Cloud Forensic Data Analysis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Cloud Forensics</dc:title>
  <dc:creator>Admin</dc:creator>
  <cp:lastModifiedBy>Sammed</cp:lastModifiedBy>
  <cp:revision>9</cp:revision>
  <dcterms:created xsi:type="dcterms:W3CDTF">2025-02-10T07:10:10Z</dcterms:created>
  <dcterms:modified xsi:type="dcterms:W3CDTF">2026-02-25T03:14:13Z</dcterms:modified>
</cp:coreProperties>
</file>