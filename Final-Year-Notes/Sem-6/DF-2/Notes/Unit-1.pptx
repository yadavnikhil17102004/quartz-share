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2" roundtripDataSignature="AMtx7mhEN+ApUKq/3+o+JclHuXHTSoAu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48"/>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8"/>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48"/>
          <p:cNvSpPr txBox="1"/>
          <p:nvPr>
            <p:ph type="ctr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8"/>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4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2" name="Google Shape;22;p48"/>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49"/>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9"/>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9"/>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29" name="Shape 29"/>
        <p:cNvGrpSpPr/>
        <p:nvPr/>
      </p:nvGrpSpPr>
      <p:grpSpPr>
        <a:xfrm>
          <a:off x="0" y="0"/>
          <a:ext cx="0" cy="0"/>
          <a:chOff x="0" y="0"/>
          <a:chExt cx="0" cy="0"/>
        </a:xfrm>
      </p:grpSpPr>
      <p:sp>
        <p:nvSpPr>
          <p:cNvPr id="30" name="Google Shape;30;p50"/>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0"/>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0"/>
          <p:cNvSpPr txBox="1"/>
          <p:nvPr>
            <p:ph type="title"/>
          </p:nvPr>
        </p:nvSpPr>
        <p:spPr>
          <a:xfrm>
            <a:off x="822960" y="758952"/>
            <a:ext cx="75438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0"/>
          <p:cNvSpPr txBox="1"/>
          <p:nvPr>
            <p:ph idx="1" type="body"/>
          </p:nvPr>
        </p:nvSpPr>
        <p:spPr>
          <a:xfrm>
            <a:off x="822960" y="4453128"/>
            <a:ext cx="75438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4" name="Google Shape;34;p50"/>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0"/>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0"/>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7" name="Google Shape;37;p50"/>
          <p:cNvCxnSpPr/>
          <p:nvPr/>
        </p:nvCxnSpPr>
        <p:spPr>
          <a:xfrm>
            <a:off x="905744" y="434340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1"/>
          <p:cNvSpPr txBox="1"/>
          <p:nvPr>
            <p:ph idx="1" type="body"/>
          </p:nvPr>
        </p:nvSpPr>
        <p:spPr>
          <a:xfrm>
            <a:off x="822960" y="1845734"/>
            <a:ext cx="370332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1" name="Google Shape;41;p51"/>
          <p:cNvSpPr txBox="1"/>
          <p:nvPr>
            <p:ph idx="2" type="body"/>
          </p:nvPr>
        </p:nvSpPr>
        <p:spPr>
          <a:xfrm>
            <a:off x="4663440" y="1845736"/>
            <a:ext cx="370332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2" name="Google Shape;42;p51"/>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1"/>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1"/>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5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2"/>
          <p:cNvSpPr txBox="1"/>
          <p:nvPr>
            <p:ph idx="1" type="body"/>
          </p:nvPr>
        </p:nvSpPr>
        <p:spPr>
          <a:xfrm>
            <a:off x="82296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52"/>
          <p:cNvSpPr txBox="1"/>
          <p:nvPr>
            <p:ph idx="2" type="body"/>
          </p:nvPr>
        </p:nvSpPr>
        <p:spPr>
          <a:xfrm>
            <a:off x="82296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52"/>
          <p:cNvSpPr txBox="1"/>
          <p:nvPr>
            <p:ph idx="3" type="body"/>
          </p:nvPr>
        </p:nvSpPr>
        <p:spPr>
          <a:xfrm>
            <a:off x="4663440" y="1846052"/>
            <a:ext cx="370332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52"/>
          <p:cNvSpPr txBox="1"/>
          <p:nvPr>
            <p:ph idx="4" type="body"/>
          </p:nvPr>
        </p:nvSpPr>
        <p:spPr>
          <a:xfrm>
            <a:off x="4663440" y="2582334"/>
            <a:ext cx="370332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52"/>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2"/>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2"/>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5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3"/>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3"/>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9" name="Shape 59"/>
        <p:cNvGrpSpPr/>
        <p:nvPr/>
      </p:nvGrpSpPr>
      <p:grpSpPr>
        <a:xfrm>
          <a:off x="0" y="0"/>
          <a:ext cx="0" cy="0"/>
          <a:chOff x="0" y="0"/>
          <a:chExt cx="0" cy="0"/>
        </a:xfrm>
      </p:grpSpPr>
      <p:sp>
        <p:nvSpPr>
          <p:cNvPr id="60" name="Google Shape;60;p54"/>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4"/>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4"/>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4"/>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4"/>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55"/>
          <p:cNvSpPr/>
          <p:nvPr/>
        </p:nvSpPr>
        <p:spPr>
          <a:xfrm>
            <a:off x="13" y="0"/>
            <a:ext cx="3038093"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5"/>
          <p:cNvSpPr/>
          <p:nvPr/>
        </p:nvSpPr>
        <p:spPr>
          <a:xfrm>
            <a:off x="3030053" y="0"/>
            <a:ext cx="48006"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5"/>
          <p:cNvSpPr txBox="1"/>
          <p:nvPr>
            <p:ph type="title"/>
          </p:nvPr>
        </p:nvSpPr>
        <p:spPr>
          <a:xfrm>
            <a:off x="342900" y="594359"/>
            <a:ext cx="24003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5"/>
          <p:cNvSpPr txBox="1"/>
          <p:nvPr>
            <p:ph idx="1" type="body"/>
          </p:nvPr>
        </p:nvSpPr>
        <p:spPr>
          <a:xfrm>
            <a:off x="3460237" y="731520"/>
            <a:ext cx="5009393"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55"/>
          <p:cNvSpPr txBox="1"/>
          <p:nvPr>
            <p:ph idx="2" type="body"/>
          </p:nvPr>
        </p:nvSpPr>
        <p:spPr>
          <a:xfrm>
            <a:off x="342900" y="2926080"/>
            <a:ext cx="24003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55"/>
          <p:cNvSpPr txBox="1"/>
          <p:nvPr>
            <p:ph idx="10" type="dt"/>
          </p:nvPr>
        </p:nvSpPr>
        <p:spPr>
          <a:xfrm>
            <a:off x="349134" y="6459786"/>
            <a:ext cx="1963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5"/>
          <p:cNvSpPr txBox="1"/>
          <p:nvPr>
            <p:ph idx="11" type="ftr"/>
          </p:nvPr>
        </p:nvSpPr>
        <p:spPr>
          <a:xfrm>
            <a:off x="3600450" y="6459786"/>
            <a:ext cx="348615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5"/>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50" u="none" cap="none" strike="noStrike">
                <a:solidFill>
                  <a:schemeClr val="dk2"/>
                </a:solidFill>
                <a:latin typeface="Calibri"/>
                <a:ea typeface="Calibri"/>
                <a:cs typeface="Calibri"/>
                <a:sym typeface="Calibri"/>
              </a:defRPr>
            </a:lvl1pPr>
            <a:lvl2pPr indent="0" lvl="1" marL="0" algn="r">
              <a:spcBef>
                <a:spcPts val="0"/>
              </a:spcBef>
              <a:buNone/>
              <a:defRPr b="0" i="0" sz="1050" u="none" cap="none" strike="noStrike">
                <a:solidFill>
                  <a:schemeClr val="dk2"/>
                </a:solidFill>
                <a:latin typeface="Calibri"/>
                <a:ea typeface="Calibri"/>
                <a:cs typeface="Calibri"/>
                <a:sym typeface="Calibri"/>
              </a:defRPr>
            </a:lvl2pPr>
            <a:lvl3pPr indent="0" lvl="2" marL="0" algn="r">
              <a:spcBef>
                <a:spcPts val="0"/>
              </a:spcBef>
              <a:buNone/>
              <a:defRPr b="0" i="0" sz="1050" u="none" cap="none" strike="noStrike">
                <a:solidFill>
                  <a:schemeClr val="dk2"/>
                </a:solidFill>
                <a:latin typeface="Calibri"/>
                <a:ea typeface="Calibri"/>
                <a:cs typeface="Calibri"/>
                <a:sym typeface="Calibri"/>
              </a:defRPr>
            </a:lvl3pPr>
            <a:lvl4pPr indent="0" lvl="3" marL="0" algn="r">
              <a:spcBef>
                <a:spcPts val="0"/>
              </a:spcBef>
              <a:buNone/>
              <a:defRPr b="0" i="0" sz="1050" u="none" cap="none" strike="noStrike">
                <a:solidFill>
                  <a:schemeClr val="dk2"/>
                </a:solidFill>
                <a:latin typeface="Calibri"/>
                <a:ea typeface="Calibri"/>
                <a:cs typeface="Calibri"/>
                <a:sym typeface="Calibri"/>
              </a:defRPr>
            </a:lvl4pPr>
            <a:lvl5pPr indent="0" lvl="4" marL="0" algn="r">
              <a:spcBef>
                <a:spcPts val="0"/>
              </a:spcBef>
              <a:buNone/>
              <a:defRPr b="0" i="0" sz="1050" u="none" cap="none" strike="noStrike">
                <a:solidFill>
                  <a:schemeClr val="dk2"/>
                </a:solidFill>
                <a:latin typeface="Calibri"/>
                <a:ea typeface="Calibri"/>
                <a:cs typeface="Calibri"/>
                <a:sym typeface="Calibri"/>
              </a:defRPr>
            </a:lvl5pPr>
            <a:lvl6pPr indent="0" lvl="5" marL="0" algn="r">
              <a:spcBef>
                <a:spcPts val="0"/>
              </a:spcBef>
              <a:buNone/>
              <a:defRPr b="0" i="0" sz="1050" u="none" cap="none" strike="noStrike">
                <a:solidFill>
                  <a:schemeClr val="dk2"/>
                </a:solidFill>
                <a:latin typeface="Calibri"/>
                <a:ea typeface="Calibri"/>
                <a:cs typeface="Calibri"/>
                <a:sym typeface="Calibri"/>
              </a:defRPr>
            </a:lvl6pPr>
            <a:lvl7pPr indent="0" lvl="6" marL="0" algn="r">
              <a:spcBef>
                <a:spcPts val="0"/>
              </a:spcBef>
              <a:buNone/>
              <a:defRPr b="0" i="0" sz="1050" u="none" cap="none" strike="noStrike">
                <a:solidFill>
                  <a:schemeClr val="dk2"/>
                </a:solidFill>
                <a:latin typeface="Calibri"/>
                <a:ea typeface="Calibri"/>
                <a:cs typeface="Calibri"/>
                <a:sym typeface="Calibri"/>
              </a:defRPr>
            </a:lvl7pPr>
            <a:lvl8pPr indent="0" lvl="7" marL="0" algn="r">
              <a:spcBef>
                <a:spcPts val="0"/>
              </a:spcBef>
              <a:buNone/>
              <a:defRPr b="0" i="0" sz="1050" u="none" cap="none" strike="noStrike">
                <a:solidFill>
                  <a:schemeClr val="dk2"/>
                </a:solidFill>
                <a:latin typeface="Calibri"/>
                <a:ea typeface="Calibri"/>
                <a:cs typeface="Calibri"/>
                <a:sym typeface="Calibri"/>
              </a:defRPr>
            </a:lvl8pPr>
            <a:lvl9pPr indent="0" lvl="8" marL="0" algn="r">
              <a:spcBef>
                <a:spcPts val="0"/>
              </a:spcBef>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56"/>
          <p:cNvSpPr/>
          <p:nvPr/>
        </p:nvSpPr>
        <p:spPr>
          <a:xfrm>
            <a:off x="0" y="4953000"/>
            <a:ext cx="9141619"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6"/>
          <p:cNvSpPr/>
          <p:nvPr/>
        </p:nvSpPr>
        <p:spPr>
          <a:xfrm>
            <a:off x="12" y="491507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6"/>
          <p:cNvSpPr txBox="1"/>
          <p:nvPr>
            <p:ph type="title"/>
          </p:nvPr>
        </p:nvSpPr>
        <p:spPr>
          <a:xfrm>
            <a:off x="822960" y="5074920"/>
            <a:ext cx="758952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56"/>
          <p:cNvPicPr preferRelativeResize="0"/>
          <p:nvPr>
            <p:ph idx="2" type="pic"/>
          </p:nvPr>
        </p:nvPicPr>
        <p:blipFill/>
        <p:spPr>
          <a:xfrm>
            <a:off x="12" y="0"/>
            <a:ext cx="9143989" cy="4915076"/>
          </a:xfrm>
          <a:prstGeom prst="rect">
            <a:avLst/>
          </a:prstGeom>
          <a:blipFill rotWithShape="1">
            <a:blip r:embed="rId2">
              <a:alphaModFix/>
            </a:blip>
            <a:stretch>
              <a:fillRect b="0" l="0" r="0" t="0"/>
            </a:stretch>
          </a:blipFill>
          <a:ln>
            <a:noFill/>
          </a:ln>
        </p:spPr>
      </p:pic>
      <p:sp>
        <p:nvSpPr>
          <p:cNvPr id="79" name="Google Shape;79;p56"/>
          <p:cNvSpPr txBox="1"/>
          <p:nvPr>
            <p:ph idx="1" type="body"/>
          </p:nvPr>
        </p:nvSpPr>
        <p:spPr>
          <a:xfrm>
            <a:off x="822959" y="5907024"/>
            <a:ext cx="758952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56"/>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6"/>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6"/>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5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7"/>
          <p:cNvSpPr txBox="1"/>
          <p:nvPr>
            <p:ph idx="1" type="body"/>
          </p:nvPr>
        </p:nvSpPr>
        <p:spPr>
          <a:xfrm rot="5400000">
            <a:off x="2583179" y="85514"/>
            <a:ext cx="4023360" cy="75438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5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58"/>
          <p:cNvSpPr/>
          <p:nvPr/>
        </p:nvSpPr>
        <p:spPr>
          <a:xfrm>
            <a:off x="2382" y="6400800"/>
            <a:ext cx="9141619"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8"/>
          <p:cNvSpPr/>
          <p:nvPr/>
        </p:nvSpPr>
        <p:spPr>
          <a:xfrm>
            <a:off x="12" y="6334316"/>
            <a:ext cx="9141619"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8"/>
          <p:cNvSpPr txBox="1"/>
          <p:nvPr>
            <p:ph type="title"/>
          </p:nvPr>
        </p:nvSpPr>
        <p:spPr>
          <a:xfrm rot="5400000">
            <a:off x="4650802" y="2307652"/>
            <a:ext cx="5757421" cy="1971675"/>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58"/>
          <p:cNvSpPr txBox="1"/>
          <p:nvPr>
            <p:ph idx="1" type="body"/>
          </p:nvPr>
        </p:nvSpPr>
        <p:spPr>
          <a:xfrm rot="5400000">
            <a:off x="650303" y="393126"/>
            <a:ext cx="5757420" cy="5800725"/>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58"/>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8"/>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8"/>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p:nvPr/>
        </p:nvSpPr>
        <p:spPr>
          <a:xfrm>
            <a:off x="0" y="6400800"/>
            <a:ext cx="9144001"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47"/>
          <p:cNvSpPr/>
          <p:nvPr/>
        </p:nvSpPr>
        <p:spPr>
          <a:xfrm>
            <a:off x="0" y="6334315"/>
            <a:ext cx="9144001" cy="65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4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47"/>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47"/>
          <p:cNvSpPr txBox="1"/>
          <p:nvPr>
            <p:ph idx="10" type="dt"/>
          </p:nvPr>
        </p:nvSpPr>
        <p:spPr>
          <a:xfrm>
            <a:off x="822961" y="6459786"/>
            <a:ext cx="185420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47"/>
          <p:cNvSpPr txBox="1"/>
          <p:nvPr>
            <p:ph idx="11" type="ftr"/>
          </p:nvPr>
        </p:nvSpPr>
        <p:spPr>
          <a:xfrm>
            <a:off x="2764639" y="6459786"/>
            <a:ext cx="3617103"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47"/>
          <p:cNvSpPr txBox="1"/>
          <p:nvPr>
            <p:ph idx="12" type="sldNum"/>
          </p:nvPr>
        </p:nvSpPr>
        <p:spPr>
          <a:xfrm>
            <a:off x="7425344" y="6459786"/>
            <a:ext cx="98401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47"/>
          <p:cNvCxnSpPr/>
          <p:nvPr/>
        </p:nvCxnSpPr>
        <p:spPr>
          <a:xfrm>
            <a:off x="895149" y="1737845"/>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822960" y="758952"/>
            <a:ext cx="7543800" cy="3566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Algerian"/>
              <a:buNone/>
            </a:pPr>
            <a:r>
              <a:rPr lang="en-US">
                <a:latin typeface="Algerian"/>
                <a:ea typeface="Algerian"/>
                <a:cs typeface="Algerian"/>
                <a:sym typeface="Algerian"/>
              </a:rPr>
              <a:t>Chapter 1</a:t>
            </a:r>
            <a:endParaRPr/>
          </a:p>
        </p:txBody>
      </p:sp>
      <p:sp>
        <p:nvSpPr>
          <p:cNvPr id="102" name="Google Shape;102;p1"/>
          <p:cNvSpPr txBox="1"/>
          <p:nvPr>
            <p:ph idx="1" type="subTitle"/>
          </p:nvPr>
        </p:nvSpPr>
        <p:spPr>
          <a:xfrm>
            <a:off x="825038" y="4455621"/>
            <a:ext cx="7543800" cy="11430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4000"/>
              <a:buNone/>
            </a:pPr>
            <a:r>
              <a:rPr lang="en-US" sz="4000">
                <a:solidFill>
                  <a:schemeClr val="dk1"/>
                </a:solidFill>
                <a:latin typeface="Algerian"/>
                <a:ea typeface="Algerian"/>
                <a:cs typeface="Algerian"/>
                <a:sym typeface="Algerian"/>
              </a:rPr>
              <a:t> E-MAIL AND SOCIAL MEDIA INVESTIGATION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08" name="Google Shape;108;p2"/>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77800" lvl="0" marL="91440" rtl="0" algn="l">
              <a:lnSpc>
                <a:spcPct val="90000"/>
              </a:lnSpc>
              <a:spcBef>
                <a:spcPts val="0"/>
              </a:spcBef>
              <a:spcAft>
                <a:spcPts val="0"/>
              </a:spcAft>
              <a:buSzPts val="2800"/>
              <a:buChar char=" "/>
            </a:pPr>
            <a:r>
              <a:rPr lang="en-US" sz="2800">
                <a:latin typeface="Times New Roman"/>
                <a:ea typeface="Times New Roman"/>
                <a:cs typeface="Times New Roman"/>
                <a:sym typeface="Times New Roman"/>
              </a:rPr>
              <a:t>Email investigations play a crucial role in many fields such as cyber security, law enforcement, corporate compliance, and digital forensics. </a:t>
            </a:r>
            <a:endParaRPr/>
          </a:p>
          <a:p>
            <a:pPr indent="-177800" lvl="0" marL="91440" rtl="0" algn="l">
              <a:lnSpc>
                <a:spcPct val="90000"/>
              </a:lnSpc>
              <a:spcBef>
                <a:spcPts val="1400"/>
              </a:spcBef>
              <a:spcAft>
                <a:spcPts val="0"/>
              </a:spcAft>
              <a:buSzPts val="2800"/>
              <a:buChar char=" "/>
            </a:pPr>
            <a:r>
              <a:rPr lang="en-US" sz="2800">
                <a:latin typeface="Times New Roman"/>
                <a:ea typeface="Times New Roman"/>
                <a:cs typeface="Times New Roman"/>
                <a:sym typeface="Times New Roman"/>
              </a:rPr>
              <a:t>These investigations often revolve around understanding the origin, content, and context of email communications, and they can provide valuable insights in a wide range of scenarios</a:t>
            </a:r>
            <a:endParaRPr/>
          </a:p>
          <a:p>
            <a:pPr indent="-177800" lvl="0" marL="91440" rtl="0" algn="l">
              <a:lnSpc>
                <a:spcPct val="90000"/>
              </a:lnSpc>
              <a:spcBef>
                <a:spcPts val="1400"/>
              </a:spcBef>
              <a:spcAft>
                <a:spcPts val="0"/>
              </a:spcAft>
              <a:buSzPts val="2800"/>
              <a:buChar char=" "/>
            </a:pPr>
            <a:r>
              <a:rPr lang="en-US" sz="2800">
                <a:latin typeface="Times New Roman"/>
                <a:ea typeface="Times New Roman"/>
                <a:cs typeface="Times New Roman"/>
                <a:sym typeface="Times New Roman"/>
              </a:rPr>
              <a:t>key aspects of email investigation and its various roles.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14" name="Google Shape;114;p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91440" lvl="0" marL="91440" rtl="0" algn="l">
              <a:lnSpc>
                <a:spcPct val="90000"/>
              </a:lnSpc>
              <a:spcBef>
                <a:spcPts val="0"/>
              </a:spcBef>
              <a:spcAft>
                <a:spcPts val="0"/>
              </a:spcAft>
              <a:buSzPts val="2400"/>
              <a:buNone/>
            </a:pPr>
            <a:r>
              <a:rPr lang="en-US" sz="2400">
                <a:latin typeface="Algerian"/>
                <a:ea typeface="Algerian"/>
                <a:cs typeface="Algerian"/>
                <a:sym typeface="Algerian"/>
              </a:rPr>
              <a:t>Cyber security and Threat Detection</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Phishing and Fraud:</a:t>
            </a:r>
            <a:r>
              <a:rPr lang="en-US" sz="2400">
                <a:latin typeface="Times New Roman"/>
                <a:ea typeface="Times New Roman"/>
                <a:cs typeface="Times New Roman"/>
                <a:sym typeface="Times New Roman"/>
              </a:rPr>
              <a:t> One of the most common uses of email investigation is detecting phishing attempts, which are fraudulent emails attempting to steal personal or financial information. Cyber security experts analyze the email’s metadata, links, and content to uncover suspicious activity.</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Malware Identification:</a:t>
            </a:r>
            <a:r>
              <a:rPr lang="en-US" sz="2400">
                <a:latin typeface="Times New Roman"/>
                <a:ea typeface="Times New Roman"/>
                <a:cs typeface="Times New Roman"/>
                <a:sym typeface="Times New Roman"/>
              </a:rPr>
              <a:t> Cyber investigators often examine emails suspected of containing malware (such as viruses, ransomware, or spyware). By analyzing email attachments or links, investigators can trace the origin of malware attacks.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20" name="Google Shape;120;p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Advanced Persistent Threats (APTs):</a:t>
            </a:r>
            <a:r>
              <a:rPr lang="en-US" sz="2400">
                <a:latin typeface="Times New Roman"/>
                <a:ea typeface="Times New Roman"/>
                <a:cs typeface="Times New Roman"/>
                <a:sym typeface="Times New Roman"/>
              </a:rPr>
              <a:t> Cyber security professionals track long-term, coordinated email-based attacks (such as spear phishing or business email compromise) to u</a:t>
            </a:r>
            <a:endParaRPr/>
          </a:p>
          <a:p>
            <a:pPr indent="-91440" lvl="0" marL="91440" rtl="0" algn="l">
              <a:lnSpc>
                <a:spcPct val="90000"/>
              </a:lnSpc>
              <a:spcBef>
                <a:spcPts val="1400"/>
              </a:spcBef>
              <a:spcAft>
                <a:spcPts val="0"/>
              </a:spcAft>
              <a:buSzPts val="2400"/>
              <a:buNone/>
            </a:pPr>
            <a:r>
              <a:t/>
            </a:r>
            <a:endParaRPr b="1" sz="2400">
              <a:latin typeface="Times New Roman"/>
              <a:ea typeface="Times New Roman"/>
              <a:cs typeface="Times New Roman"/>
              <a:sym typeface="Times New Roman"/>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2. Law Enforcement and Criminal Investigations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Evidence Collection:</a:t>
            </a:r>
            <a:r>
              <a:rPr lang="en-US" sz="2400">
                <a:latin typeface="Times New Roman"/>
                <a:ea typeface="Times New Roman"/>
                <a:cs typeface="Times New Roman"/>
                <a:sym typeface="Times New Roman"/>
              </a:rPr>
              <a:t> In criminal cases, investigators use email as part of digital evidence to support or refute claims. Email communication can help track down perpetrators, uncover illegal activities like fraud or harassment, or link suspects to criminal networks.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26" name="Google Shape;126;p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Tracking Cybercriminals:</a:t>
            </a:r>
            <a:r>
              <a:rPr lang="en-US" sz="2400">
                <a:latin typeface="Times New Roman"/>
                <a:ea typeface="Times New Roman"/>
                <a:cs typeface="Times New Roman"/>
                <a:sym typeface="Times New Roman"/>
              </a:rPr>
              <a:t> Email investigation helps track and identify individuals involved in cybercrimes, such as hacking, identity theft, or illegal trading of information. Understand how attackers gain access to sensitive systems.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Warranted Searches:</a:t>
            </a:r>
            <a:r>
              <a:rPr lang="en-US" sz="2400">
                <a:latin typeface="Times New Roman"/>
                <a:ea typeface="Times New Roman"/>
                <a:cs typeface="Times New Roman"/>
                <a:sym typeface="Times New Roman"/>
              </a:rPr>
              <a:t> Law enforcement can subpoena email records and conduct investigations based on email communication patterns. Email metadata, such as timestamps, sender/receiver details, and IP addresses, can provide key evidence.</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32" name="Google Shape;132;p6"/>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91440" lvl="0" marL="9144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 Corporate Investigations and Compliance</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Internal Audits:</a:t>
            </a:r>
            <a:r>
              <a:rPr lang="en-US" sz="2400">
                <a:latin typeface="Times New Roman"/>
                <a:ea typeface="Times New Roman"/>
                <a:cs typeface="Times New Roman"/>
                <a:sym typeface="Times New Roman"/>
              </a:rPr>
              <a:t> Companies use email investigations during internal audits to ensure employees follow company policies and regulations. Suspicious or non-compliant email activities, such as insider trading or leak of confidential data, are flagged and investigated.</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Data Breaches:</a:t>
            </a:r>
            <a:r>
              <a:rPr lang="en-US" sz="2400">
                <a:latin typeface="Times New Roman"/>
                <a:ea typeface="Times New Roman"/>
                <a:cs typeface="Times New Roman"/>
                <a:sym typeface="Times New Roman"/>
              </a:rPr>
              <a:t> In the event of a data breach, companies investigate emails to determine how sensitive data was leaked. This involves examining the email chains, looking at access points, and analyzing the behavior of potential insiders or external actors.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38" name="Google Shape;138;p7"/>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Non-Disclosure Agreement (NDA) Violations:</a:t>
            </a:r>
            <a:r>
              <a:rPr lang="en-US" sz="2400">
                <a:latin typeface="Times New Roman"/>
                <a:ea typeface="Times New Roman"/>
                <a:cs typeface="Times New Roman"/>
                <a:sym typeface="Times New Roman"/>
              </a:rPr>
              <a:t> Employees sharing confidential or proprietary company information through email might be investigated to confirm breaches of NDAs or intellectual property rights.</a:t>
            </a:r>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Digital Forensics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Tracing Email Origins:</a:t>
            </a:r>
            <a:r>
              <a:rPr lang="en-US" sz="2400">
                <a:latin typeface="Times New Roman"/>
                <a:ea typeface="Times New Roman"/>
                <a:cs typeface="Times New Roman"/>
                <a:sym typeface="Times New Roman"/>
              </a:rPr>
              <a:t> Digital forensic experts investigate the technical aspects of emails to identify the true sender and the route the message took through the internet. This can help in uncovering anonymity or misleading email headers and origins, which is particularly important in cases of harassment or fraud.</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44" name="Google Shape;144;p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Metadata Analysis:</a:t>
            </a:r>
            <a:r>
              <a:rPr lang="en-US" sz="2400">
                <a:latin typeface="Times New Roman"/>
                <a:ea typeface="Times New Roman"/>
                <a:cs typeface="Times New Roman"/>
                <a:sym typeface="Times New Roman"/>
              </a:rPr>
              <a:t> Email headers contain a wealth of data, including the sender’s IP address, time stamps, routing information, and software used. This metadata can be analyzed to verify the authenticity of the email or track it back to a specific individual or location.</a:t>
            </a:r>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Business and Personal Disputes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Litigation and Civil Cases:</a:t>
            </a:r>
            <a:r>
              <a:rPr lang="en-US" sz="2400">
                <a:latin typeface="Times New Roman"/>
                <a:ea typeface="Times New Roman"/>
                <a:cs typeface="Times New Roman"/>
                <a:sym typeface="Times New Roman"/>
              </a:rPr>
              <a:t> Emails often serve as critical evidence in legal disputes, such as divorce cases, employment-related lawsuits, or contract disputes. Investigators may examine email exchanges to uncover motives, relationships, or wrongful behavior.</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50" name="Google Shape;150;p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Personal and Family Investigations:</a:t>
            </a:r>
            <a:r>
              <a:rPr lang="en-US" sz="2400">
                <a:latin typeface="Times New Roman"/>
                <a:ea typeface="Times New Roman"/>
                <a:cs typeface="Times New Roman"/>
                <a:sym typeface="Times New Roman"/>
              </a:rPr>
              <a:t> In cases like domestic disputes, people may investigate email trails to understand relationship dynamics or uncover instances of harassment, infidelity, or financial deceit.</a:t>
            </a:r>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Social Engineering and Psychological Analysis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Human Behavior Patterns:</a:t>
            </a:r>
            <a:r>
              <a:rPr lang="en-US" sz="2400">
                <a:latin typeface="Times New Roman"/>
                <a:ea typeface="Times New Roman"/>
                <a:cs typeface="Times New Roman"/>
                <a:sym typeface="Times New Roman"/>
              </a:rPr>
              <a:t> Investigating email exchanges can also help in understanding how individuals or groups communicate and the psychological manipulation they employ. This includes tracking the tone, frequency, and content of emails to understand power dynamics or intentions.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56" name="Google Shape;156;p10"/>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Social Engineering Tactics:</a:t>
            </a:r>
            <a:r>
              <a:rPr lang="en-US" sz="2400">
                <a:latin typeface="Times New Roman"/>
                <a:ea typeface="Times New Roman"/>
                <a:cs typeface="Times New Roman"/>
                <a:sym typeface="Times New Roman"/>
              </a:rPr>
              <a:t> Cybercriminals often manipulate victims via email by pretending to be someone they trust. Investigating the email interactions can help identify such tactics and prevent future attacks.</a:t>
            </a:r>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Techniques Used in Email Investigations: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Email Header Analysis:</a:t>
            </a:r>
            <a:r>
              <a:rPr lang="en-US" sz="2400">
                <a:latin typeface="Times New Roman"/>
                <a:ea typeface="Times New Roman"/>
                <a:cs typeface="Times New Roman"/>
                <a:sym typeface="Times New Roman"/>
              </a:rPr>
              <a:t> By analyzing email headers (which include sender, recipient, time, and route information), investigators can determine the authenticity of the email and trace its origin.</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Forensic Tools:</a:t>
            </a:r>
            <a:r>
              <a:rPr lang="en-US" sz="2400">
                <a:latin typeface="Times New Roman"/>
                <a:ea typeface="Times New Roman"/>
                <a:cs typeface="Times New Roman"/>
                <a:sym typeface="Times New Roman"/>
              </a:rPr>
              <a:t> Various forensic tools (like FTK Imager, EnCase, or X1 Social Discovery) help investigators examine email data, recover deleted messages, and retrieve encrypted content.</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62" name="Google Shape;162;p1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Content Analysis:</a:t>
            </a:r>
            <a:r>
              <a:rPr lang="en-US" sz="2400">
                <a:latin typeface="Times New Roman"/>
                <a:ea typeface="Times New Roman"/>
                <a:cs typeface="Times New Roman"/>
                <a:sym typeface="Times New Roman"/>
              </a:rPr>
              <a:t> Investigators scrutinize the email body for certain keywords, attachments, or links that could indicate malicious intent or suspicious activity.</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Attachment and Link Analysis:</a:t>
            </a:r>
            <a:r>
              <a:rPr lang="en-US" sz="2400">
                <a:latin typeface="Times New Roman"/>
                <a:ea typeface="Times New Roman"/>
                <a:cs typeface="Times New Roman"/>
                <a:sym typeface="Times New Roman"/>
              </a:rPr>
              <a:t> Examining attachments for hidden malware or links that lead to fraudulent websites is a critical part of investigating suspicious emails.</a:t>
            </a:r>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Ethical Considerations and Challenges: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Privacy Concerns:</a:t>
            </a:r>
            <a:r>
              <a:rPr lang="en-US" sz="2400">
                <a:latin typeface="Times New Roman"/>
                <a:ea typeface="Times New Roman"/>
                <a:cs typeface="Times New Roman"/>
                <a:sym typeface="Times New Roman"/>
              </a:rPr>
              <a:t> While investigating emails, there’s a fine balance between gathering critical evidence and violating individuals' privacy. Investigators need proper legal authorization (e.g., warrants or consent) before accessing private email communications.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Exploring the Role of Email Investigation</a:t>
            </a:r>
            <a:endParaRPr/>
          </a:p>
        </p:txBody>
      </p:sp>
      <p:sp>
        <p:nvSpPr>
          <p:cNvPr id="168" name="Google Shape;168;p12"/>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Data Integrity:</a:t>
            </a:r>
            <a:r>
              <a:rPr lang="en-US" sz="2400">
                <a:latin typeface="Times New Roman"/>
                <a:ea typeface="Times New Roman"/>
                <a:cs typeface="Times New Roman"/>
                <a:sym typeface="Times New Roman"/>
              </a:rPr>
              <a:t> Forensics investigators must ensure that the email data is preserved and documented correctly. Manipulating or tampering with email evidence can lead to legal challenges and damage the credibility of the investigation.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Exploring the role of client and server in email</a:t>
            </a:r>
            <a:endParaRPr/>
          </a:p>
        </p:txBody>
      </p:sp>
      <p:sp>
        <p:nvSpPr>
          <p:cNvPr id="174" name="Google Shape;174;p1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lang="en-US" sz="2400">
                <a:latin typeface="Times New Roman"/>
                <a:ea typeface="Times New Roman"/>
                <a:cs typeface="Times New Roman"/>
                <a:sym typeface="Times New Roman"/>
              </a:rPr>
              <a:t>Email communication involves two key roles: </a:t>
            </a:r>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		client</a:t>
            </a:r>
            <a:r>
              <a:rPr lang="en-US" sz="2400">
                <a:latin typeface="Times New Roman"/>
                <a:ea typeface="Times New Roman"/>
                <a:cs typeface="Times New Roman"/>
                <a:sym typeface="Times New Roman"/>
              </a:rPr>
              <a:t> and </a:t>
            </a:r>
            <a:r>
              <a:rPr b="1" lang="en-US" sz="2400">
                <a:latin typeface="Times New Roman"/>
                <a:ea typeface="Times New Roman"/>
                <a:cs typeface="Times New Roman"/>
                <a:sym typeface="Times New Roman"/>
              </a:rPr>
              <a:t>server</a:t>
            </a:r>
            <a:r>
              <a:rPr lang="en-US" sz="2400">
                <a:latin typeface="Times New Roman"/>
                <a:ea typeface="Times New Roman"/>
                <a:cs typeface="Times New Roman"/>
                <a:sym typeface="Times New Roman"/>
              </a:rPr>
              <a:t>, each serving a specific function in the process of sending, receiving, and managing emails</a:t>
            </a:r>
            <a:endParaRPr/>
          </a:p>
          <a:p>
            <a:pPr indent="-9144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a:p>
            <a:pPr indent="-91440" lvl="0" marL="91440" rtl="0" algn="l">
              <a:lnSpc>
                <a:spcPct val="90000"/>
              </a:lnSpc>
              <a:spcBef>
                <a:spcPts val="1400"/>
              </a:spcBef>
              <a:spcAft>
                <a:spcPts val="0"/>
              </a:spcAft>
              <a:buSzPts val="2400"/>
              <a:buNone/>
            </a:pPr>
            <a:r>
              <a:rPr b="1" lang="en-US" sz="2400">
                <a:latin typeface="Times New Roman"/>
                <a:ea typeface="Times New Roman"/>
                <a:cs typeface="Times New Roman"/>
                <a:sym typeface="Times New Roman"/>
              </a:rPr>
              <a:t>1. Email Client</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An </a:t>
            </a:r>
            <a:r>
              <a:rPr b="1" lang="en-US" sz="2400">
                <a:latin typeface="Times New Roman"/>
                <a:ea typeface="Times New Roman"/>
                <a:cs typeface="Times New Roman"/>
                <a:sym typeface="Times New Roman"/>
              </a:rPr>
              <a:t>email client</a:t>
            </a:r>
            <a:r>
              <a:rPr lang="en-US" sz="2400">
                <a:latin typeface="Times New Roman"/>
                <a:ea typeface="Times New Roman"/>
                <a:cs typeface="Times New Roman"/>
                <a:sym typeface="Times New Roman"/>
              </a:rPr>
              <a:t> is the software or application that end users interact with to send, read, and organize emails.</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 Examples include Microsoft Outlook, Mozilla Thunderbird, and webmail interfaces like Gmail.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Exploring the role of client and server in email</a:t>
            </a:r>
            <a:endParaRPr/>
          </a:p>
        </p:txBody>
      </p:sp>
      <p:sp>
        <p:nvSpPr>
          <p:cNvPr id="180" name="Google Shape;180;p1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91440" lvl="0" marL="9144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Responsibilities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Sending Emails</a:t>
            </a:r>
            <a:r>
              <a:rPr lang="en-US" sz="2400">
                <a:latin typeface="Times New Roman"/>
                <a:ea typeface="Times New Roman"/>
                <a:cs typeface="Times New Roman"/>
                <a:sym typeface="Times New Roman"/>
              </a:rPr>
              <a:t>: Composes and sends emails to the recipient via the outgoing mail server (SMTP server).</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Retrieving Emails</a:t>
            </a:r>
            <a:r>
              <a:rPr lang="en-US" sz="2400">
                <a:latin typeface="Times New Roman"/>
                <a:ea typeface="Times New Roman"/>
                <a:cs typeface="Times New Roman"/>
                <a:sym typeface="Times New Roman"/>
              </a:rPr>
              <a:t>: Retrieves emails from the incoming mail server using protocols such as IMAP or POP3.</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Managing Emails</a:t>
            </a:r>
            <a:r>
              <a:rPr lang="en-US" sz="2400">
                <a:latin typeface="Times New Roman"/>
                <a:ea typeface="Times New Roman"/>
                <a:cs typeface="Times New Roman"/>
                <a:sym typeface="Times New Roman"/>
              </a:rPr>
              <a:t>: Provides features for organizing, searching, and managing email folders.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User Interface</a:t>
            </a:r>
            <a:r>
              <a:rPr lang="en-US" sz="2400">
                <a:latin typeface="Times New Roman"/>
                <a:ea typeface="Times New Roman"/>
                <a:cs typeface="Times New Roman"/>
                <a:sym typeface="Times New Roman"/>
              </a:rPr>
              <a:t>: Acts as a front-end interface for users to interact with their email accounts.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a:p>
            <a:pPr indent="0" lvl="0" marL="91440" rtl="0" algn="l">
              <a:lnSpc>
                <a:spcPct val="90000"/>
              </a:lnSpc>
              <a:spcBef>
                <a:spcPts val="1400"/>
              </a:spcBef>
              <a:spcAft>
                <a:spcPts val="0"/>
              </a:spcAft>
              <a:buSzPts val="2400"/>
              <a:buNone/>
            </a:pPr>
            <a:r>
              <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Exploring the role of client and server in email</a:t>
            </a:r>
            <a:endParaRPr/>
          </a:p>
        </p:txBody>
      </p:sp>
      <p:sp>
        <p:nvSpPr>
          <p:cNvPr id="186" name="Google Shape;186;p1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fontScale="92500" lnSpcReduction="10000"/>
          </a:bodyPr>
          <a:lstStyle/>
          <a:p>
            <a:pPr indent="-140970" lvl="0" marL="91440" rtl="0" algn="l">
              <a:lnSpc>
                <a:spcPct val="90000"/>
              </a:lnSpc>
              <a:spcBef>
                <a:spcPts val="0"/>
              </a:spcBef>
              <a:spcAft>
                <a:spcPts val="0"/>
              </a:spcAft>
              <a:buSzPct val="100000"/>
              <a:buChar char=" "/>
            </a:pPr>
            <a:r>
              <a:rPr b="1" lang="en-US" sz="2400">
                <a:latin typeface="Times New Roman"/>
                <a:ea typeface="Times New Roman"/>
                <a:cs typeface="Times New Roman"/>
                <a:sym typeface="Times New Roman"/>
              </a:rPr>
              <a:t>SMTP (Simple Mail Transfer Protocol)</a:t>
            </a:r>
            <a:r>
              <a:rPr lang="en-US" sz="2400">
                <a:latin typeface="Times New Roman"/>
                <a:ea typeface="Times New Roman"/>
                <a:cs typeface="Times New Roman"/>
                <a:sym typeface="Times New Roman"/>
              </a:rPr>
              <a:t>: For sending emails.</a:t>
            </a:r>
            <a:endParaRPr/>
          </a:p>
          <a:p>
            <a:pPr indent="-140970" lvl="0" marL="91440" rtl="0" algn="l">
              <a:lnSpc>
                <a:spcPct val="90000"/>
              </a:lnSpc>
              <a:spcBef>
                <a:spcPts val="1400"/>
              </a:spcBef>
              <a:spcAft>
                <a:spcPts val="0"/>
              </a:spcAft>
              <a:buSzPct val="100000"/>
              <a:buChar char=" "/>
            </a:pPr>
            <a:r>
              <a:rPr b="1" lang="en-US" sz="2400">
                <a:latin typeface="Times New Roman"/>
                <a:ea typeface="Times New Roman"/>
                <a:cs typeface="Times New Roman"/>
                <a:sym typeface="Times New Roman"/>
              </a:rPr>
              <a:t>IMAP (Internet Message Access Protocol)</a:t>
            </a:r>
            <a:r>
              <a:rPr lang="en-US" sz="2400">
                <a:latin typeface="Times New Roman"/>
                <a:ea typeface="Times New Roman"/>
                <a:cs typeface="Times New Roman"/>
                <a:sym typeface="Times New Roman"/>
              </a:rPr>
              <a:t>: For retrieving and synchronizing emails with the server.</a:t>
            </a:r>
            <a:endParaRPr/>
          </a:p>
          <a:p>
            <a:pPr indent="-140970" lvl="0" marL="91440" rtl="0" algn="l">
              <a:lnSpc>
                <a:spcPct val="90000"/>
              </a:lnSpc>
              <a:spcBef>
                <a:spcPts val="1400"/>
              </a:spcBef>
              <a:spcAft>
                <a:spcPts val="0"/>
              </a:spcAft>
              <a:buSzPct val="100000"/>
              <a:buChar char=" "/>
            </a:pPr>
            <a:r>
              <a:rPr b="1" lang="en-US" sz="2400">
                <a:latin typeface="Times New Roman"/>
                <a:ea typeface="Times New Roman"/>
                <a:cs typeface="Times New Roman"/>
                <a:sym typeface="Times New Roman"/>
              </a:rPr>
              <a:t>POP3 (Post Office Protocol v3)</a:t>
            </a:r>
            <a:r>
              <a:rPr lang="en-US" sz="2400">
                <a:latin typeface="Times New Roman"/>
                <a:ea typeface="Times New Roman"/>
                <a:cs typeface="Times New Roman"/>
                <a:sym typeface="Times New Roman"/>
              </a:rPr>
              <a:t>: For downloading emails to the local client and optionally removing them from the server.</a:t>
            </a:r>
            <a:endParaRPr/>
          </a:p>
          <a:p>
            <a:pPr indent="-91440" lvl="0" marL="91440" rtl="0" algn="l">
              <a:lnSpc>
                <a:spcPct val="90000"/>
              </a:lnSpc>
              <a:spcBef>
                <a:spcPts val="1400"/>
              </a:spcBef>
              <a:spcAft>
                <a:spcPts val="0"/>
              </a:spcAft>
              <a:buSzPct val="100000"/>
              <a:buNone/>
            </a:pPr>
            <a:r>
              <a:t/>
            </a:r>
            <a:endParaRPr b="1" sz="2400">
              <a:latin typeface="Times New Roman"/>
              <a:ea typeface="Times New Roman"/>
              <a:cs typeface="Times New Roman"/>
              <a:sym typeface="Times New Roman"/>
            </a:endParaRPr>
          </a:p>
          <a:p>
            <a:pPr indent="-91440" lvl="0" marL="91440" rtl="0" algn="l">
              <a:lnSpc>
                <a:spcPct val="90000"/>
              </a:lnSpc>
              <a:spcBef>
                <a:spcPts val="1400"/>
              </a:spcBef>
              <a:spcAft>
                <a:spcPts val="0"/>
              </a:spcAft>
              <a:buSzPct val="100000"/>
              <a:buNone/>
            </a:pPr>
            <a:r>
              <a:rPr b="1" lang="en-US" sz="2400">
                <a:latin typeface="Times New Roman"/>
                <a:ea typeface="Times New Roman"/>
                <a:cs typeface="Times New Roman"/>
                <a:sym typeface="Times New Roman"/>
              </a:rPr>
              <a:t>2. Email Server</a:t>
            </a:r>
            <a:endParaRPr/>
          </a:p>
          <a:p>
            <a:pPr indent="-140970" lvl="0" marL="91440" rtl="0" algn="l">
              <a:lnSpc>
                <a:spcPct val="90000"/>
              </a:lnSpc>
              <a:spcBef>
                <a:spcPts val="1400"/>
              </a:spcBef>
              <a:spcAft>
                <a:spcPts val="0"/>
              </a:spcAft>
              <a:buSzPct val="100000"/>
              <a:buChar char=" "/>
            </a:pPr>
            <a:r>
              <a:rPr lang="en-US" sz="2400">
                <a:latin typeface="Times New Roman"/>
                <a:ea typeface="Times New Roman"/>
                <a:cs typeface="Times New Roman"/>
                <a:sym typeface="Times New Roman"/>
              </a:rPr>
              <a:t>An </a:t>
            </a:r>
            <a:r>
              <a:rPr b="1" lang="en-US" sz="2400">
                <a:latin typeface="Times New Roman"/>
                <a:ea typeface="Times New Roman"/>
                <a:cs typeface="Times New Roman"/>
                <a:sym typeface="Times New Roman"/>
              </a:rPr>
              <a:t>email server</a:t>
            </a:r>
            <a:r>
              <a:rPr lang="en-US" sz="2400">
                <a:latin typeface="Times New Roman"/>
                <a:ea typeface="Times New Roman"/>
                <a:cs typeface="Times New Roman"/>
                <a:sym typeface="Times New Roman"/>
              </a:rPr>
              <a:t> is a specialized computer or software application that handles email transfer, storage, and distribution. Email servers can be further categorized into outgoing and incoming servers.</a:t>
            </a:r>
            <a:endParaRPr/>
          </a:p>
          <a:p>
            <a:pPr indent="0" lvl="0" marL="91440" rtl="0" algn="l">
              <a:lnSpc>
                <a:spcPct val="90000"/>
              </a:lnSpc>
              <a:spcBef>
                <a:spcPts val="1400"/>
              </a:spcBef>
              <a:spcAft>
                <a:spcPts val="0"/>
              </a:spcAft>
              <a:buSzPct val="100000"/>
              <a:buNone/>
            </a:pPr>
            <a:r>
              <a:t/>
            </a:r>
            <a:endParaRPr sz="2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Exploring the role of client and server in email</a:t>
            </a:r>
            <a:endParaRPr/>
          </a:p>
        </p:txBody>
      </p:sp>
      <p:sp>
        <p:nvSpPr>
          <p:cNvPr id="192" name="Google Shape;192;p16"/>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Outgoing Mail Server:</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Uses </a:t>
            </a:r>
            <a:r>
              <a:rPr b="1" lang="en-US" sz="2400">
                <a:latin typeface="Times New Roman"/>
                <a:ea typeface="Times New Roman"/>
                <a:cs typeface="Times New Roman"/>
                <a:sym typeface="Times New Roman"/>
              </a:rPr>
              <a:t>SMTP</a:t>
            </a:r>
            <a:r>
              <a:rPr lang="en-US" sz="2400">
                <a:latin typeface="Times New Roman"/>
                <a:ea typeface="Times New Roman"/>
                <a:cs typeface="Times New Roman"/>
                <a:sym typeface="Times New Roman"/>
              </a:rPr>
              <a:t> to send emails from the client to the recipient's email server.</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Ensures proper routing by resolving domain names and finding recipient mail servers using DNS.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Incoming Mail Server:</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Stores incoming emails and delivers them to clients upon request.</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Uses </a:t>
            </a:r>
            <a:r>
              <a:rPr b="1" lang="en-US" sz="2400">
                <a:latin typeface="Times New Roman"/>
                <a:ea typeface="Times New Roman"/>
                <a:cs typeface="Times New Roman"/>
                <a:sym typeface="Times New Roman"/>
              </a:rPr>
              <a:t>IMAP</a:t>
            </a:r>
            <a:r>
              <a:rPr lang="en-US" sz="2400">
                <a:latin typeface="Times New Roman"/>
                <a:ea typeface="Times New Roman"/>
                <a:cs typeface="Times New Roman"/>
                <a:sym typeface="Times New Roman"/>
              </a:rPr>
              <a:t> or </a:t>
            </a:r>
            <a:r>
              <a:rPr b="1" lang="en-US" sz="2400">
                <a:latin typeface="Times New Roman"/>
                <a:ea typeface="Times New Roman"/>
                <a:cs typeface="Times New Roman"/>
                <a:sym typeface="Times New Roman"/>
              </a:rPr>
              <a:t>POP3</a:t>
            </a:r>
            <a:r>
              <a:rPr lang="en-US" sz="2400">
                <a:latin typeface="Times New Roman"/>
                <a:ea typeface="Times New Roman"/>
                <a:cs typeface="Times New Roman"/>
                <a:sym typeface="Times New Roman"/>
              </a:rPr>
              <a:t> to manage and distribute emails to clients.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Exploring the role of client and server in email</a:t>
            </a:r>
            <a:endParaRPr/>
          </a:p>
        </p:txBody>
      </p:sp>
      <p:sp>
        <p:nvSpPr>
          <p:cNvPr id="198" name="Google Shape;198;p17"/>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Responsibilities: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Storing Emails</a:t>
            </a:r>
            <a:r>
              <a:rPr lang="en-US" sz="2400">
                <a:latin typeface="Times New Roman"/>
                <a:ea typeface="Times New Roman"/>
                <a:cs typeface="Times New Roman"/>
                <a:sym typeface="Times New Roman"/>
              </a:rPr>
              <a:t>: Maintains a repository for received emails until the recipient retrieves them.</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Forwarding Emails</a:t>
            </a:r>
            <a:r>
              <a:rPr lang="en-US" sz="2400">
                <a:latin typeface="Times New Roman"/>
                <a:ea typeface="Times New Roman"/>
                <a:cs typeface="Times New Roman"/>
                <a:sym typeface="Times New Roman"/>
              </a:rPr>
              <a:t>: Relays emails to their destination server (for outgoing emails).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Authentication</a:t>
            </a:r>
            <a:r>
              <a:rPr lang="en-US" sz="2400">
                <a:latin typeface="Times New Roman"/>
                <a:ea typeface="Times New Roman"/>
                <a:cs typeface="Times New Roman"/>
                <a:sym typeface="Times New Roman"/>
              </a:rPr>
              <a:t>: Ensures only authorized users can access their accounts.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Spam Filtering</a:t>
            </a:r>
            <a:r>
              <a:rPr lang="en-US" sz="2400">
                <a:latin typeface="Times New Roman"/>
                <a:ea typeface="Times New Roman"/>
                <a:cs typeface="Times New Roman"/>
                <a:sym typeface="Times New Roman"/>
              </a:rPr>
              <a:t>: Identifies and filters spam or malicious emails.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Exploring the role of client and server in email</a:t>
            </a:r>
            <a:endParaRPr/>
          </a:p>
        </p:txBody>
      </p:sp>
      <p:sp>
        <p:nvSpPr>
          <p:cNvPr id="204" name="Google Shape;204;p1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91440" lvl="0" marL="9144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Workflow of Email Communication</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Email Composition</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The user composes an email in the client and hits "Send."</a:t>
            </a:r>
            <a:endParaRPr/>
          </a:p>
          <a:p>
            <a:pPr indent="-152400" lvl="0" marL="91440" rtl="0" algn="l">
              <a:lnSpc>
                <a:spcPct val="90000"/>
              </a:lnSpc>
              <a:spcBef>
                <a:spcPts val="1600"/>
              </a:spcBef>
              <a:spcAft>
                <a:spcPts val="0"/>
              </a:spcAft>
              <a:buSzPts val="2400"/>
              <a:buChar char=" "/>
            </a:pPr>
            <a:r>
              <a:rPr b="1" lang="en-US" sz="2400">
                <a:latin typeface="Times New Roman"/>
                <a:ea typeface="Times New Roman"/>
                <a:cs typeface="Times New Roman"/>
                <a:sym typeface="Times New Roman"/>
              </a:rPr>
              <a:t>Sending via SMTP</a:t>
            </a:r>
            <a:r>
              <a:rPr lang="en-US" sz="2400">
                <a:latin typeface="Times New Roman"/>
                <a:ea typeface="Times New Roman"/>
                <a:cs typeface="Times New Roman"/>
                <a:sym typeface="Times New Roman"/>
              </a:rPr>
              <a:t>:The client connects to the outgoing mail server (SMTP server) to send the email.</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The server identifies the recipient's domain and resolves it to an IP address using DNS.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Email Routing</a:t>
            </a:r>
            <a:r>
              <a:rPr lang="en-US" sz="2400">
                <a:latin typeface="Times New Roman"/>
                <a:ea typeface="Times New Roman"/>
                <a:cs typeface="Times New Roman"/>
                <a:sym typeface="Times New Roman"/>
              </a:rPr>
              <a:t>:The email is transferred over the internet to the recipient's mail server.</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Storage on the Recipient’s Server</a:t>
            </a:r>
            <a:r>
              <a:rPr lang="en-US" sz="2400">
                <a:latin typeface="Times New Roman"/>
                <a:ea typeface="Times New Roman"/>
                <a:cs typeface="Times New Roman"/>
                <a:sym typeface="Times New Roman"/>
              </a:rPr>
              <a:t>:The recipient's mail server stores the email until retrieved.</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Retrieval via IMAP/POP3</a:t>
            </a:r>
            <a:r>
              <a:rPr lang="en-US" sz="2400">
                <a:latin typeface="Times New Roman"/>
                <a:ea typeface="Times New Roman"/>
                <a:cs typeface="Times New Roman"/>
                <a:sym typeface="Times New Roman"/>
              </a:rPr>
              <a:t>:The recipient's client connects to the incoming mail server to fetch or synchronize emails.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Email Reading</a:t>
            </a:r>
            <a:r>
              <a:rPr lang="en-US" sz="2400">
                <a:latin typeface="Times New Roman"/>
                <a:ea typeface="Times New Roman"/>
                <a:cs typeface="Times New Roman"/>
                <a:sym typeface="Times New Roman"/>
              </a:rPr>
              <a:t>:The recipient reads and manages their emails through the client interface.</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ph type="title"/>
          </p:nvPr>
        </p:nvSpPr>
        <p:spPr>
          <a:xfrm>
            <a:off x="457200" y="1219200"/>
            <a:ext cx="8229600" cy="884238"/>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latin typeface="Algerian"/>
              <a:ea typeface="Algerian"/>
              <a:cs typeface="Algerian"/>
              <a:sym typeface="Algerian"/>
            </a:endParaRPr>
          </a:p>
        </p:txBody>
      </p:sp>
      <p:sp>
        <p:nvSpPr>
          <p:cNvPr id="215" name="Google Shape;215;p20"/>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400"/>
              <a:buNone/>
            </a:pPr>
            <a:r>
              <a:rPr lang="en-US" sz="2400">
                <a:latin typeface="Times New Roman"/>
                <a:ea typeface="Times New Roman"/>
                <a:cs typeface="Times New Roman"/>
                <a:sym typeface="Times New Roman"/>
              </a:rPr>
              <a:t>Investigating E-mail crimes and violations </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1.3.1 Examining E-mail Messages </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1.3.2 Viewing E-mail headers</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 1.3.3 Examining E-mail headers </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1.3.4 Examining additional E-mail files</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 1.3.5 Tracing an e-mail message </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1.3.6 Using network E-mail logs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21" name="Google Shape;221;p2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lang="en-US" sz="2400">
                <a:latin typeface="Times New Roman"/>
                <a:ea typeface="Times New Roman"/>
                <a:cs typeface="Times New Roman"/>
                <a:sym typeface="Times New Roman"/>
              </a:rPr>
              <a:t>Investigating email crimes and violations often involves examining various components of email messages, headers, and associated files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Examining E-mail Messages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Purpose</a:t>
            </a:r>
            <a:r>
              <a:rPr lang="en-US" sz="2400">
                <a:latin typeface="Times New Roman"/>
                <a:ea typeface="Times New Roman"/>
                <a:cs typeface="Times New Roman"/>
                <a:sym typeface="Times New Roman"/>
              </a:rPr>
              <a:t>: Analyzing the content of the email to understand its context and purpose.</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Steps</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Open the email in its original format without altering metadata.</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Look for suspicious content, such as links, attachments, or language suggesting fraud, phishing, or threats.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27" name="Google Shape;227;p22"/>
          <p:cNvSpPr txBox="1"/>
          <p:nvPr>
            <p:ph idx="1" type="body"/>
          </p:nvPr>
        </p:nvSpPr>
        <p:spPr>
          <a:xfrm>
            <a:off x="457200" y="1600200"/>
            <a:ext cx="8229600" cy="5257800"/>
          </a:xfrm>
          <a:prstGeom prst="rect">
            <a:avLst/>
          </a:prstGeom>
          <a:noFill/>
          <a:ln>
            <a:noFill/>
          </a:ln>
        </p:spPr>
        <p:txBody>
          <a:bodyPr anchorCtr="0" anchor="t" bIns="45700" lIns="0" spcFirstLastPara="1" rIns="0" wrap="square" tIns="45700">
            <a:noAutofit/>
          </a:bodyPr>
          <a:lstStyle/>
          <a:p>
            <a:pPr indent="-182880" lvl="1" marL="384048" rtl="0" algn="l">
              <a:lnSpc>
                <a:spcPct val="90000"/>
              </a:lnSpc>
              <a:spcBef>
                <a:spcPts val="0"/>
              </a:spcBef>
              <a:spcAft>
                <a:spcPts val="0"/>
              </a:spcAft>
              <a:buSzPts val="2400"/>
              <a:buChar char="◦"/>
            </a:pPr>
            <a:r>
              <a:rPr lang="en-US" sz="2400">
                <a:latin typeface="Times New Roman"/>
                <a:ea typeface="Times New Roman"/>
                <a:cs typeface="Times New Roman"/>
                <a:sym typeface="Times New Roman"/>
              </a:rPr>
              <a:t>Verify any URLs in the message by checking for obfuscated domains or shortened links.</a:t>
            </a:r>
            <a:endParaRPr/>
          </a:p>
          <a:p>
            <a:pPr indent="-91440" lvl="0" marL="91440" rtl="0" algn="l">
              <a:lnSpc>
                <a:spcPct val="90000"/>
              </a:lnSpc>
              <a:spcBef>
                <a:spcPts val="1600"/>
              </a:spcBef>
              <a:spcAft>
                <a:spcPts val="0"/>
              </a:spcAft>
              <a:buSzPts val="2400"/>
              <a:buNone/>
            </a:pPr>
            <a:r>
              <a:rPr b="1" lang="en-US" sz="2400">
                <a:latin typeface="Times New Roman"/>
                <a:ea typeface="Times New Roman"/>
                <a:cs typeface="Times New Roman"/>
                <a:sym typeface="Times New Roman"/>
              </a:rPr>
              <a:t>Viewing E-mail Headers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Purpose</a:t>
            </a:r>
            <a:r>
              <a:rPr lang="en-US" sz="2400">
                <a:latin typeface="Times New Roman"/>
                <a:ea typeface="Times New Roman"/>
                <a:cs typeface="Times New Roman"/>
                <a:sym typeface="Times New Roman"/>
              </a:rPr>
              <a:t>: Email headers contain metadata that provides insights into the origin and path of an email.</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Steps to View Headers</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In Gmail: Click on the three dots next to "Reply" &gt; "Show original."</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In Outlook: File &gt; Properties &gt; View the "Internet headers" section.</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In command-line tools like telnet or curl, headers can be retrieved using mail server protocols.</a:t>
            </a:r>
            <a:endParaRPr/>
          </a:p>
          <a:p>
            <a:pPr indent="0" lvl="0" marL="91440" rtl="0" algn="l">
              <a:lnSpc>
                <a:spcPct val="90000"/>
              </a:lnSpc>
              <a:spcBef>
                <a:spcPts val="16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33" name="Google Shape;233;p2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Examining E-mail Headers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Key Elements to Analyze</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b="1" lang="en-US" sz="2400">
                <a:latin typeface="Times New Roman"/>
                <a:ea typeface="Times New Roman"/>
                <a:cs typeface="Times New Roman"/>
                <a:sym typeface="Times New Roman"/>
              </a:rPr>
              <a:t>From</a:t>
            </a:r>
            <a:r>
              <a:rPr lang="en-US" sz="2400">
                <a:latin typeface="Times New Roman"/>
                <a:ea typeface="Times New Roman"/>
                <a:cs typeface="Times New Roman"/>
                <a:sym typeface="Times New Roman"/>
              </a:rPr>
              <a:t>: Sender's email address (can be spoofed).</a:t>
            </a:r>
            <a:endParaRPr/>
          </a:p>
          <a:p>
            <a:pPr indent="-182880" lvl="1" marL="384048" rtl="0" algn="l">
              <a:lnSpc>
                <a:spcPct val="90000"/>
              </a:lnSpc>
              <a:spcBef>
                <a:spcPts val="600"/>
              </a:spcBef>
              <a:spcAft>
                <a:spcPts val="0"/>
              </a:spcAft>
              <a:buSzPts val="2400"/>
              <a:buChar char="◦"/>
            </a:pPr>
            <a:r>
              <a:rPr b="1" lang="en-US" sz="2400">
                <a:latin typeface="Times New Roman"/>
                <a:ea typeface="Times New Roman"/>
                <a:cs typeface="Times New Roman"/>
                <a:sym typeface="Times New Roman"/>
              </a:rPr>
              <a:t>To</a:t>
            </a:r>
            <a:r>
              <a:rPr lang="en-US" sz="2400">
                <a:latin typeface="Times New Roman"/>
                <a:ea typeface="Times New Roman"/>
                <a:cs typeface="Times New Roman"/>
                <a:sym typeface="Times New Roman"/>
              </a:rPr>
              <a:t>: Recipient's address(es).</a:t>
            </a:r>
            <a:endParaRPr/>
          </a:p>
          <a:p>
            <a:pPr indent="-182880" lvl="1" marL="384048" rtl="0" algn="l">
              <a:lnSpc>
                <a:spcPct val="90000"/>
              </a:lnSpc>
              <a:spcBef>
                <a:spcPts val="600"/>
              </a:spcBef>
              <a:spcAft>
                <a:spcPts val="0"/>
              </a:spcAft>
              <a:buSzPts val="2400"/>
              <a:buChar char="◦"/>
            </a:pPr>
            <a:r>
              <a:rPr b="1" lang="en-US" sz="2400">
                <a:latin typeface="Times New Roman"/>
                <a:ea typeface="Times New Roman"/>
                <a:cs typeface="Times New Roman"/>
                <a:sym typeface="Times New Roman"/>
              </a:rPr>
              <a:t>Subject</a:t>
            </a:r>
            <a:r>
              <a:rPr lang="en-US" sz="2400">
                <a:latin typeface="Times New Roman"/>
                <a:ea typeface="Times New Roman"/>
                <a:cs typeface="Times New Roman"/>
                <a:sym typeface="Times New Roman"/>
              </a:rPr>
              <a:t>: May contain misleading information.</a:t>
            </a:r>
            <a:endParaRPr/>
          </a:p>
          <a:p>
            <a:pPr indent="-182880" lvl="1" marL="384048" rtl="0" algn="l">
              <a:lnSpc>
                <a:spcPct val="90000"/>
              </a:lnSpc>
              <a:spcBef>
                <a:spcPts val="600"/>
              </a:spcBef>
              <a:spcAft>
                <a:spcPts val="0"/>
              </a:spcAft>
              <a:buSzPts val="2400"/>
              <a:buChar char="◦"/>
            </a:pPr>
            <a:r>
              <a:rPr b="1" lang="en-US" sz="2400">
                <a:latin typeface="Times New Roman"/>
                <a:ea typeface="Times New Roman"/>
                <a:cs typeface="Times New Roman"/>
                <a:sym typeface="Times New Roman"/>
              </a:rPr>
              <a:t>Date and Time</a:t>
            </a:r>
            <a:r>
              <a:rPr lang="en-US" sz="2400">
                <a:latin typeface="Times New Roman"/>
                <a:ea typeface="Times New Roman"/>
                <a:cs typeface="Times New Roman"/>
                <a:sym typeface="Times New Roman"/>
              </a:rPr>
              <a:t>: Can help determine the email's origin time.</a:t>
            </a:r>
            <a:endParaRPr/>
          </a:p>
          <a:p>
            <a:pPr indent="-182880" lvl="1" marL="384048" rtl="0" algn="l">
              <a:lnSpc>
                <a:spcPct val="90000"/>
              </a:lnSpc>
              <a:spcBef>
                <a:spcPts val="600"/>
              </a:spcBef>
              <a:spcAft>
                <a:spcPts val="0"/>
              </a:spcAft>
              <a:buSzPts val="2400"/>
              <a:buChar char="◦"/>
            </a:pPr>
            <a:r>
              <a:rPr b="1" lang="en-US" sz="2400">
                <a:latin typeface="Times New Roman"/>
                <a:ea typeface="Times New Roman"/>
                <a:cs typeface="Times New Roman"/>
                <a:sym typeface="Times New Roman"/>
              </a:rPr>
              <a:t>Received</a:t>
            </a:r>
            <a:r>
              <a:rPr lang="en-US" sz="2400">
                <a:latin typeface="Times New Roman"/>
                <a:ea typeface="Times New Roman"/>
                <a:cs typeface="Times New Roman"/>
                <a:sym typeface="Times New Roman"/>
              </a:rPr>
              <a:t>: Chain of servers that handled the email; useful for tracing the email's path.</a:t>
            </a:r>
            <a:endParaRPr/>
          </a:p>
          <a:p>
            <a:pPr indent="-182880" lvl="1" marL="384048" rtl="0" algn="l">
              <a:lnSpc>
                <a:spcPct val="90000"/>
              </a:lnSpc>
              <a:spcBef>
                <a:spcPts val="600"/>
              </a:spcBef>
              <a:spcAft>
                <a:spcPts val="0"/>
              </a:spcAft>
              <a:buSzPts val="2400"/>
              <a:buChar char="◦"/>
            </a:pPr>
            <a:r>
              <a:rPr b="1" lang="en-US" sz="2400">
                <a:latin typeface="Times New Roman"/>
                <a:ea typeface="Times New Roman"/>
                <a:cs typeface="Times New Roman"/>
                <a:sym typeface="Times New Roman"/>
              </a:rPr>
              <a:t>Message-ID</a:t>
            </a:r>
            <a:r>
              <a:rPr lang="en-US" sz="2400">
                <a:latin typeface="Times New Roman"/>
                <a:ea typeface="Times New Roman"/>
                <a:cs typeface="Times New Roman"/>
                <a:sym typeface="Times New Roman"/>
              </a:rPr>
              <a:t>: A unique identifier for the email.</a:t>
            </a:r>
            <a:endParaRPr/>
          </a:p>
          <a:p>
            <a:pPr indent="0" lvl="0" marL="91440" rtl="0" algn="l">
              <a:lnSpc>
                <a:spcPct val="90000"/>
              </a:lnSpc>
              <a:spcBef>
                <a:spcPts val="16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39" name="Google Shape;239;p2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82880" lvl="1" marL="384048" rtl="0" algn="l">
              <a:lnSpc>
                <a:spcPct val="90000"/>
              </a:lnSpc>
              <a:spcBef>
                <a:spcPts val="0"/>
              </a:spcBef>
              <a:spcAft>
                <a:spcPts val="0"/>
              </a:spcAft>
              <a:buSzPts val="2400"/>
              <a:buChar char="◦"/>
            </a:pPr>
            <a:r>
              <a:rPr b="1" lang="en-US" sz="2400">
                <a:latin typeface="Times New Roman"/>
                <a:ea typeface="Times New Roman"/>
                <a:cs typeface="Times New Roman"/>
                <a:sym typeface="Times New Roman"/>
              </a:rPr>
              <a:t>Return-Path</a:t>
            </a:r>
            <a:r>
              <a:rPr lang="en-US" sz="2400">
                <a:latin typeface="Times New Roman"/>
                <a:ea typeface="Times New Roman"/>
                <a:cs typeface="Times New Roman"/>
                <a:sym typeface="Times New Roman"/>
              </a:rPr>
              <a:t>: Indicates the bounce-back address.</a:t>
            </a:r>
            <a:endParaRPr/>
          </a:p>
          <a:p>
            <a:pPr indent="-182880" lvl="1" marL="384048" rtl="0" algn="l">
              <a:lnSpc>
                <a:spcPct val="90000"/>
              </a:lnSpc>
              <a:spcBef>
                <a:spcPts val="600"/>
              </a:spcBef>
              <a:spcAft>
                <a:spcPts val="0"/>
              </a:spcAft>
              <a:buSzPts val="2400"/>
              <a:buChar char="◦"/>
            </a:pPr>
            <a:r>
              <a:rPr b="1" lang="en-US" sz="2400">
                <a:latin typeface="Times New Roman"/>
                <a:ea typeface="Times New Roman"/>
                <a:cs typeface="Times New Roman"/>
                <a:sym typeface="Times New Roman"/>
              </a:rPr>
              <a:t>SPF, DKIM, DMARC</a:t>
            </a:r>
            <a:r>
              <a:rPr lang="en-US" sz="2400">
                <a:latin typeface="Times New Roman"/>
                <a:ea typeface="Times New Roman"/>
                <a:cs typeface="Times New Roman"/>
                <a:sym typeface="Times New Roman"/>
              </a:rPr>
              <a:t>: Verification records to check for spoofing.</a:t>
            </a:r>
            <a:endParaRPr/>
          </a:p>
          <a:p>
            <a:pPr indent="-152400" lvl="0" marL="91440" rtl="0" algn="l">
              <a:lnSpc>
                <a:spcPct val="90000"/>
              </a:lnSpc>
              <a:spcBef>
                <a:spcPts val="1600"/>
              </a:spcBef>
              <a:spcAft>
                <a:spcPts val="0"/>
              </a:spcAft>
              <a:buSzPts val="2400"/>
              <a:buChar char=" "/>
            </a:pPr>
            <a:r>
              <a:rPr b="1" lang="en-US" sz="2400">
                <a:latin typeface="Times New Roman"/>
                <a:ea typeface="Times New Roman"/>
                <a:cs typeface="Times New Roman"/>
                <a:sym typeface="Times New Roman"/>
              </a:rPr>
              <a:t>Tools</a:t>
            </a:r>
            <a:r>
              <a:rPr lang="en-US" sz="2400">
                <a:latin typeface="Times New Roman"/>
                <a:ea typeface="Times New Roman"/>
                <a:cs typeface="Times New Roman"/>
                <a:sym typeface="Times New Roman"/>
              </a:rPr>
              <a:t>: Email header parsers like MXToolbox or manual analysis.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Examining Additional E-mail Files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Attachments</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Scan for malware or malicious scripts.</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Analyze file properties for metadata such as creation time or author.</a:t>
            </a:r>
            <a:endParaRPr/>
          </a:p>
          <a:p>
            <a:pPr indent="0" lvl="0" marL="91440" rtl="0" algn="l">
              <a:lnSpc>
                <a:spcPct val="90000"/>
              </a:lnSpc>
              <a:spcBef>
                <a:spcPts val="16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45" name="Google Shape;245;p2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Embedded Links</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Check for phishing or malicious redirects.</a:t>
            </a:r>
            <a:endParaRPr/>
          </a:p>
          <a:p>
            <a:pPr indent="-152400" lvl="0" marL="91440" rtl="0" algn="l">
              <a:lnSpc>
                <a:spcPct val="90000"/>
              </a:lnSpc>
              <a:spcBef>
                <a:spcPts val="1600"/>
              </a:spcBef>
              <a:spcAft>
                <a:spcPts val="0"/>
              </a:spcAft>
              <a:buSzPts val="2400"/>
              <a:buChar char=" "/>
            </a:pPr>
            <a:r>
              <a:rPr b="1" lang="en-US" sz="2400">
                <a:latin typeface="Times New Roman"/>
                <a:ea typeface="Times New Roman"/>
                <a:cs typeface="Times New Roman"/>
                <a:sym typeface="Times New Roman"/>
              </a:rPr>
              <a:t>Archived Files</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Decompress and examine contents (e.g., .zip or .rar files).</a:t>
            </a:r>
            <a:endParaRPr/>
          </a:p>
          <a:p>
            <a:pPr indent="-152400" lvl="0" marL="91440" rtl="0" algn="l">
              <a:lnSpc>
                <a:spcPct val="90000"/>
              </a:lnSpc>
              <a:spcBef>
                <a:spcPts val="1600"/>
              </a:spcBef>
              <a:spcAft>
                <a:spcPts val="0"/>
              </a:spcAft>
              <a:buSzPts val="2400"/>
              <a:buChar char=" "/>
            </a:pPr>
            <a:r>
              <a:rPr b="1" lang="en-US" sz="2400">
                <a:latin typeface="Times New Roman"/>
                <a:ea typeface="Times New Roman"/>
                <a:cs typeface="Times New Roman"/>
                <a:sym typeface="Times New Roman"/>
              </a:rPr>
              <a:t>Hidden Data</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Look for Base64-encoded payloads, steganography, or obfuscated content.</a:t>
            </a:r>
            <a:endParaRPr/>
          </a:p>
          <a:p>
            <a:pPr indent="0" lvl="0" marL="91440" rtl="0" algn="l">
              <a:lnSpc>
                <a:spcPct val="90000"/>
              </a:lnSpc>
              <a:spcBef>
                <a:spcPts val="1600"/>
              </a:spcBef>
              <a:spcAft>
                <a:spcPts val="0"/>
              </a:spcAft>
              <a:buSzPts val="2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51" name="Google Shape;251;p26"/>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Tracing an E-mail Message</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Purpose</a:t>
            </a:r>
            <a:r>
              <a:rPr lang="en-US" sz="2400">
                <a:latin typeface="Times New Roman"/>
                <a:ea typeface="Times New Roman"/>
                <a:cs typeface="Times New Roman"/>
                <a:sym typeface="Times New Roman"/>
              </a:rPr>
              <a:t>: Identify the true origin of the email and its journey through servers.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Steps</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Extract the email headers.</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Follow the "Received" fields backward to determine the sender's IP address.</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Use tools like:</a:t>
            </a:r>
            <a:endParaRPr/>
          </a:p>
          <a:p>
            <a:pPr indent="-182880" lvl="2" marL="566928" rtl="0" algn="l">
              <a:lnSpc>
                <a:spcPct val="90000"/>
              </a:lnSpc>
              <a:spcBef>
                <a:spcPts val="600"/>
              </a:spcBef>
              <a:spcAft>
                <a:spcPts val="0"/>
              </a:spcAft>
              <a:buSzPts val="1400"/>
              <a:buChar char="◦"/>
            </a:pPr>
            <a:r>
              <a:rPr b="1" lang="en-US">
                <a:latin typeface="Times New Roman"/>
                <a:ea typeface="Times New Roman"/>
                <a:cs typeface="Times New Roman"/>
                <a:sym typeface="Times New Roman"/>
              </a:rPr>
              <a:t>WHOIS Lookup</a:t>
            </a:r>
            <a:r>
              <a:rPr lang="en-US">
                <a:latin typeface="Times New Roman"/>
                <a:ea typeface="Times New Roman"/>
                <a:cs typeface="Times New Roman"/>
                <a:sym typeface="Times New Roman"/>
              </a:rPr>
              <a:t>: Identify the owner of the IP address.</a:t>
            </a:r>
            <a:endParaRPr/>
          </a:p>
          <a:p>
            <a:pPr indent="-182880" lvl="2" marL="566928" rtl="0" algn="l">
              <a:lnSpc>
                <a:spcPct val="90000"/>
              </a:lnSpc>
              <a:spcBef>
                <a:spcPts val="600"/>
              </a:spcBef>
              <a:spcAft>
                <a:spcPts val="0"/>
              </a:spcAft>
              <a:buSzPts val="1400"/>
              <a:buChar char="◦"/>
            </a:pPr>
            <a:r>
              <a:rPr b="1" lang="en-US">
                <a:latin typeface="Times New Roman"/>
                <a:ea typeface="Times New Roman"/>
                <a:cs typeface="Times New Roman"/>
                <a:sym typeface="Times New Roman"/>
              </a:rPr>
              <a:t>Traceroute</a:t>
            </a:r>
            <a:r>
              <a:rPr lang="en-US">
                <a:latin typeface="Times New Roman"/>
                <a:ea typeface="Times New Roman"/>
                <a:cs typeface="Times New Roman"/>
                <a:sym typeface="Times New Roman"/>
              </a:rPr>
              <a:t>: Trace the path from the sender's IP to the recipient.</a:t>
            </a:r>
            <a:endParaRPr/>
          </a:p>
          <a:p>
            <a:pPr indent="0" lvl="0" marL="91440" rtl="0" algn="l">
              <a:lnSpc>
                <a:spcPct val="90000"/>
              </a:lnSpc>
              <a:spcBef>
                <a:spcPts val="16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57" name="Google Shape;257;p27"/>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Using Network E-mail Logs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Purpose</a:t>
            </a:r>
            <a:r>
              <a:rPr lang="en-US" sz="2400">
                <a:latin typeface="Times New Roman"/>
                <a:ea typeface="Times New Roman"/>
                <a:cs typeface="Times New Roman"/>
                <a:sym typeface="Times New Roman"/>
              </a:rPr>
              <a:t>: Investigate server logs to verify the email's journey.</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Steps</a:t>
            </a:r>
            <a:r>
              <a:rPr lang="en-US" sz="2400">
                <a:latin typeface="Times New Roman"/>
                <a:ea typeface="Times New Roman"/>
                <a:cs typeface="Times New Roman"/>
                <a:sym typeface="Times New Roman"/>
              </a:rPr>
              <a:t>:</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Access logs from mail servers like Postfix, Sendmail, or Exchange.</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Look for:</a:t>
            </a:r>
            <a:endParaRPr/>
          </a:p>
          <a:p>
            <a:pPr indent="-182880" lvl="2" marL="566928" rtl="0" algn="l">
              <a:lnSpc>
                <a:spcPct val="90000"/>
              </a:lnSpc>
              <a:spcBef>
                <a:spcPts val="600"/>
              </a:spcBef>
              <a:spcAft>
                <a:spcPts val="0"/>
              </a:spcAft>
              <a:buSzPts val="1400"/>
              <a:buChar char="◦"/>
            </a:pPr>
            <a:r>
              <a:rPr lang="en-US">
                <a:latin typeface="Times New Roman"/>
                <a:ea typeface="Times New Roman"/>
                <a:cs typeface="Times New Roman"/>
                <a:sym typeface="Times New Roman"/>
              </a:rPr>
              <a:t>SMTP transactions.</a:t>
            </a:r>
            <a:endParaRPr/>
          </a:p>
          <a:p>
            <a:pPr indent="-182880" lvl="2" marL="566928" rtl="0" algn="l">
              <a:lnSpc>
                <a:spcPct val="90000"/>
              </a:lnSpc>
              <a:spcBef>
                <a:spcPts val="600"/>
              </a:spcBef>
              <a:spcAft>
                <a:spcPts val="0"/>
              </a:spcAft>
              <a:buSzPts val="1400"/>
              <a:buChar char="◦"/>
            </a:pPr>
            <a:r>
              <a:rPr lang="en-US">
                <a:latin typeface="Times New Roman"/>
                <a:ea typeface="Times New Roman"/>
                <a:cs typeface="Times New Roman"/>
                <a:sym typeface="Times New Roman"/>
              </a:rPr>
              <a:t>Delivery status (success, failure, deferred).</a:t>
            </a:r>
            <a:endParaRPr/>
          </a:p>
          <a:p>
            <a:pPr indent="-182880" lvl="2" marL="566928" rtl="0" algn="l">
              <a:lnSpc>
                <a:spcPct val="90000"/>
              </a:lnSpc>
              <a:spcBef>
                <a:spcPts val="600"/>
              </a:spcBef>
              <a:spcAft>
                <a:spcPts val="0"/>
              </a:spcAft>
              <a:buSzPts val="1400"/>
              <a:buChar char="◦"/>
            </a:pPr>
            <a:r>
              <a:rPr lang="en-US">
                <a:latin typeface="Times New Roman"/>
                <a:ea typeface="Times New Roman"/>
                <a:cs typeface="Times New Roman"/>
                <a:sym typeface="Times New Roman"/>
              </a:rPr>
              <a:t>Authentication attempts.</a:t>
            </a:r>
            <a:endParaRPr/>
          </a:p>
          <a:p>
            <a:pPr indent="0" lvl="0" marL="91440" rtl="0" algn="l">
              <a:lnSpc>
                <a:spcPct val="90000"/>
              </a:lnSpc>
              <a:spcBef>
                <a:spcPts val="16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Investigating E-mail crimes and violations </a:t>
            </a:r>
            <a:br>
              <a:rPr lang="en-US">
                <a:latin typeface="Algerian"/>
                <a:ea typeface="Algerian"/>
                <a:cs typeface="Algerian"/>
                <a:sym typeface="Algerian"/>
              </a:rPr>
            </a:br>
            <a:endParaRPr/>
          </a:p>
        </p:txBody>
      </p:sp>
      <p:sp>
        <p:nvSpPr>
          <p:cNvPr id="263" name="Google Shape;263;p2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82880" lvl="1" marL="384048" rtl="0" algn="l">
              <a:lnSpc>
                <a:spcPct val="90000"/>
              </a:lnSpc>
              <a:spcBef>
                <a:spcPts val="0"/>
              </a:spcBef>
              <a:spcAft>
                <a:spcPts val="0"/>
              </a:spcAft>
              <a:buSzPts val="2400"/>
              <a:buChar char="◦"/>
            </a:pPr>
            <a:r>
              <a:rPr lang="en-US" sz="2400">
                <a:latin typeface="Times New Roman"/>
                <a:ea typeface="Times New Roman"/>
                <a:cs typeface="Times New Roman"/>
                <a:sym typeface="Times New Roman"/>
              </a:rPr>
              <a:t>Identify anomalies, such as:</a:t>
            </a:r>
            <a:endParaRPr/>
          </a:p>
          <a:p>
            <a:pPr indent="-182880" lvl="2" marL="566928" rtl="0" algn="l">
              <a:lnSpc>
                <a:spcPct val="90000"/>
              </a:lnSpc>
              <a:spcBef>
                <a:spcPts val="600"/>
              </a:spcBef>
              <a:spcAft>
                <a:spcPts val="0"/>
              </a:spcAft>
              <a:buSzPts val="1400"/>
              <a:buChar char="◦"/>
            </a:pPr>
            <a:r>
              <a:rPr lang="en-US">
                <a:latin typeface="Times New Roman"/>
                <a:ea typeface="Times New Roman"/>
                <a:cs typeface="Times New Roman"/>
                <a:sym typeface="Times New Roman"/>
              </a:rPr>
              <a:t>Brute-force login attempts.</a:t>
            </a:r>
            <a:endParaRPr/>
          </a:p>
          <a:p>
            <a:pPr indent="-182880" lvl="2" marL="566928" rtl="0" algn="l">
              <a:lnSpc>
                <a:spcPct val="90000"/>
              </a:lnSpc>
              <a:spcBef>
                <a:spcPts val="600"/>
              </a:spcBef>
              <a:spcAft>
                <a:spcPts val="0"/>
              </a:spcAft>
              <a:buSzPts val="1400"/>
              <a:buChar char="◦"/>
            </a:pPr>
            <a:r>
              <a:rPr lang="en-US">
                <a:latin typeface="Times New Roman"/>
                <a:ea typeface="Times New Roman"/>
                <a:cs typeface="Times New Roman"/>
                <a:sym typeface="Times New Roman"/>
              </a:rPr>
              <a:t>Emails sent to an unusual number of recipients.</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Use network monitoring tools to correlate logs with network activity.</a:t>
            </a:r>
            <a:endParaRPr/>
          </a:p>
          <a:p>
            <a:pPr indent="0" lvl="0" marL="91440" rtl="0" algn="l">
              <a:lnSpc>
                <a:spcPct val="90000"/>
              </a:lnSpc>
              <a:spcBef>
                <a:spcPts val="1600"/>
              </a:spcBef>
              <a:spcAft>
                <a:spcPts val="0"/>
              </a:spcAft>
              <a:buSzPts val="2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Algerian"/>
              <a:buNone/>
            </a:pPr>
            <a:r>
              <a:rPr lang="en-US" sz="3600">
                <a:latin typeface="Algerian"/>
                <a:ea typeface="Algerian"/>
                <a:cs typeface="Algerian"/>
                <a:sym typeface="Algerian"/>
              </a:rPr>
              <a:t>Applying Digital Forensics Methods to Social Media Communications</a:t>
            </a:r>
            <a:endParaRPr/>
          </a:p>
        </p:txBody>
      </p:sp>
      <p:sp>
        <p:nvSpPr>
          <p:cNvPr id="269" name="Google Shape;269;p2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Font typeface="Noto Sans Symbols"/>
              <a:buChar char="⮚"/>
            </a:pPr>
            <a:r>
              <a:rPr lang="en-US" sz="2400">
                <a:latin typeface="Times New Roman"/>
                <a:ea typeface="Times New Roman"/>
                <a:cs typeface="Times New Roman"/>
                <a:sym typeface="Times New Roman"/>
              </a:rPr>
              <a:t>Digital forensics is the process of recovering, analyzing, and preserving digital evidence to support investigations, often in the context of legal cases. </a:t>
            </a:r>
            <a:endParaRPr/>
          </a:p>
          <a:p>
            <a:pPr indent="-152400" lvl="0" marL="91440" rtl="0" algn="l">
              <a:lnSpc>
                <a:spcPct val="90000"/>
              </a:lnSpc>
              <a:spcBef>
                <a:spcPts val="1400"/>
              </a:spcBef>
              <a:spcAft>
                <a:spcPts val="0"/>
              </a:spcAft>
              <a:buSzPts val="2400"/>
              <a:buFont typeface="Noto Sans Symbols"/>
              <a:buChar char="⮚"/>
            </a:pPr>
            <a:r>
              <a:rPr lang="en-US" sz="2400">
                <a:latin typeface="Times New Roman"/>
                <a:ea typeface="Times New Roman"/>
                <a:cs typeface="Times New Roman"/>
                <a:sym typeface="Times New Roman"/>
              </a:rPr>
              <a:t>Social media communications present a unique challenge to digital forensics because of the dynamic and publicly accessible nature of these platforms. </a:t>
            </a:r>
            <a:endParaRPr/>
          </a:p>
          <a:p>
            <a:pPr indent="-152400" lvl="0" marL="91440" rtl="0" algn="l">
              <a:lnSpc>
                <a:spcPct val="90000"/>
              </a:lnSpc>
              <a:spcBef>
                <a:spcPts val="1400"/>
              </a:spcBef>
              <a:spcAft>
                <a:spcPts val="0"/>
              </a:spcAft>
              <a:buSzPts val="2400"/>
              <a:buFont typeface="Noto Sans Symbols"/>
              <a:buChar char="⮚"/>
            </a:pPr>
            <a:r>
              <a:rPr lang="en-US" sz="2400">
                <a:latin typeface="Times New Roman"/>
                <a:ea typeface="Times New Roman"/>
                <a:cs typeface="Times New Roman"/>
                <a:sym typeface="Times New Roman"/>
              </a:rPr>
              <a:t>forensic techniques can be adapted to extract and analyze evidence from social media platforms, offering valuable insights into criminal activities, cyber threats, or other forms of misconduct.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Algerian"/>
              <a:buNone/>
            </a:pPr>
            <a:r>
              <a:rPr lang="en-US" sz="3600">
                <a:latin typeface="Algerian"/>
                <a:ea typeface="Algerian"/>
                <a:cs typeface="Algerian"/>
                <a:sym typeface="Algerian"/>
              </a:rPr>
              <a:t>Applying Digital Forensics Methods to Social Media Communications</a:t>
            </a:r>
            <a:endParaRPr sz="3600"/>
          </a:p>
        </p:txBody>
      </p:sp>
      <p:sp>
        <p:nvSpPr>
          <p:cNvPr id="275" name="Google Shape;275;p30"/>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91440" lvl="0" marL="9144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1. Identification and Preservation of Evidence</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The first step in any digital forensics investigation is identifying and preserving evidence. In the context of social media, this involves: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Capturing and Storing Data:</a:t>
            </a:r>
            <a:r>
              <a:rPr lang="en-US" sz="2400">
                <a:latin typeface="Times New Roman"/>
                <a:ea typeface="Times New Roman"/>
                <a:cs typeface="Times New Roman"/>
                <a:sym typeface="Times New Roman"/>
              </a:rPr>
              <a:t> Tools such as FTK Imager, or open-source software like Autopsy can be used to collect data from social media accounts, including posts, comments, images, videos, and metadata. It's crucial to create bit-for-bit copies of the data, preserving the original content in an unaltered form.</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Algerian"/>
              <a:buNone/>
            </a:pPr>
            <a:r>
              <a:rPr lang="en-US" sz="3600">
                <a:latin typeface="Algerian"/>
                <a:ea typeface="Algerian"/>
                <a:cs typeface="Algerian"/>
                <a:sym typeface="Algerian"/>
              </a:rPr>
              <a:t>Applying Digital Forensics Methods to Social Media Communications</a:t>
            </a:r>
            <a:endParaRPr sz="3600"/>
          </a:p>
        </p:txBody>
      </p:sp>
      <p:sp>
        <p:nvSpPr>
          <p:cNvPr id="281" name="Google Shape;281;p3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Capturing Screenshots or Web Archives:</a:t>
            </a:r>
            <a:r>
              <a:rPr lang="en-US" sz="2400">
                <a:latin typeface="Times New Roman"/>
                <a:ea typeface="Times New Roman"/>
                <a:cs typeface="Times New Roman"/>
                <a:sym typeface="Times New Roman"/>
              </a:rPr>
              <a:t> Social media platforms may be subject to changes or deletions, so investigators often take screenshots or create web archives (HTTrack) of posts, profiles, and any other communications that may be relevant to the case.</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Metadata Preservation:</a:t>
            </a:r>
            <a:r>
              <a:rPr lang="en-US" sz="2400">
                <a:latin typeface="Times New Roman"/>
                <a:ea typeface="Times New Roman"/>
                <a:cs typeface="Times New Roman"/>
                <a:sym typeface="Times New Roman"/>
              </a:rPr>
              <a:t> Social media posts and messages often contain valuable metadata, such as timestamps, location data, device information, and more. Forensics tools can capture and preserve this data to verify the authenticity and context of communications.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600"/>
              <a:buFont typeface="Algerian"/>
              <a:buNone/>
            </a:pPr>
            <a:r>
              <a:rPr lang="en-US" sz="3600">
                <a:latin typeface="Algerian"/>
                <a:ea typeface="Algerian"/>
                <a:cs typeface="Algerian"/>
                <a:sym typeface="Algerian"/>
              </a:rPr>
              <a:t>Applying Digital Forensics Methods to Social Media Communications</a:t>
            </a:r>
            <a:endParaRPr sz="3600"/>
          </a:p>
        </p:txBody>
      </p:sp>
      <p:sp>
        <p:nvSpPr>
          <p:cNvPr id="287" name="Google Shape;287;p32"/>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lnSpcReduction="10000"/>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Data Acquisition and Retrieval</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Once the evidence is preserved, the next step is to acquire and retrieve the necessary data from social media platforms. This involves: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Social Media APIs and Data Scraping:</a:t>
            </a:r>
            <a:r>
              <a:rPr lang="en-US" sz="2400">
                <a:latin typeface="Times New Roman"/>
                <a:ea typeface="Times New Roman"/>
                <a:cs typeface="Times New Roman"/>
                <a:sym typeface="Times New Roman"/>
              </a:rPr>
              <a:t> Many social media platforms provide APIs that can be used for automated data extraction. While platforms like Twitter, Facebook, Instagram, and LinkedIn have their own rules on what data can be accessed, these APIs can still provide a wealth of information, such as public posts, direct messages, and friend connections.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sz="3200"/>
          </a:p>
        </p:txBody>
      </p:sp>
      <p:sp>
        <p:nvSpPr>
          <p:cNvPr id="293" name="Google Shape;293;p3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Browser and App Forensics:</a:t>
            </a:r>
            <a:r>
              <a:rPr lang="en-US" sz="2400">
                <a:latin typeface="Times New Roman"/>
                <a:ea typeface="Times New Roman"/>
                <a:cs typeface="Times New Roman"/>
                <a:sym typeface="Times New Roman"/>
              </a:rPr>
              <a:t> Forensic methods may involve examining the user's browser history or mobile apps for social media activity. </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This could include searching browser cache, cookies, and download history for traces of social media interactions. On mobile devices, investigators can analyze app data through mobile forensics tools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sz="3200"/>
          </a:p>
        </p:txBody>
      </p:sp>
      <p:sp>
        <p:nvSpPr>
          <p:cNvPr id="299" name="Google Shape;299;p3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91440" lvl="0" marL="9144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3. Analysis of Social Media Communications</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After retrieving the data, forensic investigators conduct an in-depth analysis of the content. This typically includes: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Content Analysis:</a:t>
            </a:r>
            <a:r>
              <a:rPr lang="en-US" sz="2400">
                <a:latin typeface="Times New Roman"/>
                <a:ea typeface="Times New Roman"/>
                <a:cs typeface="Times New Roman"/>
                <a:sym typeface="Times New Roman"/>
              </a:rPr>
              <a:t> Investigators examine the posts, comments, images, videos, and messages to identify patterns, context, or evidence of criminal activity. </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Forensic tools such as X1 Social Discovery and Social Media Investigation Tools (SMIT) can help automate and streamline the analysis of large volumes of social media data.</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sz="3200"/>
          </a:p>
        </p:txBody>
      </p:sp>
      <p:sp>
        <p:nvSpPr>
          <p:cNvPr id="305" name="Google Shape;305;p3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Keyword Searches:</a:t>
            </a:r>
            <a:r>
              <a:rPr lang="en-US" sz="2400">
                <a:latin typeface="Times New Roman"/>
                <a:ea typeface="Times New Roman"/>
                <a:cs typeface="Times New Roman"/>
                <a:sym typeface="Times New Roman"/>
              </a:rPr>
              <a:t> Digital forensic experts often perform keyword searches across the social media data to identify specific phrases, names, locations, or other terms related to the investigation. This can help pinpoint incriminating evidence or leads.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Timeline Creation:</a:t>
            </a:r>
            <a:r>
              <a:rPr lang="en-US" sz="2400">
                <a:latin typeface="Times New Roman"/>
                <a:ea typeface="Times New Roman"/>
                <a:cs typeface="Times New Roman"/>
                <a:sym typeface="Times New Roman"/>
              </a:rPr>
              <a:t> Using timestamps from posts, comments, and media uploads, forensic analysts can build a timeline of the events under investigation. This helps contextualize social media activity and identify potential connections to other digital or physical evidence.</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a:p>
        </p:txBody>
      </p:sp>
      <p:sp>
        <p:nvSpPr>
          <p:cNvPr id="311" name="Google Shape;311;p36"/>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4. Cross-referencing with Other Digital Evidence</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Social media data often needs to be corroborated with other forms of digital evidence:</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Geolocation Data:</a:t>
            </a:r>
            <a:r>
              <a:rPr lang="en-US" sz="2400">
                <a:latin typeface="Times New Roman"/>
                <a:ea typeface="Times New Roman"/>
                <a:cs typeface="Times New Roman"/>
                <a:sym typeface="Times New Roman"/>
              </a:rPr>
              <a:t> Many social media platforms allow users to tag their posts with location data. This can be cross-referenced with GPS or cell tower data from the target device to validate the timeline and confirm physical locations.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7"/>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sz="3200"/>
          </a:p>
        </p:txBody>
      </p:sp>
      <p:sp>
        <p:nvSpPr>
          <p:cNvPr id="317" name="Google Shape;317;p37"/>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Social Network Analysis:</a:t>
            </a:r>
            <a:r>
              <a:rPr lang="en-US" sz="2400">
                <a:latin typeface="Times New Roman"/>
                <a:ea typeface="Times New Roman"/>
                <a:cs typeface="Times New Roman"/>
                <a:sym typeface="Times New Roman"/>
              </a:rPr>
              <a:t> Social media interactions often provide insights into relationships and connections between users. Investigators can use graph theory or social network analysis tools to map out relationships between individuals, uncovering potential co-conspirators or evidence of coordinated activities.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Linking Digital Evidence with Real-world Activities:</a:t>
            </a:r>
            <a:r>
              <a:rPr lang="en-US" sz="2400">
                <a:latin typeface="Times New Roman"/>
                <a:ea typeface="Times New Roman"/>
                <a:cs typeface="Times New Roman"/>
                <a:sym typeface="Times New Roman"/>
              </a:rPr>
              <a:t> Social media communications may also be linked to physical-world events, such as criminal acts or protests. By cross-referencing social media activity with surveillance footage, witness statements, or physical evidence, investigators can strengthen the case.</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a:p>
        </p:txBody>
      </p:sp>
      <p:sp>
        <p:nvSpPr>
          <p:cNvPr id="323" name="Google Shape;323;p38"/>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5. Verification and Authentication of Data</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One of the primary concerns in digital forensics is ensuring the authenticity of evidence. In the case of social media, this can be challenging due to the potential for editing, fabricating, or deleting content. Forensic methods include:</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Hashing:</a:t>
            </a:r>
            <a:r>
              <a:rPr lang="en-US" sz="2400">
                <a:latin typeface="Times New Roman"/>
                <a:ea typeface="Times New Roman"/>
                <a:cs typeface="Times New Roman"/>
                <a:sym typeface="Times New Roman"/>
              </a:rPr>
              <a:t> Cryptographic hashing algorithms (e.g., SHA-256) are applied to digital evidence to verify its integrity. Any change in the original file (such as a post or image) will result in a different hash value, signaling possible tampering.</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9"/>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sz="3200"/>
          </a:p>
        </p:txBody>
      </p:sp>
      <p:sp>
        <p:nvSpPr>
          <p:cNvPr id="329" name="Google Shape;329;p39"/>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Timestamp Verification:</a:t>
            </a:r>
            <a:r>
              <a:rPr lang="en-US" sz="2400">
                <a:latin typeface="Times New Roman"/>
                <a:ea typeface="Times New Roman"/>
                <a:cs typeface="Times New Roman"/>
                <a:sym typeface="Times New Roman"/>
              </a:rPr>
              <a:t> Investigators verify that the timestamps on social media posts or messages are consistent with the actual time and date of the activity. This may involve cross-checking timestamps against server logs or other sources of time-related evidence.</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Verification of Accounts:</a:t>
            </a:r>
            <a:r>
              <a:rPr lang="en-US" sz="2400">
                <a:latin typeface="Times New Roman"/>
                <a:ea typeface="Times New Roman"/>
                <a:cs typeface="Times New Roman"/>
                <a:sym typeface="Times New Roman"/>
              </a:rPr>
              <a:t> Forensic investigators may need to verify that the social media account in question is authentic. This can involve checking the account's creation history, verifying profile details, and identifying potential spoofing or impersonation.</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0"/>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3200"/>
              <a:buFont typeface="Algerian"/>
              <a:buNone/>
            </a:pPr>
            <a:r>
              <a:rPr lang="en-US" sz="3200">
                <a:latin typeface="Algerian"/>
                <a:ea typeface="Algerian"/>
                <a:cs typeface="Algerian"/>
                <a:sym typeface="Algerian"/>
              </a:rPr>
              <a:t>Applying Digital Forensics Methods to Social Media Communications</a:t>
            </a:r>
            <a:endParaRPr sz="3200"/>
          </a:p>
        </p:txBody>
      </p:sp>
      <p:sp>
        <p:nvSpPr>
          <p:cNvPr id="335" name="Google Shape;335;p40"/>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91440" lvl="0" marL="9144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6. Reporting and Presentation of Findings</a:t>
            </a:r>
            <a:endParaRPr/>
          </a:p>
          <a:p>
            <a:pPr indent="-15240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Finally, after all forensic procedures are completed, the findings need to be reported and presented. This stage includes: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Forensic Reports:</a:t>
            </a:r>
            <a:r>
              <a:rPr lang="en-US" sz="2400">
                <a:latin typeface="Times New Roman"/>
                <a:ea typeface="Times New Roman"/>
                <a:cs typeface="Times New Roman"/>
                <a:sym typeface="Times New Roman"/>
              </a:rPr>
              <a:t> Forensic investigators prepare detailed reports summarizing the steps taken during the investigation, the evidence recovered, the methods used, and the conclusions drawn. These reports must be presented in a clear, objective, and legally admissible manner.</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1"/>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Algerian"/>
              <a:buNone/>
            </a:pPr>
            <a:r>
              <a:rPr lang="en-US">
                <a:latin typeface="Algerian"/>
                <a:ea typeface="Algerian"/>
                <a:cs typeface="Algerian"/>
                <a:sym typeface="Algerian"/>
              </a:rPr>
              <a:t>Social Media Forensics on Mobile Devices</a:t>
            </a:r>
            <a:endParaRPr/>
          </a:p>
        </p:txBody>
      </p:sp>
      <p:sp>
        <p:nvSpPr>
          <p:cNvPr id="341" name="Google Shape;341;p41"/>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fontScale="92500" lnSpcReduction="10000"/>
          </a:bodyPr>
          <a:lstStyle/>
          <a:p>
            <a:pPr indent="-140970" lvl="0" marL="91440" rtl="0" algn="l">
              <a:lnSpc>
                <a:spcPct val="90000"/>
              </a:lnSpc>
              <a:spcBef>
                <a:spcPts val="0"/>
              </a:spcBef>
              <a:spcAft>
                <a:spcPts val="0"/>
              </a:spcAft>
              <a:buSzPct val="100000"/>
              <a:buChar char=" "/>
            </a:pPr>
            <a:r>
              <a:rPr b="1" lang="en-US" sz="2400">
                <a:latin typeface="Times New Roman"/>
                <a:ea typeface="Times New Roman"/>
                <a:cs typeface="Times New Roman"/>
                <a:sym typeface="Times New Roman"/>
              </a:rPr>
              <a:t>Social Media Forensics on Mobile Devices</a:t>
            </a:r>
            <a:endParaRPr sz="2400">
              <a:latin typeface="Times New Roman"/>
              <a:ea typeface="Times New Roman"/>
              <a:cs typeface="Times New Roman"/>
              <a:sym typeface="Times New Roman"/>
            </a:endParaRPr>
          </a:p>
          <a:p>
            <a:pPr indent="-140970" lvl="0" marL="91440" rtl="0" algn="l">
              <a:lnSpc>
                <a:spcPct val="90000"/>
              </a:lnSpc>
              <a:spcBef>
                <a:spcPts val="1400"/>
              </a:spcBef>
              <a:spcAft>
                <a:spcPts val="0"/>
              </a:spcAft>
              <a:buSzPct val="100000"/>
              <a:buChar char=" "/>
            </a:pPr>
            <a:r>
              <a:rPr lang="en-US" sz="2400">
                <a:latin typeface="Times New Roman"/>
                <a:ea typeface="Times New Roman"/>
                <a:cs typeface="Times New Roman"/>
                <a:sym typeface="Times New Roman"/>
              </a:rPr>
              <a:t>Social media forensics on mobile devices is a specialized branch of digital forensics that focuses on extracting, analyzing, and preserving social media-related data from mobile phones and tablets. </a:t>
            </a:r>
            <a:endParaRPr/>
          </a:p>
          <a:p>
            <a:pPr indent="-91440" lvl="0" marL="91440" rtl="0" algn="l">
              <a:lnSpc>
                <a:spcPct val="90000"/>
              </a:lnSpc>
              <a:spcBef>
                <a:spcPts val="1400"/>
              </a:spcBef>
              <a:spcAft>
                <a:spcPts val="0"/>
              </a:spcAft>
              <a:buSzPct val="100000"/>
              <a:buNone/>
            </a:pPr>
            <a:r>
              <a:rPr b="1" lang="en-US" sz="2400">
                <a:latin typeface="Times New Roman"/>
                <a:ea typeface="Times New Roman"/>
                <a:cs typeface="Times New Roman"/>
                <a:sym typeface="Times New Roman"/>
              </a:rPr>
              <a:t>Challenges in Social Media Forensics on Mobile Devices</a:t>
            </a:r>
            <a:endParaRPr/>
          </a:p>
          <a:p>
            <a:pPr indent="-91440" lvl="0" marL="91440" rtl="0" algn="l">
              <a:lnSpc>
                <a:spcPct val="90000"/>
              </a:lnSpc>
              <a:spcBef>
                <a:spcPts val="1400"/>
              </a:spcBef>
              <a:spcAft>
                <a:spcPts val="0"/>
              </a:spcAft>
              <a:buSzPct val="100000"/>
              <a:buNone/>
            </a:pPr>
            <a:r>
              <a:rPr b="1" lang="en-US" sz="2400">
                <a:latin typeface="Times New Roman"/>
                <a:ea typeface="Times New Roman"/>
                <a:cs typeface="Times New Roman"/>
                <a:sym typeface="Times New Roman"/>
              </a:rPr>
              <a:t>1. Data Extraction from Mobile Devices:</a:t>
            </a:r>
            <a:endParaRPr/>
          </a:p>
          <a:p>
            <a:pPr indent="-140970" lvl="0" marL="91440" rtl="0" algn="l">
              <a:lnSpc>
                <a:spcPct val="90000"/>
              </a:lnSpc>
              <a:spcBef>
                <a:spcPts val="1400"/>
              </a:spcBef>
              <a:spcAft>
                <a:spcPts val="0"/>
              </a:spcAft>
              <a:buSzPct val="100000"/>
              <a:buChar char=" "/>
            </a:pPr>
            <a:r>
              <a:rPr b="1" lang="en-US" sz="2400">
                <a:latin typeface="Times New Roman"/>
                <a:ea typeface="Times New Roman"/>
                <a:cs typeface="Times New Roman"/>
                <a:sym typeface="Times New Roman"/>
              </a:rPr>
              <a:t>Encrypted Devices:</a:t>
            </a:r>
            <a:r>
              <a:rPr lang="en-US" sz="2400">
                <a:latin typeface="Times New Roman"/>
                <a:ea typeface="Times New Roman"/>
                <a:cs typeface="Times New Roman"/>
                <a:sym typeface="Times New Roman"/>
              </a:rPr>
              <a:t> Many mobile devices now come with advanced encryption, such as end-to-end encryption for messages (e.g., WhatsApp, iMessage). This can complicate the extraction of meaningful data unless the device can be unlocked.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2"/>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347" name="Google Shape;347;p42"/>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App Data vs. Cloud Data:</a:t>
            </a:r>
            <a:r>
              <a:rPr lang="en-US" sz="2400">
                <a:latin typeface="Times New Roman"/>
                <a:ea typeface="Times New Roman"/>
                <a:cs typeface="Times New Roman"/>
                <a:sym typeface="Times New Roman"/>
              </a:rPr>
              <a:t> Mobile apps often store data both locally on the device and remotely in the cloud (e.g., photos, posts, messages). Investigators must determine where the relevant data resides, and how to retrieve it from both sources.</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Data Volatility:</a:t>
            </a:r>
            <a:r>
              <a:rPr lang="en-US" sz="2400">
                <a:latin typeface="Times New Roman"/>
                <a:ea typeface="Times New Roman"/>
                <a:cs typeface="Times New Roman"/>
                <a:sym typeface="Times New Roman"/>
              </a:rPr>
              <a:t> Mobile devices may automatically delete certain types of data (e.g., clearing cache or app data) if the storage is full or after a set time. Social media apps often store temporary data that could be lost after an app update or cache clearing.</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3"/>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353" name="Google Shape;353;p43"/>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Operating System Variability:</a:t>
            </a:r>
            <a:r>
              <a:rPr lang="en-US" sz="2400">
                <a:latin typeface="Times New Roman"/>
                <a:ea typeface="Times New Roman"/>
                <a:cs typeface="Times New Roman"/>
                <a:sym typeface="Times New Roman"/>
              </a:rPr>
              <a:t> Different mobile operating systems (iOS, Android) have different file systems, data storage structures, and access methods, requiring specific tools and techniques for each platform.</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Privacy and Legal Concerns:</a:t>
            </a:r>
            <a:r>
              <a:rPr lang="en-US" sz="2400">
                <a:latin typeface="Times New Roman"/>
                <a:ea typeface="Times New Roman"/>
                <a:cs typeface="Times New Roman"/>
                <a:sym typeface="Times New Roman"/>
              </a:rPr>
              <a:t> The need to ensure that the forensic process adheres to privacy laws, regulations, and the ethical standards for accessing personal or private data. Mobile devices often contain sensitive personal data, raising concerns over unauthorized access.</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4"/>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Forensic Methods for Social Media on Mobile Devices</a:t>
            </a:r>
            <a:endParaRPr/>
          </a:p>
        </p:txBody>
      </p:sp>
      <p:sp>
        <p:nvSpPr>
          <p:cNvPr id="359" name="Google Shape;359;p44"/>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Logical Acquisition:</a:t>
            </a:r>
            <a:r>
              <a:rPr lang="en-US" sz="2400">
                <a:latin typeface="Times New Roman"/>
                <a:ea typeface="Times New Roman"/>
                <a:cs typeface="Times New Roman"/>
                <a:sym typeface="Times New Roman"/>
              </a:rPr>
              <a:t> This method involves extracting only accessible data (such as files, messages, app data) from the device via a direct connection (USB) to the forensic tool. This method is useful for data that is not locked or encrypted.</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Physical Acquisition:</a:t>
            </a:r>
            <a:r>
              <a:rPr lang="en-US" sz="2400">
                <a:latin typeface="Times New Roman"/>
                <a:ea typeface="Times New Roman"/>
                <a:cs typeface="Times New Roman"/>
                <a:sym typeface="Times New Roman"/>
              </a:rPr>
              <a:t> A more comprehensive method where a bit-for-bit copy of the device’s entire storage is made, including deleted files and unallocated space. This process is more time-consuming but yields a fuller set of data.</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5"/>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Forensic Methods for Social Media on Mobile Devices</a:t>
            </a:r>
            <a:endParaRPr/>
          </a:p>
        </p:txBody>
      </p:sp>
      <p:sp>
        <p:nvSpPr>
          <p:cNvPr id="365" name="Google Shape;365;p45"/>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File System Acquisition:</a:t>
            </a:r>
            <a:r>
              <a:rPr lang="en-US" sz="2400">
                <a:latin typeface="Times New Roman"/>
                <a:ea typeface="Times New Roman"/>
                <a:cs typeface="Times New Roman"/>
                <a:sym typeface="Times New Roman"/>
              </a:rPr>
              <a:t> In this approach, forensic experts access the device’s file system to extract data stored in specific directories related to social media apps. This includes messages, posts, media files, and logs from apps like Facebook, Instagram, and Twitter.</a:t>
            </a:r>
            <a:endParaRPr/>
          </a:p>
          <a:p>
            <a:pPr indent="-152400" lvl="0" marL="91440" rtl="0" algn="l">
              <a:lnSpc>
                <a:spcPct val="90000"/>
              </a:lnSpc>
              <a:spcBef>
                <a:spcPts val="1400"/>
              </a:spcBef>
              <a:spcAft>
                <a:spcPts val="0"/>
              </a:spcAft>
              <a:buSzPts val="2400"/>
              <a:buChar char=" "/>
            </a:pPr>
            <a:r>
              <a:rPr b="1" lang="en-US" sz="2400">
                <a:latin typeface="Times New Roman"/>
                <a:ea typeface="Times New Roman"/>
                <a:cs typeface="Times New Roman"/>
                <a:sym typeface="Times New Roman"/>
              </a:rPr>
              <a:t>Cloud Data Extraction:</a:t>
            </a:r>
            <a:r>
              <a:rPr lang="en-US" sz="2400">
                <a:latin typeface="Times New Roman"/>
                <a:ea typeface="Times New Roman"/>
                <a:cs typeface="Times New Roman"/>
                <a:sym typeface="Times New Roman"/>
              </a:rPr>
              <a:t> Many social media apps sync data to the cloud. Investigators can extract data from the cloud by accessing the user’s account through legal means (e.g., subpoenas, account credentials). Tools like </a:t>
            </a:r>
            <a:r>
              <a:rPr b="1" lang="en-US" sz="2400">
                <a:latin typeface="Times New Roman"/>
                <a:ea typeface="Times New Roman"/>
                <a:cs typeface="Times New Roman"/>
                <a:sym typeface="Times New Roman"/>
              </a:rPr>
              <a:t>Cellebrite</a:t>
            </a:r>
            <a:r>
              <a:rPr lang="en-US" sz="2400">
                <a:latin typeface="Times New Roman"/>
                <a:ea typeface="Times New Roman"/>
                <a:cs typeface="Times New Roman"/>
                <a:sym typeface="Times New Roman"/>
              </a:rPr>
              <a:t> and </a:t>
            </a:r>
            <a:r>
              <a:rPr b="1" lang="en-US" sz="2400">
                <a:latin typeface="Times New Roman"/>
                <a:ea typeface="Times New Roman"/>
                <a:cs typeface="Times New Roman"/>
                <a:sym typeface="Times New Roman"/>
              </a:rPr>
              <a:t>X1 Social Discovery</a:t>
            </a:r>
            <a:r>
              <a:rPr lang="en-US" sz="2400">
                <a:latin typeface="Times New Roman"/>
                <a:ea typeface="Times New Roman"/>
                <a:cs typeface="Times New Roman"/>
                <a:sym typeface="Times New Roman"/>
              </a:rPr>
              <a:t> can retrieve cloud data and associate it with the user’s device.</a:t>
            </a:r>
            <a:endParaRPr/>
          </a:p>
          <a:p>
            <a:pPr indent="0" lvl="0" marL="9144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9" name="Shape 369"/>
        <p:cNvGrpSpPr/>
        <p:nvPr/>
      </p:nvGrpSpPr>
      <p:grpSpPr>
        <a:xfrm>
          <a:off x="0" y="0"/>
          <a:ext cx="0" cy="0"/>
          <a:chOff x="0" y="0"/>
          <a:chExt cx="0" cy="0"/>
        </a:xfrm>
      </p:grpSpPr>
      <p:sp>
        <p:nvSpPr>
          <p:cNvPr id="370" name="Google Shape;370;p46"/>
          <p:cNvSpPr txBox="1"/>
          <p:nvPr>
            <p:ph type="title"/>
          </p:nvPr>
        </p:nvSpPr>
        <p:spPr>
          <a:xfrm>
            <a:off x="822960" y="286604"/>
            <a:ext cx="75438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Algerian"/>
              <a:buNone/>
            </a:pPr>
            <a:r>
              <a:rPr lang="en-US">
                <a:latin typeface="Algerian"/>
                <a:ea typeface="Algerian"/>
                <a:cs typeface="Algerian"/>
                <a:sym typeface="Algerian"/>
              </a:rPr>
              <a:t>Forensic Methods for Social Media on Mobile Devices</a:t>
            </a:r>
            <a:endParaRPr/>
          </a:p>
        </p:txBody>
      </p:sp>
      <p:sp>
        <p:nvSpPr>
          <p:cNvPr id="371" name="Google Shape;371;p46"/>
          <p:cNvSpPr txBox="1"/>
          <p:nvPr>
            <p:ph idx="1" type="body"/>
          </p:nvPr>
        </p:nvSpPr>
        <p:spPr>
          <a:xfrm>
            <a:off x="822959" y="1845734"/>
            <a:ext cx="7543801" cy="402336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Over-the-Air (OTA) Acquisition:</a:t>
            </a:r>
            <a:r>
              <a:rPr lang="en-US" sz="2400">
                <a:latin typeface="Times New Roman"/>
                <a:ea typeface="Times New Roman"/>
                <a:cs typeface="Times New Roman"/>
                <a:sym typeface="Times New Roman"/>
              </a:rPr>
              <a:t> This method is used when physical access to the device isn’t possible. It involves extracting data remotely through backup services or by accessing app data hosted in the cloud (e.g., iCloud, Google Drive).</a:t>
            </a:r>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2024-12-19T07:53:23Z</dcterms:created>
  <dc:creator>Admin</dc:creator>
</cp:coreProperties>
</file>