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10058400" cx="7772400"/>
  <p:notesSz cx="7772400" cy="10058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28" roundtripDataSignature="AMtx7mhoWMSyTqj4t+fp6lj6wcNUB/Dk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customschemas.google.com/relationships/presentationmetadata" Target="meta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3: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5: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6: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7: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7: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8: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9: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0: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0: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1: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1: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2: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2: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3: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3: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4: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4: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5: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5: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6: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6: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7: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7: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8: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8: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9: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9: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20: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0: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1: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1: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2: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2: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obj">
  <p:cSld name="OBJECT">
    <p:spTree>
      <p:nvGrpSpPr>
        <p:cNvPr id="11" name="Shape 11"/>
        <p:cNvGrpSpPr/>
        <p:nvPr/>
      </p:nvGrpSpPr>
      <p:grpSpPr>
        <a:xfrm>
          <a:off x="0" y="0"/>
          <a:ext cx="0" cy="0"/>
          <a:chOff x="0" y="0"/>
          <a:chExt cx="0" cy="0"/>
        </a:xfrm>
      </p:grpSpPr>
      <p:sp>
        <p:nvSpPr>
          <p:cNvPr id="12" name="Google Shape;12;p24"/>
          <p:cNvSpPr txBox="1"/>
          <p:nvPr>
            <p:ph type="title"/>
          </p:nvPr>
        </p:nvSpPr>
        <p:spPr>
          <a:xfrm>
            <a:off x="1898904" y="3801618"/>
            <a:ext cx="3974591" cy="8712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800">
                <a:solidFill>
                  <a:schemeClr val="dk1"/>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4"/>
          <p:cNvSpPr txBox="1"/>
          <p:nvPr>
            <p:ph idx="11" type="ftr"/>
          </p:nvPr>
        </p:nvSpPr>
        <p:spPr>
          <a:xfrm>
            <a:off x="2642616" y="9354312"/>
            <a:ext cx="2487168" cy="50292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4"/>
          <p:cNvSpPr txBox="1"/>
          <p:nvPr>
            <p:ph idx="10" type="dt"/>
          </p:nvPr>
        </p:nvSpPr>
        <p:spPr>
          <a:xfrm>
            <a:off x="388620" y="9354312"/>
            <a:ext cx="1787652" cy="5029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4"/>
          <p:cNvSpPr txBox="1"/>
          <p:nvPr>
            <p:ph idx="12" type="sldNum"/>
          </p:nvPr>
        </p:nvSpPr>
        <p:spPr>
          <a:xfrm>
            <a:off x="5596128" y="9354312"/>
            <a:ext cx="1787652" cy="50292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6" name="Shape 16"/>
        <p:cNvGrpSpPr/>
        <p:nvPr/>
      </p:nvGrpSpPr>
      <p:grpSpPr>
        <a:xfrm>
          <a:off x="0" y="0"/>
          <a:ext cx="0" cy="0"/>
          <a:chOff x="0" y="0"/>
          <a:chExt cx="0" cy="0"/>
        </a:xfrm>
      </p:grpSpPr>
      <p:sp>
        <p:nvSpPr>
          <p:cNvPr id="17" name="Google Shape;17;p25"/>
          <p:cNvSpPr txBox="1"/>
          <p:nvPr>
            <p:ph idx="11" type="ftr"/>
          </p:nvPr>
        </p:nvSpPr>
        <p:spPr>
          <a:xfrm>
            <a:off x="2642616" y="9354312"/>
            <a:ext cx="2487168" cy="50292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5"/>
          <p:cNvSpPr txBox="1"/>
          <p:nvPr>
            <p:ph idx="10" type="dt"/>
          </p:nvPr>
        </p:nvSpPr>
        <p:spPr>
          <a:xfrm>
            <a:off x="388620" y="9354312"/>
            <a:ext cx="1787652" cy="5029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5"/>
          <p:cNvSpPr txBox="1"/>
          <p:nvPr>
            <p:ph idx="12" type="sldNum"/>
          </p:nvPr>
        </p:nvSpPr>
        <p:spPr>
          <a:xfrm>
            <a:off x="5596128" y="9354312"/>
            <a:ext cx="1787652" cy="50292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0" name="Shape 20"/>
        <p:cNvGrpSpPr/>
        <p:nvPr/>
      </p:nvGrpSpPr>
      <p:grpSpPr>
        <a:xfrm>
          <a:off x="0" y="0"/>
          <a:ext cx="0" cy="0"/>
          <a:chOff x="0" y="0"/>
          <a:chExt cx="0" cy="0"/>
        </a:xfrm>
      </p:grpSpPr>
      <p:sp>
        <p:nvSpPr>
          <p:cNvPr id="21" name="Google Shape;21;p26"/>
          <p:cNvSpPr txBox="1"/>
          <p:nvPr>
            <p:ph type="ctrTitle"/>
          </p:nvPr>
        </p:nvSpPr>
        <p:spPr>
          <a:xfrm>
            <a:off x="582930" y="3118104"/>
            <a:ext cx="6606540" cy="211226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800">
                <a:solidFill>
                  <a:schemeClr val="dk1"/>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6"/>
          <p:cNvSpPr txBox="1"/>
          <p:nvPr>
            <p:ph idx="1" type="subTitle"/>
          </p:nvPr>
        </p:nvSpPr>
        <p:spPr>
          <a:xfrm>
            <a:off x="1165860" y="5632704"/>
            <a:ext cx="5440680" cy="25146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6"/>
          <p:cNvSpPr txBox="1"/>
          <p:nvPr>
            <p:ph idx="11" type="ftr"/>
          </p:nvPr>
        </p:nvSpPr>
        <p:spPr>
          <a:xfrm>
            <a:off x="2642616" y="9354312"/>
            <a:ext cx="2487168" cy="50292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6"/>
          <p:cNvSpPr txBox="1"/>
          <p:nvPr>
            <p:ph idx="10" type="dt"/>
          </p:nvPr>
        </p:nvSpPr>
        <p:spPr>
          <a:xfrm>
            <a:off x="388620" y="9354312"/>
            <a:ext cx="1787652" cy="5029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6"/>
          <p:cNvSpPr txBox="1"/>
          <p:nvPr>
            <p:ph idx="12" type="sldNum"/>
          </p:nvPr>
        </p:nvSpPr>
        <p:spPr>
          <a:xfrm>
            <a:off x="5596128" y="9354312"/>
            <a:ext cx="1787652" cy="50292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6" name="Shape 26"/>
        <p:cNvGrpSpPr/>
        <p:nvPr/>
      </p:nvGrpSpPr>
      <p:grpSpPr>
        <a:xfrm>
          <a:off x="0" y="0"/>
          <a:ext cx="0" cy="0"/>
          <a:chOff x="0" y="0"/>
          <a:chExt cx="0" cy="0"/>
        </a:xfrm>
      </p:grpSpPr>
      <p:sp>
        <p:nvSpPr>
          <p:cNvPr id="27" name="Google Shape;27;p27"/>
          <p:cNvSpPr txBox="1"/>
          <p:nvPr>
            <p:ph type="title"/>
          </p:nvPr>
        </p:nvSpPr>
        <p:spPr>
          <a:xfrm>
            <a:off x="1898904" y="3801618"/>
            <a:ext cx="3974591" cy="8712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800">
                <a:solidFill>
                  <a:schemeClr val="dk1"/>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7"/>
          <p:cNvSpPr txBox="1"/>
          <p:nvPr>
            <p:ph idx="1" type="body"/>
          </p:nvPr>
        </p:nvSpPr>
        <p:spPr>
          <a:xfrm>
            <a:off x="388620" y="2313432"/>
            <a:ext cx="6995160" cy="6638544"/>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 name="Google Shape;29;p27"/>
          <p:cNvSpPr txBox="1"/>
          <p:nvPr>
            <p:ph idx="11" type="ftr"/>
          </p:nvPr>
        </p:nvSpPr>
        <p:spPr>
          <a:xfrm>
            <a:off x="2642616" y="9354312"/>
            <a:ext cx="2487168" cy="50292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7"/>
          <p:cNvSpPr txBox="1"/>
          <p:nvPr>
            <p:ph idx="10" type="dt"/>
          </p:nvPr>
        </p:nvSpPr>
        <p:spPr>
          <a:xfrm>
            <a:off x="388620" y="9354312"/>
            <a:ext cx="1787652" cy="5029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7"/>
          <p:cNvSpPr txBox="1"/>
          <p:nvPr>
            <p:ph idx="12" type="sldNum"/>
          </p:nvPr>
        </p:nvSpPr>
        <p:spPr>
          <a:xfrm>
            <a:off x="5596128" y="9354312"/>
            <a:ext cx="1787652" cy="50292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2" name="Shape 32"/>
        <p:cNvGrpSpPr/>
        <p:nvPr/>
      </p:nvGrpSpPr>
      <p:grpSpPr>
        <a:xfrm>
          <a:off x="0" y="0"/>
          <a:ext cx="0" cy="0"/>
          <a:chOff x="0" y="0"/>
          <a:chExt cx="0" cy="0"/>
        </a:xfrm>
      </p:grpSpPr>
      <p:sp>
        <p:nvSpPr>
          <p:cNvPr id="33" name="Google Shape;33;p28"/>
          <p:cNvSpPr txBox="1"/>
          <p:nvPr>
            <p:ph type="title"/>
          </p:nvPr>
        </p:nvSpPr>
        <p:spPr>
          <a:xfrm>
            <a:off x="1898904" y="3801618"/>
            <a:ext cx="3974591" cy="8712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800">
                <a:solidFill>
                  <a:schemeClr val="dk1"/>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8"/>
          <p:cNvSpPr txBox="1"/>
          <p:nvPr>
            <p:ph idx="1" type="body"/>
          </p:nvPr>
        </p:nvSpPr>
        <p:spPr>
          <a:xfrm>
            <a:off x="388620" y="2313432"/>
            <a:ext cx="3380994" cy="6638544"/>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28"/>
          <p:cNvSpPr txBox="1"/>
          <p:nvPr>
            <p:ph idx="2" type="body"/>
          </p:nvPr>
        </p:nvSpPr>
        <p:spPr>
          <a:xfrm>
            <a:off x="4002786" y="2313432"/>
            <a:ext cx="3380994" cy="6638544"/>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 name="Google Shape;36;p28"/>
          <p:cNvSpPr txBox="1"/>
          <p:nvPr>
            <p:ph idx="11" type="ftr"/>
          </p:nvPr>
        </p:nvSpPr>
        <p:spPr>
          <a:xfrm>
            <a:off x="2642616" y="9354312"/>
            <a:ext cx="2487168" cy="50292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28"/>
          <p:cNvSpPr txBox="1"/>
          <p:nvPr>
            <p:ph idx="10" type="dt"/>
          </p:nvPr>
        </p:nvSpPr>
        <p:spPr>
          <a:xfrm>
            <a:off x="388620" y="9354312"/>
            <a:ext cx="1787652" cy="5029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8"/>
          <p:cNvSpPr txBox="1"/>
          <p:nvPr>
            <p:ph idx="12" type="sldNum"/>
          </p:nvPr>
        </p:nvSpPr>
        <p:spPr>
          <a:xfrm>
            <a:off x="5596128" y="9354312"/>
            <a:ext cx="1787652" cy="50292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1898904" y="3801618"/>
            <a:ext cx="3974591" cy="87122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2800" u="none" cap="none" strike="noStrike">
                <a:solidFill>
                  <a:schemeClr val="dk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3"/>
          <p:cNvSpPr txBox="1"/>
          <p:nvPr>
            <p:ph idx="1" type="body"/>
          </p:nvPr>
        </p:nvSpPr>
        <p:spPr>
          <a:xfrm>
            <a:off x="388620" y="2313432"/>
            <a:ext cx="6995160" cy="6638544"/>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23"/>
          <p:cNvSpPr txBox="1"/>
          <p:nvPr>
            <p:ph idx="11" type="ftr"/>
          </p:nvPr>
        </p:nvSpPr>
        <p:spPr>
          <a:xfrm>
            <a:off x="2642616" y="9354312"/>
            <a:ext cx="2487168" cy="50292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23"/>
          <p:cNvSpPr txBox="1"/>
          <p:nvPr>
            <p:ph idx="10" type="dt"/>
          </p:nvPr>
        </p:nvSpPr>
        <p:spPr>
          <a:xfrm>
            <a:off x="388620" y="9354312"/>
            <a:ext cx="1787652" cy="50292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23"/>
          <p:cNvSpPr txBox="1"/>
          <p:nvPr>
            <p:ph idx="12" type="sldNum"/>
          </p:nvPr>
        </p:nvSpPr>
        <p:spPr>
          <a:xfrm>
            <a:off x="5596128" y="9354312"/>
            <a:ext cx="1787652" cy="50292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 name="Shape 42"/>
        <p:cNvGrpSpPr/>
        <p:nvPr/>
      </p:nvGrpSpPr>
      <p:grpSpPr>
        <a:xfrm>
          <a:off x="0" y="0"/>
          <a:ext cx="0" cy="0"/>
          <a:chOff x="0" y="0"/>
          <a:chExt cx="0" cy="0"/>
        </a:xfrm>
      </p:grpSpPr>
      <p:sp>
        <p:nvSpPr>
          <p:cNvPr id="43" name="Google Shape;43;p1"/>
          <p:cNvSpPr txBox="1"/>
          <p:nvPr>
            <p:ph type="title"/>
          </p:nvPr>
        </p:nvSpPr>
        <p:spPr>
          <a:xfrm>
            <a:off x="1898904" y="3801618"/>
            <a:ext cx="3974591" cy="871220"/>
          </a:xfrm>
          <a:prstGeom prst="rect">
            <a:avLst/>
          </a:prstGeom>
          <a:noFill/>
          <a:ln>
            <a:noFill/>
          </a:ln>
        </p:spPr>
        <p:txBody>
          <a:bodyPr anchorCtr="0" anchor="t" bIns="0" lIns="0" spcFirstLastPara="1" rIns="0" wrap="square" tIns="13325">
            <a:spAutoFit/>
          </a:bodyPr>
          <a:lstStyle/>
          <a:p>
            <a:pPr indent="0" lvl="0" marL="3810" rtl="0" algn="ctr">
              <a:lnSpc>
                <a:spcPct val="118750"/>
              </a:lnSpc>
              <a:spcBef>
                <a:spcPts val="0"/>
              </a:spcBef>
              <a:spcAft>
                <a:spcPts val="0"/>
              </a:spcAft>
              <a:buNone/>
            </a:pPr>
            <a:r>
              <a:rPr lang="en-US"/>
              <a:t>Unit 2</a:t>
            </a:r>
            <a:endParaRPr/>
          </a:p>
          <a:p>
            <a:pPr indent="0" lvl="0" marL="0" rtl="0" algn="ctr">
              <a:lnSpc>
                <a:spcPct val="118750"/>
              </a:lnSpc>
              <a:spcBef>
                <a:spcPts val="0"/>
              </a:spcBef>
              <a:spcAft>
                <a:spcPts val="0"/>
              </a:spcAft>
              <a:buNone/>
            </a:pPr>
            <a:r>
              <a:rPr lang="en-US"/>
              <a:t>Mobile Device Forensics</a:t>
            </a:r>
            <a:endParaRPr/>
          </a:p>
        </p:txBody>
      </p:sp>
      <p:sp>
        <p:nvSpPr>
          <p:cNvPr id="44" name="Google Shape;44;p1"/>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pic>
        <p:nvPicPr>
          <p:cNvPr descr="Mobile Forensics: A Short Guide to Digital Evidence Recovery from Mobile  Devices - Forensic Focus" id="49" name="Google Shape;49;p2"/>
          <p:cNvPicPr preferRelativeResize="0"/>
          <p:nvPr/>
        </p:nvPicPr>
        <p:blipFill rotWithShape="1">
          <a:blip r:embed="rId3">
            <a:alphaModFix/>
          </a:blip>
          <a:srcRect b="0" l="0" r="0" t="0"/>
          <a:stretch/>
        </p:blipFill>
        <p:spPr>
          <a:xfrm>
            <a:off x="0" y="2162175"/>
            <a:ext cx="7772398" cy="57340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3" name="Shape 53"/>
        <p:cNvGrpSpPr/>
        <p:nvPr/>
      </p:nvGrpSpPr>
      <p:grpSpPr>
        <a:xfrm>
          <a:off x="0" y="0"/>
          <a:ext cx="0" cy="0"/>
          <a:chOff x="0" y="0"/>
          <a:chExt cx="0" cy="0"/>
        </a:xfrm>
      </p:grpSpPr>
      <p:sp>
        <p:nvSpPr>
          <p:cNvPr id="54" name="Google Shape;54;p3"/>
          <p:cNvSpPr txBox="1"/>
          <p:nvPr/>
        </p:nvSpPr>
        <p:spPr>
          <a:xfrm>
            <a:off x="902004" y="892809"/>
            <a:ext cx="5961380" cy="8073390"/>
          </a:xfrm>
          <a:prstGeom prst="rect">
            <a:avLst/>
          </a:prstGeom>
          <a:noFill/>
          <a:ln>
            <a:noFill/>
          </a:ln>
        </p:spPr>
        <p:txBody>
          <a:bodyPr anchorCtr="0" anchor="t" bIns="0" lIns="0" spcFirstLastPara="1" rIns="0" wrap="square" tIns="15875">
            <a:spAutoFit/>
          </a:bodyPr>
          <a:lstStyle/>
          <a:p>
            <a:pPr indent="0" lvl="0" marL="12700" marR="13970" rtl="0" algn="l">
              <a:lnSpc>
                <a:spcPct val="97900"/>
              </a:lnSpc>
              <a:spcBef>
                <a:spcPts val="0"/>
              </a:spcBef>
              <a:spcAft>
                <a:spcPts val="0"/>
              </a:spcAft>
              <a:buNone/>
            </a:pPr>
            <a:r>
              <a:rPr b="1" lang="en-US" sz="1400">
                <a:latin typeface="Cambria"/>
                <a:ea typeface="Cambria"/>
                <a:cs typeface="Cambria"/>
                <a:sym typeface="Cambria"/>
              </a:rPr>
              <a:t>Mobile forensics </a:t>
            </a:r>
            <a:r>
              <a:rPr lang="en-US" sz="1400">
                <a:latin typeface="Cambria"/>
                <a:ea typeface="Cambria"/>
                <a:cs typeface="Cambria"/>
                <a:sym typeface="Cambria"/>
              </a:rPr>
              <a:t>is crucial in modern investigations because mobile devices, such as smartphones and tablets, store vast amounts of personal, professional, and sensitive data. This data can be pivotal for solving criminal cases,</a:t>
            </a:r>
            <a:endParaRPr sz="1400">
              <a:latin typeface="Cambria"/>
              <a:ea typeface="Cambria"/>
              <a:cs typeface="Cambria"/>
              <a:sym typeface="Cambria"/>
            </a:endParaRPr>
          </a:p>
          <a:p>
            <a:pPr indent="0" lvl="0" marL="12700" marR="410844" rtl="0" algn="l">
              <a:lnSpc>
                <a:spcPct val="120000"/>
              </a:lnSpc>
              <a:spcBef>
                <a:spcPts val="10"/>
              </a:spcBef>
              <a:spcAft>
                <a:spcPts val="0"/>
              </a:spcAft>
              <a:buNone/>
            </a:pPr>
            <a:r>
              <a:rPr lang="en-US" sz="1400">
                <a:latin typeface="Cambria"/>
                <a:ea typeface="Cambria"/>
                <a:cs typeface="Cambria"/>
                <a:sym typeface="Cambria"/>
              </a:rPr>
              <a:t>providing evidence, or even corroborating or disputing alibis. Here’s why mobile forensics is necessary:</a:t>
            </a:r>
            <a:endParaRPr sz="1400">
              <a:latin typeface="Cambria"/>
              <a:ea typeface="Cambria"/>
              <a:cs typeface="Cambria"/>
              <a:sym typeface="Cambria"/>
            </a:endParaRPr>
          </a:p>
          <a:p>
            <a:pPr indent="-229234" lvl="0" marL="469900" marR="5080" rtl="0" algn="l">
              <a:lnSpc>
                <a:spcPct val="97700"/>
              </a:lnSpc>
              <a:spcBef>
                <a:spcPts val="1305"/>
              </a:spcBef>
              <a:spcAft>
                <a:spcPts val="0"/>
              </a:spcAft>
              <a:buSzPts val="1400"/>
              <a:buFont typeface="Cambria"/>
              <a:buAutoNum type="arabicPeriod"/>
            </a:pPr>
            <a:r>
              <a:rPr b="1" lang="en-US" sz="1400">
                <a:latin typeface="Cambria"/>
                <a:ea typeface="Cambria"/>
                <a:cs typeface="Cambria"/>
                <a:sym typeface="Cambria"/>
              </a:rPr>
              <a:t>Pervasiveness of Mobile Devices</a:t>
            </a:r>
            <a:r>
              <a:rPr lang="en-US" sz="1400">
                <a:latin typeface="Cambria"/>
                <a:ea typeface="Cambria"/>
                <a:cs typeface="Cambria"/>
                <a:sym typeface="Cambria"/>
              </a:rPr>
              <a:t>: Nearly everyone uses a mobile phone, and these devices have become integral in daily life. They store messages, photos, videos, location data, social media interactions, emails, documents, and more. This data often plays a critical role in legal investigations, whether in criminal cases or civil matters like divorce, fraud, or intellectual property theft.</a:t>
            </a:r>
            <a:endParaRPr sz="1400">
              <a:latin typeface="Cambria"/>
              <a:ea typeface="Cambria"/>
              <a:cs typeface="Cambria"/>
              <a:sym typeface="Cambria"/>
            </a:endParaRPr>
          </a:p>
          <a:p>
            <a:pPr indent="-229235" lvl="0" marL="470534" rtl="0" algn="l">
              <a:lnSpc>
                <a:spcPct val="116785"/>
              </a:lnSpc>
              <a:spcBef>
                <a:spcPts val="0"/>
              </a:spcBef>
              <a:spcAft>
                <a:spcPts val="0"/>
              </a:spcAft>
              <a:buSzPts val="1400"/>
              <a:buFont typeface="Cambria"/>
              <a:buAutoNum type="arabicPeriod"/>
            </a:pPr>
            <a:r>
              <a:rPr b="1" lang="en-US" sz="1400">
                <a:latin typeface="Cambria"/>
                <a:ea typeface="Cambria"/>
                <a:cs typeface="Cambria"/>
                <a:sym typeface="Cambria"/>
              </a:rPr>
              <a:t>Crucial Evidence</a:t>
            </a:r>
            <a:r>
              <a:rPr lang="en-US" sz="1400">
                <a:latin typeface="Cambria"/>
                <a:ea typeface="Cambria"/>
                <a:cs typeface="Cambria"/>
                <a:sym typeface="Cambria"/>
              </a:rPr>
              <a:t>: Mobile devices often contain evidence such as:</a:t>
            </a:r>
            <a:endParaRPr sz="1400">
              <a:latin typeface="Cambria"/>
              <a:ea typeface="Cambria"/>
              <a:cs typeface="Cambria"/>
              <a:sym typeface="Cambria"/>
            </a:endParaRPr>
          </a:p>
          <a:p>
            <a:pPr indent="-228600" lvl="1" marL="927100" rtl="0" algn="l">
              <a:lnSpc>
                <a:spcPct val="116785"/>
              </a:lnSpc>
              <a:spcBef>
                <a:spcPts val="0"/>
              </a:spcBef>
              <a:spcAft>
                <a:spcPts val="0"/>
              </a:spcAft>
              <a:buSzPts val="1000"/>
              <a:buFont typeface="Courier New"/>
              <a:buChar char="o"/>
            </a:pPr>
            <a:r>
              <a:rPr b="1" lang="en-US" sz="1400">
                <a:latin typeface="Cambria"/>
                <a:ea typeface="Cambria"/>
                <a:cs typeface="Cambria"/>
                <a:sym typeface="Cambria"/>
              </a:rPr>
              <a:t>Call logs</a:t>
            </a:r>
            <a:r>
              <a:rPr lang="en-US" sz="1400">
                <a:latin typeface="Cambria"/>
                <a:ea typeface="Cambria"/>
                <a:cs typeface="Cambria"/>
                <a:sym typeface="Cambria"/>
              </a:rPr>
              <a:t>: Time, date, and duration of communications.</a:t>
            </a:r>
            <a:endParaRPr sz="1400">
              <a:latin typeface="Cambria"/>
              <a:ea typeface="Cambria"/>
              <a:cs typeface="Cambria"/>
              <a:sym typeface="Cambria"/>
            </a:endParaRPr>
          </a:p>
          <a:p>
            <a:pPr indent="-228600" lvl="1" marL="927100" marR="30480" rtl="0" algn="l">
              <a:lnSpc>
                <a:spcPct val="118571"/>
              </a:lnSpc>
              <a:spcBef>
                <a:spcPts val="45"/>
              </a:spcBef>
              <a:spcAft>
                <a:spcPts val="0"/>
              </a:spcAft>
              <a:buSzPts val="1000"/>
              <a:buFont typeface="Courier New"/>
              <a:buChar char="o"/>
            </a:pPr>
            <a:r>
              <a:rPr b="1" lang="en-US" sz="1400">
                <a:latin typeface="Cambria"/>
                <a:ea typeface="Cambria"/>
                <a:cs typeface="Cambria"/>
                <a:sym typeface="Cambria"/>
              </a:rPr>
              <a:t>Text messages</a:t>
            </a:r>
            <a:r>
              <a:rPr lang="en-US" sz="1400">
                <a:latin typeface="Cambria"/>
                <a:ea typeface="Cambria"/>
                <a:cs typeface="Cambria"/>
                <a:sym typeface="Cambria"/>
              </a:rPr>
              <a:t>: SMS, MMS, and messaging apps like WhatsApp or Facebook Messenger.</a:t>
            </a:r>
            <a:endParaRPr sz="1400">
              <a:latin typeface="Cambria"/>
              <a:ea typeface="Cambria"/>
              <a:cs typeface="Cambria"/>
              <a:sym typeface="Cambria"/>
            </a:endParaRPr>
          </a:p>
          <a:p>
            <a:pPr indent="-228600" lvl="1" marL="927100" rtl="0" algn="l">
              <a:lnSpc>
                <a:spcPct val="111785"/>
              </a:lnSpc>
              <a:spcBef>
                <a:spcPts val="0"/>
              </a:spcBef>
              <a:spcAft>
                <a:spcPts val="0"/>
              </a:spcAft>
              <a:buSzPts val="1000"/>
              <a:buFont typeface="Courier New"/>
              <a:buChar char="o"/>
            </a:pPr>
            <a:r>
              <a:rPr b="1" lang="en-US" sz="1400">
                <a:latin typeface="Cambria"/>
                <a:ea typeface="Cambria"/>
                <a:cs typeface="Cambria"/>
                <a:sym typeface="Cambria"/>
              </a:rPr>
              <a:t>Geolocation data</a:t>
            </a:r>
            <a:r>
              <a:rPr lang="en-US" sz="1400">
                <a:latin typeface="Cambria"/>
                <a:ea typeface="Cambria"/>
                <a:cs typeface="Cambria"/>
                <a:sym typeface="Cambria"/>
              </a:rPr>
              <a:t>: GPS, Wi-Fi, and cell tower data can place</a:t>
            </a:r>
            <a:endParaRPr sz="1400">
              <a:latin typeface="Cambria"/>
              <a:ea typeface="Cambria"/>
              <a:cs typeface="Cambria"/>
              <a:sym typeface="Cambria"/>
            </a:endParaRPr>
          </a:p>
          <a:p>
            <a:pPr indent="0" lvl="0" marL="927100" rtl="0" algn="l">
              <a:lnSpc>
                <a:spcPct val="117499"/>
              </a:lnSpc>
              <a:spcBef>
                <a:spcPts val="0"/>
              </a:spcBef>
              <a:spcAft>
                <a:spcPts val="0"/>
              </a:spcAft>
              <a:buNone/>
            </a:pPr>
            <a:r>
              <a:rPr lang="en-US" sz="1400">
                <a:latin typeface="Cambria"/>
                <a:ea typeface="Cambria"/>
                <a:cs typeface="Cambria"/>
                <a:sym typeface="Cambria"/>
              </a:rPr>
              <a:t>individuals at specific locations at certain times.</a:t>
            </a:r>
            <a:endParaRPr sz="1400">
              <a:latin typeface="Cambria"/>
              <a:ea typeface="Cambria"/>
              <a:cs typeface="Cambria"/>
              <a:sym typeface="Cambria"/>
            </a:endParaRPr>
          </a:p>
          <a:p>
            <a:pPr indent="-228600" lvl="1" marL="927100" marR="198755" rtl="0" algn="l">
              <a:lnSpc>
                <a:spcPct val="116428"/>
              </a:lnSpc>
              <a:spcBef>
                <a:spcPts val="75"/>
              </a:spcBef>
              <a:spcAft>
                <a:spcPts val="0"/>
              </a:spcAft>
              <a:buSzPts val="1000"/>
              <a:buFont typeface="Courier New"/>
              <a:buChar char="o"/>
            </a:pPr>
            <a:r>
              <a:rPr b="1" lang="en-US" sz="1400">
                <a:latin typeface="Cambria"/>
                <a:ea typeface="Cambria"/>
                <a:cs typeface="Cambria"/>
                <a:sym typeface="Cambria"/>
              </a:rPr>
              <a:t>Photos and videos</a:t>
            </a:r>
            <a:r>
              <a:rPr lang="en-US" sz="1400">
                <a:latin typeface="Cambria"/>
                <a:ea typeface="Cambria"/>
                <a:cs typeface="Cambria"/>
                <a:sym typeface="Cambria"/>
              </a:rPr>
              <a:t>: Often provide direct evidence, especially in cases of violence or theft.</a:t>
            </a:r>
            <a:endParaRPr sz="1400">
              <a:latin typeface="Cambria"/>
              <a:ea typeface="Cambria"/>
              <a:cs typeface="Cambria"/>
              <a:sym typeface="Cambria"/>
            </a:endParaRPr>
          </a:p>
          <a:p>
            <a:pPr indent="-228600" lvl="1" marL="927100" marR="175260" rtl="0" algn="l">
              <a:lnSpc>
                <a:spcPct val="116428"/>
              </a:lnSpc>
              <a:spcBef>
                <a:spcPts val="30"/>
              </a:spcBef>
              <a:spcAft>
                <a:spcPts val="0"/>
              </a:spcAft>
              <a:buSzPts val="1000"/>
              <a:buFont typeface="Courier New"/>
              <a:buChar char="o"/>
            </a:pPr>
            <a:r>
              <a:rPr b="1" lang="en-US" sz="1400">
                <a:latin typeface="Cambria"/>
                <a:ea typeface="Cambria"/>
                <a:cs typeface="Cambria"/>
                <a:sym typeface="Cambria"/>
              </a:rPr>
              <a:t>App data</a:t>
            </a:r>
            <a:r>
              <a:rPr lang="en-US" sz="1400">
                <a:latin typeface="Cambria"/>
                <a:ea typeface="Cambria"/>
                <a:cs typeface="Cambria"/>
                <a:sym typeface="Cambria"/>
              </a:rPr>
              <a:t>: Apps like banking apps, social media, and email can provide insight into financial transactions, communications, and behavior.</a:t>
            </a:r>
            <a:endParaRPr sz="1400">
              <a:latin typeface="Cambria"/>
              <a:ea typeface="Cambria"/>
              <a:cs typeface="Cambria"/>
              <a:sym typeface="Cambria"/>
            </a:endParaRPr>
          </a:p>
          <a:p>
            <a:pPr indent="-229234" lvl="0" marL="469900" marR="146685" rtl="0" algn="l">
              <a:lnSpc>
                <a:spcPct val="116428"/>
              </a:lnSpc>
              <a:spcBef>
                <a:spcPts val="30"/>
              </a:spcBef>
              <a:spcAft>
                <a:spcPts val="0"/>
              </a:spcAft>
              <a:buSzPts val="1400"/>
              <a:buFont typeface="Cambria"/>
              <a:buAutoNum type="arabicPeriod"/>
            </a:pPr>
            <a:r>
              <a:rPr b="1" lang="en-US" sz="1400">
                <a:latin typeface="Cambria"/>
                <a:ea typeface="Cambria"/>
                <a:cs typeface="Cambria"/>
                <a:sym typeface="Cambria"/>
              </a:rPr>
              <a:t>Mobile Devices as a Central Repository</a:t>
            </a:r>
            <a:r>
              <a:rPr lang="en-US" sz="1400">
                <a:latin typeface="Cambria"/>
                <a:ea typeface="Cambria"/>
                <a:cs typeface="Cambria"/>
                <a:sym typeface="Cambria"/>
              </a:rPr>
              <a:t>: Since mobile devices can be used for multiple functions, they often serve as a digital footprint of an</a:t>
            </a:r>
            <a:endParaRPr sz="1400">
              <a:latin typeface="Cambria"/>
              <a:ea typeface="Cambria"/>
              <a:cs typeface="Cambria"/>
              <a:sym typeface="Cambria"/>
            </a:endParaRPr>
          </a:p>
          <a:p>
            <a:pPr indent="0" lvl="0" marL="469900" marR="189865" rtl="0" algn="l">
              <a:lnSpc>
                <a:spcPct val="116428"/>
              </a:lnSpc>
              <a:spcBef>
                <a:spcPts val="30"/>
              </a:spcBef>
              <a:spcAft>
                <a:spcPts val="0"/>
              </a:spcAft>
              <a:buNone/>
            </a:pPr>
            <a:r>
              <a:rPr lang="en-US" sz="1400">
                <a:latin typeface="Cambria"/>
                <a:ea typeface="Cambria"/>
                <a:cs typeface="Cambria"/>
                <a:sym typeface="Cambria"/>
              </a:rPr>
              <a:t>individual's activities, making them an essential source of information in investigations.</a:t>
            </a:r>
            <a:endParaRPr sz="1400">
              <a:latin typeface="Cambria"/>
              <a:ea typeface="Cambria"/>
              <a:cs typeface="Cambria"/>
              <a:sym typeface="Cambria"/>
            </a:endParaRPr>
          </a:p>
          <a:p>
            <a:pPr indent="-229235" lvl="0" marL="470534" rtl="0" algn="l">
              <a:lnSpc>
                <a:spcPct val="112857"/>
              </a:lnSpc>
              <a:spcBef>
                <a:spcPts val="0"/>
              </a:spcBef>
              <a:spcAft>
                <a:spcPts val="0"/>
              </a:spcAft>
              <a:buSzPts val="1400"/>
              <a:buFont typeface="Cambria"/>
              <a:buAutoNum type="arabicPeriod" startAt="4"/>
            </a:pPr>
            <a:r>
              <a:rPr b="1" lang="en-US" sz="1400">
                <a:latin typeface="Cambria"/>
                <a:ea typeface="Cambria"/>
                <a:cs typeface="Cambria"/>
                <a:sym typeface="Cambria"/>
              </a:rPr>
              <a:t>Increased Criminal Activity</a:t>
            </a:r>
            <a:r>
              <a:rPr lang="en-US" sz="1400">
                <a:latin typeface="Cambria"/>
                <a:ea typeface="Cambria"/>
                <a:cs typeface="Cambria"/>
                <a:sym typeface="Cambria"/>
              </a:rPr>
              <a:t>: As more criminal activities (cybercrime,</a:t>
            </a:r>
            <a:endParaRPr sz="1400">
              <a:latin typeface="Cambria"/>
              <a:ea typeface="Cambria"/>
              <a:cs typeface="Cambria"/>
              <a:sym typeface="Cambria"/>
            </a:endParaRPr>
          </a:p>
          <a:p>
            <a:pPr indent="0" lvl="0" marL="469900" marR="13970" rtl="0" algn="l">
              <a:lnSpc>
                <a:spcPct val="97900"/>
              </a:lnSpc>
              <a:spcBef>
                <a:spcPts val="25"/>
              </a:spcBef>
              <a:spcAft>
                <a:spcPts val="0"/>
              </a:spcAft>
              <a:buNone/>
            </a:pPr>
            <a:r>
              <a:rPr lang="en-US" sz="1400">
                <a:latin typeface="Cambria"/>
                <a:ea typeface="Cambria"/>
                <a:cs typeface="Cambria"/>
                <a:sym typeface="Cambria"/>
              </a:rPr>
              <a:t>drug trafficking, terrorism) occur via mobile phones (through encrypted communication, location tracking, or dark web activities), mobile forensics becomes critical in capturing and analyzing this evidence.</a:t>
            </a:r>
            <a:endParaRPr sz="1400">
              <a:latin typeface="Cambria"/>
              <a:ea typeface="Cambria"/>
              <a:cs typeface="Cambria"/>
              <a:sym typeface="Cambria"/>
            </a:endParaRPr>
          </a:p>
          <a:p>
            <a:pPr indent="-229234" lvl="0" marL="469900" marR="245745" rtl="0" algn="l">
              <a:lnSpc>
                <a:spcPct val="116428"/>
              </a:lnSpc>
              <a:spcBef>
                <a:spcPts val="45"/>
              </a:spcBef>
              <a:spcAft>
                <a:spcPts val="0"/>
              </a:spcAft>
              <a:buSzPts val="1400"/>
              <a:buFont typeface="Cambria"/>
              <a:buAutoNum type="arabicPeriod" startAt="5"/>
            </a:pPr>
            <a:r>
              <a:rPr b="1" lang="en-US" sz="1400">
                <a:latin typeface="Cambria"/>
                <a:ea typeface="Cambria"/>
                <a:cs typeface="Cambria"/>
                <a:sym typeface="Cambria"/>
              </a:rPr>
              <a:t>Legal and Regulatory Requirements</a:t>
            </a:r>
            <a:r>
              <a:rPr lang="en-US" sz="1400">
                <a:latin typeface="Cambria"/>
                <a:ea typeface="Cambria"/>
                <a:cs typeface="Cambria"/>
                <a:sym typeface="Cambria"/>
              </a:rPr>
              <a:t>: Mobile forensics ensures that proper protocols are followed for the collection, preservation, and</a:t>
            </a:r>
            <a:endParaRPr sz="1400">
              <a:latin typeface="Cambria"/>
              <a:ea typeface="Cambria"/>
              <a:cs typeface="Cambria"/>
              <a:sym typeface="Cambria"/>
            </a:endParaRPr>
          </a:p>
          <a:p>
            <a:pPr indent="0" lvl="0" marL="469900" marR="460375" rtl="0" algn="l">
              <a:lnSpc>
                <a:spcPct val="118571"/>
              </a:lnSpc>
              <a:spcBef>
                <a:spcPts val="5"/>
              </a:spcBef>
              <a:spcAft>
                <a:spcPts val="0"/>
              </a:spcAft>
              <a:buNone/>
            </a:pPr>
            <a:r>
              <a:rPr lang="en-US" sz="1400">
                <a:latin typeface="Cambria"/>
                <a:ea typeface="Cambria"/>
                <a:cs typeface="Cambria"/>
                <a:sym typeface="Cambria"/>
              </a:rPr>
              <a:t>presentation of evidence in court. The integrity and authenticity of digital evidence must be maintained to be admissible in court.</a:t>
            </a:r>
            <a:endParaRPr sz="1400">
              <a:latin typeface="Cambria"/>
              <a:ea typeface="Cambria"/>
              <a:cs typeface="Cambria"/>
              <a:sym typeface="Cambria"/>
            </a:endParaRPr>
          </a:p>
          <a:p>
            <a:pPr indent="0" lvl="0" marL="12700" rtl="0" algn="l">
              <a:lnSpc>
                <a:spcPct val="100000"/>
              </a:lnSpc>
              <a:spcBef>
                <a:spcPts val="1315"/>
              </a:spcBef>
              <a:spcAft>
                <a:spcPts val="0"/>
              </a:spcAft>
              <a:buNone/>
            </a:pPr>
            <a:r>
              <a:rPr b="1" lang="en-US" sz="1400">
                <a:latin typeface="Cambria"/>
                <a:ea typeface="Cambria"/>
                <a:cs typeface="Cambria"/>
                <a:sym typeface="Cambria"/>
              </a:rPr>
              <a:t>Challenges in Mobile Forensics</a:t>
            </a:r>
            <a:endParaRPr sz="1400">
              <a:latin typeface="Cambria"/>
              <a:ea typeface="Cambria"/>
              <a:cs typeface="Cambria"/>
              <a:sym typeface="Cambria"/>
            </a:endParaRPr>
          </a:p>
          <a:p>
            <a:pPr indent="0" lvl="0" marL="12700" rtl="0" algn="l">
              <a:lnSpc>
                <a:spcPct val="100000"/>
              </a:lnSpc>
              <a:spcBef>
                <a:spcPts val="1365"/>
              </a:spcBef>
              <a:spcAft>
                <a:spcPts val="0"/>
              </a:spcAft>
              <a:buNone/>
            </a:pPr>
            <a:r>
              <a:rPr lang="en-US" sz="1400">
                <a:latin typeface="Cambria"/>
                <a:ea typeface="Cambria"/>
                <a:cs typeface="Cambria"/>
                <a:sym typeface="Cambria"/>
              </a:rPr>
              <a:t>Despite its importance, mobile forensics presents several challenges:</a:t>
            </a:r>
            <a:endParaRPr sz="1400">
              <a:latin typeface="Cambria"/>
              <a:ea typeface="Cambria"/>
              <a:cs typeface="Cambria"/>
              <a:sym typeface="Cambria"/>
            </a:endParaRPr>
          </a:p>
        </p:txBody>
      </p:sp>
      <p:sp>
        <p:nvSpPr>
          <p:cNvPr id="55" name="Google Shape;55;p3"/>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sp>
        <p:nvSpPr>
          <p:cNvPr id="60" name="Google Shape;60;p4"/>
          <p:cNvSpPr txBox="1"/>
          <p:nvPr/>
        </p:nvSpPr>
        <p:spPr>
          <a:xfrm>
            <a:off x="902004" y="892809"/>
            <a:ext cx="5957570" cy="7728911"/>
          </a:xfrm>
          <a:prstGeom prst="rect">
            <a:avLst/>
          </a:prstGeom>
          <a:noFill/>
          <a:ln>
            <a:noFill/>
          </a:ln>
        </p:spPr>
        <p:txBody>
          <a:bodyPr anchorCtr="0" anchor="t" bIns="0" lIns="0" spcFirstLastPara="1" rIns="0" wrap="square" tIns="15875">
            <a:spAutoFit/>
          </a:bodyPr>
          <a:lstStyle/>
          <a:p>
            <a:pPr indent="-229234" lvl="0" marL="469900" marR="10795" rtl="0" algn="l">
              <a:lnSpc>
                <a:spcPct val="97900"/>
              </a:lnSpc>
              <a:spcBef>
                <a:spcPts val="0"/>
              </a:spcBef>
              <a:spcAft>
                <a:spcPts val="0"/>
              </a:spcAft>
              <a:buSzPts val="1400"/>
              <a:buFont typeface="Cambria"/>
              <a:buAutoNum type="arabicPeriod"/>
            </a:pPr>
            <a:r>
              <a:rPr b="1" lang="en-US" sz="1400">
                <a:latin typeface="Cambria"/>
                <a:ea typeface="Cambria"/>
                <a:cs typeface="Cambria"/>
                <a:sym typeface="Cambria"/>
              </a:rPr>
              <a:t>Device Encryption</a:t>
            </a:r>
            <a:r>
              <a:rPr lang="en-US" sz="1400">
                <a:latin typeface="Cambria"/>
                <a:ea typeface="Cambria"/>
                <a:cs typeface="Cambria"/>
                <a:sym typeface="Cambria"/>
              </a:rPr>
              <a:t>: Many modern smartphones are encrypted by default (e.g., Apple's iPhones, Android devices with full disk encryption). This encryption can block forensic investigators from accessing data without the proper passcode, fingerprint, or decryption key. Without decryption, valuable data remains inaccessible.</a:t>
            </a:r>
            <a:endParaRPr sz="1400">
              <a:latin typeface="Cambria"/>
              <a:ea typeface="Cambria"/>
              <a:cs typeface="Cambria"/>
              <a:sym typeface="Cambria"/>
            </a:endParaRPr>
          </a:p>
          <a:p>
            <a:pPr indent="-229234" lvl="0" marL="469900" marR="350520" rtl="0" algn="l">
              <a:lnSpc>
                <a:spcPct val="116428"/>
              </a:lnSpc>
              <a:spcBef>
                <a:spcPts val="50"/>
              </a:spcBef>
              <a:spcAft>
                <a:spcPts val="0"/>
              </a:spcAft>
              <a:buSzPts val="1400"/>
              <a:buFont typeface="Cambria"/>
              <a:buAutoNum type="arabicPeriod"/>
            </a:pPr>
            <a:r>
              <a:rPr b="1" lang="en-US" sz="1400">
                <a:latin typeface="Cambria"/>
                <a:ea typeface="Cambria"/>
                <a:cs typeface="Cambria"/>
                <a:sym typeface="Cambria"/>
              </a:rPr>
              <a:t>Changing Technology</a:t>
            </a:r>
            <a:r>
              <a:rPr lang="en-US" sz="1400">
                <a:latin typeface="Cambria"/>
                <a:ea typeface="Cambria"/>
                <a:cs typeface="Cambria"/>
                <a:sym typeface="Cambria"/>
              </a:rPr>
              <a:t>: Mobile devices and their operating systems evolve rapidly. New models, operating system updates, and security</a:t>
            </a:r>
            <a:endParaRPr sz="1400">
              <a:latin typeface="Cambria"/>
              <a:ea typeface="Cambria"/>
              <a:cs typeface="Cambria"/>
              <a:sym typeface="Cambria"/>
            </a:endParaRPr>
          </a:p>
          <a:p>
            <a:pPr indent="0" lvl="0" marL="469900" marR="144780" rtl="0" algn="just">
              <a:lnSpc>
                <a:spcPct val="116428"/>
              </a:lnSpc>
              <a:spcBef>
                <a:spcPts val="25"/>
              </a:spcBef>
              <a:spcAft>
                <a:spcPts val="0"/>
              </a:spcAft>
              <a:buNone/>
            </a:pPr>
            <a:r>
              <a:rPr lang="en-US" sz="1400">
                <a:latin typeface="Cambria"/>
                <a:ea typeface="Cambria"/>
                <a:cs typeface="Cambria"/>
                <a:sym typeface="Cambria"/>
              </a:rPr>
              <a:t>patches are released frequently, making it difficult for forensic tools to keep up with the latest technology. Investigators need to adapt quickly to new security measures and encrypted file systems.</a:t>
            </a:r>
            <a:endParaRPr sz="1400">
              <a:latin typeface="Cambria"/>
              <a:ea typeface="Cambria"/>
              <a:cs typeface="Cambria"/>
              <a:sym typeface="Cambria"/>
            </a:endParaRPr>
          </a:p>
          <a:p>
            <a:pPr indent="-229234" lvl="0" marL="469900" marR="52705" rtl="0" algn="just">
              <a:lnSpc>
                <a:spcPct val="116428"/>
              </a:lnSpc>
              <a:spcBef>
                <a:spcPts val="35"/>
              </a:spcBef>
              <a:spcAft>
                <a:spcPts val="0"/>
              </a:spcAft>
              <a:buSzPts val="1400"/>
              <a:buFont typeface="Cambria"/>
              <a:buAutoNum type="arabicPeriod" startAt="3"/>
            </a:pPr>
            <a:r>
              <a:rPr b="1" lang="en-US" sz="1400">
                <a:latin typeface="Cambria"/>
                <a:ea typeface="Cambria"/>
                <a:cs typeface="Cambria"/>
                <a:sym typeface="Cambria"/>
              </a:rPr>
              <a:t>Locked Devices</a:t>
            </a:r>
            <a:r>
              <a:rPr lang="en-US" sz="1400">
                <a:latin typeface="Cambria"/>
                <a:ea typeface="Cambria"/>
                <a:cs typeface="Cambria"/>
                <a:sym typeface="Cambria"/>
              </a:rPr>
              <a:t>: Passwords, PIN codes, biometric security (fingerprint, face recognition), and multi-factor authentication complicate the</a:t>
            </a:r>
            <a:endParaRPr sz="1400">
              <a:latin typeface="Cambria"/>
              <a:ea typeface="Cambria"/>
              <a:cs typeface="Cambria"/>
              <a:sym typeface="Cambria"/>
            </a:endParaRPr>
          </a:p>
          <a:p>
            <a:pPr indent="0" lvl="0" marL="469900" marR="194945" rtl="0" algn="just">
              <a:lnSpc>
                <a:spcPct val="117071"/>
              </a:lnSpc>
              <a:spcBef>
                <a:spcPts val="20"/>
              </a:spcBef>
              <a:spcAft>
                <a:spcPts val="0"/>
              </a:spcAft>
              <a:buNone/>
            </a:pPr>
            <a:r>
              <a:rPr lang="en-US" sz="1400">
                <a:latin typeface="Cambria"/>
                <a:ea typeface="Cambria"/>
                <a:cs typeface="Cambria"/>
                <a:sym typeface="Cambria"/>
              </a:rPr>
              <a:t>process of accessing mobile data. Brute-force methods of cracking passwords can be time-consuming and may still fail to unlock devices.</a:t>
            </a:r>
            <a:endParaRPr sz="1400">
              <a:latin typeface="Cambria"/>
              <a:ea typeface="Cambria"/>
              <a:cs typeface="Cambria"/>
              <a:sym typeface="Cambria"/>
            </a:endParaRPr>
          </a:p>
          <a:p>
            <a:pPr indent="-229235" lvl="0" marL="470534" rtl="0" algn="just">
              <a:lnSpc>
                <a:spcPct val="111785"/>
              </a:lnSpc>
              <a:spcBef>
                <a:spcPts val="0"/>
              </a:spcBef>
              <a:spcAft>
                <a:spcPts val="0"/>
              </a:spcAft>
              <a:buSzPts val="1400"/>
              <a:buFont typeface="Cambria"/>
              <a:buAutoNum type="arabicPeriod" startAt="4"/>
            </a:pPr>
            <a:r>
              <a:rPr b="1" lang="en-US" sz="1400">
                <a:latin typeface="Cambria"/>
                <a:ea typeface="Cambria"/>
                <a:cs typeface="Cambria"/>
                <a:sym typeface="Cambria"/>
              </a:rPr>
              <a:t>App Data and Cloud Synchronization</a:t>
            </a:r>
            <a:r>
              <a:rPr lang="en-US" sz="1400">
                <a:latin typeface="Cambria"/>
                <a:ea typeface="Cambria"/>
                <a:cs typeface="Cambria"/>
                <a:sym typeface="Cambria"/>
              </a:rPr>
              <a:t>: Data on mobile devices is</a:t>
            </a:r>
            <a:endParaRPr sz="1400">
              <a:latin typeface="Cambria"/>
              <a:ea typeface="Cambria"/>
              <a:cs typeface="Cambria"/>
              <a:sym typeface="Cambria"/>
            </a:endParaRPr>
          </a:p>
          <a:p>
            <a:pPr indent="0" lvl="0" marL="469900" marR="22225" rtl="0" algn="l">
              <a:lnSpc>
                <a:spcPct val="97700"/>
              </a:lnSpc>
              <a:spcBef>
                <a:spcPts val="25"/>
              </a:spcBef>
              <a:spcAft>
                <a:spcPts val="0"/>
              </a:spcAft>
              <a:buNone/>
            </a:pPr>
            <a:r>
              <a:rPr lang="en-US" sz="1400">
                <a:latin typeface="Cambria"/>
                <a:ea typeface="Cambria"/>
                <a:cs typeface="Cambria"/>
                <a:sym typeface="Cambria"/>
              </a:rPr>
              <a:t>increasingly linked to cloud services (e.g., Google Drive, iCloud). Investigating cloud-based data adds another layer of complexity, as data may be stored off-device, encrypted, or inaccessible due to account authentication issues.</a:t>
            </a:r>
            <a:endParaRPr sz="1400">
              <a:latin typeface="Cambria"/>
              <a:ea typeface="Cambria"/>
              <a:cs typeface="Cambria"/>
              <a:sym typeface="Cambria"/>
            </a:endParaRPr>
          </a:p>
          <a:p>
            <a:pPr indent="-229235" lvl="0" marL="470534" rtl="0" algn="l">
              <a:lnSpc>
                <a:spcPct val="115714"/>
              </a:lnSpc>
              <a:spcBef>
                <a:spcPts val="0"/>
              </a:spcBef>
              <a:spcAft>
                <a:spcPts val="0"/>
              </a:spcAft>
              <a:buSzPts val="1400"/>
              <a:buFont typeface="Cambria"/>
              <a:buAutoNum type="arabicPeriod" startAt="5"/>
            </a:pPr>
            <a:r>
              <a:rPr b="1" lang="en-US" sz="1400">
                <a:latin typeface="Cambria"/>
                <a:ea typeface="Cambria"/>
                <a:cs typeface="Cambria"/>
                <a:sym typeface="Cambria"/>
              </a:rPr>
              <a:t>Data Volatility</a:t>
            </a:r>
            <a:r>
              <a:rPr lang="en-US" sz="1400">
                <a:latin typeface="Cambria"/>
                <a:ea typeface="Cambria"/>
                <a:cs typeface="Cambria"/>
                <a:sym typeface="Cambria"/>
              </a:rPr>
              <a:t>: Mobile devices are constantly updated and sync data</a:t>
            </a:r>
            <a:endParaRPr sz="1400">
              <a:latin typeface="Cambria"/>
              <a:ea typeface="Cambria"/>
              <a:cs typeface="Cambria"/>
              <a:sym typeface="Cambria"/>
            </a:endParaRPr>
          </a:p>
          <a:p>
            <a:pPr indent="0" lvl="0" marL="469900" marR="5080" rtl="0" algn="l">
              <a:lnSpc>
                <a:spcPct val="97900"/>
              </a:lnSpc>
              <a:spcBef>
                <a:spcPts val="25"/>
              </a:spcBef>
              <a:spcAft>
                <a:spcPts val="0"/>
              </a:spcAft>
              <a:buNone/>
            </a:pPr>
            <a:r>
              <a:rPr lang="en-US" sz="1400">
                <a:latin typeface="Cambria"/>
                <a:ea typeface="Cambria"/>
                <a:cs typeface="Cambria"/>
                <a:sym typeface="Cambria"/>
              </a:rPr>
              <a:t>automatically. This means that valuable data may be overwritten or deleted before it can be captured. If investigators don't act quickly, some evidence may be lost.</a:t>
            </a:r>
            <a:endParaRPr sz="1400">
              <a:latin typeface="Cambria"/>
              <a:ea typeface="Cambria"/>
              <a:cs typeface="Cambria"/>
              <a:sym typeface="Cambria"/>
            </a:endParaRPr>
          </a:p>
          <a:p>
            <a:pPr indent="-229234" lvl="0" marL="469900" marR="313055" rtl="0" algn="l">
              <a:lnSpc>
                <a:spcPct val="116428"/>
              </a:lnSpc>
              <a:spcBef>
                <a:spcPts val="50"/>
              </a:spcBef>
              <a:spcAft>
                <a:spcPts val="0"/>
              </a:spcAft>
              <a:buSzPts val="1400"/>
              <a:buFont typeface="Cambria"/>
              <a:buAutoNum type="arabicPeriod" startAt="6"/>
            </a:pPr>
            <a:r>
              <a:rPr b="1" lang="en-US" sz="1400">
                <a:latin typeface="Cambria"/>
                <a:ea typeface="Cambria"/>
                <a:cs typeface="Cambria"/>
                <a:sym typeface="Cambria"/>
              </a:rPr>
              <a:t>Legal and Ethical Issues</a:t>
            </a:r>
            <a:r>
              <a:rPr lang="en-US" sz="1400">
                <a:latin typeface="Cambria"/>
                <a:ea typeface="Cambria"/>
                <a:cs typeface="Cambria"/>
                <a:sym typeface="Cambria"/>
              </a:rPr>
              <a:t>: Mobile forensics must adhere to legal and ethical standards, including obtaining proper warrants for data</a:t>
            </a:r>
            <a:endParaRPr sz="1400">
              <a:latin typeface="Cambria"/>
              <a:ea typeface="Cambria"/>
              <a:cs typeface="Cambria"/>
              <a:sym typeface="Cambria"/>
            </a:endParaRPr>
          </a:p>
          <a:p>
            <a:pPr indent="0" lvl="0" marL="469900" marR="217804" rtl="0" algn="l">
              <a:lnSpc>
                <a:spcPct val="116428"/>
              </a:lnSpc>
              <a:spcBef>
                <a:spcPts val="25"/>
              </a:spcBef>
              <a:spcAft>
                <a:spcPts val="0"/>
              </a:spcAft>
              <a:buNone/>
            </a:pPr>
            <a:r>
              <a:rPr lang="en-US" sz="1400">
                <a:latin typeface="Cambria"/>
                <a:ea typeface="Cambria"/>
                <a:cs typeface="Cambria"/>
                <a:sym typeface="Cambria"/>
              </a:rPr>
              <a:t>extraction and ensuring privacy rights. Investigating personal devices can lead to legal challenges, especially in cases where consent is not obtained from the device owner.</a:t>
            </a:r>
            <a:endParaRPr sz="1400">
              <a:latin typeface="Cambria"/>
              <a:ea typeface="Cambria"/>
              <a:cs typeface="Cambria"/>
              <a:sym typeface="Cambria"/>
            </a:endParaRPr>
          </a:p>
          <a:p>
            <a:pPr indent="-229234" lvl="0" marL="469900" marR="325755" rtl="0" algn="l">
              <a:lnSpc>
                <a:spcPct val="116428"/>
              </a:lnSpc>
              <a:spcBef>
                <a:spcPts val="35"/>
              </a:spcBef>
              <a:spcAft>
                <a:spcPts val="0"/>
              </a:spcAft>
              <a:buSzPts val="1400"/>
              <a:buFont typeface="Cambria"/>
              <a:buAutoNum type="arabicPeriod" startAt="7"/>
            </a:pPr>
            <a:r>
              <a:rPr b="1" lang="en-US" sz="1400">
                <a:latin typeface="Cambria"/>
                <a:ea typeface="Cambria"/>
                <a:cs typeface="Cambria"/>
                <a:sym typeface="Cambria"/>
              </a:rPr>
              <a:t>Data Corruption and Device Damage</a:t>
            </a:r>
            <a:r>
              <a:rPr lang="en-US" sz="1400">
                <a:latin typeface="Cambria"/>
                <a:ea typeface="Cambria"/>
                <a:cs typeface="Cambria"/>
                <a:sym typeface="Cambria"/>
              </a:rPr>
              <a:t>: Physical damage to a device (e.g., water damage, broken screens) or corrupted storage can make</a:t>
            </a:r>
            <a:endParaRPr sz="1400">
              <a:latin typeface="Cambria"/>
              <a:ea typeface="Cambria"/>
              <a:cs typeface="Cambria"/>
              <a:sym typeface="Cambria"/>
            </a:endParaRPr>
          </a:p>
          <a:p>
            <a:pPr indent="0" lvl="0" marL="469900" marR="828039" rtl="0" algn="l">
              <a:lnSpc>
                <a:spcPct val="116428"/>
              </a:lnSpc>
              <a:spcBef>
                <a:spcPts val="30"/>
              </a:spcBef>
              <a:spcAft>
                <a:spcPts val="0"/>
              </a:spcAft>
              <a:buNone/>
            </a:pPr>
            <a:r>
              <a:rPr lang="en-US" sz="1400">
                <a:latin typeface="Cambria"/>
                <a:ea typeface="Cambria"/>
                <a:cs typeface="Cambria"/>
                <a:sym typeface="Cambria"/>
              </a:rPr>
              <a:t>forensic extraction difficult. In such cases, specialized tools or techniques may be required to recover the data.</a:t>
            </a:r>
            <a:endParaRPr sz="1400">
              <a:latin typeface="Cambria"/>
              <a:ea typeface="Cambria"/>
              <a:cs typeface="Cambria"/>
              <a:sym typeface="Cambria"/>
            </a:endParaRPr>
          </a:p>
          <a:p>
            <a:pPr indent="-229235" lvl="0" marL="470534" rtl="0" algn="l">
              <a:lnSpc>
                <a:spcPct val="112500"/>
              </a:lnSpc>
              <a:spcBef>
                <a:spcPts val="0"/>
              </a:spcBef>
              <a:spcAft>
                <a:spcPts val="0"/>
              </a:spcAft>
              <a:buSzPts val="1400"/>
              <a:buFont typeface="Cambria"/>
              <a:buAutoNum type="arabicPeriod" startAt="8"/>
            </a:pPr>
            <a:r>
              <a:rPr b="1" lang="en-US" sz="1400">
                <a:latin typeface="Cambria"/>
                <a:ea typeface="Cambria"/>
                <a:cs typeface="Cambria"/>
                <a:sym typeface="Cambria"/>
              </a:rPr>
              <a:t>Cross-Platform and Multiple Device Types</a:t>
            </a:r>
            <a:r>
              <a:rPr lang="en-US" sz="1400">
                <a:latin typeface="Cambria"/>
                <a:ea typeface="Cambria"/>
                <a:cs typeface="Cambria"/>
                <a:sym typeface="Cambria"/>
              </a:rPr>
              <a:t>: Different mobile</a:t>
            </a:r>
            <a:endParaRPr sz="1400">
              <a:latin typeface="Cambria"/>
              <a:ea typeface="Cambria"/>
              <a:cs typeface="Cambria"/>
              <a:sym typeface="Cambria"/>
            </a:endParaRPr>
          </a:p>
          <a:p>
            <a:pPr indent="0" lvl="0" marL="469900" marR="230504" rtl="0" algn="l">
              <a:lnSpc>
                <a:spcPct val="98100"/>
              </a:lnSpc>
              <a:spcBef>
                <a:spcPts val="20"/>
              </a:spcBef>
              <a:spcAft>
                <a:spcPts val="0"/>
              </a:spcAft>
              <a:buNone/>
            </a:pPr>
            <a:r>
              <a:rPr lang="en-US" sz="1400">
                <a:latin typeface="Cambria"/>
                <a:ea typeface="Cambria"/>
                <a:cs typeface="Cambria"/>
                <a:sym typeface="Cambria"/>
              </a:rPr>
              <a:t>operating systems (Android, iOS, Windows) and manufacturers (Samsung, Apple, Huawei) have different file structures, encryption methods, and security protocols. This makes it challenging to develop universal tools and methods for mobile forensics.</a:t>
            </a:r>
            <a:endParaRPr sz="1400">
              <a:latin typeface="Cambria"/>
              <a:ea typeface="Cambria"/>
              <a:cs typeface="Cambria"/>
              <a:sym typeface="Cambria"/>
            </a:endParaRPr>
          </a:p>
        </p:txBody>
      </p:sp>
      <p:sp>
        <p:nvSpPr>
          <p:cNvPr id="61" name="Google Shape;61;p4"/>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5" name="Shape 65"/>
        <p:cNvGrpSpPr/>
        <p:nvPr/>
      </p:nvGrpSpPr>
      <p:grpSpPr>
        <a:xfrm>
          <a:off x="0" y="0"/>
          <a:ext cx="0" cy="0"/>
          <a:chOff x="0" y="0"/>
          <a:chExt cx="0" cy="0"/>
        </a:xfrm>
      </p:grpSpPr>
      <p:sp>
        <p:nvSpPr>
          <p:cNvPr id="66" name="Google Shape;66;p5"/>
          <p:cNvSpPr txBox="1"/>
          <p:nvPr/>
        </p:nvSpPr>
        <p:spPr>
          <a:xfrm>
            <a:off x="902004" y="892809"/>
            <a:ext cx="5900420" cy="8134350"/>
          </a:xfrm>
          <a:prstGeom prst="rect">
            <a:avLst/>
          </a:prstGeom>
          <a:noFill/>
          <a:ln>
            <a:noFill/>
          </a:ln>
        </p:spPr>
        <p:txBody>
          <a:bodyPr anchorCtr="0" anchor="t" bIns="0" lIns="0" spcFirstLastPara="1" rIns="0" wrap="square" tIns="14600">
            <a:spAutoFit/>
          </a:bodyPr>
          <a:lstStyle/>
          <a:p>
            <a:pPr indent="0" lvl="0" marL="12700" marR="377825" rtl="0" algn="l">
              <a:lnSpc>
                <a:spcPct val="98600"/>
              </a:lnSpc>
              <a:spcBef>
                <a:spcPts val="0"/>
              </a:spcBef>
              <a:spcAft>
                <a:spcPts val="0"/>
              </a:spcAft>
              <a:buNone/>
            </a:pPr>
            <a:r>
              <a:rPr lang="en-US" sz="1400">
                <a:latin typeface="Cambria"/>
                <a:ea typeface="Cambria"/>
                <a:cs typeface="Cambria"/>
                <a:sym typeface="Cambria"/>
              </a:rPr>
              <a:t>The process of extracting evidence from a mobile device involves several steps to ensure that the data is collected in a manner that preserves its integrity and authenticity:</a:t>
            </a:r>
            <a:endParaRPr sz="1400">
              <a:latin typeface="Cambria"/>
              <a:ea typeface="Cambria"/>
              <a:cs typeface="Cambria"/>
              <a:sym typeface="Cambria"/>
            </a:endParaRPr>
          </a:p>
          <a:p>
            <a:pPr indent="-229235" lvl="0" marL="470534" rtl="0" algn="l">
              <a:lnSpc>
                <a:spcPct val="119285"/>
              </a:lnSpc>
              <a:spcBef>
                <a:spcPts val="1320"/>
              </a:spcBef>
              <a:spcAft>
                <a:spcPts val="0"/>
              </a:spcAft>
              <a:buSzPts val="1400"/>
              <a:buFont typeface="Cambria"/>
              <a:buAutoNum type="arabicPeriod"/>
            </a:pPr>
            <a:r>
              <a:rPr b="1" lang="en-US" sz="1400">
                <a:latin typeface="Cambria"/>
                <a:ea typeface="Cambria"/>
                <a:cs typeface="Cambria"/>
                <a:sym typeface="Cambria"/>
              </a:rPr>
              <a:t>Preparation</a:t>
            </a:r>
            <a:r>
              <a:rPr lang="en-US" sz="1400">
                <a:latin typeface="Cambria"/>
                <a:ea typeface="Cambria"/>
                <a:cs typeface="Cambria"/>
                <a:sym typeface="Cambria"/>
              </a:rPr>
              <a:t>:</a:t>
            </a:r>
            <a:endParaRPr sz="1400">
              <a:latin typeface="Cambria"/>
              <a:ea typeface="Cambria"/>
              <a:cs typeface="Cambria"/>
              <a:sym typeface="Cambria"/>
            </a:endParaRPr>
          </a:p>
          <a:p>
            <a:pPr indent="-228600" lvl="1" marL="927100" marR="5080" rtl="0" algn="l">
              <a:lnSpc>
                <a:spcPct val="116428"/>
              </a:lnSpc>
              <a:spcBef>
                <a:spcPts val="85"/>
              </a:spcBef>
              <a:spcAft>
                <a:spcPts val="0"/>
              </a:spcAft>
              <a:buSzPts val="1000"/>
              <a:buFont typeface="Courier New"/>
              <a:buChar char="o"/>
            </a:pPr>
            <a:r>
              <a:rPr b="1" lang="en-US" sz="1400">
                <a:latin typeface="Cambria"/>
                <a:ea typeface="Cambria"/>
                <a:cs typeface="Cambria"/>
                <a:sym typeface="Cambria"/>
              </a:rPr>
              <a:t>Obtain Legal Authorization</a:t>
            </a:r>
            <a:r>
              <a:rPr lang="en-US" sz="1400">
                <a:latin typeface="Cambria"/>
                <a:ea typeface="Cambria"/>
                <a:cs typeface="Cambria"/>
                <a:sym typeface="Cambria"/>
              </a:rPr>
              <a:t>: A warrant or consent is required to search and seize a mobile device.</a:t>
            </a:r>
            <a:endParaRPr sz="1400">
              <a:latin typeface="Cambria"/>
              <a:ea typeface="Cambria"/>
              <a:cs typeface="Cambria"/>
              <a:sym typeface="Cambria"/>
            </a:endParaRPr>
          </a:p>
          <a:p>
            <a:pPr indent="-228600" lvl="1" marL="927100" marR="623570" rtl="0" algn="l">
              <a:lnSpc>
                <a:spcPct val="116428"/>
              </a:lnSpc>
              <a:spcBef>
                <a:spcPts val="30"/>
              </a:spcBef>
              <a:spcAft>
                <a:spcPts val="0"/>
              </a:spcAft>
              <a:buSzPts val="1000"/>
              <a:buFont typeface="Courier New"/>
              <a:buChar char="o"/>
            </a:pPr>
            <a:r>
              <a:rPr b="1" lang="en-US" sz="1400">
                <a:latin typeface="Cambria"/>
                <a:ea typeface="Cambria"/>
                <a:cs typeface="Cambria"/>
                <a:sym typeface="Cambria"/>
              </a:rPr>
              <a:t>Prepare the Equipment</a:t>
            </a:r>
            <a:r>
              <a:rPr lang="en-US" sz="1400">
                <a:latin typeface="Cambria"/>
                <a:ea typeface="Cambria"/>
                <a:cs typeface="Cambria"/>
                <a:sym typeface="Cambria"/>
              </a:rPr>
              <a:t>: Forensic tools (e.g., UFED, XRY, Cellebrite) are used to extract data from the device.</a:t>
            </a:r>
            <a:endParaRPr sz="1400">
              <a:latin typeface="Cambria"/>
              <a:ea typeface="Cambria"/>
              <a:cs typeface="Cambria"/>
              <a:sym typeface="Cambria"/>
            </a:endParaRPr>
          </a:p>
          <a:p>
            <a:pPr indent="-229235" lvl="0" marL="470534" rtl="0" algn="l">
              <a:lnSpc>
                <a:spcPct val="112857"/>
              </a:lnSpc>
              <a:spcBef>
                <a:spcPts val="0"/>
              </a:spcBef>
              <a:spcAft>
                <a:spcPts val="0"/>
              </a:spcAft>
              <a:buSzPts val="1400"/>
              <a:buFont typeface="Cambria"/>
              <a:buAutoNum type="arabicPeriod"/>
            </a:pPr>
            <a:r>
              <a:rPr b="1" lang="en-US" sz="1400">
                <a:latin typeface="Cambria"/>
                <a:ea typeface="Cambria"/>
                <a:cs typeface="Cambria"/>
                <a:sym typeface="Cambria"/>
              </a:rPr>
              <a:t>Seize the Device</a:t>
            </a:r>
            <a:r>
              <a:rPr lang="en-US" sz="1400">
                <a:latin typeface="Cambria"/>
                <a:ea typeface="Cambria"/>
                <a:cs typeface="Cambria"/>
                <a:sym typeface="Cambria"/>
              </a:rPr>
              <a:t>: The device is physically secured and isolated to</a:t>
            </a:r>
            <a:endParaRPr sz="1400">
              <a:latin typeface="Cambria"/>
              <a:ea typeface="Cambria"/>
              <a:cs typeface="Cambria"/>
              <a:sym typeface="Cambria"/>
            </a:endParaRPr>
          </a:p>
          <a:p>
            <a:pPr indent="0" lvl="0" marL="469900" marR="466725" rtl="0" algn="l">
              <a:lnSpc>
                <a:spcPct val="116428"/>
              </a:lnSpc>
              <a:spcBef>
                <a:spcPts val="85"/>
              </a:spcBef>
              <a:spcAft>
                <a:spcPts val="0"/>
              </a:spcAft>
              <a:buNone/>
            </a:pPr>
            <a:r>
              <a:rPr lang="en-US" sz="1400">
                <a:latin typeface="Cambria"/>
                <a:ea typeface="Cambria"/>
                <a:cs typeface="Cambria"/>
                <a:sym typeface="Cambria"/>
              </a:rPr>
              <a:t>prevent remote wiping or tampering. If necessary, it is placed in a Faraday bag to block cellular, Wi-Fi, and Bluetooth signals.</a:t>
            </a:r>
            <a:endParaRPr sz="1400">
              <a:latin typeface="Cambria"/>
              <a:ea typeface="Cambria"/>
              <a:cs typeface="Cambria"/>
              <a:sym typeface="Cambria"/>
            </a:endParaRPr>
          </a:p>
          <a:p>
            <a:pPr indent="-229235" lvl="0" marL="470534" rtl="0" algn="l">
              <a:lnSpc>
                <a:spcPct val="113571"/>
              </a:lnSpc>
              <a:spcBef>
                <a:spcPts val="0"/>
              </a:spcBef>
              <a:spcAft>
                <a:spcPts val="0"/>
              </a:spcAft>
              <a:buSzPts val="1400"/>
              <a:buFont typeface="Cambria"/>
              <a:buAutoNum type="arabicPeriod" startAt="3"/>
            </a:pPr>
            <a:r>
              <a:rPr b="1" lang="en-US" sz="1400">
                <a:latin typeface="Cambria"/>
                <a:ea typeface="Cambria"/>
                <a:cs typeface="Cambria"/>
                <a:sym typeface="Cambria"/>
              </a:rPr>
              <a:t>Document the Device</a:t>
            </a:r>
            <a:r>
              <a:rPr lang="en-US" sz="1400">
                <a:latin typeface="Cambria"/>
                <a:ea typeface="Cambria"/>
                <a:cs typeface="Cambria"/>
                <a:sym typeface="Cambria"/>
              </a:rPr>
              <a:t>: Detailed notes are taken about the device,</a:t>
            </a:r>
            <a:endParaRPr sz="1400">
              <a:latin typeface="Cambria"/>
              <a:ea typeface="Cambria"/>
              <a:cs typeface="Cambria"/>
              <a:sym typeface="Cambria"/>
            </a:endParaRPr>
          </a:p>
          <a:p>
            <a:pPr indent="0" lvl="0" marL="469900" marR="224154" rtl="0" algn="l">
              <a:lnSpc>
                <a:spcPct val="116428"/>
              </a:lnSpc>
              <a:spcBef>
                <a:spcPts val="70"/>
              </a:spcBef>
              <a:spcAft>
                <a:spcPts val="0"/>
              </a:spcAft>
              <a:buNone/>
            </a:pPr>
            <a:r>
              <a:rPr lang="en-US" sz="1400">
                <a:latin typeface="Cambria"/>
                <a:ea typeface="Cambria"/>
                <a:cs typeface="Cambria"/>
                <a:sym typeface="Cambria"/>
              </a:rPr>
              <a:t>including the make, model, operating system, serial number, and any other distinguishing features.</a:t>
            </a:r>
            <a:endParaRPr sz="1400">
              <a:latin typeface="Cambria"/>
              <a:ea typeface="Cambria"/>
              <a:cs typeface="Cambria"/>
              <a:sym typeface="Cambria"/>
            </a:endParaRPr>
          </a:p>
          <a:p>
            <a:pPr indent="-229235" lvl="0" marL="470534" rtl="0" algn="l">
              <a:lnSpc>
                <a:spcPct val="113571"/>
              </a:lnSpc>
              <a:spcBef>
                <a:spcPts val="0"/>
              </a:spcBef>
              <a:spcAft>
                <a:spcPts val="0"/>
              </a:spcAft>
              <a:buSzPts val="1400"/>
              <a:buFont typeface="Cambria"/>
              <a:buAutoNum type="arabicPeriod" startAt="4"/>
            </a:pPr>
            <a:r>
              <a:rPr b="1" lang="en-US" sz="1400">
                <a:latin typeface="Cambria"/>
                <a:ea typeface="Cambria"/>
                <a:cs typeface="Cambria"/>
                <a:sym typeface="Cambria"/>
              </a:rPr>
              <a:t>Data Preservation</a:t>
            </a:r>
            <a:r>
              <a:rPr lang="en-US" sz="1400">
                <a:latin typeface="Cambria"/>
                <a:ea typeface="Cambria"/>
                <a:cs typeface="Cambria"/>
                <a:sym typeface="Cambria"/>
              </a:rPr>
              <a:t>:</a:t>
            </a:r>
            <a:endParaRPr sz="1400">
              <a:latin typeface="Cambria"/>
              <a:ea typeface="Cambria"/>
              <a:cs typeface="Cambria"/>
              <a:sym typeface="Cambria"/>
            </a:endParaRPr>
          </a:p>
          <a:p>
            <a:pPr indent="-228600" lvl="1" marL="927100" marR="34290" rtl="0" algn="l">
              <a:lnSpc>
                <a:spcPct val="97900"/>
              </a:lnSpc>
              <a:spcBef>
                <a:spcPts val="15"/>
              </a:spcBef>
              <a:spcAft>
                <a:spcPts val="0"/>
              </a:spcAft>
              <a:buSzPts val="1000"/>
              <a:buFont typeface="Courier New"/>
              <a:buChar char="o"/>
            </a:pPr>
            <a:r>
              <a:rPr b="1" lang="en-US" sz="1400">
                <a:latin typeface="Cambria"/>
                <a:ea typeface="Cambria"/>
                <a:cs typeface="Cambria"/>
                <a:sym typeface="Cambria"/>
              </a:rPr>
              <a:t>Capture a Logical Image</a:t>
            </a:r>
            <a:r>
              <a:rPr lang="en-US" sz="1400">
                <a:latin typeface="Cambria"/>
                <a:ea typeface="Cambria"/>
                <a:cs typeface="Cambria"/>
                <a:sym typeface="Cambria"/>
              </a:rPr>
              <a:t>: A logical image is an exact copy of the device’s file system and apps, allowing investigators to access the files and data (such as contacts, call logs, messages).</a:t>
            </a:r>
            <a:endParaRPr sz="1400">
              <a:latin typeface="Cambria"/>
              <a:ea typeface="Cambria"/>
              <a:cs typeface="Cambria"/>
              <a:sym typeface="Cambria"/>
            </a:endParaRPr>
          </a:p>
          <a:p>
            <a:pPr indent="-228600" lvl="1" marL="927100" marR="295275" rtl="0" algn="l">
              <a:lnSpc>
                <a:spcPct val="118571"/>
              </a:lnSpc>
              <a:spcBef>
                <a:spcPts val="20"/>
              </a:spcBef>
              <a:spcAft>
                <a:spcPts val="0"/>
              </a:spcAft>
              <a:buSzPts val="1000"/>
              <a:buFont typeface="Courier New"/>
              <a:buChar char="o"/>
            </a:pPr>
            <a:r>
              <a:rPr b="1" lang="en-US" sz="1400">
                <a:latin typeface="Cambria"/>
                <a:ea typeface="Cambria"/>
                <a:cs typeface="Cambria"/>
                <a:sym typeface="Cambria"/>
              </a:rPr>
              <a:t>Capture a Physical Image</a:t>
            </a:r>
            <a:r>
              <a:rPr lang="en-US" sz="1400">
                <a:latin typeface="Cambria"/>
                <a:ea typeface="Cambria"/>
                <a:cs typeface="Cambria"/>
                <a:sym typeface="Cambria"/>
              </a:rPr>
              <a:t>: A physical image includes all data stored on the device, including hidden or system-level data.</a:t>
            </a:r>
            <a:endParaRPr sz="1400">
              <a:latin typeface="Cambria"/>
              <a:ea typeface="Cambria"/>
              <a:cs typeface="Cambria"/>
              <a:sym typeface="Cambria"/>
            </a:endParaRPr>
          </a:p>
          <a:p>
            <a:pPr indent="-228600" lvl="1" marL="927100" rtl="0" algn="l">
              <a:lnSpc>
                <a:spcPct val="110714"/>
              </a:lnSpc>
              <a:spcBef>
                <a:spcPts val="0"/>
              </a:spcBef>
              <a:spcAft>
                <a:spcPts val="0"/>
              </a:spcAft>
              <a:buSzPts val="1000"/>
              <a:buFont typeface="Courier New"/>
              <a:buChar char="o"/>
            </a:pPr>
            <a:r>
              <a:rPr b="1" lang="en-US" sz="1400">
                <a:latin typeface="Cambria"/>
                <a:ea typeface="Cambria"/>
                <a:cs typeface="Cambria"/>
                <a:sym typeface="Cambria"/>
              </a:rPr>
              <a:t>Create Backups</a:t>
            </a:r>
            <a:r>
              <a:rPr lang="en-US" sz="1400">
                <a:latin typeface="Cambria"/>
                <a:ea typeface="Cambria"/>
                <a:cs typeface="Cambria"/>
                <a:sym typeface="Cambria"/>
              </a:rPr>
              <a:t>: In some cases, investigators create a backup to</a:t>
            </a:r>
            <a:endParaRPr sz="1400">
              <a:latin typeface="Cambria"/>
              <a:ea typeface="Cambria"/>
              <a:cs typeface="Cambria"/>
              <a:sym typeface="Cambria"/>
            </a:endParaRPr>
          </a:p>
          <a:p>
            <a:pPr indent="0" lvl="0" marL="927100" rtl="0" algn="l">
              <a:lnSpc>
                <a:spcPct val="117499"/>
              </a:lnSpc>
              <a:spcBef>
                <a:spcPts val="0"/>
              </a:spcBef>
              <a:spcAft>
                <a:spcPts val="0"/>
              </a:spcAft>
              <a:buNone/>
            </a:pPr>
            <a:r>
              <a:rPr lang="en-US" sz="1400">
                <a:latin typeface="Cambria"/>
                <a:ea typeface="Cambria"/>
                <a:cs typeface="Cambria"/>
                <a:sym typeface="Cambria"/>
              </a:rPr>
              <a:t>preserve the data on the device.</a:t>
            </a:r>
            <a:endParaRPr sz="1400">
              <a:latin typeface="Cambria"/>
              <a:ea typeface="Cambria"/>
              <a:cs typeface="Cambria"/>
              <a:sym typeface="Cambria"/>
            </a:endParaRPr>
          </a:p>
          <a:p>
            <a:pPr indent="-229234" lvl="0" marL="469900" marR="84455" rtl="0" algn="l">
              <a:lnSpc>
                <a:spcPct val="97900"/>
              </a:lnSpc>
              <a:spcBef>
                <a:spcPts val="25"/>
              </a:spcBef>
              <a:spcAft>
                <a:spcPts val="0"/>
              </a:spcAft>
              <a:buSzPts val="1400"/>
              <a:buFont typeface="Cambria"/>
              <a:buAutoNum type="arabicPeriod" startAt="5"/>
            </a:pPr>
            <a:r>
              <a:rPr b="1" lang="en-US" sz="1400">
                <a:latin typeface="Cambria"/>
                <a:ea typeface="Cambria"/>
                <a:cs typeface="Cambria"/>
                <a:sym typeface="Cambria"/>
              </a:rPr>
              <a:t>Unlock the Device</a:t>
            </a:r>
            <a:r>
              <a:rPr lang="en-US" sz="1400">
                <a:latin typeface="Cambria"/>
                <a:ea typeface="Cambria"/>
                <a:cs typeface="Cambria"/>
                <a:sym typeface="Cambria"/>
              </a:rPr>
              <a:t>: If the device is locked, investigators may use forensic tools to bypass locks or obtain access via methods such as PIN cracking or leveraging software vulnerabilities.</a:t>
            </a:r>
            <a:endParaRPr sz="1400">
              <a:latin typeface="Cambria"/>
              <a:ea typeface="Cambria"/>
              <a:cs typeface="Cambria"/>
              <a:sym typeface="Cambria"/>
            </a:endParaRPr>
          </a:p>
          <a:p>
            <a:pPr indent="-229235" lvl="0" marL="470534" rtl="0" algn="l">
              <a:lnSpc>
                <a:spcPct val="115000"/>
              </a:lnSpc>
              <a:spcBef>
                <a:spcPts val="0"/>
              </a:spcBef>
              <a:spcAft>
                <a:spcPts val="0"/>
              </a:spcAft>
              <a:buSzPts val="1400"/>
              <a:buFont typeface="Cambria"/>
              <a:buAutoNum type="arabicPeriod" startAt="5"/>
            </a:pPr>
            <a:r>
              <a:rPr b="1" lang="en-US" sz="1400">
                <a:latin typeface="Cambria"/>
                <a:ea typeface="Cambria"/>
                <a:cs typeface="Cambria"/>
                <a:sym typeface="Cambria"/>
              </a:rPr>
              <a:t>Data Extraction</a:t>
            </a:r>
            <a:r>
              <a:rPr lang="en-US" sz="1400">
                <a:latin typeface="Cambria"/>
                <a:ea typeface="Cambria"/>
                <a:cs typeface="Cambria"/>
                <a:sym typeface="Cambria"/>
              </a:rPr>
              <a:t>:</a:t>
            </a:r>
            <a:endParaRPr sz="1400">
              <a:latin typeface="Cambria"/>
              <a:ea typeface="Cambria"/>
              <a:cs typeface="Cambria"/>
              <a:sym typeface="Cambria"/>
            </a:endParaRPr>
          </a:p>
          <a:p>
            <a:pPr indent="-228600" lvl="1" marL="927100" marR="303530" rtl="0" algn="l">
              <a:lnSpc>
                <a:spcPct val="97900"/>
              </a:lnSpc>
              <a:spcBef>
                <a:spcPts val="10"/>
              </a:spcBef>
              <a:spcAft>
                <a:spcPts val="0"/>
              </a:spcAft>
              <a:buSzPts val="1000"/>
              <a:buFont typeface="Courier New"/>
              <a:buChar char="o"/>
            </a:pPr>
            <a:r>
              <a:rPr b="1" lang="en-US" sz="1400">
                <a:latin typeface="Cambria"/>
                <a:ea typeface="Cambria"/>
                <a:cs typeface="Cambria"/>
                <a:sym typeface="Cambria"/>
              </a:rPr>
              <a:t>Physical Extraction</a:t>
            </a:r>
            <a:r>
              <a:rPr lang="en-US" sz="1400">
                <a:latin typeface="Cambria"/>
                <a:ea typeface="Cambria"/>
                <a:cs typeface="Cambria"/>
                <a:sym typeface="Cambria"/>
              </a:rPr>
              <a:t>: The complete contents of the device are copied, including deleted files that may be recovered from unallocated space.</a:t>
            </a:r>
            <a:endParaRPr sz="1400">
              <a:latin typeface="Cambria"/>
              <a:ea typeface="Cambria"/>
              <a:cs typeface="Cambria"/>
              <a:sym typeface="Cambria"/>
            </a:endParaRPr>
          </a:p>
          <a:p>
            <a:pPr indent="-228600" lvl="1" marL="927100" marR="537845" rtl="0" algn="l">
              <a:lnSpc>
                <a:spcPct val="116428"/>
              </a:lnSpc>
              <a:spcBef>
                <a:spcPts val="75"/>
              </a:spcBef>
              <a:spcAft>
                <a:spcPts val="0"/>
              </a:spcAft>
              <a:buSzPts val="1000"/>
              <a:buFont typeface="Courier New"/>
              <a:buChar char="o"/>
            </a:pPr>
            <a:r>
              <a:rPr b="1" lang="en-US" sz="1400">
                <a:latin typeface="Cambria"/>
                <a:ea typeface="Cambria"/>
                <a:cs typeface="Cambria"/>
                <a:sym typeface="Cambria"/>
              </a:rPr>
              <a:t>Logical Extraction</a:t>
            </a:r>
            <a:r>
              <a:rPr lang="en-US" sz="1400">
                <a:latin typeface="Cambria"/>
                <a:ea typeface="Cambria"/>
                <a:cs typeface="Cambria"/>
                <a:sym typeface="Cambria"/>
              </a:rPr>
              <a:t>: Only the accessible data, including application data, contacts, call logs, SMS, and media files, is extracted.</a:t>
            </a:r>
            <a:endParaRPr sz="1400">
              <a:latin typeface="Cambria"/>
              <a:ea typeface="Cambria"/>
              <a:cs typeface="Cambria"/>
              <a:sym typeface="Cambria"/>
            </a:endParaRPr>
          </a:p>
          <a:p>
            <a:pPr indent="-229234" lvl="0" marL="469900" marR="121920" rtl="0" algn="l">
              <a:lnSpc>
                <a:spcPct val="116428"/>
              </a:lnSpc>
              <a:spcBef>
                <a:spcPts val="30"/>
              </a:spcBef>
              <a:spcAft>
                <a:spcPts val="0"/>
              </a:spcAft>
              <a:buSzPts val="1400"/>
              <a:buFont typeface="Cambria"/>
              <a:buAutoNum type="arabicPeriod" startAt="5"/>
            </a:pPr>
            <a:r>
              <a:rPr b="1" lang="en-US" sz="1400">
                <a:latin typeface="Cambria"/>
                <a:ea typeface="Cambria"/>
                <a:cs typeface="Cambria"/>
                <a:sym typeface="Cambria"/>
              </a:rPr>
              <a:t>Data Analysis</a:t>
            </a:r>
            <a:r>
              <a:rPr lang="en-US" sz="1400">
                <a:latin typeface="Cambria"/>
                <a:ea typeface="Cambria"/>
                <a:cs typeface="Cambria"/>
                <a:sym typeface="Cambria"/>
              </a:rPr>
              <a:t>: The extracted data is analyzed using forensic software to identify relevant evidence. This can include parsing app data,</a:t>
            </a:r>
            <a:endParaRPr sz="1400">
              <a:latin typeface="Cambria"/>
              <a:ea typeface="Cambria"/>
              <a:cs typeface="Cambria"/>
              <a:sym typeface="Cambria"/>
            </a:endParaRPr>
          </a:p>
          <a:p>
            <a:pPr indent="0" lvl="0" marL="469900" rtl="0" algn="l">
              <a:lnSpc>
                <a:spcPct val="113571"/>
              </a:lnSpc>
              <a:spcBef>
                <a:spcPts val="0"/>
              </a:spcBef>
              <a:spcAft>
                <a:spcPts val="0"/>
              </a:spcAft>
              <a:buNone/>
            </a:pPr>
            <a:r>
              <a:rPr lang="en-US" sz="1400">
                <a:latin typeface="Cambria"/>
                <a:ea typeface="Cambria"/>
                <a:cs typeface="Cambria"/>
                <a:sym typeface="Cambria"/>
              </a:rPr>
              <a:t>decoding encrypted files, and examining metadata.</a:t>
            </a:r>
            <a:endParaRPr sz="1400">
              <a:latin typeface="Cambria"/>
              <a:ea typeface="Cambria"/>
              <a:cs typeface="Cambria"/>
              <a:sym typeface="Cambria"/>
            </a:endParaRPr>
          </a:p>
          <a:p>
            <a:pPr indent="-229234" lvl="0" marL="469900" marR="79375" rtl="0" algn="l">
              <a:lnSpc>
                <a:spcPct val="98600"/>
              </a:lnSpc>
              <a:spcBef>
                <a:spcPts val="0"/>
              </a:spcBef>
              <a:spcAft>
                <a:spcPts val="0"/>
              </a:spcAft>
              <a:buSzPts val="1400"/>
              <a:buFont typeface="Cambria"/>
              <a:buAutoNum type="arabicPeriod" startAt="8"/>
            </a:pPr>
            <a:r>
              <a:rPr b="1" lang="en-US" sz="1400">
                <a:latin typeface="Cambria"/>
                <a:ea typeface="Cambria"/>
                <a:cs typeface="Cambria"/>
                <a:sym typeface="Cambria"/>
              </a:rPr>
              <a:t>Reporting</a:t>
            </a:r>
            <a:r>
              <a:rPr lang="en-US" sz="1400">
                <a:latin typeface="Cambria"/>
                <a:ea typeface="Cambria"/>
                <a:cs typeface="Cambria"/>
                <a:sym typeface="Cambria"/>
              </a:rPr>
              <a:t>: Forensic investigators compile the findings into a report, documenting the extraction and analysis processes, which will be used as evidence in court.</a:t>
            </a:r>
            <a:endParaRPr sz="1400">
              <a:latin typeface="Cambria"/>
              <a:ea typeface="Cambria"/>
              <a:cs typeface="Cambria"/>
              <a:sym typeface="Cambria"/>
            </a:endParaRPr>
          </a:p>
        </p:txBody>
      </p:sp>
      <p:sp>
        <p:nvSpPr>
          <p:cNvPr id="67" name="Google Shape;67;p5"/>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8" name="Google Shape;68;p5"/>
          <p:cNvSpPr txBox="1"/>
          <p:nvPr/>
        </p:nvSpPr>
        <p:spPr>
          <a:xfrm>
            <a:off x="1283004" y="414138"/>
            <a:ext cx="6184596" cy="369332"/>
          </a:xfrm>
          <a:prstGeom prst="rect">
            <a:avLst/>
          </a:prstGeom>
          <a:noFill/>
          <a:ln>
            <a:noFill/>
          </a:ln>
        </p:spPr>
        <p:txBody>
          <a:bodyPr anchorCtr="0" anchor="t" bIns="45700" lIns="91425" spcFirstLastPara="1" rIns="91425" wrap="square" tIns="45700">
            <a:spAutoFit/>
          </a:bodyPr>
          <a:lstStyle/>
          <a:p>
            <a:pPr indent="0" lvl="0" marL="12700" rtl="0" algn="l">
              <a:lnSpc>
                <a:spcPct val="100000"/>
              </a:lnSpc>
              <a:spcBef>
                <a:spcPts val="0"/>
              </a:spcBef>
              <a:spcAft>
                <a:spcPts val="0"/>
              </a:spcAft>
              <a:buNone/>
            </a:pPr>
            <a:r>
              <a:rPr b="1" lang="en-US" sz="1800">
                <a:latin typeface="Cambria"/>
                <a:ea typeface="Cambria"/>
                <a:cs typeface="Cambria"/>
                <a:sym typeface="Cambria"/>
              </a:rPr>
              <a:t>The Mobile Phone Evidence Extraction Process</a:t>
            </a:r>
            <a:endParaRPr sz="1800">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2" name="Shape 72"/>
        <p:cNvGrpSpPr/>
        <p:nvPr/>
      </p:nvGrpSpPr>
      <p:grpSpPr>
        <a:xfrm>
          <a:off x="0" y="0"/>
          <a:ext cx="0" cy="0"/>
          <a:chOff x="0" y="0"/>
          <a:chExt cx="0" cy="0"/>
        </a:xfrm>
      </p:grpSpPr>
      <p:sp>
        <p:nvSpPr>
          <p:cNvPr id="73" name="Google Shape;73;p6"/>
          <p:cNvSpPr txBox="1"/>
          <p:nvPr/>
        </p:nvSpPr>
        <p:spPr>
          <a:xfrm>
            <a:off x="902004" y="895858"/>
            <a:ext cx="5951220" cy="7887334"/>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en-US" sz="1400">
                <a:latin typeface="Cambria"/>
                <a:ea typeface="Cambria"/>
                <a:cs typeface="Cambria"/>
                <a:sym typeface="Cambria"/>
              </a:rPr>
              <a:t>Understanding Mobile Device Forensics</a:t>
            </a:r>
            <a:endParaRPr sz="1400">
              <a:latin typeface="Cambria"/>
              <a:ea typeface="Cambria"/>
              <a:cs typeface="Cambria"/>
              <a:sym typeface="Cambria"/>
            </a:endParaRPr>
          </a:p>
          <a:p>
            <a:pPr indent="0" lvl="0" marL="12700" marR="21590" rtl="0" algn="l">
              <a:lnSpc>
                <a:spcPct val="98200"/>
              </a:lnSpc>
              <a:spcBef>
                <a:spcPts val="1375"/>
              </a:spcBef>
              <a:spcAft>
                <a:spcPts val="0"/>
              </a:spcAft>
              <a:buNone/>
            </a:pPr>
            <a:r>
              <a:rPr lang="en-US" sz="1400">
                <a:latin typeface="Cambria"/>
                <a:ea typeface="Cambria"/>
                <a:cs typeface="Cambria"/>
                <a:sym typeface="Cambria"/>
              </a:rPr>
              <a:t>Mobile device forensics is the process of recovering, preserving, and analyzing data from mobile devices (phones, tablets, etc.) to provide evidence for legal and investigative purposes. This discipline includes various techniques and technologies tailored for different mobile platforms and types of data storage.</a:t>
            </a:r>
            <a:endParaRPr sz="1400">
              <a:latin typeface="Cambria"/>
              <a:ea typeface="Cambria"/>
              <a:cs typeface="Cambria"/>
              <a:sym typeface="Cambria"/>
            </a:endParaRPr>
          </a:p>
          <a:p>
            <a:pPr indent="-229235" lvl="0" marL="470534" rtl="0" algn="l">
              <a:lnSpc>
                <a:spcPct val="118214"/>
              </a:lnSpc>
              <a:spcBef>
                <a:spcPts val="1345"/>
              </a:spcBef>
              <a:spcAft>
                <a:spcPts val="0"/>
              </a:spcAft>
              <a:buSzPts val="1400"/>
              <a:buFont typeface="Cambria"/>
              <a:buAutoNum type="arabicPeriod"/>
            </a:pPr>
            <a:r>
              <a:rPr b="1" lang="en-US" sz="1400">
                <a:latin typeface="Cambria"/>
                <a:ea typeface="Cambria"/>
                <a:cs typeface="Cambria"/>
                <a:sym typeface="Cambria"/>
              </a:rPr>
              <a:t>Key Concepts</a:t>
            </a:r>
            <a:r>
              <a:rPr lang="en-US" sz="1400">
                <a:latin typeface="Cambria"/>
                <a:ea typeface="Cambria"/>
                <a:cs typeface="Cambria"/>
                <a:sym typeface="Cambria"/>
              </a:rPr>
              <a:t>:</a:t>
            </a:r>
            <a:endParaRPr sz="1400">
              <a:latin typeface="Cambria"/>
              <a:ea typeface="Cambria"/>
              <a:cs typeface="Cambria"/>
              <a:sym typeface="Cambria"/>
            </a:endParaRPr>
          </a:p>
          <a:p>
            <a:pPr indent="-228600" lvl="1" marL="927100" marR="193040" rtl="0" algn="l">
              <a:lnSpc>
                <a:spcPct val="97900"/>
              </a:lnSpc>
              <a:spcBef>
                <a:spcPts val="10"/>
              </a:spcBef>
              <a:spcAft>
                <a:spcPts val="0"/>
              </a:spcAft>
              <a:buSzPts val="1000"/>
              <a:buFont typeface="Courier New"/>
              <a:buChar char="o"/>
            </a:pPr>
            <a:r>
              <a:rPr b="1" lang="en-US" sz="1400">
                <a:latin typeface="Cambria"/>
                <a:ea typeface="Cambria"/>
                <a:cs typeface="Cambria"/>
                <a:sym typeface="Cambria"/>
              </a:rPr>
              <a:t>Mobile Device Data</a:t>
            </a:r>
            <a:r>
              <a:rPr lang="en-US" sz="1400">
                <a:latin typeface="Cambria"/>
                <a:ea typeface="Cambria"/>
                <a:cs typeface="Cambria"/>
                <a:sym typeface="Cambria"/>
              </a:rPr>
              <a:t>: Includes system files, app data, media (photos, videos), location data, and communications (SMS, calls, social media).</a:t>
            </a:r>
            <a:endParaRPr sz="1400">
              <a:latin typeface="Cambria"/>
              <a:ea typeface="Cambria"/>
              <a:cs typeface="Cambria"/>
              <a:sym typeface="Cambria"/>
            </a:endParaRPr>
          </a:p>
          <a:p>
            <a:pPr indent="-228600" lvl="1" marL="927100" rtl="0" algn="l">
              <a:lnSpc>
                <a:spcPct val="115714"/>
              </a:lnSpc>
              <a:spcBef>
                <a:spcPts val="0"/>
              </a:spcBef>
              <a:spcAft>
                <a:spcPts val="0"/>
              </a:spcAft>
              <a:buSzPts val="1000"/>
              <a:buFont typeface="Courier New"/>
              <a:buChar char="o"/>
            </a:pPr>
            <a:r>
              <a:rPr b="1" lang="en-US" sz="1400">
                <a:latin typeface="Cambria"/>
                <a:ea typeface="Cambria"/>
                <a:cs typeface="Cambria"/>
                <a:sym typeface="Cambria"/>
              </a:rPr>
              <a:t>Data Types</a:t>
            </a:r>
            <a:r>
              <a:rPr lang="en-US" sz="1400">
                <a:latin typeface="Cambria"/>
                <a:ea typeface="Cambria"/>
                <a:cs typeface="Cambria"/>
                <a:sym typeface="Cambria"/>
              </a:rPr>
              <a:t>: Mobile devices store data in diverse formats, such as</a:t>
            </a:r>
            <a:endParaRPr sz="1400">
              <a:latin typeface="Cambria"/>
              <a:ea typeface="Cambria"/>
              <a:cs typeface="Cambria"/>
              <a:sym typeface="Cambria"/>
            </a:endParaRPr>
          </a:p>
          <a:p>
            <a:pPr indent="0" lvl="0" marL="927100" marR="5080" rtl="0" algn="l">
              <a:lnSpc>
                <a:spcPct val="116428"/>
              </a:lnSpc>
              <a:spcBef>
                <a:spcPts val="85"/>
              </a:spcBef>
              <a:spcAft>
                <a:spcPts val="0"/>
              </a:spcAft>
              <a:buNone/>
            </a:pPr>
            <a:r>
              <a:rPr lang="en-US" sz="1400">
                <a:latin typeface="Cambria"/>
                <a:ea typeface="Cambria"/>
                <a:cs typeface="Cambria"/>
                <a:sym typeface="Cambria"/>
              </a:rPr>
              <a:t>text messages, encrypted files, location logs, and app-specific data. Understanding these data types is essential for effective analysis.</a:t>
            </a:r>
            <a:endParaRPr sz="1400">
              <a:latin typeface="Cambria"/>
              <a:ea typeface="Cambria"/>
              <a:cs typeface="Cambria"/>
              <a:sym typeface="Cambria"/>
            </a:endParaRPr>
          </a:p>
          <a:p>
            <a:pPr indent="-228600" lvl="1" marL="927100" rtl="0" algn="l">
              <a:lnSpc>
                <a:spcPct val="112857"/>
              </a:lnSpc>
              <a:spcBef>
                <a:spcPts val="0"/>
              </a:spcBef>
              <a:spcAft>
                <a:spcPts val="0"/>
              </a:spcAft>
              <a:buSzPts val="1000"/>
              <a:buFont typeface="Courier New"/>
              <a:buChar char="o"/>
            </a:pPr>
            <a:r>
              <a:rPr b="1" lang="en-US" sz="1400">
                <a:latin typeface="Cambria"/>
                <a:ea typeface="Cambria"/>
                <a:cs typeface="Cambria"/>
                <a:sym typeface="Cambria"/>
              </a:rPr>
              <a:t>Device Memory</a:t>
            </a:r>
            <a:r>
              <a:rPr lang="en-US" sz="1400">
                <a:latin typeface="Cambria"/>
                <a:ea typeface="Cambria"/>
                <a:cs typeface="Cambria"/>
                <a:sym typeface="Cambria"/>
              </a:rPr>
              <a:t>: Data is typically stored on both internal storage</a:t>
            </a:r>
            <a:endParaRPr sz="1400">
              <a:latin typeface="Cambria"/>
              <a:ea typeface="Cambria"/>
              <a:cs typeface="Cambria"/>
              <a:sym typeface="Cambria"/>
            </a:endParaRPr>
          </a:p>
          <a:p>
            <a:pPr indent="0" lvl="0" marL="927100" marR="411480" rtl="0" algn="l">
              <a:lnSpc>
                <a:spcPct val="116428"/>
              </a:lnSpc>
              <a:spcBef>
                <a:spcPts val="85"/>
              </a:spcBef>
              <a:spcAft>
                <a:spcPts val="0"/>
              </a:spcAft>
              <a:buNone/>
            </a:pPr>
            <a:r>
              <a:rPr lang="en-US" sz="1400">
                <a:latin typeface="Cambria"/>
                <a:ea typeface="Cambria"/>
                <a:cs typeface="Cambria"/>
                <a:sym typeface="Cambria"/>
              </a:rPr>
              <a:t>(e.g., NAND flash) and external storage (e.g., SD cards). These storage locations are analyzed separately to recover data.</a:t>
            </a:r>
            <a:endParaRPr sz="1400">
              <a:latin typeface="Cambria"/>
              <a:ea typeface="Cambria"/>
              <a:cs typeface="Cambria"/>
              <a:sym typeface="Cambria"/>
            </a:endParaRPr>
          </a:p>
          <a:p>
            <a:pPr indent="-229235" lvl="0" marL="470534" rtl="0" algn="l">
              <a:lnSpc>
                <a:spcPct val="112500"/>
              </a:lnSpc>
              <a:spcBef>
                <a:spcPts val="0"/>
              </a:spcBef>
              <a:spcAft>
                <a:spcPts val="0"/>
              </a:spcAft>
              <a:buSzPts val="1400"/>
              <a:buFont typeface="Cambria"/>
              <a:buAutoNum type="arabicPeriod" startAt="2"/>
            </a:pPr>
            <a:r>
              <a:rPr b="1" lang="en-US" sz="1400">
                <a:latin typeface="Cambria"/>
                <a:ea typeface="Cambria"/>
                <a:cs typeface="Cambria"/>
                <a:sym typeface="Cambria"/>
              </a:rPr>
              <a:t>Forensic Tools and Software</a:t>
            </a:r>
            <a:r>
              <a:rPr lang="en-US" sz="1400">
                <a:latin typeface="Cambria"/>
                <a:ea typeface="Cambria"/>
                <a:cs typeface="Cambria"/>
                <a:sym typeface="Cambria"/>
              </a:rPr>
              <a:t>: To extract and analyze mobile data,</a:t>
            </a:r>
            <a:endParaRPr sz="1400">
              <a:latin typeface="Cambria"/>
              <a:ea typeface="Cambria"/>
              <a:cs typeface="Cambria"/>
              <a:sym typeface="Cambria"/>
            </a:endParaRPr>
          </a:p>
          <a:p>
            <a:pPr indent="0" lvl="0" marL="469900" marR="149860" rtl="0" algn="l">
              <a:lnSpc>
                <a:spcPct val="97600"/>
              </a:lnSpc>
              <a:spcBef>
                <a:spcPts val="30"/>
              </a:spcBef>
              <a:spcAft>
                <a:spcPts val="0"/>
              </a:spcAft>
              <a:buNone/>
            </a:pPr>
            <a:r>
              <a:rPr lang="en-US" sz="1400">
                <a:latin typeface="Cambria"/>
                <a:ea typeface="Cambria"/>
                <a:cs typeface="Cambria"/>
                <a:sym typeface="Cambria"/>
              </a:rPr>
              <a:t>investigators use specialized forensic tools like </a:t>
            </a:r>
            <a:r>
              <a:rPr b="1" lang="en-US" sz="1400">
                <a:latin typeface="Cambria"/>
                <a:ea typeface="Cambria"/>
                <a:cs typeface="Cambria"/>
                <a:sym typeface="Cambria"/>
              </a:rPr>
              <a:t>Cellebrite UFED</a:t>
            </a:r>
            <a:r>
              <a:rPr lang="en-US" sz="1400">
                <a:latin typeface="Cambria"/>
                <a:ea typeface="Cambria"/>
                <a:cs typeface="Cambria"/>
                <a:sym typeface="Cambria"/>
              </a:rPr>
              <a:t>, </a:t>
            </a:r>
            <a:r>
              <a:rPr b="1" lang="en-US" sz="1400">
                <a:latin typeface="Cambria"/>
                <a:ea typeface="Cambria"/>
                <a:cs typeface="Cambria"/>
                <a:sym typeface="Cambria"/>
              </a:rPr>
              <a:t>XRY</a:t>
            </a:r>
            <a:r>
              <a:rPr lang="en-US" sz="1400">
                <a:latin typeface="Cambria"/>
                <a:ea typeface="Cambria"/>
                <a:cs typeface="Cambria"/>
                <a:sym typeface="Cambria"/>
              </a:rPr>
              <a:t>, </a:t>
            </a:r>
            <a:r>
              <a:rPr b="1" lang="en-US" sz="1400">
                <a:latin typeface="Cambria"/>
                <a:ea typeface="Cambria"/>
                <a:cs typeface="Cambria"/>
                <a:sym typeface="Cambria"/>
              </a:rPr>
              <a:t>Oxygen Forensic Detective</a:t>
            </a:r>
            <a:r>
              <a:rPr lang="en-US" sz="1400">
                <a:latin typeface="Cambria"/>
                <a:ea typeface="Cambria"/>
                <a:cs typeface="Cambria"/>
                <a:sym typeface="Cambria"/>
              </a:rPr>
              <a:t>, and open-source solutions like </a:t>
            </a:r>
            <a:r>
              <a:rPr b="1" lang="en-US" sz="1400">
                <a:latin typeface="Cambria"/>
                <a:ea typeface="Cambria"/>
                <a:cs typeface="Cambria"/>
                <a:sym typeface="Cambria"/>
              </a:rPr>
              <a:t>Autopsy</a:t>
            </a:r>
            <a:r>
              <a:rPr lang="en-US" sz="1400">
                <a:latin typeface="Cambria"/>
                <a:ea typeface="Cambria"/>
                <a:cs typeface="Cambria"/>
                <a:sym typeface="Cambria"/>
              </a:rPr>
              <a:t>. These tools can handle a range of devices, extraction techniques, and data types.</a:t>
            </a:r>
            <a:endParaRPr sz="1400">
              <a:latin typeface="Cambria"/>
              <a:ea typeface="Cambria"/>
              <a:cs typeface="Cambria"/>
              <a:sym typeface="Cambria"/>
            </a:endParaRPr>
          </a:p>
          <a:p>
            <a:pPr indent="-229235" lvl="0" marL="470534" rtl="0" algn="l">
              <a:lnSpc>
                <a:spcPct val="115714"/>
              </a:lnSpc>
              <a:spcBef>
                <a:spcPts val="0"/>
              </a:spcBef>
              <a:spcAft>
                <a:spcPts val="0"/>
              </a:spcAft>
              <a:buSzPts val="1400"/>
              <a:buFont typeface="Cambria"/>
              <a:buAutoNum type="arabicPeriod" startAt="3"/>
            </a:pPr>
            <a:r>
              <a:rPr b="1" lang="en-US" sz="1400">
                <a:latin typeface="Cambria"/>
                <a:ea typeface="Cambria"/>
                <a:cs typeface="Cambria"/>
                <a:sym typeface="Cambria"/>
              </a:rPr>
              <a:t>Analysis Techniques</a:t>
            </a:r>
            <a:r>
              <a:rPr lang="en-US" sz="1400">
                <a:latin typeface="Cambria"/>
                <a:ea typeface="Cambria"/>
                <a:cs typeface="Cambria"/>
                <a:sym typeface="Cambria"/>
              </a:rPr>
              <a:t>:</a:t>
            </a:r>
            <a:endParaRPr sz="1400">
              <a:latin typeface="Cambria"/>
              <a:ea typeface="Cambria"/>
              <a:cs typeface="Cambria"/>
              <a:sym typeface="Cambria"/>
            </a:endParaRPr>
          </a:p>
          <a:p>
            <a:pPr indent="-228600" lvl="1" marL="927100" marR="157480" rtl="0" algn="l">
              <a:lnSpc>
                <a:spcPct val="116428"/>
              </a:lnSpc>
              <a:spcBef>
                <a:spcPts val="85"/>
              </a:spcBef>
              <a:spcAft>
                <a:spcPts val="0"/>
              </a:spcAft>
              <a:buSzPts val="1000"/>
              <a:buFont typeface="Courier New"/>
              <a:buChar char="o"/>
            </a:pPr>
            <a:r>
              <a:rPr b="1" lang="en-US" sz="1400">
                <a:latin typeface="Cambria"/>
                <a:ea typeface="Cambria"/>
                <a:cs typeface="Cambria"/>
                <a:sym typeface="Cambria"/>
              </a:rPr>
              <a:t>Logical Analysis</a:t>
            </a:r>
            <a:r>
              <a:rPr lang="en-US" sz="1400">
                <a:latin typeface="Cambria"/>
                <a:ea typeface="Cambria"/>
                <a:cs typeface="Cambria"/>
                <a:sym typeface="Cambria"/>
              </a:rPr>
              <a:t>: Involves extracting data from the accessible parts of the file system, such as contacts, call logs, and messages.</a:t>
            </a:r>
            <a:endParaRPr sz="1400">
              <a:latin typeface="Cambria"/>
              <a:ea typeface="Cambria"/>
              <a:cs typeface="Cambria"/>
              <a:sym typeface="Cambria"/>
            </a:endParaRPr>
          </a:p>
          <a:p>
            <a:pPr indent="-228600" lvl="1" marL="927100" marR="473075" rtl="0" algn="l">
              <a:lnSpc>
                <a:spcPct val="116428"/>
              </a:lnSpc>
              <a:spcBef>
                <a:spcPts val="25"/>
              </a:spcBef>
              <a:spcAft>
                <a:spcPts val="0"/>
              </a:spcAft>
              <a:buSzPts val="1000"/>
              <a:buFont typeface="Courier New"/>
              <a:buChar char="o"/>
            </a:pPr>
            <a:r>
              <a:rPr b="1" lang="en-US" sz="1400">
                <a:latin typeface="Cambria"/>
                <a:ea typeface="Cambria"/>
                <a:cs typeface="Cambria"/>
                <a:sym typeface="Cambria"/>
              </a:rPr>
              <a:t>Physical Analysis</a:t>
            </a:r>
            <a:r>
              <a:rPr lang="en-US" sz="1400">
                <a:latin typeface="Cambria"/>
                <a:ea typeface="Cambria"/>
                <a:cs typeface="Cambria"/>
                <a:sym typeface="Cambria"/>
              </a:rPr>
              <a:t>: Goes deeper into the device’s memory, recovering deleted data, system files, and unallocated space.</a:t>
            </a:r>
            <a:endParaRPr sz="1400">
              <a:latin typeface="Cambria"/>
              <a:ea typeface="Cambria"/>
              <a:cs typeface="Cambria"/>
              <a:sym typeface="Cambria"/>
            </a:endParaRPr>
          </a:p>
          <a:p>
            <a:pPr indent="-228600" lvl="1" marL="927100" rtl="0" algn="l">
              <a:lnSpc>
                <a:spcPct val="112500"/>
              </a:lnSpc>
              <a:spcBef>
                <a:spcPts val="0"/>
              </a:spcBef>
              <a:spcAft>
                <a:spcPts val="0"/>
              </a:spcAft>
              <a:buSzPts val="1000"/>
              <a:buFont typeface="Courier New"/>
              <a:buChar char="o"/>
            </a:pPr>
            <a:r>
              <a:rPr b="1" lang="en-US" sz="1400">
                <a:latin typeface="Cambria"/>
                <a:ea typeface="Cambria"/>
                <a:cs typeface="Cambria"/>
                <a:sym typeface="Cambria"/>
              </a:rPr>
              <a:t>File Carving</a:t>
            </a:r>
            <a:r>
              <a:rPr lang="en-US" sz="1400">
                <a:latin typeface="Cambria"/>
                <a:ea typeface="Cambria"/>
                <a:cs typeface="Cambria"/>
                <a:sym typeface="Cambria"/>
              </a:rPr>
              <a:t>: Identifies and recovers partially deleted or</a:t>
            </a:r>
            <a:endParaRPr sz="1400">
              <a:latin typeface="Cambria"/>
              <a:ea typeface="Cambria"/>
              <a:cs typeface="Cambria"/>
              <a:sym typeface="Cambria"/>
            </a:endParaRPr>
          </a:p>
          <a:p>
            <a:pPr indent="0" lvl="0" marL="927100" rtl="0" algn="l">
              <a:lnSpc>
                <a:spcPct val="117499"/>
              </a:lnSpc>
              <a:spcBef>
                <a:spcPts val="0"/>
              </a:spcBef>
              <a:spcAft>
                <a:spcPts val="0"/>
              </a:spcAft>
              <a:buNone/>
            </a:pPr>
            <a:r>
              <a:rPr lang="en-US" sz="1400">
                <a:latin typeface="Cambria"/>
                <a:ea typeface="Cambria"/>
                <a:cs typeface="Cambria"/>
                <a:sym typeface="Cambria"/>
              </a:rPr>
              <a:t>fragmented files based on file signatures.</a:t>
            </a:r>
            <a:endParaRPr sz="1400">
              <a:latin typeface="Cambria"/>
              <a:ea typeface="Cambria"/>
              <a:cs typeface="Cambria"/>
              <a:sym typeface="Cambria"/>
            </a:endParaRPr>
          </a:p>
          <a:p>
            <a:pPr indent="-228600" lvl="1" marL="927100" marR="343535" rtl="0" algn="l">
              <a:lnSpc>
                <a:spcPct val="97900"/>
              </a:lnSpc>
              <a:spcBef>
                <a:spcPts val="15"/>
              </a:spcBef>
              <a:spcAft>
                <a:spcPts val="0"/>
              </a:spcAft>
              <a:buSzPts val="1000"/>
              <a:buFont typeface="Courier New"/>
              <a:buChar char="o"/>
            </a:pPr>
            <a:r>
              <a:rPr b="1" lang="en-US" sz="1400">
                <a:latin typeface="Cambria"/>
                <a:ea typeface="Cambria"/>
                <a:cs typeface="Cambria"/>
                <a:sym typeface="Cambria"/>
              </a:rPr>
              <a:t>App Data Analysis</a:t>
            </a:r>
            <a:r>
              <a:rPr lang="en-US" sz="1400">
                <a:latin typeface="Cambria"/>
                <a:ea typeface="Cambria"/>
                <a:cs typeface="Cambria"/>
                <a:sym typeface="Cambria"/>
              </a:rPr>
              <a:t>: Investigates data associated with specific apps (e.g., WhatsApp, Facebook, banking apps) by accessing SQLite databases or parsing backup files.</a:t>
            </a:r>
            <a:endParaRPr sz="1400">
              <a:latin typeface="Cambria"/>
              <a:ea typeface="Cambria"/>
              <a:cs typeface="Cambria"/>
              <a:sym typeface="Cambria"/>
            </a:endParaRPr>
          </a:p>
          <a:p>
            <a:pPr indent="-229235" lvl="0" marL="470534" rtl="0" algn="l">
              <a:lnSpc>
                <a:spcPct val="115714"/>
              </a:lnSpc>
              <a:spcBef>
                <a:spcPts val="0"/>
              </a:spcBef>
              <a:spcAft>
                <a:spcPts val="0"/>
              </a:spcAft>
              <a:buSzPts val="1400"/>
              <a:buFont typeface="Cambria"/>
              <a:buAutoNum type="arabicPeriod" startAt="3"/>
            </a:pPr>
            <a:r>
              <a:rPr b="1" lang="en-US" sz="1400">
                <a:latin typeface="Cambria"/>
                <a:ea typeface="Cambria"/>
                <a:cs typeface="Cambria"/>
                <a:sym typeface="Cambria"/>
              </a:rPr>
              <a:t>Encryption and Decryption</a:t>
            </a:r>
            <a:r>
              <a:rPr lang="en-US" sz="1400">
                <a:latin typeface="Cambria"/>
                <a:ea typeface="Cambria"/>
                <a:cs typeface="Cambria"/>
                <a:sym typeface="Cambria"/>
              </a:rPr>
              <a:t>: Mobile device forensics often involves</a:t>
            </a:r>
            <a:endParaRPr sz="1400">
              <a:latin typeface="Cambria"/>
              <a:ea typeface="Cambria"/>
              <a:cs typeface="Cambria"/>
              <a:sym typeface="Cambria"/>
            </a:endParaRPr>
          </a:p>
          <a:p>
            <a:pPr indent="0" lvl="0" marL="469900" marR="158115" rtl="0" algn="l">
              <a:lnSpc>
                <a:spcPct val="116428"/>
              </a:lnSpc>
              <a:spcBef>
                <a:spcPts val="85"/>
              </a:spcBef>
              <a:spcAft>
                <a:spcPts val="0"/>
              </a:spcAft>
              <a:buNone/>
            </a:pPr>
            <a:r>
              <a:rPr lang="en-US" sz="1400">
                <a:latin typeface="Cambria"/>
                <a:ea typeface="Cambria"/>
                <a:cs typeface="Cambria"/>
                <a:sym typeface="Cambria"/>
              </a:rPr>
              <a:t>dealing with encrypted data. Decryption may require either the device passcode or specialized decryption tools, or investigators may exploit vulnerabilities to bypass encryption.</a:t>
            </a:r>
            <a:endParaRPr sz="1400">
              <a:latin typeface="Cambria"/>
              <a:ea typeface="Cambria"/>
              <a:cs typeface="Cambria"/>
              <a:sym typeface="Cambria"/>
            </a:endParaRPr>
          </a:p>
          <a:p>
            <a:pPr indent="-229234" lvl="0" marL="469900" marR="215900" rtl="0" algn="l">
              <a:lnSpc>
                <a:spcPct val="116428"/>
              </a:lnSpc>
              <a:spcBef>
                <a:spcPts val="30"/>
              </a:spcBef>
              <a:spcAft>
                <a:spcPts val="0"/>
              </a:spcAft>
              <a:buSzPts val="1400"/>
              <a:buFont typeface="Cambria"/>
              <a:buAutoNum type="arabicPeriod" startAt="5"/>
            </a:pPr>
            <a:r>
              <a:rPr b="1" lang="en-US" sz="1400">
                <a:latin typeface="Cambria"/>
                <a:ea typeface="Cambria"/>
                <a:cs typeface="Cambria"/>
                <a:sym typeface="Cambria"/>
              </a:rPr>
              <a:t>Legal and Ethical Concerns</a:t>
            </a:r>
            <a:r>
              <a:rPr lang="en-US" sz="1400">
                <a:latin typeface="Cambria"/>
                <a:ea typeface="Cambria"/>
                <a:cs typeface="Cambria"/>
                <a:sym typeface="Cambria"/>
              </a:rPr>
              <a:t>: Mobile device forensics requires investigators to follow legal protocols such as obtaining warrants and</a:t>
            </a:r>
            <a:endParaRPr sz="1400">
              <a:latin typeface="Cambria"/>
              <a:ea typeface="Cambria"/>
              <a:cs typeface="Cambria"/>
              <a:sym typeface="Cambria"/>
            </a:endParaRPr>
          </a:p>
        </p:txBody>
      </p:sp>
      <p:sp>
        <p:nvSpPr>
          <p:cNvPr id="74" name="Google Shape;74;p6"/>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 name="Shape 78"/>
        <p:cNvGrpSpPr/>
        <p:nvPr/>
      </p:nvGrpSpPr>
      <p:grpSpPr>
        <a:xfrm>
          <a:off x="0" y="0"/>
          <a:ext cx="0" cy="0"/>
          <a:chOff x="0" y="0"/>
          <a:chExt cx="0" cy="0"/>
        </a:xfrm>
      </p:grpSpPr>
      <p:sp>
        <p:nvSpPr>
          <p:cNvPr id="79" name="Google Shape;79;p7"/>
          <p:cNvSpPr txBox="1"/>
          <p:nvPr/>
        </p:nvSpPr>
        <p:spPr>
          <a:xfrm>
            <a:off x="902004" y="892809"/>
            <a:ext cx="5905500" cy="8210550"/>
          </a:xfrm>
          <a:prstGeom prst="rect">
            <a:avLst/>
          </a:prstGeom>
          <a:noFill/>
          <a:ln>
            <a:noFill/>
          </a:ln>
        </p:spPr>
        <p:txBody>
          <a:bodyPr anchorCtr="0" anchor="t" bIns="0" lIns="0" spcFirstLastPara="1" rIns="0" wrap="square" tIns="20300">
            <a:spAutoFit/>
          </a:bodyPr>
          <a:lstStyle/>
          <a:p>
            <a:pPr indent="0" lvl="0" marL="469900" marR="153670" rtl="0" algn="l">
              <a:lnSpc>
                <a:spcPct val="118571"/>
              </a:lnSpc>
              <a:spcBef>
                <a:spcPts val="0"/>
              </a:spcBef>
              <a:spcAft>
                <a:spcPts val="0"/>
              </a:spcAft>
              <a:buNone/>
            </a:pPr>
            <a:r>
              <a:rPr lang="en-US" sz="1400">
                <a:latin typeface="Cambria"/>
                <a:ea typeface="Cambria"/>
                <a:cs typeface="Cambria"/>
                <a:sym typeface="Cambria"/>
              </a:rPr>
              <a:t>ensuring proper handling of evidence to avoid violations of privacy or rights.</a:t>
            </a:r>
            <a:endParaRPr sz="1400">
              <a:latin typeface="Cambria"/>
              <a:ea typeface="Cambria"/>
              <a:cs typeface="Cambria"/>
              <a:sym typeface="Cambria"/>
            </a:endParaRPr>
          </a:p>
          <a:p>
            <a:pPr indent="0" lvl="0" marL="12700" rtl="0" algn="l">
              <a:lnSpc>
                <a:spcPct val="100000"/>
              </a:lnSpc>
              <a:spcBef>
                <a:spcPts val="1295"/>
              </a:spcBef>
              <a:spcAft>
                <a:spcPts val="0"/>
              </a:spcAft>
              <a:buNone/>
            </a:pPr>
            <a:r>
              <a:rPr b="1" lang="en-US" sz="1400">
                <a:latin typeface="Cambria"/>
                <a:ea typeface="Cambria"/>
                <a:cs typeface="Cambria"/>
                <a:sym typeface="Cambria"/>
              </a:rPr>
              <a:t>The Android model, file system and hierarchy</a:t>
            </a:r>
            <a:endParaRPr sz="1400">
              <a:latin typeface="Cambria"/>
              <a:ea typeface="Cambria"/>
              <a:cs typeface="Cambria"/>
              <a:sym typeface="Cambria"/>
            </a:endParaRPr>
          </a:p>
          <a:p>
            <a:pPr indent="0" lvl="0" marL="12700" marR="257175" rtl="0" algn="l">
              <a:lnSpc>
                <a:spcPct val="98600"/>
              </a:lnSpc>
              <a:spcBef>
                <a:spcPts val="1390"/>
              </a:spcBef>
              <a:spcAft>
                <a:spcPts val="0"/>
              </a:spcAft>
              <a:buNone/>
            </a:pPr>
            <a:r>
              <a:rPr lang="en-US" sz="1400">
                <a:latin typeface="Cambria"/>
                <a:ea typeface="Cambria"/>
                <a:cs typeface="Cambria"/>
                <a:sym typeface="Cambria"/>
              </a:rPr>
              <a:t>In Android, the file system and its hierarchy are structured in a way that supports the efficient storage and management of application data, system files, and user files. Here’s a detailed breakdown:</a:t>
            </a:r>
            <a:endParaRPr sz="1400">
              <a:latin typeface="Cambria"/>
              <a:ea typeface="Cambria"/>
              <a:cs typeface="Cambria"/>
              <a:sym typeface="Cambria"/>
            </a:endParaRPr>
          </a:p>
          <a:p>
            <a:pPr indent="0" lvl="0" marL="12700" rtl="0" algn="l">
              <a:lnSpc>
                <a:spcPct val="100000"/>
              </a:lnSpc>
              <a:spcBef>
                <a:spcPts val="1345"/>
              </a:spcBef>
              <a:spcAft>
                <a:spcPts val="0"/>
              </a:spcAft>
              <a:buNone/>
            </a:pPr>
            <a:r>
              <a:rPr b="1" lang="en-US" sz="1400">
                <a:latin typeface="Cambria"/>
                <a:ea typeface="Cambria"/>
                <a:cs typeface="Cambria"/>
                <a:sym typeface="Cambria"/>
              </a:rPr>
              <a:t>File System Overview</a:t>
            </a:r>
            <a:endParaRPr sz="1400">
              <a:latin typeface="Cambria"/>
              <a:ea typeface="Cambria"/>
              <a:cs typeface="Cambria"/>
              <a:sym typeface="Cambria"/>
            </a:endParaRPr>
          </a:p>
          <a:p>
            <a:pPr indent="0" lvl="0" marL="12700" marR="5080" rtl="0" algn="just">
              <a:lnSpc>
                <a:spcPct val="98600"/>
              </a:lnSpc>
              <a:spcBef>
                <a:spcPts val="1370"/>
              </a:spcBef>
              <a:spcAft>
                <a:spcPts val="0"/>
              </a:spcAft>
              <a:buNone/>
            </a:pPr>
            <a:r>
              <a:rPr lang="en-US" sz="1400">
                <a:latin typeface="Cambria"/>
                <a:ea typeface="Cambria"/>
                <a:cs typeface="Cambria"/>
                <a:sym typeface="Cambria"/>
              </a:rPr>
              <a:t>The Android operating system is based on the Linux kernel, so the underlying file system is also similar to Linux, although certain directories and structures are optimized for mobile use cases.</a:t>
            </a:r>
            <a:endParaRPr sz="1400">
              <a:latin typeface="Cambria"/>
              <a:ea typeface="Cambria"/>
              <a:cs typeface="Cambria"/>
              <a:sym typeface="Cambria"/>
            </a:endParaRPr>
          </a:p>
          <a:p>
            <a:pPr indent="0" lvl="0" marL="12700" marR="47625" rtl="0" algn="l">
              <a:lnSpc>
                <a:spcPct val="98100"/>
              </a:lnSpc>
              <a:spcBef>
                <a:spcPts val="1375"/>
              </a:spcBef>
              <a:spcAft>
                <a:spcPts val="0"/>
              </a:spcAft>
              <a:buNone/>
            </a:pPr>
            <a:r>
              <a:rPr lang="en-US" sz="1400">
                <a:latin typeface="Cambria"/>
                <a:ea typeface="Cambria"/>
                <a:cs typeface="Cambria"/>
                <a:sym typeface="Cambria"/>
              </a:rPr>
              <a:t>Android uses a read-only filesystem for system files, while user data is stored in a read-write filesystem. The default file system format for Android is </a:t>
            </a:r>
            <a:r>
              <a:rPr b="1" lang="en-US" sz="1400">
                <a:latin typeface="Cambria"/>
                <a:ea typeface="Cambria"/>
                <a:cs typeface="Cambria"/>
                <a:sym typeface="Cambria"/>
              </a:rPr>
              <a:t>ext4 </a:t>
            </a:r>
            <a:r>
              <a:rPr lang="en-US" sz="1400">
                <a:latin typeface="Cambria"/>
                <a:ea typeface="Cambria"/>
                <a:cs typeface="Cambria"/>
                <a:sym typeface="Cambria"/>
              </a:rPr>
              <a:t>(although in some cases, </a:t>
            </a:r>
            <a:r>
              <a:rPr b="1" lang="en-US" sz="1400">
                <a:latin typeface="Cambria"/>
                <a:ea typeface="Cambria"/>
                <a:cs typeface="Cambria"/>
                <a:sym typeface="Cambria"/>
              </a:rPr>
              <a:t>F2FS </a:t>
            </a:r>
            <a:r>
              <a:rPr lang="en-US" sz="1400">
                <a:latin typeface="Cambria"/>
                <a:ea typeface="Cambria"/>
                <a:cs typeface="Cambria"/>
                <a:sym typeface="Cambria"/>
              </a:rPr>
              <a:t>is also used for performance optimization, particularly for flash storage).</a:t>
            </a:r>
            <a:endParaRPr sz="1400">
              <a:latin typeface="Cambria"/>
              <a:ea typeface="Cambria"/>
              <a:cs typeface="Cambria"/>
              <a:sym typeface="Cambria"/>
            </a:endParaRPr>
          </a:p>
          <a:p>
            <a:pPr indent="0" lvl="0" marL="12700" marR="3388359" rtl="0" algn="l">
              <a:lnSpc>
                <a:spcPct val="217857"/>
              </a:lnSpc>
              <a:spcBef>
                <a:spcPts val="309"/>
              </a:spcBef>
              <a:spcAft>
                <a:spcPts val="0"/>
              </a:spcAft>
              <a:buNone/>
            </a:pPr>
            <a:r>
              <a:rPr b="1" lang="en-US" sz="1400">
                <a:latin typeface="Cambria"/>
                <a:ea typeface="Cambria"/>
                <a:cs typeface="Cambria"/>
                <a:sym typeface="Cambria"/>
              </a:rPr>
              <a:t>Android File System Hierarchy Root /</a:t>
            </a:r>
            <a:endParaRPr sz="1400">
              <a:latin typeface="Cambria"/>
              <a:ea typeface="Cambria"/>
              <a:cs typeface="Cambria"/>
              <a:sym typeface="Cambria"/>
            </a:endParaRPr>
          </a:p>
          <a:p>
            <a:pPr indent="0" lvl="0" marL="12700" marR="128904" rtl="0" algn="l">
              <a:lnSpc>
                <a:spcPct val="118571"/>
              </a:lnSpc>
              <a:spcBef>
                <a:spcPts val="1085"/>
              </a:spcBef>
              <a:spcAft>
                <a:spcPts val="0"/>
              </a:spcAft>
              <a:buNone/>
            </a:pPr>
            <a:r>
              <a:rPr lang="en-US" sz="1400">
                <a:latin typeface="Cambria"/>
                <a:ea typeface="Cambria"/>
                <a:cs typeface="Cambria"/>
                <a:sym typeface="Cambria"/>
              </a:rPr>
              <a:t>The root directory is the highest level of the file system. All other directories are subdirectories of the root directory.</a:t>
            </a:r>
            <a:endParaRPr sz="1400">
              <a:latin typeface="Cambria"/>
              <a:ea typeface="Cambria"/>
              <a:cs typeface="Cambria"/>
              <a:sym typeface="Cambria"/>
            </a:endParaRPr>
          </a:p>
          <a:p>
            <a:pPr indent="0" lvl="0" marL="12700" rtl="0" algn="l">
              <a:lnSpc>
                <a:spcPct val="100000"/>
              </a:lnSpc>
              <a:spcBef>
                <a:spcPts val="1310"/>
              </a:spcBef>
              <a:spcAft>
                <a:spcPts val="0"/>
              </a:spcAft>
              <a:buNone/>
            </a:pPr>
            <a:r>
              <a:rPr b="1" lang="en-US" sz="1400">
                <a:latin typeface="Cambria"/>
                <a:ea typeface="Cambria"/>
                <a:cs typeface="Cambria"/>
                <a:sym typeface="Cambria"/>
              </a:rPr>
              <a:t>/system</a:t>
            </a:r>
            <a:endParaRPr sz="1400">
              <a:latin typeface="Cambria"/>
              <a:ea typeface="Cambria"/>
              <a:cs typeface="Cambria"/>
              <a:sym typeface="Cambria"/>
            </a:endParaRPr>
          </a:p>
          <a:p>
            <a:pPr indent="-229234" lvl="0" marL="469900" marR="113664" rtl="0" algn="l">
              <a:lnSpc>
                <a:spcPct val="117071"/>
              </a:lnSpc>
              <a:spcBef>
                <a:spcPts val="1435"/>
              </a:spcBef>
              <a:spcAft>
                <a:spcPts val="0"/>
              </a:spcAft>
              <a:buSzPts val="1000"/>
              <a:buFont typeface="Noto Sans Symbols"/>
              <a:buChar char="∙"/>
            </a:pPr>
            <a:r>
              <a:rPr lang="en-US" sz="1400">
                <a:latin typeface="Cambria"/>
                <a:ea typeface="Cambria"/>
                <a:cs typeface="Cambria"/>
                <a:sym typeface="Cambria"/>
              </a:rPr>
              <a:t>This is a </a:t>
            </a:r>
            <a:r>
              <a:rPr b="1" lang="en-US" sz="1400">
                <a:latin typeface="Cambria"/>
                <a:ea typeface="Cambria"/>
                <a:cs typeface="Cambria"/>
                <a:sym typeface="Cambria"/>
              </a:rPr>
              <a:t>read-only </a:t>
            </a:r>
            <a:r>
              <a:rPr lang="en-US" sz="1400">
                <a:latin typeface="Cambria"/>
                <a:ea typeface="Cambria"/>
                <a:cs typeface="Cambria"/>
                <a:sym typeface="Cambria"/>
              </a:rPr>
              <a:t>directory that contains the core Android operating system files, including system apps, libraries, and configurations.</a:t>
            </a:r>
            <a:endParaRPr sz="1400">
              <a:latin typeface="Cambria"/>
              <a:ea typeface="Cambria"/>
              <a:cs typeface="Cambria"/>
              <a:sym typeface="Cambria"/>
            </a:endParaRPr>
          </a:p>
          <a:p>
            <a:pPr indent="-228600" lvl="0" marL="469900" rtl="0" algn="l">
              <a:lnSpc>
                <a:spcPct val="111785"/>
              </a:lnSpc>
              <a:spcBef>
                <a:spcPts val="0"/>
              </a:spcBef>
              <a:spcAft>
                <a:spcPts val="0"/>
              </a:spcAft>
              <a:buSzPts val="1000"/>
              <a:buFont typeface="Noto Sans Symbols"/>
              <a:buChar char="∙"/>
            </a:pPr>
            <a:r>
              <a:rPr lang="en-US" sz="1400">
                <a:latin typeface="Cambria"/>
                <a:ea typeface="Cambria"/>
                <a:cs typeface="Cambria"/>
                <a:sym typeface="Cambria"/>
              </a:rPr>
              <a:t>It houses the </a:t>
            </a:r>
            <a:r>
              <a:rPr b="1" lang="en-US" sz="1400">
                <a:latin typeface="Cambria"/>
                <a:ea typeface="Cambria"/>
                <a:cs typeface="Cambria"/>
                <a:sym typeface="Cambria"/>
              </a:rPr>
              <a:t>Android framework </a:t>
            </a:r>
            <a:r>
              <a:rPr lang="en-US" sz="1400">
                <a:latin typeface="Cambria"/>
                <a:ea typeface="Cambria"/>
                <a:cs typeface="Cambria"/>
                <a:sym typeface="Cambria"/>
              </a:rPr>
              <a:t>and essential system binaries.</a:t>
            </a:r>
            <a:endParaRPr sz="1400">
              <a:latin typeface="Cambria"/>
              <a:ea typeface="Cambria"/>
              <a:cs typeface="Cambria"/>
              <a:sym typeface="Cambria"/>
            </a:endParaRPr>
          </a:p>
          <a:p>
            <a:pPr indent="-228600" lvl="0" marL="469900" rtl="0" algn="l">
              <a:lnSpc>
                <a:spcPct val="117499"/>
              </a:lnSpc>
              <a:spcBef>
                <a:spcPts val="0"/>
              </a:spcBef>
              <a:spcAft>
                <a:spcPts val="0"/>
              </a:spcAft>
              <a:buSzPts val="1000"/>
              <a:buFont typeface="Noto Sans Symbols"/>
              <a:buChar char="∙"/>
            </a:pPr>
            <a:r>
              <a:rPr lang="en-US" sz="1400">
                <a:latin typeface="Cambria"/>
                <a:ea typeface="Cambria"/>
                <a:cs typeface="Cambria"/>
                <a:sym typeface="Cambria"/>
              </a:rPr>
              <a:t>Subdirectories:</a:t>
            </a:r>
            <a:endParaRPr sz="1400">
              <a:latin typeface="Cambria"/>
              <a:ea typeface="Cambria"/>
              <a:cs typeface="Cambria"/>
              <a:sym typeface="Cambria"/>
            </a:endParaRPr>
          </a:p>
          <a:p>
            <a:pPr indent="-228600" lvl="1" marL="927100" rtl="0" algn="l">
              <a:lnSpc>
                <a:spcPct val="117499"/>
              </a:lnSpc>
              <a:spcBef>
                <a:spcPts val="0"/>
              </a:spcBef>
              <a:spcAft>
                <a:spcPts val="0"/>
              </a:spcAft>
              <a:buSzPts val="1000"/>
              <a:buFont typeface="Courier New"/>
              <a:buChar char="o"/>
            </a:pPr>
            <a:r>
              <a:rPr lang="en-US" sz="1400">
                <a:latin typeface="Cambria"/>
                <a:ea typeface="Cambria"/>
                <a:cs typeface="Cambria"/>
                <a:sym typeface="Cambria"/>
              </a:rPr>
              <a:t>/system/app - system applications</a:t>
            </a:r>
            <a:endParaRPr sz="1400">
              <a:latin typeface="Cambria"/>
              <a:ea typeface="Cambria"/>
              <a:cs typeface="Cambria"/>
              <a:sym typeface="Cambria"/>
            </a:endParaRPr>
          </a:p>
          <a:p>
            <a:pPr indent="-228600" lvl="1" marL="927100" rtl="0" algn="l">
              <a:lnSpc>
                <a:spcPct val="117499"/>
              </a:lnSpc>
              <a:spcBef>
                <a:spcPts val="0"/>
              </a:spcBef>
              <a:spcAft>
                <a:spcPts val="0"/>
              </a:spcAft>
              <a:buSzPts val="1000"/>
              <a:buFont typeface="Courier New"/>
              <a:buChar char="o"/>
            </a:pPr>
            <a:r>
              <a:rPr lang="en-US" sz="1400">
                <a:latin typeface="Cambria"/>
                <a:ea typeface="Cambria"/>
                <a:cs typeface="Cambria"/>
                <a:sym typeface="Cambria"/>
              </a:rPr>
              <a:t>/system/bin - executable binaries for the system</a:t>
            </a:r>
            <a:endParaRPr sz="1400">
              <a:latin typeface="Cambria"/>
              <a:ea typeface="Cambria"/>
              <a:cs typeface="Cambria"/>
              <a:sym typeface="Cambria"/>
            </a:endParaRPr>
          </a:p>
          <a:p>
            <a:pPr indent="-228600" lvl="1" marL="927100" rtl="0" algn="l">
              <a:lnSpc>
                <a:spcPct val="117499"/>
              </a:lnSpc>
              <a:spcBef>
                <a:spcPts val="0"/>
              </a:spcBef>
              <a:spcAft>
                <a:spcPts val="0"/>
              </a:spcAft>
              <a:buSzPts val="1000"/>
              <a:buFont typeface="Courier New"/>
              <a:buChar char="o"/>
            </a:pPr>
            <a:r>
              <a:rPr lang="en-US" sz="1400">
                <a:latin typeface="Cambria"/>
                <a:ea typeface="Cambria"/>
                <a:cs typeface="Cambria"/>
                <a:sym typeface="Cambria"/>
              </a:rPr>
              <a:t>/system/lib - system libraries</a:t>
            </a:r>
            <a:endParaRPr sz="1400">
              <a:latin typeface="Cambria"/>
              <a:ea typeface="Cambria"/>
              <a:cs typeface="Cambria"/>
              <a:sym typeface="Cambria"/>
            </a:endParaRPr>
          </a:p>
          <a:p>
            <a:pPr indent="-228600" lvl="1" marL="927100" rtl="0" algn="l">
              <a:lnSpc>
                <a:spcPct val="119285"/>
              </a:lnSpc>
              <a:spcBef>
                <a:spcPts val="0"/>
              </a:spcBef>
              <a:spcAft>
                <a:spcPts val="0"/>
              </a:spcAft>
              <a:buSzPts val="1000"/>
              <a:buFont typeface="Courier New"/>
              <a:buChar char="o"/>
            </a:pPr>
            <a:r>
              <a:rPr lang="en-US" sz="1400">
                <a:latin typeface="Cambria"/>
                <a:ea typeface="Cambria"/>
                <a:cs typeface="Cambria"/>
                <a:sym typeface="Cambria"/>
              </a:rPr>
              <a:t>/system/etc - system configuration file</a:t>
            </a:r>
            <a:endParaRPr sz="1400">
              <a:latin typeface="Cambria"/>
              <a:ea typeface="Cambria"/>
              <a:cs typeface="Cambria"/>
              <a:sym typeface="Cambria"/>
            </a:endParaRPr>
          </a:p>
          <a:p>
            <a:pPr indent="0" lvl="0" marL="12700" rtl="0" algn="l">
              <a:lnSpc>
                <a:spcPct val="100000"/>
              </a:lnSpc>
              <a:spcBef>
                <a:spcPts val="1365"/>
              </a:spcBef>
              <a:spcAft>
                <a:spcPts val="0"/>
              </a:spcAft>
              <a:buNone/>
            </a:pPr>
            <a:r>
              <a:rPr b="1" lang="en-US" sz="1400">
                <a:latin typeface="Cambria"/>
                <a:ea typeface="Cambria"/>
                <a:cs typeface="Cambria"/>
                <a:sym typeface="Cambria"/>
              </a:rPr>
              <a:t>/data</a:t>
            </a:r>
            <a:endParaRPr sz="1400">
              <a:latin typeface="Cambria"/>
              <a:ea typeface="Cambria"/>
              <a:cs typeface="Cambria"/>
              <a:sym typeface="Cambria"/>
            </a:endParaRPr>
          </a:p>
          <a:p>
            <a:pPr indent="-228600" lvl="0" marL="469900" rtl="0" algn="l">
              <a:lnSpc>
                <a:spcPct val="100000"/>
              </a:lnSpc>
              <a:spcBef>
                <a:spcPts val="1350"/>
              </a:spcBef>
              <a:spcAft>
                <a:spcPts val="0"/>
              </a:spcAft>
              <a:buSzPts val="1000"/>
              <a:buFont typeface="Noto Sans Symbols"/>
              <a:buChar char="∙"/>
            </a:pPr>
            <a:r>
              <a:rPr lang="en-US" sz="1400">
                <a:latin typeface="Cambria"/>
                <a:ea typeface="Cambria"/>
                <a:cs typeface="Cambria"/>
                <a:sym typeface="Cambria"/>
              </a:rPr>
              <a:t>This is a </a:t>
            </a:r>
            <a:r>
              <a:rPr b="1" lang="en-US" sz="1400">
                <a:latin typeface="Cambria"/>
                <a:ea typeface="Cambria"/>
                <a:cs typeface="Cambria"/>
                <a:sym typeface="Cambria"/>
              </a:rPr>
              <a:t>read-write </a:t>
            </a:r>
            <a:r>
              <a:rPr lang="en-US" sz="1400">
                <a:latin typeface="Cambria"/>
                <a:ea typeface="Cambria"/>
                <a:cs typeface="Cambria"/>
                <a:sym typeface="Cambria"/>
              </a:rPr>
              <a:t>directory where user data is stored.</a:t>
            </a:r>
            <a:endParaRPr sz="1400">
              <a:latin typeface="Cambria"/>
              <a:ea typeface="Cambria"/>
              <a:cs typeface="Cambria"/>
              <a:sym typeface="Cambria"/>
            </a:endParaRPr>
          </a:p>
        </p:txBody>
      </p:sp>
      <p:sp>
        <p:nvSpPr>
          <p:cNvPr id="80" name="Google Shape;80;p7"/>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4" name="Shape 84"/>
        <p:cNvGrpSpPr/>
        <p:nvPr/>
      </p:nvGrpSpPr>
      <p:grpSpPr>
        <a:xfrm>
          <a:off x="0" y="0"/>
          <a:ext cx="0" cy="0"/>
          <a:chOff x="0" y="0"/>
          <a:chExt cx="0" cy="0"/>
        </a:xfrm>
      </p:grpSpPr>
      <p:sp>
        <p:nvSpPr>
          <p:cNvPr id="85" name="Google Shape;85;p8"/>
          <p:cNvSpPr txBox="1"/>
          <p:nvPr/>
        </p:nvSpPr>
        <p:spPr>
          <a:xfrm>
            <a:off x="902004" y="892809"/>
            <a:ext cx="5930265" cy="5539740"/>
          </a:xfrm>
          <a:prstGeom prst="rect">
            <a:avLst/>
          </a:prstGeom>
          <a:noFill/>
          <a:ln>
            <a:noFill/>
          </a:ln>
        </p:spPr>
        <p:txBody>
          <a:bodyPr anchorCtr="0" anchor="t" bIns="0" lIns="0" spcFirstLastPara="1" rIns="0" wrap="square" tIns="23475">
            <a:spAutoFit/>
          </a:bodyPr>
          <a:lstStyle/>
          <a:p>
            <a:pPr indent="-229234" lvl="0" marL="469900" marR="121920" rtl="0" algn="l">
              <a:lnSpc>
                <a:spcPct val="116428"/>
              </a:lnSpc>
              <a:spcBef>
                <a:spcPts val="0"/>
              </a:spcBef>
              <a:spcAft>
                <a:spcPts val="0"/>
              </a:spcAft>
              <a:buSzPts val="1000"/>
              <a:buFont typeface="Noto Sans Symbols"/>
              <a:buChar char="∙"/>
            </a:pPr>
            <a:r>
              <a:rPr lang="en-US" sz="1400">
                <a:latin typeface="Cambria"/>
                <a:ea typeface="Cambria"/>
                <a:cs typeface="Cambria"/>
                <a:sym typeface="Cambria"/>
              </a:rPr>
              <a:t>It contains the installed apps and their data (such as databases, shared preferences, etc.).</a:t>
            </a:r>
            <a:endParaRPr sz="1400">
              <a:latin typeface="Cambria"/>
              <a:ea typeface="Cambria"/>
              <a:cs typeface="Cambria"/>
              <a:sym typeface="Cambria"/>
            </a:endParaRPr>
          </a:p>
          <a:p>
            <a:pPr indent="-228600" lvl="0" marL="469900" rtl="0" algn="l">
              <a:lnSpc>
                <a:spcPct val="113571"/>
              </a:lnSpc>
              <a:spcBef>
                <a:spcPts val="0"/>
              </a:spcBef>
              <a:spcAft>
                <a:spcPts val="0"/>
              </a:spcAft>
              <a:buSzPts val="1000"/>
              <a:buFont typeface="Noto Sans Symbols"/>
              <a:buChar char="∙"/>
            </a:pPr>
            <a:r>
              <a:rPr lang="en-US" sz="1400">
                <a:latin typeface="Cambria"/>
                <a:ea typeface="Cambria"/>
                <a:cs typeface="Cambria"/>
                <a:sym typeface="Cambria"/>
              </a:rPr>
              <a:t>It is the largest part of the filesystem and is critical for applications.</a:t>
            </a:r>
            <a:endParaRPr sz="1400">
              <a:latin typeface="Cambria"/>
              <a:ea typeface="Cambria"/>
              <a:cs typeface="Cambria"/>
              <a:sym typeface="Cambria"/>
            </a:endParaRPr>
          </a:p>
          <a:p>
            <a:pPr indent="-228600" lvl="0" marL="469900" rtl="0" algn="l">
              <a:lnSpc>
                <a:spcPct val="117499"/>
              </a:lnSpc>
              <a:spcBef>
                <a:spcPts val="0"/>
              </a:spcBef>
              <a:spcAft>
                <a:spcPts val="0"/>
              </a:spcAft>
              <a:buSzPts val="1000"/>
              <a:buFont typeface="Noto Sans Symbols"/>
              <a:buChar char="∙"/>
            </a:pPr>
            <a:r>
              <a:rPr lang="en-US" sz="1400">
                <a:latin typeface="Cambria"/>
                <a:ea typeface="Cambria"/>
                <a:cs typeface="Cambria"/>
                <a:sym typeface="Cambria"/>
              </a:rPr>
              <a:t>Subdirectories:</a:t>
            </a:r>
            <a:endParaRPr sz="1400">
              <a:latin typeface="Cambria"/>
              <a:ea typeface="Cambria"/>
              <a:cs typeface="Cambria"/>
              <a:sym typeface="Cambria"/>
            </a:endParaRPr>
          </a:p>
          <a:p>
            <a:pPr indent="-228600" lvl="1" marL="927100" rtl="0" algn="l">
              <a:lnSpc>
                <a:spcPct val="117499"/>
              </a:lnSpc>
              <a:spcBef>
                <a:spcPts val="0"/>
              </a:spcBef>
              <a:spcAft>
                <a:spcPts val="0"/>
              </a:spcAft>
              <a:buSzPts val="1000"/>
              <a:buFont typeface="Courier New"/>
              <a:buChar char="o"/>
            </a:pPr>
            <a:r>
              <a:rPr lang="en-US" sz="1400">
                <a:latin typeface="Cambria"/>
                <a:ea typeface="Cambria"/>
                <a:cs typeface="Cambria"/>
                <a:sym typeface="Cambria"/>
              </a:rPr>
              <a:t>/data/app - installed user applications</a:t>
            </a:r>
            <a:endParaRPr sz="1400">
              <a:latin typeface="Cambria"/>
              <a:ea typeface="Cambria"/>
              <a:cs typeface="Cambria"/>
              <a:sym typeface="Cambria"/>
            </a:endParaRPr>
          </a:p>
          <a:p>
            <a:pPr indent="-228600" lvl="1" marL="927100" marR="339725" rtl="0" algn="l">
              <a:lnSpc>
                <a:spcPct val="116428"/>
              </a:lnSpc>
              <a:spcBef>
                <a:spcPts val="75"/>
              </a:spcBef>
              <a:spcAft>
                <a:spcPts val="0"/>
              </a:spcAft>
              <a:buSzPts val="1000"/>
              <a:buFont typeface="Courier New"/>
              <a:buChar char="o"/>
            </a:pPr>
            <a:r>
              <a:rPr lang="en-US" sz="1400">
                <a:latin typeface="Cambria"/>
                <a:ea typeface="Cambria"/>
                <a:cs typeface="Cambria"/>
                <a:sym typeface="Cambria"/>
              </a:rPr>
              <a:t>/data/data - application data, including databases and shared preferences</a:t>
            </a:r>
            <a:endParaRPr sz="1400">
              <a:latin typeface="Cambria"/>
              <a:ea typeface="Cambria"/>
              <a:cs typeface="Cambria"/>
              <a:sym typeface="Cambria"/>
            </a:endParaRPr>
          </a:p>
          <a:p>
            <a:pPr indent="-228600" lvl="1" marL="927100" marR="38100" rtl="0" algn="l">
              <a:lnSpc>
                <a:spcPct val="116428"/>
              </a:lnSpc>
              <a:spcBef>
                <a:spcPts val="25"/>
              </a:spcBef>
              <a:spcAft>
                <a:spcPts val="0"/>
              </a:spcAft>
              <a:buSzPts val="1000"/>
              <a:buFont typeface="Courier New"/>
              <a:buChar char="o"/>
            </a:pPr>
            <a:r>
              <a:rPr lang="en-US" sz="1400">
                <a:latin typeface="Cambria"/>
                <a:ea typeface="Cambria"/>
                <a:cs typeface="Cambria"/>
                <a:sym typeface="Cambria"/>
              </a:rPr>
              <a:t>/data/user - different users (in multi-user scenarios, like Android for tablets)</a:t>
            </a:r>
            <a:endParaRPr sz="1400">
              <a:latin typeface="Cambria"/>
              <a:ea typeface="Cambria"/>
              <a:cs typeface="Cambria"/>
              <a:sym typeface="Cambria"/>
            </a:endParaRPr>
          </a:p>
          <a:p>
            <a:pPr indent="-228600" lvl="1" marL="927100" rtl="0" algn="l">
              <a:lnSpc>
                <a:spcPct val="115285"/>
              </a:lnSpc>
              <a:spcBef>
                <a:spcPts val="0"/>
              </a:spcBef>
              <a:spcAft>
                <a:spcPts val="0"/>
              </a:spcAft>
              <a:buSzPts val="1000"/>
              <a:buFont typeface="Courier New"/>
              <a:buChar char="o"/>
            </a:pPr>
            <a:r>
              <a:rPr lang="en-US" sz="1400">
                <a:latin typeface="Cambria"/>
                <a:ea typeface="Cambria"/>
                <a:cs typeface="Cambria"/>
                <a:sym typeface="Cambria"/>
              </a:rPr>
              <a:t>/data/media - user media files like photos, music, and videos</a:t>
            </a:r>
            <a:endParaRPr sz="1400">
              <a:latin typeface="Cambria"/>
              <a:ea typeface="Cambria"/>
              <a:cs typeface="Cambria"/>
              <a:sym typeface="Cambria"/>
            </a:endParaRPr>
          </a:p>
          <a:p>
            <a:pPr indent="0" lvl="0" marL="12700" rtl="0" algn="l">
              <a:lnSpc>
                <a:spcPct val="100000"/>
              </a:lnSpc>
              <a:spcBef>
                <a:spcPts val="1370"/>
              </a:spcBef>
              <a:spcAft>
                <a:spcPts val="0"/>
              </a:spcAft>
              <a:buNone/>
            </a:pPr>
            <a:r>
              <a:rPr b="1" lang="en-US" sz="1400">
                <a:latin typeface="Cambria"/>
                <a:ea typeface="Cambria"/>
                <a:cs typeface="Cambria"/>
                <a:sym typeface="Cambria"/>
              </a:rPr>
              <a:t>/cache</a:t>
            </a:r>
            <a:endParaRPr sz="1400">
              <a:latin typeface="Cambria"/>
              <a:ea typeface="Cambria"/>
              <a:cs typeface="Cambria"/>
              <a:sym typeface="Cambria"/>
            </a:endParaRPr>
          </a:p>
          <a:p>
            <a:pPr indent="-229234" lvl="0" marL="469900" marR="5080" rtl="0" algn="l">
              <a:lnSpc>
                <a:spcPct val="97900"/>
              </a:lnSpc>
              <a:spcBef>
                <a:spcPts val="1380"/>
              </a:spcBef>
              <a:spcAft>
                <a:spcPts val="0"/>
              </a:spcAft>
              <a:buSzPts val="1000"/>
              <a:buFont typeface="Noto Sans Symbols"/>
              <a:buChar char="∙"/>
            </a:pPr>
            <a:r>
              <a:rPr lang="en-US" sz="1400">
                <a:latin typeface="Cambria"/>
                <a:ea typeface="Cambria"/>
                <a:cs typeface="Cambria"/>
                <a:sym typeface="Cambria"/>
              </a:rPr>
              <a:t>This directory stores temporary data used by system processes and apps. It helps improve performance by caching data that may need to be accessed again quickly.</a:t>
            </a:r>
            <a:endParaRPr sz="1400">
              <a:latin typeface="Cambria"/>
              <a:ea typeface="Cambria"/>
              <a:cs typeface="Cambria"/>
              <a:sym typeface="Cambria"/>
            </a:endParaRPr>
          </a:p>
          <a:p>
            <a:pPr indent="-228600" lvl="0" marL="469900" rtl="0" algn="l">
              <a:lnSpc>
                <a:spcPct val="118214"/>
              </a:lnSpc>
              <a:spcBef>
                <a:spcPts val="0"/>
              </a:spcBef>
              <a:spcAft>
                <a:spcPts val="0"/>
              </a:spcAft>
              <a:buSzPts val="1000"/>
              <a:buFont typeface="Noto Sans Symbols"/>
              <a:buChar char="∙"/>
            </a:pPr>
            <a:r>
              <a:rPr lang="en-US" sz="1400">
                <a:latin typeface="Cambria"/>
                <a:ea typeface="Cambria"/>
                <a:cs typeface="Cambria"/>
                <a:sym typeface="Cambria"/>
              </a:rPr>
              <a:t>Examples include app data caches, web caches, etc.</a:t>
            </a:r>
            <a:endParaRPr sz="1400">
              <a:latin typeface="Cambria"/>
              <a:ea typeface="Cambria"/>
              <a:cs typeface="Cambria"/>
              <a:sym typeface="Cambria"/>
            </a:endParaRPr>
          </a:p>
          <a:p>
            <a:pPr indent="0" lvl="0" marL="12700" rtl="0" algn="l">
              <a:lnSpc>
                <a:spcPct val="100000"/>
              </a:lnSpc>
              <a:spcBef>
                <a:spcPts val="1370"/>
              </a:spcBef>
              <a:spcAft>
                <a:spcPts val="0"/>
              </a:spcAft>
              <a:buNone/>
            </a:pPr>
            <a:r>
              <a:rPr b="1" lang="en-US" sz="1400">
                <a:latin typeface="Cambria"/>
                <a:ea typeface="Cambria"/>
                <a:cs typeface="Cambria"/>
                <a:sym typeface="Cambria"/>
              </a:rPr>
              <a:t>/storage</a:t>
            </a:r>
            <a:endParaRPr sz="1400">
              <a:latin typeface="Cambria"/>
              <a:ea typeface="Cambria"/>
              <a:cs typeface="Cambria"/>
              <a:sym typeface="Cambria"/>
            </a:endParaRPr>
          </a:p>
          <a:p>
            <a:pPr indent="-229234" lvl="0" marL="469900" marR="203200" rtl="0" algn="l">
              <a:lnSpc>
                <a:spcPct val="116428"/>
              </a:lnSpc>
              <a:spcBef>
                <a:spcPts val="1440"/>
              </a:spcBef>
              <a:spcAft>
                <a:spcPts val="0"/>
              </a:spcAft>
              <a:buSzPts val="1000"/>
              <a:buFont typeface="Noto Sans Symbols"/>
              <a:buChar char="∙"/>
            </a:pPr>
            <a:r>
              <a:rPr lang="en-US" sz="1400">
                <a:latin typeface="Cambria"/>
                <a:ea typeface="Cambria"/>
                <a:cs typeface="Cambria"/>
                <a:sym typeface="Cambria"/>
              </a:rPr>
              <a:t>This directory contains the mount points for external storage, such as SD cards or internal storage that is partitioned for user data. It is accessible to apps and users.</a:t>
            </a:r>
            <a:endParaRPr sz="1400">
              <a:latin typeface="Cambria"/>
              <a:ea typeface="Cambria"/>
              <a:cs typeface="Cambria"/>
              <a:sym typeface="Cambria"/>
            </a:endParaRPr>
          </a:p>
          <a:p>
            <a:pPr indent="-228600" lvl="0" marL="469900" rtl="0" algn="l">
              <a:lnSpc>
                <a:spcPct val="113571"/>
              </a:lnSpc>
              <a:spcBef>
                <a:spcPts val="0"/>
              </a:spcBef>
              <a:spcAft>
                <a:spcPts val="0"/>
              </a:spcAft>
              <a:buSzPts val="1000"/>
              <a:buFont typeface="Noto Sans Symbols"/>
              <a:buChar char="∙"/>
            </a:pPr>
            <a:r>
              <a:rPr lang="en-US" sz="1400">
                <a:latin typeface="Cambria"/>
                <a:ea typeface="Cambria"/>
                <a:cs typeface="Cambria"/>
                <a:sym typeface="Cambria"/>
              </a:rPr>
              <a:t>Subdirectories:</a:t>
            </a:r>
            <a:endParaRPr sz="1400">
              <a:latin typeface="Cambria"/>
              <a:ea typeface="Cambria"/>
              <a:cs typeface="Cambria"/>
              <a:sym typeface="Cambria"/>
            </a:endParaRPr>
          </a:p>
          <a:p>
            <a:pPr indent="-228600" lvl="1" marL="927100" rtl="0" algn="l">
              <a:lnSpc>
                <a:spcPct val="116785"/>
              </a:lnSpc>
              <a:spcBef>
                <a:spcPts val="0"/>
              </a:spcBef>
              <a:spcAft>
                <a:spcPts val="0"/>
              </a:spcAft>
              <a:buSzPts val="1000"/>
              <a:buFont typeface="Courier New"/>
              <a:buChar char="o"/>
            </a:pPr>
            <a:r>
              <a:rPr lang="en-US" sz="1400">
                <a:latin typeface="Cambria"/>
                <a:ea typeface="Cambria"/>
                <a:cs typeface="Cambria"/>
                <a:sym typeface="Cambria"/>
              </a:rPr>
              <a:t>/storage/emulated/0 - default internal storage</a:t>
            </a:r>
            <a:endParaRPr sz="1400">
              <a:latin typeface="Cambria"/>
              <a:ea typeface="Cambria"/>
              <a:cs typeface="Cambria"/>
              <a:sym typeface="Cambria"/>
            </a:endParaRPr>
          </a:p>
          <a:p>
            <a:pPr indent="-228600" lvl="1" marL="927100" marR="469265" rtl="0" algn="l">
              <a:lnSpc>
                <a:spcPct val="120000"/>
              </a:lnSpc>
              <a:spcBef>
                <a:spcPts val="35"/>
              </a:spcBef>
              <a:spcAft>
                <a:spcPts val="0"/>
              </a:spcAft>
              <a:buSzPts val="1000"/>
              <a:buFont typeface="Courier New"/>
              <a:buChar char="o"/>
            </a:pPr>
            <a:r>
              <a:rPr lang="en-US" sz="1400">
                <a:latin typeface="Cambria"/>
                <a:ea typeface="Cambria"/>
                <a:cs typeface="Cambria"/>
                <a:sym typeface="Cambria"/>
              </a:rPr>
              <a:t>/storage/sdcard0 or /storage/sdcard1 - external storage (if available)</a:t>
            </a:r>
            <a:endParaRPr sz="1400">
              <a:latin typeface="Cambria"/>
              <a:ea typeface="Cambria"/>
              <a:cs typeface="Cambria"/>
              <a:sym typeface="Cambria"/>
            </a:endParaRPr>
          </a:p>
        </p:txBody>
      </p:sp>
      <p:sp>
        <p:nvSpPr>
          <p:cNvPr id="86" name="Google Shape;86;p8"/>
          <p:cNvSpPr txBox="1"/>
          <p:nvPr/>
        </p:nvSpPr>
        <p:spPr>
          <a:xfrm>
            <a:off x="902004" y="6966330"/>
            <a:ext cx="5909945" cy="16370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en-US" sz="1400">
                <a:latin typeface="Cambria"/>
                <a:ea typeface="Cambria"/>
                <a:cs typeface="Cambria"/>
                <a:sym typeface="Cambria"/>
              </a:rPr>
              <a:t>/vendor</a:t>
            </a:r>
            <a:endParaRPr sz="1400">
              <a:latin typeface="Cambria"/>
              <a:ea typeface="Cambria"/>
              <a:cs typeface="Cambria"/>
              <a:sym typeface="Cambria"/>
            </a:endParaRPr>
          </a:p>
          <a:p>
            <a:pPr indent="-229234" lvl="0" marL="469900" marR="5080" rtl="0" algn="l">
              <a:lnSpc>
                <a:spcPct val="98100"/>
              </a:lnSpc>
              <a:spcBef>
                <a:spcPts val="1375"/>
              </a:spcBef>
              <a:spcAft>
                <a:spcPts val="0"/>
              </a:spcAft>
              <a:buSzPts val="1000"/>
              <a:buFont typeface="Noto Sans Symbols"/>
              <a:buChar char="∙"/>
            </a:pPr>
            <a:r>
              <a:rPr lang="en-US" sz="1400">
                <a:latin typeface="Cambria"/>
                <a:ea typeface="Cambria"/>
                <a:cs typeface="Cambria"/>
                <a:sym typeface="Cambria"/>
              </a:rPr>
              <a:t>This directory holds device-specific files and binaries that are not part of the core Android system but are required for a particular device. It includes hardware drivers, vendor-specific libraries, and configurations for particular manufacturers (e.g., Samsung, Google).</a:t>
            </a:r>
            <a:endParaRPr sz="1400">
              <a:latin typeface="Cambria"/>
              <a:ea typeface="Cambria"/>
              <a:cs typeface="Cambria"/>
              <a:sym typeface="Cambria"/>
            </a:endParaRPr>
          </a:p>
          <a:p>
            <a:pPr indent="0" lvl="0" marL="12700" rtl="0" algn="l">
              <a:lnSpc>
                <a:spcPct val="100000"/>
              </a:lnSpc>
              <a:spcBef>
                <a:spcPts val="1370"/>
              </a:spcBef>
              <a:spcAft>
                <a:spcPts val="0"/>
              </a:spcAft>
              <a:buNone/>
            </a:pPr>
            <a:r>
              <a:rPr b="1" lang="en-US" sz="1400">
                <a:latin typeface="Cambria"/>
                <a:ea typeface="Cambria"/>
                <a:cs typeface="Cambria"/>
                <a:sym typeface="Cambria"/>
              </a:rPr>
              <a:t>/mnt</a:t>
            </a:r>
            <a:endParaRPr sz="1400">
              <a:latin typeface="Cambria"/>
              <a:ea typeface="Cambria"/>
              <a:cs typeface="Cambria"/>
              <a:sym typeface="Cambria"/>
            </a:endParaRPr>
          </a:p>
        </p:txBody>
      </p:sp>
      <p:sp>
        <p:nvSpPr>
          <p:cNvPr id="87" name="Google Shape;87;p8"/>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1" name="Shape 91"/>
        <p:cNvGrpSpPr/>
        <p:nvPr/>
      </p:nvGrpSpPr>
      <p:grpSpPr>
        <a:xfrm>
          <a:off x="0" y="0"/>
          <a:ext cx="0" cy="0"/>
          <a:chOff x="0" y="0"/>
          <a:chExt cx="0" cy="0"/>
        </a:xfrm>
      </p:grpSpPr>
      <p:sp>
        <p:nvSpPr>
          <p:cNvPr id="92" name="Google Shape;92;p9"/>
          <p:cNvSpPr txBox="1"/>
          <p:nvPr/>
        </p:nvSpPr>
        <p:spPr>
          <a:xfrm>
            <a:off x="902004" y="892809"/>
            <a:ext cx="5959475" cy="8210550"/>
          </a:xfrm>
          <a:prstGeom prst="rect">
            <a:avLst/>
          </a:prstGeom>
          <a:noFill/>
          <a:ln>
            <a:noFill/>
          </a:ln>
        </p:spPr>
        <p:txBody>
          <a:bodyPr anchorCtr="0" anchor="t" bIns="0" lIns="0" spcFirstLastPara="1" rIns="0" wrap="square" tIns="15875">
            <a:spAutoFit/>
          </a:bodyPr>
          <a:lstStyle/>
          <a:p>
            <a:pPr indent="-229234" lvl="0" marL="469900" marR="5080" rtl="0" algn="l">
              <a:lnSpc>
                <a:spcPct val="97900"/>
              </a:lnSpc>
              <a:spcBef>
                <a:spcPts val="0"/>
              </a:spcBef>
              <a:spcAft>
                <a:spcPts val="0"/>
              </a:spcAft>
              <a:buSzPts val="1000"/>
              <a:buFont typeface="Noto Sans Symbols"/>
              <a:buChar char="∙"/>
            </a:pPr>
            <a:r>
              <a:rPr lang="en-US" sz="1400">
                <a:latin typeface="Cambria"/>
                <a:ea typeface="Cambria"/>
                <a:cs typeface="Cambria"/>
                <a:sym typeface="Cambria"/>
              </a:rPr>
              <a:t>This directory contains the mount points for various external filesystems. For example, it is where the SD card or other external media might be mounted, if applicable.</a:t>
            </a:r>
            <a:endParaRPr sz="1400">
              <a:latin typeface="Cambria"/>
              <a:ea typeface="Cambria"/>
              <a:cs typeface="Cambria"/>
              <a:sym typeface="Cambria"/>
            </a:endParaRPr>
          </a:p>
          <a:p>
            <a:pPr indent="-228600" lvl="1" marL="927100" marR="269875" rtl="0" algn="l">
              <a:lnSpc>
                <a:spcPct val="120000"/>
              </a:lnSpc>
              <a:spcBef>
                <a:spcPts val="10"/>
              </a:spcBef>
              <a:spcAft>
                <a:spcPts val="0"/>
              </a:spcAft>
              <a:buSzPts val="1000"/>
              <a:buFont typeface="Courier New"/>
              <a:buChar char="o"/>
            </a:pPr>
            <a:r>
              <a:rPr lang="en-US" sz="1400">
                <a:latin typeface="Cambria"/>
                <a:ea typeface="Cambria"/>
                <a:cs typeface="Cambria"/>
                <a:sym typeface="Cambria"/>
              </a:rPr>
              <a:t>/mnt/sdcard - used in legacy Android versions for storing user data.</a:t>
            </a:r>
            <a:endParaRPr sz="1400">
              <a:latin typeface="Cambria"/>
              <a:ea typeface="Cambria"/>
              <a:cs typeface="Cambria"/>
              <a:sym typeface="Cambria"/>
            </a:endParaRPr>
          </a:p>
          <a:p>
            <a:pPr indent="0" lvl="0" marL="12700" rtl="0" algn="l">
              <a:lnSpc>
                <a:spcPct val="100000"/>
              </a:lnSpc>
              <a:spcBef>
                <a:spcPts val="1290"/>
              </a:spcBef>
              <a:spcAft>
                <a:spcPts val="0"/>
              </a:spcAft>
              <a:buNone/>
            </a:pPr>
            <a:r>
              <a:rPr b="1" lang="en-US" sz="1400">
                <a:latin typeface="Cambria"/>
                <a:ea typeface="Cambria"/>
                <a:cs typeface="Cambria"/>
                <a:sym typeface="Cambria"/>
              </a:rPr>
              <a:t>/dev</a:t>
            </a:r>
            <a:endParaRPr sz="1400">
              <a:latin typeface="Cambria"/>
              <a:ea typeface="Cambria"/>
              <a:cs typeface="Cambria"/>
              <a:sym typeface="Cambria"/>
            </a:endParaRPr>
          </a:p>
          <a:p>
            <a:pPr indent="-229234" lvl="0" marL="469900" marR="72390" rtl="0" algn="l">
              <a:lnSpc>
                <a:spcPct val="98600"/>
              </a:lnSpc>
              <a:spcBef>
                <a:spcPts val="1370"/>
              </a:spcBef>
              <a:spcAft>
                <a:spcPts val="0"/>
              </a:spcAft>
              <a:buSzPts val="1000"/>
              <a:buFont typeface="Noto Sans Symbols"/>
              <a:buChar char="∙"/>
            </a:pPr>
            <a:r>
              <a:rPr lang="en-US" sz="1400">
                <a:latin typeface="Cambria"/>
                <a:ea typeface="Cambria"/>
                <a:cs typeface="Cambria"/>
                <a:sym typeface="Cambria"/>
              </a:rPr>
              <a:t>Contains device files for interacting with the hardware, such as sensors, displays, and other peripherals. These are usually managed by the kernel and are not directly accessed by the user.</a:t>
            </a:r>
            <a:endParaRPr sz="1400">
              <a:latin typeface="Cambria"/>
              <a:ea typeface="Cambria"/>
              <a:cs typeface="Cambria"/>
              <a:sym typeface="Cambria"/>
            </a:endParaRPr>
          </a:p>
          <a:p>
            <a:pPr indent="0" lvl="0" marL="12700" rtl="0" algn="l">
              <a:lnSpc>
                <a:spcPct val="100000"/>
              </a:lnSpc>
              <a:spcBef>
                <a:spcPts val="1345"/>
              </a:spcBef>
              <a:spcAft>
                <a:spcPts val="0"/>
              </a:spcAft>
              <a:buNone/>
            </a:pPr>
            <a:r>
              <a:rPr b="1" lang="en-US" sz="1400">
                <a:latin typeface="Cambria"/>
                <a:ea typeface="Cambria"/>
                <a:cs typeface="Cambria"/>
                <a:sym typeface="Cambria"/>
              </a:rPr>
              <a:t>/proc</a:t>
            </a:r>
            <a:endParaRPr sz="1400">
              <a:latin typeface="Cambria"/>
              <a:ea typeface="Cambria"/>
              <a:cs typeface="Cambria"/>
              <a:sym typeface="Cambria"/>
            </a:endParaRPr>
          </a:p>
          <a:p>
            <a:pPr indent="-229234" lvl="0" marL="469900" marR="39370" rtl="0" algn="l">
              <a:lnSpc>
                <a:spcPct val="98100"/>
              </a:lnSpc>
              <a:spcBef>
                <a:spcPts val="1375"/>
              </a:spcBef>
              <a:spcAft>
                <a:spcPts val="0"/>
              </a:spcAft>
              <a:buSzPts val="1000"/>
              <a:buFont typeface="Noto Sans Symbols"/>
              <a:buChar char="∙"/>
            </a:pPr>
            <a:r>
              <a:rPr lang="en-US" sz="1400">
                <a:latin typeface="Cambria"/>
                <a:ea typeface="Cambria"/>
                <a:cs typeface="Cambria"/>
                <a:sym typeface="Cambria"/>
              </a:rPr>
              <a:t>A virtual filesystem that provides information about the running system and processes. It doesn’t hold physical files but provides real-time access to kernel and process information. For example, /proc/cpuinfo for CPU info or /proc/meminfo for memory info.</a:t>
            </a:r>
            <a:endParaRPr sz="1400">
              <a:latin typeface="Cambria"/>
              <a:ea typeface="Cambria"/>
              <a:cs typeface="Cambria"/>
              <a:sym typeface="Cambria"/>
            </a:endParaRPr>
          </a:p>
          <a:p>
            <a:pPr indent="0" lvl="0" marL="12700" rtl="0" algn="l">
              <a:lnSpc>
                <a:spcPct val="100000"/>
              </a:lnSpc>
              <a:spcBef>
                <a:spcPts val="1370"/>
              </a:spcBef>
              <a:spcAft>
                <a:spcPts val="0"/>
              </a:spcAft>
              <a:buNone/>
            </a:pPr>
            <a:r>
              <a:rPr b="1" lang="en-US" sz="1400">
                <a:latin typeface="Cambria"/>
                <a:ea typeface="Cambria"/>
                <a:cs typeface="Cambria"/>
                <a:sym typeface="Cambria"/>
              </a:rPr>
              <a:t>/sys</a:t>
            </a:r>
            <a:endParaRPr sz="1400">
              <a:latin typeface="Cambria"/>
              <a:ea typeface="Cambria"/>
              <a:cs typeface="Cambria"/>
              <a:sym typeface="Cambria"/>
            </a:endParaRPr>
          </a:p>
          <a:p>
            <a:pPr indent="-227965" lvl="0" marL="468630" marR="217804" rtl="0" algn="just">
              <a:lnSpc>
                <a:spcPct val="98600"/>
              </a:lnSpc>
              <a:spcBef>
                <a:spcPts val="1370"/>
              </a:spcBef>
              <a:spcAft>
                <a:spcPts val="0"/>
              </a:spcAft>
              <a:buSzPts val="1000"/>
              <a:buFont typeface="Noto Sans Symbols"/>
              <a:buChar char="∙"/>
            </a:pPr>
            <a:r>
              <a:rPr lang="en-US" sz="1400">
                <a:latin typeface="Cambria"/>
                <a:ea typeface="Cambria"/>
                <a:cs typeface="Cambria"/>
                <a:sym typeface="Cambria"/>
              </a:rPr>
              <a:t>A virtual filesystem providing access to kernel parameters and device 	information. It exposes device status and configuration, especially for 	hardware and driver information.</a:t>
            </a:r>
            <a:endParaRPr sz="1400">
              <a:latin typeface="Cambria"/>
              <a:ea typeface="Cambria"/>
              <a:cs typeface="Cambria"/>
              <a:sym typeface="Cambria"/>
            </a:endParaRPr>
          </a:p>
          <a:p>
            <a:pPr indent="0" lvl="0" marL="12700" rtl="0" algn="l">
              <a:lnSpc>
                <a:spcPct val="100000"/>
              </a:lnSpc>
              <a:spcBef>
                <a:spcPts val="1345"/>
              </a:spcBef>
              <a:spcAft>
                <a:spcPts val="0"/>
              </a:spcAft>
              <a:buNone/>
            </a:pPr>
            <a:r>
              <a:rPr b="1" lang="en-US" sz="1400">
                <a:latin typeface="Cambria"/>
                <a:ea typeface="Cambria"/>
                <a:cs typeface="Cambria"/>
                <a:sym typeface="Cambria"/>
              </a:rPr>
              <a:t>/root</a:t>
            </a:r>
            <a:endParaRPr sz="1400">
              <a:latin typeface="Cambria"/>
              <a:ea typeface="Cambria"/>
              <a:cs typeface="Cambria"/>
              <a:sym typeface="Cambria"/>
            </a:endParaRPr>
          </a:p>
          <a:p>
            <a:pPr indent="-227965" lvl="0" marL="468630" marR="12700" rtl="0" algn="just">
              <a:lnSpc>
                <a:spcPct val="98200"/>
              </a:lnSpc>
              <a:spcBef>
                <a:spcPts val="1375"/>
              </a:spcBef>
              <a:spcAft>
                <a:spcPts val="0"/>
              </a:spcAft>
              <a:buSzPts val="1000"/>
              <a:buFont typeface="Noto Sans Symbols"/>
              <a:buChar char="∙"/>
            </a:pPr>
            <a:r>
              <a:rPr lang="en-US" sz="1400">
                <a:latin typeface="Cambria"/>
                <a:ea typeface="Cambria"/>
                <a:cs typeface="Cambria"/>
                <a:sym typeface="Cambria"/>
              </a:rPr>
              <a:t>This is the superuser directory for the device, representing the root user 	in the Linux environment. It contains crucial system files for root access. 	In typical consumer devices, root access is locked, but rooting the device 	can give users access to modify this area.</a:t>
            </a:r>
            <a:endParaRPr sz="1400">
              <a:latin typeface="Cambria"/>
              <a:ea typeface="Cambria"/>
              <a:cs typeface="Cambria"/>
              <a:sym typeface="Cambria"/>
            </a:endParaRPr>
          </a:p>
          <a:p>
            <a:pPr indent="0" lvl="0" marL="52069" rtl="0" algn="l">
              <a:lnSpc>
                <a:spcPct val="100000"/>
              </a:lnSpc>
              <a:spcBef>
                <a:spcPts val="1370"/>
              </a:spcBef>
              <a:spcAft>
                <a:spcPts val="0"/>
              </a:spcAft>
              <a:buNone/>
            </a:pPr>
            <a:r>
              <a:rPr b="1" lang="en-US" sz="1400">
                <a:latin typeface="Cambria"/>
                <a:ea typeface="Cambria"/>
                <a:cs typeface="Cambria"/>
                <a:sym typeface="Cambria"/>
              </a:rPr>
              <a:t>Android App File System</a:t>
            </a:r>
            <a:endParaRPr sz="1400">
              <a:latin typeface="Cambria"/>
              <a:ea typeface="Cambria"/>
              <a:cs typeface="Cambria"/>
              <a:sym typeface="Cambria"/>
            </a:endParaRPr>
          </a:p>
          <a:p>
            <a:pPr indent="0" lvl="0" marL="12700" rtl="0" algn="l">
              <a:lnSpc>
                <a:spcPct val="100000"/>
              </a:lnSpc>
              <a:spcBef>
                <a:spcPts val="1365"/>
              </a:spcBef>
              <a:spcAft>
                <a:spcPts val="0"/>
              </a:spcAft>
              <a:buNone/>
            </a:pPr>
            <a:r>
              <a:rPr lang="en-US" sz="1400">
                <a:latin typeface="Cambria"/>
                <a:ea typeface="Cambria"/>
                <a:cs typeface="Cambria"/>
                <a:sym typeface="Cambria"/>
              </a:rPr>
              <a:t>For apps, Android uses its own internal structure to manage files.:</a:t>
            </a:r>
            <a:endParaRPr sz="1400">
              <a:latin typeface="Cambria"/>
              <a:ea typeface="Cambria"/>
              <a:cs typeface="Cambria"/>
              <a:sym typeface="Cambria"/>
            </a:endParaRPr>
          </a:p>
          <a:p>
            <a:pPr indent="0" lvl="0" marL="12700" rtl="0" algn="l">
              <a:lnSpc>
                <a:spcPct val="100000"/>
              </a:lnSpc>
              <a:spcBef>
                <a:spcPts val="1345"/>
              </a:spcBef>
              <a:spcAft>
                <a:spcPts val="0"/>
              </a:spcAft>
              <a:buNone/>
            </a:pPr>
            <a:r>
              <a:rPr b="1" lang="en-US" sz="1400">
                <a:latin typeface="Cambria"/>
                <a:ea typeface="Cambria"/>
                <a:cs typeface="Cambria"/>
                <a:sym typeface="Cambria"/>
              </a:rPr>
              <a:t>Internal Storage</a:t>
            </a:r>
            <a:endParaRPr sz="1400">
              <a:latin typeface="Cambria"/>
              <a:ea typeface="Cambria"/>
              <a:cs typeface="Cambria"/>
              <a:sym typeface="Cambria"/>
            </a:endParaRPr>
          </a:p>
          <a:p>
            <a:pPr indent="-227965" lvl="0" marL="468630" marR="138430" rtl="0" algn="just">
              <a:lnSpc>
                <a:spcPct val="97900"/>
              </a:lnSpc>
              <a:spcBef>
                <a:spcPts val="1380"/>
              </a:spcBef>
              <a:spcAft>
                <a:spcPts val="0"/>
              </a:spcAft>
              <a:buSzPts val="1000"/>
              <a:buFont typeface="Noto Sans Symbols"/>
              <a:buChar char="∙"/>
            </a:pPr>
            <a:r>
              <a:rPr lang="en-US" sz="1400">
                <a:latin typeface="Cambria"/>
                <a:ea typeface="Cambria"/>
                <a:cs typeface="Cambria"/>
                <a:sym typeface="Cambria"/>
              </a:rPr>
              <a:t>Each app gets its own private directory for storing data on the device’s 	internal storage. This directory is usually under /data/data/&lt;package- 	name&gt;.</a:t>
            </a:r>
            <a:endParaRPr sz="1400">
              <a:latin typeface="Cambria"/>
              <a:ea typeface="Cambria"/>
              <a:cs typeface="Cambria"/>
              <a:sym typeface="Cambria"/>
            </a:endParaRPr>
          </a:p>
        </p:txBody>
      </p:sp>
      <p:sp>
        <p:nvSpPr>
          <p:cNvPr id="93" name="Google Shape;93;p9"/>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7" name="Shape 97"/>
        <p:cNvGrpSpPr/>
        <p:nvPr/>
      </p:nvGrpSpPr>
      <p:grpSpPr>
        <a:xfrm>
          <a:off x="0" y="0"/>
          <a:ext cx="0" cy="0"/>
          <a:chOff x="0" y="0"/>
          <a:chExt cx="0" cy="0"/>
        </a:xfrm>
      </p:grpSpPr>
      <p:sp>
        <p:nvSpPr>
          <p:cNvPr id="98" name="Google Shape;98;p10"/>
          <p:cNvSpPr txBox="1"/>
          <p:nvPr/>
        </p:nvSpPr>
        <p:spPr>
          <a:xfrm>
            <a:off x="1130604" y="892809"/>
            <a:ext cx="4883150" cy="866140"/>
          </a:xfrm>
          <a:prstGeom prst="rect">
            <a:avLst/>
          </a:prstGeom>
          <a:noFill/>
          <a:ln>
            <a:noFill/>
          </a:ln>
        </p:spPr>
        <p:txBody>
          <a:bodyPr anchorCtr="0" anchor="t" bIns="0" lIns="0" spcFirstLastPara="1" rIns="0" wrap="square" tIns="11425">
            <a:spAutoFit/>
          </a:bodyPr>
          <a:lstStyle/>
          <a:p>
            <a:pPr indent="-228600" lvl="0" marL="241300" rtl="0" algn="l">
              <a:lnSpc>
                <a:spcPct val="118214"/>
              </a:lnSpc>
              <a:spcBef>
                <a:spcPts val="0"/>
              </a:spcBef>
              <a:spcAft>
                <a:spcPts val="0"/>
              </a:spcAft>
              <a:buSzPts val="1000"/>
              <a:buFont typeface="Noto Sans Symbols"/>
              <a:buChar char="∙"/>
            </a:pPr>
            <a:r>
              <a:rPr lang="en-US" sz="1400">
                <a:latin typeface="Cambria"/>
                <a:ea typeface="Cambria"/>
                <a:cs typeface="Cambria"/>
                <a:sym typeface="Cambria"/>
              </a:rPr>
              <a:t>Apps can store private files such as:</a:t>
            </a:r>
            <a:endParaRPr sz="1400">
              <a:latin typeface="Cambria"/>
              <a:ea typeface="Cambria"/>
              <a:cs typeface="Cambria"/>
              <a:sym typeface="Cambria"/>
            </a:endParaRPr>
          </a:p>
          <a:p>
            <a:pPr indent="-228600" lvl="1" marL="698500" rtl="0" algn="l">
              <a:lnSpc>
                <a:spcPct val="117499"/>
              </a:lnSpc>
              <a:spcBef>
                <a:spcPts val="0"/>
              </a:spcBef>
              <a:spcAft>
                <a:spcPts val="0"/>
              </a:spcAft>
              <a:buSzPts val="1000"/>
              <a:buFont typeface="Courier New"/>
              <a:buChar char="o"/>
            </a:pPr>
            <a:r>
              <a:rPr b="1" lang="en-US" sz="1400">
                <a:latin typeface="Cambria"/>
                <a:ea typeface="Cambria"/>
                <a:cs typeface="Cambria"/>
                <a:sym typeface="Cambria"/>
              </a:rPr>
              <a:t>Databases </a:t>
            </a:r>
            <a:r>
              <a:rPr lang="en-US" sz="1400">
                <a:latin typeface="Cambria"/>
                <a:ea typeface="Cambria"/>
                <a:cs typeface="Cambria"/>
                <a:sym typeface="Cambria"/>
              </a:rPr>
              <a:t>(e.g., SQLite)</a:t>
            </a:r>
            <a:endParaRPr sz="1400">
              <a:latin typeface="Cambria"/>
              <a:ea typeface="Cambria"/>
              <a:cs typeface="Cambria"/>
              <a:sym typeface="Cambria"/>
            </a:endParaRPr>
          </a:p>
          <a:p>
            <a:pPr indent="-228600" lvl="1" marL="698500" rtl="0" algn="l">
              <a:lnSpc>
                <a:spcPct val="118571"/>
              </a:lnSpc>
              <a:spcBef>
                <a:spcPts val="0"/>
              </a:spcBef>
              <a:spcAft>
                <a:spcPts val="0"/>
              </a:spcAft>
              <a:buSzPts val="1000"/>
              <a:buFont typeface="Courier New"/>
              <a:buChar char="o"/>
            </a:pPr>
            <a:r>
              <a:rPr b="1" lang="en-US" sz="1400">
                <a:latin typeface="Cambria"/>
                <a:ea typeface="Cambria"/>
                <a:cs typeface="Cambria"/>
                <a:sym typeface="Cambria"/>
              </a:rPr>
              <a:t>Shared preferences </a:t>
            </a:r>
            <a:r>
              <a:rPr lang="en-US" sz="1400">
                <a:latin typeface="Cambria"/>
                <a:ea typeface="Cambria"/>
                <a:cs typeface="Cambria"/>
                <a:sym typeface="Cambria"/>
              </a:rPr>
              <a:t>(small files for app configuration)</a:t>
            </a:r>
            <a:endParaRPr sz="1400">
              <a:latin typeface="Cambria"/>
              <a:ea typeface="Cambria"/>
              <a:cs typeface="Cambria"/>
              <a:sym typeface="Cambria"/>
            </a:endParaRPr>
          </a:p>
          <a:p>
            <a:pPr indent="-228600" lvl="1" marL="698500" rtl="0" algn="l">
              <a:lnSpc>
                <a:spcPct val="119285"/>
              </a:lnSpc>
              <a:spcBef>
                <a:spcPts val="0"/>
              </a:spcBef>
              <a:spcAft>
                <a:spcPts val="0"/>
              </a:spcAft>
              <a:buSzPts val="1000"/>
              <a:buFont typeface="Courier New"/>
              <a:buChar char="o"/>
            </a:pPr>
            <a:r>
              <a:rPr b="1" lang="en-US" sz="1400">
                <a:latin typeface="Cambria"/>
                <a:ea typeface="Cambria"/>
                <a:cs typeface="Cambria"/>
                <a:sym typeface="Cambria"/>
              </a:rPr>
              <a:t>Files </a:t>
            </a:r>
            <a:r>
              <a:rPr lang="en-US" sz="1400">
                <a:latin typeface="Cambria"/>
                <a:ea typeface="Cambria"/>
                <a:cs typeface="Cambria"/>
                <a:sym typeface="Cambria"/>
              </a:rPr>
              <a:t>(plain text, images, etc.)</a:t>
            </a:r>
            <a:endParaRPr sz="1400">
              <a:latin typeface="Cambria"/>
              <a:ea typeface="Cambria"/>
              <a:cs typeface="Cambria"/>
              <a:sym typeface="Cambria"/>
            </a:endParaRPr>
          </a:p>
        </p:txBody>
      </p:sp>
      <p:sp>
        <p:nvSpPr>
          <p:cNvPr id="99" name="Google Shape;99;p10"/>
          <p:cNvSpPr txBox="1"/>
          <p:nvPr/>
        </p:nvSpPr>
        <p:spPr>
          <a:xfrm>
            <a:off x="902004" y="2295271"/>
            <a:ext cx="5927725" cy="62471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en-US" sz="1400">
                <a:latin typeface="Cambria"/>
                <a:ea typeface="Cambria"/>
                <a:cs typeface="Cambria"/>
                <a:sym typeface="Cambria"/>
              </a:rPr>
              <a:t>External Storage</a:t>
            </a:r>
            <a:endParaRPr sz="1400">
              <a:latin typeface="Cambria"/>
              <a:ea typeface="Cambria"/>
              <a:cs typeface="Cambria"/>
              <a:sym typeface="Cambria"/>
            </a:endParaRPr>
          </a:p>
          <a:p>
            <a:pPr indent="-229234" lvl="0" marL="469900" marR="106045" rtl="0" algn="l">
              <a:lnSpc>
                <a:spcPct val="97900"/>
              </a:lnSpc>
              <a:spcBef>
                <a:spcPts val="1360"/>
              </a:spcBef>
              <a:spcAft>
                <a:spcPts val="0"/>
              </a:spcAft>
              <a:buSzPts val="1000"/>
              <a:buFont typeface="Noto Sans Symbols"/>
              <a:buChar char="∙"/>
            </a:pPr>
            <a:r>
              <a:rPr lang="en-US" sz="1400">
                <a:latin typeface="Cambria"/>
                <a:ea typeface="Cambria"/>
                <a:cs typeface="Cambria"/>
                <a:sym typeface="Cambria"/>
              </a:rPr>
              <a:t>Although Android has been transitioning away from allowing direct access to external storage, apps can still store files here. This storage is generally located under /storage/emulated/0 or /mnt/sdcard.</a:t>
            </a:r>
            <a:endParaRPr sz="1400">
              <a:latin typeface="Cambria"/>
              <a:ea typeface="Cambria"/>
              <a:cs typeface="Cambria"/>
              <a:sym typeface="Cambria"/>
            </a:endParaRPr>
          </a:p>
          <a:p>
            <a:pPr indent="-228600" lvl="0" marL="469900" rtl="0" algn="l">
              <a:lnSpc>
                <a:spcPct val="118214"/>
              </a:lnSpc>
              <a:spcBef>
                <a:spcPts val="0"/>
              </a:spcBef>
              <a:spcAft>
                <a:spcPts val="0"/>
              </a:spcAft>
              <a:buSzPts val="1000"/>
              <a:buFont typeface="Noto Sans Symbols"/>
              <a:buChar char="∙"/>
            </a:pPr>
            <a:r>
              <a:rPr lang="en-US" sz="1400">
                <a:latin typeface="Cambria"/>
                <a:ea typeface="Cambria"/>
                <a:cs typeface="Cambria"/>
                <a:sym typeface="Cambria"/>
              </a:rPr>
              <a:t>Apps need explicit permission from the user to access external storage.</a:t>
            </a:r>
            <a:endParaRPr sz="1400">
              <a:latin typeface="Cambria"/>
              <a:ea typeface="Cambria"/>
              <a:cs typeface="Cambria"/>
              <a:sym typeface="Cambria"/>
            </a:endParaRPr>
          </a:p>
          <a:p>
            <a:pPr indent="0" lvl="0" marL="12700" rtl="0" algn="l">
              <a:lnSpc>
                <a:spcPct val="100000"/>
              </a:lnSpc>
              <a:spcBef>
                <a:spcPts val="1370"/>
              </a:spcBef>
              <a:spcAft>
                <a:spcPts val="0"/>
              </a:spcAft>
              <a:buNone/>
            </a:pPr>
            <a:r>
              <a:rPr b="1" lang="en-US" sz="1400">
                <a:latin typeface="Cambria"/>
                <a:ea typeface="Cambria"/>
                <a:cs typeface="Cambria"/>
                <a:sym typeface="Cambria"/>
              </a:rPr>
              <a:t>Permissions and Security</a:t>
            </a:r>
            <a:endParaRPr sz="1400">
              <a:latin typeface="Cambria"/>
              <a:ea typeface="Cambria"/>
              <a:cs typeface="Cambria"/>
              <a:sym typeface="Cambria"/>
            </a:endParaRPr>
          </a:p>
          <a:p>
            <a:pPr indent="0" lvl="0" marL="12700" marR="241934" rtl="0" algn="l">
              <a:lnSpc>
                <a:spcPct val="98100"/>
              </a:lnSpc>
              <a:spcBef>
                <a:spcPts val="1375"/>
              </a:spcBef>
              <a:spcAft>
                <a:spcPts val="0"/>
              </a:spcAft>
              <a:buNone/>
            </a:pPr>
            <a:r>
              <a:rPr lang="en-US" sz="1400">
                <a:latin typeface="Cambria"/>
                <a:ea typeface="Cambria"/>
                <a:cs typeface="Cambria"/>
                <a:sym typeface="Cambria"/>
              </a:rPr>
              <a:t>Android's security model isolates each app's private data, preventing other apps from accessing it unless explicit permissions are granted. This is done using the </a:t>
            </a:r>
            <a:r>
              <a:rPr b="1" lang="en-US" sz="1400">
                <a:latin typeface="Cambria"/>
                <a:ea typeface="Cambria"/>
                <a:cs typeface="Cambria"/>
                <a:sym typeface="Cambria"/>
              </a:rPr>
              <a:t>Linux user-based security model</a:t>
            </a:r>
            <a:r>
              <a:rPr lang="en-US" sz="1400">
                <a:latin typeface="Cambria"/>
                <a:ea typeface="Cambria"/>
                <a:cs typeface="Cambria"/>
                <a:sym typeface="Cambria"/>
              </a:rPr>
              <a:t>, where each app runs with a unique user ID (UID).</a:t>
            </a:r>
            <a:endParaRPr sz="1400">
              <a:latin typeface="Cambria"/>
              <a:ea typeface="Cambria"/>
              <a:cs typeface="Cambria"/>
              <a:sym typeface="Cambria"/>
            </a:endParaRPr>
          </a:p>
          <a:p>
            <a:pPr indent="0" lvl="0" marL="12700" rtl="0" algn="l">
              <a:lnSpc>
                <a:spcPct val="118214"/>
              </a:lnSpc>
              <a:spcBef>
                <a:spcPts val="1345"/>
              </a:spcBef>
              <a:spcAft>
                <a:spcPts val="0"/>
              </a:spcAft>
              <a:buNone/>
            </a:pPr>
            <a:r>
              <a:rPr lang="en-US" sz="1400">
                <a:latin typeface="Cambria"/>
                <a:ea typeface="Cambria"/>
                <a:cs typeface="Cambria"/>
                <a:sym typeface="Cambria"/>
              </a:rPr>
              <a:t>Apps can also request access to certain system directories (like</a:t>
            </a:r>
            <a:endParaRPr sz="1400">
              <a:latin typeface="Cambria"/>
              <a:ea typeface="Cambria"/>
              <a:cs typeface="Cambria"/>
              <a:sym typeface="Cambria"/>
            </a:endParaRPr>
          </a:p>
          <a:p>
            <a:pPr indent="0" lvl="0" marL="12700" rtl="0" algn="l">
              <a:lnSpc>
                <a:spcPct val="118214"/>
              </a:lnSpc>
              <a:spcBef>
                <a:spcPts val="0"/>
              </a:spcBef>
              <a:spcAft>
                <a:spcPts val="0"/>
              </a:spcAft>
              <a:buNone/>
            </a:pPr>
            <a:r>
              <a:rPr lang="en-US" sz="1400">
                <a:latin typeface="Cambria"/>
                <a:ea typeface="Cambria"/>
                <a:cs typeface="Cambria"/>
                <a:sym typeface="Cambria"/>
              </a:rPr>
              <a:t>/storage/emulated/0) by requesting permissions such as</a:t>
            </a:r>
            <a:endParaRPr sz="1400">
              <a:latin typeface="Cambria"/>
              <a:ea typeface="Cambria"/>
              <a:cs typeface="Cambria"/>
              <a:sym typeface="Cambria"/>
            </a:endParaRPr>
          </a:p>
          <a:p>
            <a:pPr indent="0" lvl="0" marL="12700" rtl="0" algn="l">
              <a:lnSpc>
                <a:spcPct val="100000"/>
              </a:lnSpc>
              <a:spcBef>
                <a:spcPts val="0"/>
              </a:spcBef>
              <a:spcAft>
                <a:spcPts val="0"/>
              </a:spcAft>
              <a:buNone/>
            </a:pPr>
            <a:r>
              <a:rPr b="1" lang="en-US" sz="1400">
                <a:latin typeface="Cambria"/>
                <a:ea typeface="Cambria"/>
                <a:cs typeface="Cambria"/>
                <a:sym typeface="Cambria"/>
              </a:rPr>
              <a:t>READ_EXTERNAL_STORAGE </a:t>
            </a:r>
            <a:r>
              <a:rPr lang="en-US" sz="1400">
                <a:latin typeface="Cambria"/>
                <a:ea typeface="Cambria"/>
                <a:cs typeface="Cambria"/>
                <a:sym typeface="Cambria"/>
              </a:rPr>
              <a:t>or </a:t>
            </a:r>
            <a:r>
              <a:rPr b="1" lang="en-US" sz="1400">
                <a:latin typeface="Cambria"/>
                <a:ea typeface="Cambria"/>
                <a:cs typeface="Cambria"/>
                <a:sym typeface="Cambria"/>
              </a:rPr>
              <a:t>WRITE_EXTERNAL_STORAGE</a:t>
            </a:r>
            <a:r>
              <a:rPr lang="en-US" sz="1400">
                <a:latin typeface="Cambria"/>
                <a:ea typeface="Cambria"/>
                <a:cs typeface="Cambria"/>
                <a:sym typeface="Cambria"/>
              </a:rPr>
              <a:t>.</a:t>
            </a:r>
            <a:endParaRPr sz="1400">
              <a:latin typeface="Cambria"/>
              <a:ea typeface="Cambria"/>
              <a:cs typeface="Cambria"/>
              <a:sym typeface="Cambria"/>
            </a:endParaRPr>
          </a:p>
          <a:p>
            <a:pPr indent="0" lvl="0" marL="12700" rtl="0" algn="l">
              <a:lnSpc>
                <a:spcPct val="100000"/>
              </a:lnSpc>
              <a:spcBef>
                <a:spcPts val="1345"/>
              </a:spcBef>
              <a:spcAft>
                <a:spcPts val="0"/>
              </a:spcAft>
              <a:buNone/>
            </a:pPr>
            <a:r>
              <a:rPr b="1" lang="en-US" sz="1400">
                <a:latin typeface="Cambria"/>
                <a:ea typeface="Cambria"/>
                <a:cs typeface="Cambria"/>
                <a:sym typeface="Cambria"/>
              </a:rPr>
              <a:t>File Access APIs</a:t>
            </a:r>
            <a:endParaRPr sz="1400">
              <a:latin typeface="Cambria"/>
              <a:ea typeface="Cambria"/>
              <a:cs typeface="Cambria"/>
              <a:sym typeface="Cambria"/>
            </a:endParaRPr>
          </a:p>
          <a:p>
            <a:pPr indent="0" lvl="0" marL="12700" rtl="0" algn="l">
              <a:lnSpc>
                <a:spcPct val="100000"/>
              </a:lnSpc>
              <a:spcBef>
                <a:spcPts val="1370"/>
              </a:spcBef>
              <a:spcAft>
                <a:spcPts val="0"/>
              </a:spcAft>
              <a:buNone/>
            </a:pPr>
            <a:r>
              <a:rPr lang="en-US" sz="1400">
                <a:latin typeface="Cambria"/>
                <a:ea typeface="Cambria"/>
                <a:cs typeface="Cambria"/>
                <a:sym typeface="Cambria"/>
              </a:rPr>
              <a:t>Android provides several APIs to manage file operations:</a:t>
            </a:r>
            <a:endParaRPr sz="1400">
              <a:latin typeface="Cambria"/>
              <a:ea typeface="Cambria"/>
              <a:cs typeface="Cambria"/>
              <a:sym typeface="Cambria"/>
            </a:endParaRPr>
          </a:p>
          <a:p>
            <a:pPr indent="-229234" lvl="0" marL="469900" marR="175895" rtl="0" algn="l">
              <a:lnSpc>
                <a:spcPct val="116428"/>
              </a:lnSpc>
              <a:spcBef>
                <a:spcPts val="1440"/>
              </a:spcBef>
              <a:spcAft>
                <a:spcPts val="0"/>
              </a:spcAft>
              <a:buSzPts val="1000"/>
              <a:buFont typeface="Noto Sans Symbols"/>
              <a:buChar char="∙"/>
            </a:pPr>
            <a:r>
              <a:rPr b="1" lang="en-US" sz="1400">
                <a:latin typeface="Cambria"/>
                <a:ea typeface="Cambria"/>
                <a:cs typeface="Cambria"/>
                <a:sym typeface="Cambria"/>
              </a:rPr>
              <a:t>File API</a:t>
            </a:r>
            <a:r>
              <a:rPr lang="en-US" sz="1400">
                <a:latin typeface="Cambria"/>
                <a:ea typeface="Cambria"/>
                <a:cs typeface="Cambria"/>
                <a:sym typeface="Cambria"/>
              </a:rPr>
              <a:t>: For basic file operations like reading, writing, and modifying files.</a:t>
            </a:r>
            <a:endParaRPr sz="1400">
              <a:latin typeface="Cambria"/>
              <a:ea typeface="Cambria"/>
              <a:cs typeface="Cambria"/>
              <a:sym typeface="Cambria"/>
            </a:endParaRPr>
          </a:p>
          <a:p>
            <a:pPr indent="-229234" lvl="0" marL="469900" marR="227329" rtl="0" algn="l">
              <a:lnSpc>
                <a:spcPct val="116428"/>
              </a:lnSpc>
              <a:spcBef>
                <a:spcPts val="30"/>
              </a:spcBef>
              <a:spcAft>
                <a:spcPts val="0"/>
              </a:spcAft>
              <a:buSzPts val="1000"/>
              <a:buFont typeface="Noto Sans Symbols"/>
              <a:buChar char="∙"/>
            </a:pPr>
            <a:r>
              <a:rPr b="1" lang="en-US" sz="1400">
                <a:latin typeface="Cambria"/>
                <a:ea typeface="Cambria"/>
                <a:cs typeface="Cambria"/>
                <a:sym typeface="Cambria"/>
              </a:rPr>
              <a:t>Content Providers</a:t>
            </a:r>
            <a:r>
              <a:rPr lang="en-US" sz="1400">
                <a:latin typeface="Cambria"/>
                <a:ea typeface="Cambria"/>
                <a:cs typeface="Cambria"/>
                <a:sym typeface="Cambria"/>
              </a:rPr>
              <a:t>: A more abstracted API for accessing shared data between apps (e.g., contacts, media files).</a:t>
            </a:r>
            <a:endParaRPr sz="1400">
              <a:latin typeface="Cambria"/>
              <a:ea typeface="Cambria"/>
              <a:cs typeface="Cambria"/>
              <a:sym typeface="Cambria"/>
            </a:endParaRPr>
          </a:p>
          <a:p>
            <a:pPr indent="-228600" lvl="0" marL="469900" rtl="0" algn="l">
              <a:lnSpc>
                <a:spcPct val="112500"/>
              </a:lnSpc>
              <a:spcBef>
                <a:spcPts val="0"/>
              </a:spcBef>
              <a:spcAft>
                <a:spcPts val="0"/>
              </a:spcAft>
              <a:buSzPts val="1000"/>
              <a:buFont typeface="Noto Sans Symbols"/>
              <a:buChar char="∙"/>
            </a:pPr>
            <a:r>
              <a:rPr b="1" lang="en-US" sz="1400">
                <a:latin typeface="Cambria"/>
                <a:ea typeface="Cambria"/>
                <a:cs typeface="Cambria"/>
                <a:sym typeface="Cambria"/>
              </a:rPr>
              <a:t>Storage Access Framework (SAF)</a:t>
            </a:r>
            <a:r>
              <a:rPr lang="en-US" sz="1400">
                <a:latin typeface="Cambria"/>
                <a:ea typeface="Cambria"/>
                <a:cs typeface="Cambria"/>
                <a:sym typeface="Cambria"/>
              </a:rPr>
              <a:t>: For accessing documents and other</a:t>
            </a:r>
            <a:endParaRPr sz="1400">
              <a:latin typeface="Cambria"/>
              <a:ea typeface="Cambria"/>
              <a:cs typeface="Cambria"/>
              <a:sym typeface="Cambria"/>
            </a:endParaRPr>
          </a:p>
          <a:p>
            <a:pPr indent="0" lvl="0" marL="469900" marR="180975" rtl="0" algn="l">
              <a:lnSpc>
                <a:spcPct val="118571"/>
              </a:lnSpc>
              <a:spcBef>
                <a:spcPts val="60"/>
              </a:spcBef>
              <a:spcAft>
                <a:spcPts val="0"/>
              </a:spcAft>
              <a:buNone/>
            </a:pPr>
            <a:r>
              <a:rPr lang="en-US" sz="1400">
                <a:latin typeface="Cambria"/>
                <a:ea typeface="Cambria"/>
                <a:cs typeface="Cambria"/>
                <a:sym typeface="Cambria"/>
              </a:rPr>
              <a:t>files, especially in newer Android versions that limit direct file system access.</a:t>
            </a:r>
            <a:endParaRPr sz="1400">
              <a:latin typeface="Cambria"/>
              <a:ea typeface="Cambria"/>
              <a:cs typeface="Cambria"/>
              <a:sym typeface="Cambria"/>
            </a:endParaRPr>
          </a:p>
          <a:p>
            <a:pPr indent="0" lvl="0" marL="12700" rtl="0" algn="l">
              <a:lnSpc>
                <a:spcPct val="100000"/>
              </a:lnSpc>
              <a:spcBef>
                <a:spcPts val="1315"/>
              </a:spcBef>
              <a:spcAft>
                <a:spcPts val="0"/>
              </a:spcAft>
              <a:buNone/>
            </a:pPr>
            <a:r>
              <a:rPr b="1" lang="en-US" sz="1400">
                <a:latin typeface="Cambria"/>
                <a:ea typeface="Cambria"/>
                <a:cs typeface="Cambria"/>
                <a:sym typeface="Cambria"/>
              </a:rPr>
              <a:t>File System Changes in Recent Android Versions</a:t>
            </a:r>
            <a:endParaRPr sz="1400">
              <a:latin typeface="Cambria"/>
              <a:ea typeface="Cambria"/>
              <a:cs typeface="Cambria"/>
              <a:sym typeface="Cambria"/>
            </a:endParaRPr>
          </a:p>
        </p:txBody>
      </p:sp>
      <p:sp>
        <p:nvSpPr>
          <p:cNvPr id="100" name="Google Shape;100;p10"/>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4" name="Shape 104"/>
        <p:cNvGrpSpPr/>
        <p:nvPr/>
      </p:nvGrpSpPr>
      <p:grpSpPr>
        <a:xfrm>
          <a:off x="0" y="0"/>
          <a:ext cx="0" cy="0"/>
          <a:chOff x="0" y="0"/>
          <a:chExt cx="0" cy="0"/>
        </a:xfrm>
      </p:grpSpPr>
      <p:sp>
        <p:nvSpPr>
          <p:cNvPr id="105" name="Google Shape;105;p11"/>
          <p:cNvSpPr txBox="1"/>
          <p:nvPr/>
        </p:nvSpPr>
        <p:spPr>
          <a:xfrm>
            <a:off x="902004" y="892809"/>
            <a:ext cx="5941060" cy="8171180"/>
          </a:xfrm>
          <a:prstGeom prst="rect">
            <a:avLst/>
          </a:prstGeom>
          <a:noFill/>
          <a:ln>
            <a:noFill/>
          </a:ln>
        </p:spPr>
        <p:txBody>
          <a:bodyPr anchorCtr="0" anchor="t" bIns="0" lIns="0" spcFirstLastPara="1" rIns="0" wrap="square" tIns="15875">
            <a:spAutoFit/>
          </a:bodyPr>
          <a:lstStyle/>
          <a:p>
            <a:pPr indent="-229234" lvl="0" marL="469900" marR="91440" rtl="0" algn="l">
              <a:lnSpc>
                <a:spcPct val="97900"/>
              </a:lnSpc>
              <a:spcBef>
                <a:spcPts val="0"/>
              </a:spcBef>
              <a:spcAft>
                <a:spcPts val="0"/>
              </a:spcAft>
              <a:buSzPts val="1000"/>
              <a:buFont typeface="Noto Sans Symbols"/>
              <a:buChar char="∙"/>
            </a:pPr>
            <a:r>
              <a:rPr b="1" lang="en-US" sz="1400">
                <a:latin typeface="Cambria"/>
                <a:ea typeface="Cambria"/>
                <a:cs typeface="Cambria"/>
                <a:sym typeface="Cambria"/>
              </a:rPr>
              <a:t>Scoped Storage (Android 10 and newer)</a:t>
            </a:r>
            <a:r>
              <a:rPr lang="en-US" sz="1400">
                <a:latin typeface="Cambria"/>
                <a:ea typeface="Cambria"/>
                <a:cs typeface="Cambria"/>
                <a:sym typeface="Cambria"/>
              </a:rPr>
              <a:t>: Android has increasingly restricted direct file system access. Apps now have more limited access to shared storage, encouraging the use of SAF and Content Providers.</a:t>
            </a:r>
            <a:endParaRPr sz="1400">
              <a:latin typeface="Cambria"/>
              <a:ea typeface="Cambria"/>
              <a:cs typeface="Cambria"/>
              <a:sym typeface="Cambria"/>
            </a:endParaRPr>
          </a:p>
          <a:p>
            <a:pPr indent="-227965" lvl="0" marL="468630" marR="240029" rtl="0" algn="just">
              <a:lnSpc>
                <a:spcPct val="118571"/>
              </a:lnSpc>
              <a:spcBef>
                <a:spcPts val="30"/>
              </a:spcBef>
              <a:spcAft>
                <a:spcPts val="0"/>
              </a:spcAft>
              <a:buSzPts val="1000"/>
              <a:buFont typeface="Noto Sans Symbols"/>
              <a:buChar char="∙"/>
            </a:pPr>
            <a:r>
              <a:rPr b="1" lang="en-US" sz="1400">
                <a:latin typeface="Cambria"/>
                <a:ea typeface="Cambria"/>
                <a:cs typeface="Cambria"/>
                <a:sym typeface="Cambria"/>
              </a:rPr>
              <a:t>Android 11+</a:t>
            </a:r>
            <a:r>
              <a:rPr lang="en-US" sz="1400">
                <a:latin typeface="Cambria"/>
                <a:ea typeface="Cambria"/>
                <a:cs typeface="Cambria"/>
                <a:sym typeface="Cambria"/>
              </a:rPr>
              <a:t>: Further restrictions on file access, including no longer 	allowing apps to freely access arbitrary directories, requiring apps to 	request specific permissions for certain types of files.</a:t>
            </a:r>
            <a:endParaRPr sz="1400">
              <a:latin typeface="Cambria"/>
              <a:ea typeface="Cambria"/>
              <a:cs typeface="Cambria"/>
              <a:sym typeface="Cambria"/>
            </a:endParaRPr>
          </a:p>
          <a:p>
            <a:pPr indent="-40005" lvl="0" marL="52069" marR="2954655" rtl="0" algn="just">
              <a:lnSpc>
                <a:spcPct val="171500"/>
              </a:lnSpc>
              <a:spcBef>
                <a:spcPts val="80"/>
              </a:spcBef>
              <a:spcAft>
                <a:spcPts val="0"/>
              </a:spcAft>
              <a:buNone/>
            </a:pPr>
            <a:r>
              <a:rPr b="1" lang="en-US" sz="1400">
                <a:latin typeface="Cambria"/>
                <a:ea typeface="Cambria"/>
                <a:cs typeface="Cambria"/>
                <a:sym typeface="Cambria"/>
              </a:rPr>
              <a:t>Android Data Extraction Techniques Manual data extraction</a:t>
            </a:r>
            <a:endParaRPr sz="1400">
              <a:latin typeface="Cambria"/>
              <a:ea typeface="Cambria"/>
              <a:cs typeface="Cambria"/>
              <a:sym typeface="Cambria"/>
            </a:endParaRPr>
          </a:p>
          <a:p>
            <a:pPr indent="0" lvl="0" marL="12700" marR="70485" rtl="0" algn="l">
              <a:lnSpc>
                <a:spcPct val="98200"/>
              </a:lnSpc>
              <a:spcBef>
                <a:spcPts val="1639"/>
              </a:spcBef>
              <a:spcAft>
                <a:spcPts val="0"/>
              </a:spcAft>
              <a:buNone/>
            </a:pPr>
            <a:r>
              <a:rPr lang="en-US" sz="1400">
                <a:latin typeface="Cambria"/>
                <a:ea typeface="Cambria"/>
                <a:cs typeface="Cambria"/>
                <a:sym typeface="Cambria"/>
              </a:rPr>
              <a:t>Manual data extraction refers to the process of retrieving data from an Android device without relying on automated tools or scripts. This approach is typically performed by users or forensic experts when extracting data from a device to recover files, messages, contacts, and other stored information.</a:t>
            </a:r>
            <a:endParaRPr sz="1400">
              <a:latin typeface="Cambria"/>
              <a:ea typeface="Cambria"/>
              <a:cs typeface="Cambria"/>
              <a:sym typeface="Cambria"/>
            </a:endParaRPr>
          </a:p>
          <a:p>
            <a:pPr indent="0" lvl="0" marL="12700" marR="393700" rtl="0" algn="l">
              <a:lnSpc>
                <a:spcPct val="98100"/>
              </a:lnSpc>
              <a:spcBef>
                <a:spcPts val="1375"/>
              </a:spcBef>
              <a:spcAft>
                <a:spcPts val="0"/>
              </a:spcAft>
              <a:buNone/>
            </a:pPr>
            <a:r>
              <a:rPr lang="en-US" sz="1400">
                <a:latin typeface="Cambria"/>
                <a:ea typeface="Cambria"/>
                <a:cs typeface="Cambria"/>
                <a:sym typeface="Cambria"/>
              </a:rPr>
              <a:t>Manual data extraction involves physically accessing the device, using its built-in tools or operating system features, and transferring data through common methods. The process can vary based on the device’s Android version, its security settings, and whether the device is rooted or locked.</a:t>
            </a:r>
            <a:endParaRPr sz="1400">
              <a:latin typeface="Cambria"/>
              <a:ea typeface="Cambria"/>
              <a:cs typeface="Cambria"/>
              <a:sym typeface="Cambria"/>
            </a:endParaRPr>
          </a:p>
          <a:p>
            <a:pPr indent="-179070" lvl="0" marL="191770" marR="3227705" rtl="0" algn="l">
              <a:lnSpc>
                <a:spcPct val="180000"/>
              </a:lnSpc>
              <a:spcBef>
                <a:spcPts val="25"/>
              </a:spcBef>
              <a:spcAft>
                <a:spcPts val="0"/>
              </a:spcAft>
              <a:buSzPts val="1400"/>
              <a:buFont typeface="Times New Roman"/>
              <a:buAutoNum type="arabicPeriod"/>
            </a:pPr>
            <a:r>
              <a:rPr b="1" lang="en-US" sz="1400">
                <a:latin typeface="Times New Roman"/>
                <a:ea typeface="Times New Roman"/>
                <a:cs typeface="Times New Roman"/>
                <a:sym typeface="Times New Roman"/>
              </a:rPr>
              <a:t>Accessing Data via File Explorer</a:t>
            </a:r>
            <a:r>
              <a:rPr lang="en-US" sz="1400">
                <a:latin typeface="Cambria"/>
                <a:ea typeface="Cambria"/>
                <a:cs typeface="Cambria"/>
                <a:sym typeface="Cambria"/>
              </a:rPr>
              <a:t>. Steps:</a:t>
            </a:r>
            <a:endParaRPr sz="1400">
              <a:latin typeface="Cambria"/>
              <a:ea typeface="Cambria"/>
              <a:cs typeface="Cambria"/>
              <a:sym typeface="Cambria"/>
            </a:endParaRPr>
          </a:p>
          <a:p>
            <a:pPr indent="-228600" lvl="1" marL="469900" rtl="0" algn="l">
              <a:lnSpc>
                <a:spcPct val="119285"/>
              </a:lnSpc>
              <a:spcBef>
                <a:spcPts val="1345"/>
              </a:spcBef>
              <a:spcAft>
                <a:spcPts val="0"/>
              </a:spcAft>
              <a:buSzPts val="1000"/>
              <a:buFont typeface="Noto Sans Symbols"/>
              <a:buChar char="∙"/>
            </a:pPr>
            <a:r>
              <a:rPr lang="en-US" sz="1400">
                <a:latin typeface="Cambria"/>
                <a:ea typeface="Cambria"/>
                <a:cs typeface="Cambria"/>
                <a:sym typeface="Cambria"/>
              </a:rPr>
              <a:t>Using a Computer (Windows/Mac/Linux):</a:t>
            </a:r>
            <a:endParaRPr sz="1400">
              <a:latin typeface="Cambria"/>
              <a:ea typeface="Cambria"/>
              <a:cs typeface="Cambria"/>
              <a:sym typeface="Cambria"/>
            </a:endParaRPr>
          </a:p>
          <a:p>
            <a:pPr indent="-229235" lvl="2" marL="927735" rtl="0" algn="l">
              <a:lnSpc>
                <a:spcPct val="117499"/>
              </a:lnSpc>
              <a:spcBef>
                <a:spcPts val="0"/>
              </a:spcBef>
              <a:spcAft>
                <a:spcPts val="0"/>
              </a:spcAft>
              <a:buSzPts val="1400"/>
              <a:buFont typeface="Cambria"/>
              <a:buAutoNum type="arabicPeriod"/>
            </a:pPr>
            <a:r>
              <a:rPr lang="en-US" sz="1400">
                <a:latin typeface="Cambria"/>
                <a:ea typeface="Cambria"/>
                <a:cs typeface="Cambria"/>
                <a:sym typeface="Cambria"/>
              </a:rPr>
              <a:t>Connect the device to a computer via USB.</a:t>
            </a:r>
            <a:endParaRPr sz="1400">
              <a:latin typeface="Cambria"/>
              <a:ea typeface="Cambria"/>
              <a:cs typeface="Cambria"/>
              <a:sym typeface="Cambria"/>
            </a:endParaRPr>
          </a:p>
          <a:p>
            <a:pPr indent="-229235" lvl="2" marL="927735" rtl="0" algn="l">
              <a:lnSpc>
                <a:spcPct val="116428"/>
              </a:lnSpc>
              <a:spcBef>
                <a:spcPts val="0"/>
              </a:spcBef>
              <a:spcAft>
                <a:spcPts val="0"/>
              </a:spcAft>
              <a:buSzPts val="1400"/>
              <a:buFont typeface="Cambria"/>
              <a:buAutoNum type="arabicPeriod"/>
            </a:pPr>
            <a:r>
              <a:rPr lang="en-US" sz="1400">
                <a:latin typeface="Cambria"/>
                <a:ea typeface="Cambria"/>
                <a:cs typeface="Cambria"/>
                <a:sym typeface="Cambria"/>
              </a:rPr>
              <a:t>Enable File Transfer mode (MTP) on the Android device.</a:t>
            </a:r>
            <a:endParaRPr sz="1400">
              <a:latin typeface="Cambria"/>
              <a:ea typeface="Cambria"/>
              <a:cs typeface="Cambria"/>
              <a:sym typeface="Cambria"/>
            </a:endParaRPr>
          </a:p>
          <a:p>
            <a:pPr indent="-228600" lvl="2" marL="927100" marR="93345" rtl="0" algn="l">
              <a:lnSpc>
                <a:spcPct val="118571"/>
              </a:lnSpc>
              <a:spcBef>
                <a:spcPts val="50"/>
              </a:spcBef>
              <a:spcAft>
                <a:spcPts val="0"/>
              </a:spcAft>
              <a:buSzPts val="1400"/>
              <a:buFont typeface="Cambria"/>
              <a:buAutoNum type="arabicPeriod"/>
            </a:pPr>
            <a:r>
              <a:rPr lang="en-US" sz="1400">
                <a:latin typeface="Cambria"/>
                <a:ea typeface="Cambria"/>
                <a:cs typeface="Cambria"/>
                <a:sym typeface="Cambria"/>
              </a:rPr>
              <a:t>Open the file explorer (Windows Explorer on Windows or Finder on macOS) to browse the device’s storage.</a:t>
            </a:r>
            <a:endParaRPr sz="1400">
              <a:latin typeface="Cambria"/>
              <a:ea typeface="Cambria"/>
              <a:cs typeface="Cambria"/>
              <a:sym typeface="Cambria"/>
            </a:endParaRPr>
          </a:p>
          <a:p>
            <a:pPr indent="-229235" lvl="2" marL="927735" rtl="0" algn="l">
              <a:lnSpc>
                <a:spcPct val="111071"/>
              </a:lnSpc>
              <a:spcBef>
                <a:spcPts val="0"/>
              </a:spcBef>
              <a:spcAft>
                <a:spcPts val="0"/>
              </a:spcAft>
              <a:buSzPts val="1400"/>
              <a:buFont typeface="Cambria"/>
              <a:buAutoNum type="arabicPeriod"/>
            </a:pPr>
            <a:r>
              <a:rPr lang="en-US" sz="1400">
                <a:latin typeface="Cambria"/>
                <a:ea typeface="Cambria"/>
                <a:cs typeface="Cambria"/>
                <a:sym typeface="Cambria"/>
              </a:rPr>
              <a:t>You can copy files such as photos, videos, and documents from the</a:t>
            </a:r>
            <a:endParaRPr sz="1400">
              <a:latin typeface="Cambria"/>
              <a:ea typeface="Cambria"/>
              <a:cs typeface="Cambria"/>
              <a:sym typeface="Cambria"/>
            </a:endParaRPr>
          </a:p>
          <a:p>
            <a:pPr indent="0" lvl="0" marL="927100" rtl="0" algn="l">
              <a:lnSpc>
                <a:spcPct val="117499"/>
              </a:lnSpc>
              <a:spcBef>
                <a:spcPts val="0"/>
              </a:spcBef>
              <a:spcAft>
                <a:spcPts val="0"/>
              </a:spcAft>
              <a:buNone/>
            </a:pPr>
            <a:r>
              <a:rPr lang="en-US" sz="1400">
                <a:latin typeface="Cambria"/>
                <a:ea typeface="Cambria"/>
                <a:cs typeface="Cambria"/>
                <a:sym typeface="Cambria"/>
              </a:rPr>
              <a:t>device’s internal storage or external SD card.</a:t>
            </a:r>
            <a:endParaRPr sz="1400">
              <a:latin typeface="Cambria"/>
              <a:ea typeface="Cambria"/>
              <a:cs typeface="Cambria"/>
              <a:sym typeface="Cambria"/>
            </a:endParaRPr>
          </a:p>
          <a:p>
            <a:pPr indent="-228600" lvl="1" marL="469900" rtl="0" algn="l">
              <a:lnSpc>
                <a:spcPct val="117499"/>
              </a:lnSpc>
              <a:spcBef>
                <a:spcPts val="0"/>
              </a:spcBef>
              <a:spcAft>
                <a:spcPts val="0"/>
              </a:spcAft>
              <a:buSzPts val="1000"/>
              <a:buFont typeface="Noto Sans Symbols"/>
              <a:buChar char="∙"/>
            </a:pPr>
            <a:r>
              <a:rPr lang="en-US" sz="1400">
                <a:latin typeface="Cambria"/>
                <a:ea typeface="Cambria"/>
                <a:cs typeface="Cambria"/>
                <a:sym typeface="Cambria"/>
              </a:rPr>
              <a:t>Using an Android Device:</a:t>
            </a:r>
            <a:endParaRPr sz="1400">
              <a:latin typeface="Cambria"/>
              <a:ea typeface="Cambria"/>
              <a:cs typeface="Cambria"/>
              <a:sym typeface="Cambria"/>
            </a:endParaRPr>
          </a:p>
          <a:p>
            <a:pPr indent="-228600" lvl="2" marL="927100" marR="269875" rtl="0" algn="l">
              <a:lnSpc>
                <a:spcPct val="118571"/>
              </a:lnSpc>
              <a:spcBef>
                <a:spcPts val="45"/>
              </a:spcBef>
              <a:spcAft>
                <a:spcPts val="0"/>
              </a:spcAft>
              <a:buSzPts val="1400"/>
              <a:buFont typeface="Cambria"/>
              <a:buAutoNum type="arabicPeriod"/>
            </a:pPr>
            <a:r>
              <a:rPr lang="en-US" sz="1400">
                <a:latin typeface="Cambria"/>
                <a:ea typeface="Cambria"/>
                <a:cs typeface="Cambria"/>
                <a:sym typeface="Cambria"/>
              </a:rPr>
              <a:t>Install a file manager/explorer app (e.g., ES File Explorer, Solid Explorer, or Files by Google).</a:t>
            </a:r>
            <a:endParaRPr sz="1400">
              <a:latin typeface="Cambria"/>
              <a:ea typeface="Cambria"/>
              <a:cs typeface="Cambria"/>
              <a:sym typeface="Cambria"/>
            </a:endParaRPr>
          </a:p>
          <a:p>
            <a:pPr indent="-229235" lvl="2" marL="927735" rtl="0" algn="l">
              <a:lnSpc>
                <a:spcPct val="111071"/>
              </a:lnSpc>
              <a:spcBef>
                <a:spcPts val="0"/>
              </a:spcBef>
              <a:spcAft>
                <a:spcPts val="0"/>
              </a:spcAft>
              <a:buSzPts val="1400"/>
              <a:buFont typeface="Cambria"/>
              <a:buAutoNum type="arabicPeriod"/>
            </a:pPr>
            <a:r>
              <a:rPr lang="en-US" sz="1400">
                <a:latin typeface="Cambria"/>
                <a:ea typeface="Cambria"/>
                <a:cs typeface="Cambria"/>
                <a:sym typeface="Cambria"/>
              </a:rPr>
              <a:t>Open the file manager and browse through the storage directories</a:t>
            </a:r>
            <a:endParaRPr sz="1400">
              <a:latin typeface="Cambria"/>
              <a:ea typeface="Cambria"/>
              <a:cs typeface="Cambria"/>
              <a:sym typeface="Cambria"/>
            </a:endParaRPr>
          </a:p>
          <a:p>
            <a:pPr indent="0" lvl="0" marL="927100" rtl="0" algn="l">
              <a:lnSpc>
                <a:spcPct val="117499"/>
              </a:lnSpc>
              <a:spcBef>
                <a:spcPts val="0"/>
              </a:spcBef>
              <a:spcAft>
                <a:spcPts val="0"/>
              </a:spcAft>
              <a:buNone/>
            </a:pPr>
            <a:r>
              <a:rPr lang="en-US" sz="1400">
                <a:latin typeface="Cambria"/>
                <a:ea typeface="Cambria"/>
                <a:cs typeface="Cambria"/>
                <a:sym typeface="Cambria"/>
              </a:rPr>
              <a:t>(e.g., /storage/emulated/0/).</a:t>
            </a:r>
            <a:endParaRPr sz="1400">
              <a:latin typeface="Cambria"/>
              <a:ea typeface="Cambria"/>
              <a:cs typeface="Cambria"/>
              <a:sym typeface="Cambria"/>
            </a:endParaRPr>
          </a:p>
          <a:p>
            <a:pPr indent="-228600" lvl="2" marL="927100" marR="143510" rtl="0" algn="l">
              <a:lnSpc>
                <a:spcPct val="98600"/>
              </a:lnSpc>
              <a:spcBef>
                <a:spcPts val="10"/>
              </a:spcBef>
              <a:spcAft>
                <a:spcPts val="0"/>
              </a:spcAft>
              <a:buSzPts val="1400"/>
              <a:buFont typeface="Cambria"/>
              <a:buAutoNum type="arabicPeriod" startAt="3"/>
            </a:pPr>
            <a:r>
              <a:rPr lang="en-US" sz="1400">
                <a:latin typeface="Cambria"/>
                <a:ea typeface="Cambria"/>
                <a:cs typeface="Cambria"/>
                <a:sym typeface="Cambria"/>
              </a:rPr>
              <a:t>Manually locate and copy desired files (e.g., contacts database, SMS backup, media files) to other directories or external storage (e.g., SD card or cloud storage).</a:t>
            </a:r>
            <a:endParaRPr sz="1400">
              <a:latin typeface="Cambria"/>
              <a:ea typeface="Cambria"/>
              <a:cs typeface="Cambria"/>
              <a:sym typeface="Cambria"/>
            </a:endParaRPr>
          </a:p>
        </p:txBody>
      </p:sp>
      <p:sp>
        <p:nvSpPr>
          <p:cNvPr id="106" name="Google Shape;106;p11"/>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0" name="Shape 110"/>
        <p:cNvGrpSpPr/>
        <p:nvPr/>
      </p:nvGrpSpPr>
      <p:grpSpPr>
        <a:xfrm>
          <a:off x="0" y="0"/>
          <a:ext cx="0" cy="0"/>
          <a:chOff x="0" y="0"/>
          <a:chExt cx="0" cy="0"/>
        </a:xfrm>
      </p:grpSpPr>
      <p:sp>
        <p:nvSpPr>
          <p:cNvPr id="111" name="Google Shape;111;p12"/>
          <p:cNvSpPr txBox="1"/>
          <p:nvPr/>
        </p:nvSpPr>
        <p:spPr>
          <a:xfrm>
            <a:off x="902004" y="895858"/>
            <a:ext cx="5957570" cy="7945120"/>
          </a:xfrm>
          <a:prstGeom prst="rect">
            <a:avLst/>
          </a:prstGeom>
          <a:noFill/>
          <a:ln>
            <a:noFill/>
          </a:ln>
        </p:spPr>
        <p:txBody>
          <a:bodyPr anchorCtr="0" anchor="t" bIns="0" lIns="0" spcFirstLastPara="1" rIns="0" wrap="square" tIns="11425">
            <a:spAutoFit/>
          </a:bodyPr>
          <a:lstStyle/>
          <a:p>
            <a:pPr indent="-182245" lvl="0" marL="194945" rtl="0" algn="l">
              <a:lnSpc>
                <a:spcPct val="100000"/>
              </a:lnSpc>
              <a:spcBef>
                <a:spcPts val="0"/>
              </a:spcBef>
              <a:spcAft>
                <a:spcPts val="0"/>
              </a:spcAft>
              <a:buSzPts val="1400"/>
              <a:buFont typeface="Cambria"/>
              <a:buAutoNum type="arabicPeriod" startAt="2"/>
            </a:pPr>
            <a:r>
              <a:rPr b="1" lang="en-US" sz="1400">
                <a:latin typeface="Cambria"/>
                <a:ea typeface="Cambria"/>
                <a:cs typeface="Cambria"/>
                <a:sym typeface="Cambria"/>
              </a:rPr>
              <a:t>Extracting Contacts and Call Logs</a:t>
            </a:r>
            <a:endParaRPr sz="1400">
              <a:latin typeface="Cambria"/>
              <a:ea typeface="Cambria"/>
              <a:cs typeface="Cambria"/>
              <a:sym typeface="Cambria"/>
            </a:endParaRPr>
          </a:p>
          <a:p>
            <a:pPr indent="0" lvl="0" marL="12700" marR="5080" rtl="0" algn="l">
              <a:lnSpc>
                <a:spcPct val="118571"/>
              </a:lnSpc>
              <a:spcBef>
                <a:spcPts val="1415"/>
              </a:spcBef>
              <a:spcAft>
                <a:spcPts val="0"/>
              </a:spcAft>
              <a:buNone/>
            </a:pPr>
            <a:r>
              <a:rPr lang="en-US" sz="1400">
                <a:latin typeface="Cambria"/>
                <a:ea typeface="Cambria"/>
                <a:cs typeface="Cambria"/>
                <a:sym typeface="Cambria"/>
              </a:rPr>
              <a:t>Manually extracting contacts and call logs from an Android device can be done using the built-in </a:t>
            </a:r>
            <a:r>
              <a:rPr b="1" lang="en-US" sz="1400">
                <a:latin typeface="Cambria"/>
                <a:ea typeface="Cambria"/>
                <a:cs typeface="Cambria"/>
                <a:sym typeface="Cambria"/>
              </a:rPr>
              <a:t>Contacts </a:t>
            </a:r>
            <a:r>
              <a:rPr lang="en-US" sz="1400">
                <a:latin typeface="Cambria"/>
                <a:ea typeface="Cambria"/>
                <a:cs typeface="Cambria"/>
                <a:sym typeface="Cambria"/>
              </a:rPr>
              <a:t>and </a:t>
            </a:r>
            <a:r>
              <a:rPr b="1" lang="en-US" sz="1400">
                <a:latin typeface="Cambria"/>
                <a:ea typeface="Cambria"/>
                <a:cs typeface="Cambria"/>
                <a:sym typeface="Cambria"/>
              </a:rPr>
              <a:t>Phone </a:t>
            </a:r>
            <a:r>
              <a:rPr lang="en-US" sz="1400">
                <a:latin typeface="Cambria"/>
                <a:ea typeface="Cambria"/>
                <a:cs typeface="Cambria"/>
                <a:sym typeface="Cambria"/>
              </a:rPr>
              <a:t>apps, or by syncing with cloud services.</a:t>
            </a:r>
            <a:endParaRPr sz="1400">
              <a:latin typeface="Cambria"/>
              <a:ea typeface="Cambria"/>
              <a:cs typeface="Cambria"/>
              <a:sym typeface="Cambria"/>
            </a:endParaRPr>
          </a:p>
          <a:p>
            <a:pPr indent="0" lvl="0" marL="12700" rtl="0" algn="l">
              <a:lnSpc>
                <a:spcPct val="100000"/>
              </a:lnSpc>
              <a:spcBef>
                <a:spcPts val="1315"/>
              </a:spcBef>
              <a:spcAft>
                <a:spcPts val="0"/>
              </a:spcAft>
              <a:buNone/>
            </a:pPr>
            <a:r>
              <a:rPr b="1" lang="en-US" sz="1400">
                <a:latin typeface="Cambria"/>
                <a:ea typeface="Cambria"/>
                <a:cs typeface="Cambria"/>
                <a:sym typeface="Cambria"/>
              </a:rPr>
              <a:t>Steps:</a:t>
            </a:r>
            <a:endParaRPr sz="1400">
              <a:latin typeface="Cambria"/>
              <a:ea typeface="Cambria"/>
              <a:cs typeface="Cambria"/>
              <a:sym typeface="Cambria"/>
            </a:endParaRPr>
          </a:p>
          <a:p>
            <a:pPr indent="-228600" lvl="1" marL="469900" rtl="0" algn="l">
              <a:lnSpc>
                <a:spcPct val="118214"/>
              </a:lnSpc>
              <a:spcBef>
                <a:spcPts val="1345"/>
              </a:spcBef>
              <a:spcAft>
                <a:spcPts val="0"/>
              </a:spcAft>
              <a:buSzPts val="1000"/>
              <a:buFont typeface="Noto Sans Symbols"/>
              <a:buChar char="∙"/>
            </a:pPr>
            <a:r>
              <a:rPr b="1" lang="en-US" sz="1400">
                <a:latin typeface="Cambria"/>
                <a:ea typeface="Cambria"/>
                <a:cs typeface="Cambria"/>
                <a:sym typeface="Cambria"/>
              </a:rPr>
              <a:t>Using Google Account Sync</a:t>
            </a:r>
            <a:r>
              <a:rPr lang="en-US" sz="1400">
                <a:latin typeface="Cambria"/>
                <a:ea typeface="Cambria"/>
                <a:cs typeface="Cambria"/>
                <a:sym typeface="Cambria"/>
              </a:rPr>
              <a:t>:</a:t>
            </a:r>
            <a:endParaRPr sz="1400">
              <a:latin typeface="Cambria"/>
              <a:ea typeface="Cambria"/>
              <a:cs typeface="Cambria"/>
              <a:sym typeface="Cambria"/>
            </a:endParaRPr>
          </a:p>
          <a:p>
            <a:pPr indent="-228600" lvl="2" marL="927100" marR="131445" rtl="0" algn="l">
              <a:lnSpc>
                <a:spcPct val="116428"/>
              </a:lnSpc>
              <a:spcBef>
                <a:spcPts val="75"/>
              </a:spcBef>
              <a:spcAft>
                <a:spcPts val="0"/>
              </a:spcAft>
              <a:buSzPts val="1400"/>
              <a:buFont typeface="Cambria"/>
              <a:buAutoNum type="arabicPeriod"/>
            </a:pPr>
            <a:r>
              <a:rPr lang="en-US" sz="1400">
                <a:latin typeface="Cambria"/>
                <a:ea typeface="Cambria"/>
                <a:cs typeface="Cambria"/>
                <a:sym typeface="Cambria"/>
              </a:rPr>
              <a:t>Ensure that the device is connected to a Google account and sync is enabled for </a:t>
            </a:r>
            <a:r>
              <a:rPr b="1" lang="en-US" sz="1400">
                <a:latin typeface="Cambria"/>
                <a:ea typeface="Cambria"/>
                <a:cs typeface="Cambria"/>
                <a:sym typeface="Cambria"/>
              </a:rPr>
              <a:t>Contacts </a:t>
            </a:r>
            <a:r>
              <a:rPr lang="en-US" sz="1400">
                <a:latin typeface="Cambria"/>
                <a:ea typeface="Cambria"/>
                <a:cs typeface="Cambria"/>
                <a:sym typeface="Cambria"/>
              </a:rPr>
              <a:t>and </a:t>
            </a:r>
            <a:r>
              <a:rPr b="1" lang="en-US" sz="1400">
                <a:latin typeface="Cambria"/>
                <a:ea typeface="Cambria"/>
                <a:cs typeface="Cambria"/>
                <a:sym typeface="Cambria"/>
              </a:rPr>
              <a:t>Call History</a:t>
            </a:r>
            <a:r>
              <a:rPr lang="en-US" sz="1400">
                <a:latin typeface="Cambria"/>
                <a:ea typeface="Cambria"/>
                <a:cs typeface="Cambria"/>
                <a:sym typeface="Cambria"/>
              </a:rPr>
              <a:t>.</a:t>
            </a:r>
            <a:endParaRPr sz="1400">
              <a:latin typeface="Cambria"/>
              <a:ea typeface="Cambria"/>
              <a:cs typeface="Cambria"/>
              <a:sym typeface="Cambria"/>
            </a:endParaRPr>
          </a:p>
          <a:p>
            <a:pPr indent="-228600" lvl="2" marL="927100" marR="117475" rtl="0" algn="l">
              <a:lnSpc>
                <a:spcPct val="116428"/>
              </a:lnSpc>
              <a:spcBef>
                <a:spcPts val="25"/>
              </a:spcBef>
              <a:spcAft>
                <a:spcPts val="0"/>
              </a:spcAft>
              <a:buSzPts val="1400"/>
              <a:buFont typeface="Cambria"/>
              <a:buAutoNum type="arabicPeriod"/>
            </a:pPr>
            <a:r>
              <a:rPr lang="en-US" sz="1400">
                <a:latin typeface="Cambria"/>
                <a:ea typeface="Cambria"/>
                <a:cs typeface="Cambria"/>
                <a:sym typeface="Cambria"/>
              </a:rPr>
              <a:t>Access </a:t>
            </a:r>
            <a:r>
              <a:rPr b="1" lang="en-US" sz="1400">
                <a:latin typeface="Cambria"/>
                <a:ea typeface="Cambria"/>
                <a:cs typeface="Cambria"/>
                <a:sym typeface="Cambria"/>
              </a:rPr>
              <a:t>Google Contacts </a:t>
            </a:r>
            <a:r>
              <a:rPr lang="en-US" sz="1400">
                <a:latin typeface="Cambria"/>
                <a:ea typeface="Cambria"/>
                <a:cs typeface="Cambria"/>
                <a:sym typeface="Cambria"/>
              </a:rPr>
              <a:t>via a web browser or the </a:t>
            </a:r>
            <a:r>
              <a:rPr b="1" lang="en-US" sz="1400">
                <a:latin typeface="Cambria"/>
                <a:ea typeface="Cambria"/>
                <a:cs typeface="Cambria"/>
                <a:sym typeface="Cambria"/>
              </a:rPr>
              <a:t>Google Contacts </a:t>
            </a:r>
            <a:r>
              <a:rPr lang="en-US" sz="1400">
                <a:latin typeface="Cambria"/>
                <a:ea typeface="Cambria"/>
                <a:cs typeface="Cambria"/>
                <a:sym typeface="Cambria"/>
              </a:rPr>
              <a:t>app on another Android device or computer to retrieve the contacts and call logs.</a:t>
            </a:r>
            <a:endParaRPr sz="1400">
              <a:latin typeface="Cambria"/>
              <a:ea typeface="Cambria"/>
              <a:cs typeface="Cambria"/>
              <a:sym typeface="Cambria"/>
            </a:endParaRPr>
          </a:p>
          <a:p>
            <a:pPr indent="-228600" lvl="1" marL="469900" rtl="0" algn="l">
              <a:lnSpc>
                <a:spcPct val="113928"/>
              </a:lnSpc>
              <a:spcBef>
                <a:spcPts val="0"/>
              </a:spcBef>
              <a:spcAft>
                <a:spcPts val="0"/>
              </a:spcAft>
              <a:buSzPts val="1000"/>
              <a:buFont typeface="Noto Sans Symbols"/>
              <a:buChar char="∙"/>
            </a:pPr>
            <a:r>
              <a:rPr b="1" lang="en-US" sz="1400">
                <a:latin typeface="Cambria"/>
                <a:ea typeface="Cambria"/>
                <a:cs typeface="Cambria"/>
                <a:sym typeface="Cambria"/>
              </a:rPr>
              <a:t>Using the Device’s Built-in Apps</a:t>
            </a:r>
            <a:r>
              <a:rPr lang="en-US" sz="1400">
                <a:latin typeface="Cambria"/>
                <a:ea typeface="Cambria"/>
                <a:cs typeface="Cambria"/>
                <a:sym typeface="Cambria"/>
              </a:rPr>
              <a:t>:</a:t>
            </a:r>
            <a:endParaRPr sz="1400">
              <a:latin typeface="Cambria"/>
              <a:ea typeface="Cambria"/>
              <a:cs typeface="Cambria"/>
              <a:sym typeface="Cambria"/>
            </a:endParaRPr>
          </a:p>
          <a:p>
            <a:pPr indent="-229235" lvl="2" marL="927735" rtl="0" algn="l">
              <a:lnSpc>
                <a:spcPct val="117499"/>
              </a:lnSpc>
              <a:spcBef>
                <a:spcPts val="0"/>
              </a:spcBef>
              <a:spcAft>
                <a:spcPts val="0"/>
              </a:spcAft>
              <a:buSzPts val="1400"/>
              <a:buFont typeface="Cambria"/>
              <a:buAutoNum type="arabicPeriod"/>
            </a:pPr>
            <a:r>
              <a:rPr lang="en-US" sz="1400">
                <a:latin typeface="Cambria"/>
                <a:ea typeface="Cambria"/>
                <a:cs typeface="Cambria"/>
                <a:sym typeface="Cambria"/>
              </a:rPr>
              <a:t>Open the </a:t>
            </a:r>
            <a:r>
              <a:rPr b="1" lang="en-US" sz="1400">
                <a:latin typeface="Cambria"/>
                <a:ea typeface="Cambria"/>
                <a:cs typeface="Cambria"/>
                <a:sym typeface="Cambria"/>
              </a:rPr>
              <a:t>Contacts </a:t>
            </a:r>
            <a:r>
              <a:rPr lang="en-US" sz="1400">
                <a:latin typeface="Cambria"/>
                <a:ea typeface="Cambria"/>
                <a:cs typeface="Cambria"/>
                <a:sym typeface="Cambria"/>
              </a:rPr>
              <a:t>app, and export contacts to a </a:t>
            </a:r>
            <a:r>
              <a:rPr b="1" lang="en-US" sz="1400">
                <a:latin typeface="Cambria"/>
                <a:ea typeface="Cambria"/>
                <a:cs typeface="Cambria"/>
                <a:sym typeface="Cambria"/>
              </a:rPr>
              <a:t>VCard (.vcf) </a:t>
            </a:r>
            <a:r>
              <a:rPr lang="en-US" sz="1400">
                <a:latin typeface="Cambria"/>
                <a:ea typeface="Cambria"/>
                <a:cs typeface="Cambria"/>
                <a:sym typeface="Cambria"/>
              </a:rPr>
              <a:t>file.</a:t>
            </a:r>
            <a:endParaRPr sz="1400">
              <a:latin typeface="Cambria"/>
              <a:ea typeface="Cambria"/>
              <a:cs typeface="Cambria"/>
              <a:sym typeface="Cambria"/>
            </a:endParaRPr>
          </a:p>
          <a:p>
            <a:pPr indent="-228600" lvl="2" marL="927100" marR="297180" rtl="0" algn="l">
              <a:lnSpc>
                <a:spcPct val="97900"/>
              </a:lnSpc>
              <a:spcBef>
                <a:spcPts val="25"/>
              </a:spcBef>
              <a:spcAft>
                <a:spcPts val="0"/>
              </a:spcAft>
              <a:buSzPts val="1400"/>
              <a:buFont typeface="Cambria"/>
              <a:buAutoNum type="arabicPeriod"/>
            </a:pPr>
            <a:r>
              <a:rPr lang="en-US" sz="1400">
                <a:latin typeface="Cambria"/>
                <a:ea typeface="Cambria"/>
                <a:cs typeface="Cambria"/>
                <a:sym typeface="Cambria"/>
              </a:rPr>
              <a:t>For call logs, some devices allow exporting call history directly from the </a:t>
            </a:r>
            <a:r>
              <a:rPr b="1" lang="en-US" sz="1400">
                <a:latin typeface="Cambria"/>
                <a:ea typeface="Cambria"/>
                <a:cs typeface="Cambria"/>
                <a:sym typeface="Cambria"/>
              </a:rPr>
              <a:t>Phone </a:t>
            </a:r>
            <a:r>
              <a:rPr lang="en-US" sz="1400">
                <a:latin typeface="Cambria"/>
                <a:ea typeface="Cambria"/>
                <a:cs typeface="Cambria"/>
                <a:sym typeface="Cambria"/>
              </a:rPr>
              <a:t>app, but in most cases, a third-party app or backup method might be nee</a:t>
            </a:r>
            <a:endParaRPr sz="1400">
              <a:latin typeface="Cambria"/>
              <a:ea typeface="Cambria"/>
              <a:cs typeface="Cambria"/>
              <a:sym typeface="Cambria"/>
            </a:endParaRPr>
          </a:p>
          <a:p>
            <a:pPr indent="-182245" lvl="2" marL="194945" rtl="0" algn="l">
              <a:lnSpc>
                <a:spcPct val="100000"/>
              </a:lnSpc>
              <a:spcBef>
                <a:spcPts val="1370"/>
              </a:spcBef>
              <a:spcAft>
                <a:spcPts val="0"/>
              </a:spcAft>
              <a:buSzPts val="1400"/>
              <a:buFont typeface="Cambria"/>
              <a:buAutoNum type="arabicPeriod"/>
            </a:pPr>
            <a:r>
              <a:rPr b="1" lang="en-US" sz="1400">
                <a:latin typeface="Cambria"/>
                <a:ea typeface="Cambria"/>
                <a:cs typeface="Cambria"/>
                <a:sym typeface="Cambria"/>
              </a:rPr>
              <a:t>Backing Up and Extracting Data Using Android's Built-in Backup Tools</a:t>
            </a:r>
            <a:endParaRPr sz="1400">
              <a:latin typeface="Cambria"/>
              <a:ea typeface="Cambria"/>
              <a:cs typeface="Cambria"/>
              <a:sym typeface="Cambria"/>
            </a:endParaRPr>
          </a:p>
          <a:p>
            <a:pPr indent="0" lvl="0" marL="12700" marR="100330" rtl="0" algn="l">
              <a:lnSpc>
                <a:spcPct val="118571"/>
              </a:lnSpc>
              <a:spcBef>
                <a:spcPts val="1415"/>
              </a:spcBef>
              <a:spcAft>
                <a:spcPts val="0"/>
              </a:spcAft>
              <a:buNone/>
            </a:pPr>
            <a:r>
              <a:rPr lang="en-US" sz="1400">
                <a:latin typeface="Cambria"/>
                <a:ea typeface="Cambria"/>
                <a:cs typeface="Cambria"/>
                <a:sym typeface="Cambria"/>
              </a:rPr>
              <a:t>Android provides built-in backup options that can be used for extracting data manually from a device.</a:t>
            </a:r>
            <a:endParaRPr sz="1400">
              <a:latin typeface="Cambria"/>
              <a:ea typeface="Cambria"/>
              <a:cs typeface="Cambria"/>
              <a:sym typeface="Cambria"/>
            </a:endParaRPr>
          </a:p>
          <a:p>
            <a:pPr indent="0" lvl="0" marL="12700" rtl="0" algn="l">
              <a:lnSpc>
                <a:spcPct val="100000"/>
              </a:lnSpc>
              <a:spcBef>
                <a:spcPts val="1315"/>
              </a:spcBef>
              <a:spcAft>
                <a:spcPts val="0"/>
              </a:spcAft>
              <a:buNone/>
            </a:pPr>
            <a:r>
              <a:rPr b="1" lang="en-US" sz="1400">
                <a:latin typeface="Cambria"/>
                <a:ea typeface="Cambria"/>
                <a:cs typeface="Cambria"/>
                <a:sym typeface="Cambria"/>
              </a:rPr>
              <a:t>Steps:</a:t>
            </a:r>
            <a:endParaRPr sz="1400">
              <a:latin typeface="Cambria"/>
              <a:ea typeface="Cambria"/>
              <a:cs typeface="Cambria"/>
              <a:sym typeface="Cambria"/>
            </a:endParaRPr>
          </a:p>
          <a:p>
            <a:pPr indent="-228600" lvl="3" marL="469900" rtl="0" algn="l">
              <a:lnSpc>
                <a:spcPct val="118214"/>
              </a:lnSpc>
              <a:spcBef>
                <a:spcPts val="1345"/>
              </a:spcBef>
              <a:spcAft>
                <a:spcPts val="0"/>
              </a:spcAft>
              <a:buSzPts val="1000"/>
              <a:buFont typeface="Noto Sans Symbols"/>
              <a:buChar char="∙"/>
            </a:pPr>
            <a:r>
              <a:rPr b="1" lang="en-US" sz="1400">
                <a:latin typeface="Cambria"/>
                <a:ea typeface="Cambria"/>
                <a:cs typeface="Cambria"/>
                <a:sym typeface="Cambria"/>
              </a:rPr>
              <a:t>Using Google Backup</a:t>
            </a:r>
            <a:r>
              <a:rPr lang="en-US" sz="1400">
                <a:latin typeface="Cambria"/>
                <a:ea typeface="Cambria"/>
                <a:cs typeface="Cambria"/>
                <a:sym typeface="Cambria"/>
              </a:rPr>
              <a:t>:</a:t>
            </a:r>
            <a:endParaRPr sz="1400">
              <a:latin typeface="Cambria"/>
              <a:ea typeface="Cambria"/>
              <a:cs typeface="Cambria"/>
              <a:sym typeface="Cambria"/>
            </a:endParaRPr>
          </a:p>
          <a:p>
            <a:pPr indent="-228600" lvl="4" marL="927100" marR="53975" rtl="0" algn="l">
              <a:lnSpc>
                <a:spcPct val="116428"/>
              </a:lnSpc>
              <a:spcBef>
                <a:spcPts val="70"/>
              </a:spcBef>
              <a:spcAft>
                <a:spcPts val="0"/>
              </a:spcAft>
              <a:buSzPts val="1400"/>
              <a:buFont typeface="Cambria"/>
              <a:buAutoNum type="arabicPeriod"/>
            </a:pPr>
            <a:r>
              <a:rPr lang="en-US" sz="1400">
                <a:latin typeface="Cambria"/>
                <a:ea typeface="Cambria"/>
                <a:cs typeface="Cambria"/>
                <a:sym typeface="Cambria"/>
              </a:rPr>
              <a:t>Ensure </a:t>
            </a:r>
            <a:r>
              <a:rPr b="1" lang="en-US" sz="1400">
                <a:latin typeface="Cambria"/>
                <a:ea typeface="Cambria"/>
                <a:cs typeface="Cambria"/>
                <a:sym typeface="Cambria"/>
              </a:rPr>
              <a:t>Google Backup </a:t>
            </a:r>
            <a:r>
              <a:rPr lang="en-US" sz="1400">
                <a:latin typeface="Cambria"/>
                <a:ea typeface="Cambria"/>
                <a:cs typeface="Cambria"/>
                <a:sym typeface="Cambria"/>
              </a:rPr>
              <a:t>is enabled on the device under </a:t>
            </a:r>
            <a:r>
              <a:rPr b="1" lang="en-US" sz="1400">
                <a:latin typeface="Cambria"/>
                <a:ea typeface="Cambria"/>
                <a:cs typeface="Cambria"/>
                <a:sym typeface="Cambria"/>
              </a:rPr>
              <a:t>Settings &gt; System &gt; Backup</a:t>
            </a:r>
            <a:r>
              <a:rPr lang="en-US" sz="1400">
                <a:latin typeface="Cambria"/>
                <a:ea typeface="Cambria"/>
                <a:cs typeface="Cambria"/>
                <a:sym typeface="Cambria"/>
              </a:rPr>
              <a:t>.</a:t>
            </a:r>
            <a:endParaRPr sz="1400">
              <a:latin typeface="Cambria"/>
              <a:ea typeface="Cambria"/>
              <a:cs typeface="Cambria"/>
              <a:sym typeface="Cambria"/>
            </a:endParaRPr>
          </a:p>
          <a:p>
            <a:pPr indent="-228600" lvl="4" marL="927100" marR="318135" rtl="0" algn="l">
              <a:lnSpc>
                <a:spcPct val="116428"/>
              </a:lnSpc>
              <a:spcBef>
                <a:spcPts val="30"/>
              </a:spcBef>
              <a:spcAft>
                <a:spcPts val="0"/>
              </a:spcAft>
              <a:buSzPts val="1400"/>
              <a:buFont typeface="Cambria"/>
              <a:buAutoNum type="arabicPeriod"/>
            </a:pPr>
            <a:r>
              <a:rPr lang="en-US" sz="1400">
                <a:latin typeface="Cambria"/>
                <a:ea typeface="Cambria"/>
                <a:cs typeface="Cambria"/>
                <a:sym typeface="Cambria"/>
              </a:rPr>
              <a:t>A variety of data, including app data, call history, contacts, and photos, will be backed up to the cloud.</a:t>
            </a:r>
            <a:endParaRPr sz="1400">
              <a:latin typeface="Cambria"/>
              <a:ea typeface="Cambria"/>
              <a:cs typeface="Cambria"/>
              <a:sym typeface="Cambria"/>
            </a:endParaRPr>
          </a:p>
          <a:p>
            <a:pPr indent="-228600" lvl="4" marL="927100" marR="212725" rtl="0" algn="l">
              <a:lnSpc>
                <a:spcPct val="116428"/>
              </a:lnSpc>
              <a:spcBef>
                <a:spcPts val="30"/>
              </a:spcBef>
              <a:spcAft>
                <a:spcPts val="0"/>
              </a:spcAft>
              <a:buSzPts val="1400"/>
              <a:buFont typeface="Cambria"/>
              <a:buAutoNum type="arabicPeriod"/>
            </a:pPr>
            <a:r>
              <a:rPr lang="en-US" sz="1400">
                <a:latin typeface="Cambria"/>
                <a:ea typeface="Cambria"/>
                <a:cs typeface="Cambria"/>
                <a:sym typeface="Cambria"/>
              </a:rPr>
              <a:t>Access Google Drive or Google Photos on another device or web browser to retrieve the backed-up data.</a:t>
            </a:r>
            <a:endParaRPr sz="1400">
              <a:latin typeface="Cambria"/>
              <a:ea typeface="Cambria"/>
              <a:cs typeface="Cambria"/>
              <a:sym typeface="Cambria"/>
            </a:endParaRPr>
          </a:p>
          <a:p>
            <a:pPr indent="-228600" lvl="3" marL="469900" rtl="0" algn="l">
              <a:lnSpc>
                <a:spcPct val="112500"/>
              </a:lnSpc>
              <a:spcBef>
                <a:spcPts val="0"/>
              </a:spcBef>
              <a:spcAft>
                <a:spcPts val="0"/>
              </a:spcAft>
              <a:buSzPts val="1000"/>
              <a:buFont typeface="Noto Sans Symbols"/>
              <a:buChar char="∙"/>
            </a:pPr>
            <a:r>
              <a:rPr b="1" lang="en-US" sz="1400">
                <a:latin typeface="Cambria"/>
                <a:ea typeface="Cambria"/>
                <a:cs typeface="Cambria"/>
                <a:sym typeface="Cambria"/>
              </a:rPr>
              <a:t>Using Local Backup (ADB or Manual Transfer)</a:t>
            </a:r>
            <a:r>
              <a:rPr lang="en-US" sz="1400">
                <a:latin typeface="Cambria"/>
                <a:ea typeface="Cambria"/>
                <a:cs typeface="Cambria"/>
                <a:sym typeface="Cambria"/>
              </a:rPr>
              <a:t>:</a:t>
            </a:r>
            <a:endParaRPr sz="1400">
              <a:latin typeface="Cambria"/>
              <a:ea typeface="Cambria"/>
              <a:cs typeface="Cambria"/>
              <a:sym typeface="Cambria"/>
            </a:endParaRPr>
          </a:p>
          <a:p>
            <a:pPr indent="-228600" lvl="4" marL="927100" marR="26669" rtl="0" algn="l">
              <a:lnSpc>
                <a:spcPct val="116428"/>
              </a:lnSpc>
              <a:spcBef>
                <a:spcPts val="85"/>
              </a:spcBef>
              <a:spcAft>
                <a:spcPts val="0"/>
              </a:spcAft>
              <a:buSzPts val="1400"/>
              <a:buFont typeface="Cambria"/>
              <a:buAutoNum type="arabicPeriod"/>
            </a:pPr>
            <a:r>
              <a:rPr lang="en-US" sz="1400">
                <a:latin typeface="Cambria"/>
                <a:ea typeface="Cambria"/>
                <a:cs typeface="Cambria"/>
                <a:sym typeface="Cambria"/>
              </a:rPr>
              <a:t>On the device, go to </a:t>
            </a:r>
            <a:r>
              <a:rPr b="1" lang="en-US" sz="1400">
                <a:latin typeface="Cambria"/>
                <a:ea typeface="Cambria"/>
                <a:cs typeface="Cambria"/>
                <a:sym typeface="Cambria"/>
              </a:rPr>
              <a:t>Settings &gt; System &gt; Backup </a:t>
            </a:r>
            <a:r>
              <a:rPr lang="en-US" sz="1400">
                <a:latin typeface="Cambria"/>
                <a:ea typeface="Cambria"/>
                <a:cs typeface="Cambria"/>
                <a:sym typeface="Cambria"/>
              </a:rPr>
              <a:t>and enable local backup options (if available).</a:t>
            </a:r>
            <a:endParaRPr sz="1400">
              <a:latin typeface="Cambria"/>
              <a:ea typeface="Cambria"/>
              <a:cs typeface="Cambria"/>
              <a:sym typeface="Cambria"/>
            </a:endParaRPr>
          </a:p>
          <a:p>
            <a:pPr indent="-229235" lvl="4" marL="927735" rtl="0" algn="l">
              <a:lnSpc>
                <a:spcPct val="113571"/>
              </a:lnSpc>
              <a:spcBef>
                <a:spcPts val="0"/>
              </a:spcBef>
              <a:spcAft>
                <a:spcPts val="0"/>
              </a:spcAft>
              <a:buSzPts val="1400"/>
              <a:buFont typeface="Cambria"/>
              <a:buAutoNum type="arabicPeriod"/>
            </a:pPr>
            <a:r>
              <a:rPr lang="en-US" sz="1400">
                <a:latin typeface="Cambria"/>
                <a:ea typeface="Cambria"/>
                <a:cs typeface="Cambria"/>
                <a:sym typeface="Cambria"/>
              </a:rPr>
              <a:t>For Android devices with </a:t>
            </a:r>
            <a:r>
              <a:rPr b="1" lang="en-US" sz="1400">
                <a:latin typeface="Cambria"/>
                <a:ea typeface="Cambria"/>
                <a:cs typeface="Cambria"/>
                <a:sym typeface="Cambria"/>
              </a:rPr>
              <a:t>USB debugging enabled</a:t>
            </a:r>
            <a:r>
              <a:rPr lang="en-US" sz="1400">
                <a:latin typeface="Cambria"/>
                <a:ea typeface="Cambria"/>
                <a:cs typeface="Cambria"/>
                <a:sym typeface="Cambria"/>
              </a:rPr>
              <a:t>, a user can use</a:t>
            </a:r>
            <a:endParaRPr sz="1400">
              <a:latin typeface="Cambria"/>
              <a:ea typeface="Cambria"/>
              <a:cs typeface="Cambria"/>
              <a:sym typeface="Cambria"/>
            </a:endParaRPr>
          </a:p>
          <a:p>
            <a:pPr indent="0" lvl="0" marL="927100" marR="143510" rtl="0" algn="l">
              <a:lnSpc>
                <a:spcPct val="118571"/>
              </a:lnSpc>
              <a:spcBef>
                <a:spcPts val="50"/>
              </a:spcBef>
              <a:spcAft>
                <a:spcPts val="0"/>
              </a:spcAft>
              <a:buNone/>
            </a:pPr>
            <a:r>
              <a:rPr b="1" lang="en-US" sz="1400">
                <a:latin typeface="Cambria"/>
                <a:ea typeface="Cambria"/>
                <a:cs typeface="Cambria"/>
                <a:sym typeface="Cambria"/>
              </a:rPr>
              <a:t>ADB (Android Debug Bridge) </a:t>
            </a:r>
            <a:r>
              <a:rPr lang="en-US" sz="1400">
                <a:latin typeface="Cambria"/>
                <a:ea typeface="Cambria"/>
                <a:cs typeface="Cambria"/>
                <a:sym typeface="Cambria"/>
              </a:rPr>
              <a:t>to back up data to a computer by running a command like:</a:t>
            </a:r>
            <a:endParaRPr sz="1400">
              <a:latin typeface="Cambria"/>
              <a:ea typeface="Cambria"/>
              <a:cs typeface="Cambria"/>
              <a:sym typeface="Cambria"/>
            </a:endParaRPr>
          </a:p>
        </p:txBody>
      </p:sp>
      <p:sp>
        <p:nvSpPr>
          <p:cNvPr id="112" name="Google Shape;112;p12"/>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6" name="Shape 116"/>
        <p:cNvGrpSpPr/>
        <p:nvPr/>
      </p:nvGrpSpPr>
      <p:grpSpPr>
        <a:xfrm>
          <a:off x="0" y="0"/>
          <a:ext cx="0" cy="0"/>
          <a:chOff x="0" y="0"/>
          <a:chExt cx="0" cy="0"/>
        </a:xfrm>
      </p:grpSpPr>
      <p:sp>
        <p:nvSpPr>
          <p:cNvPr id="117" name="Google Shape;117;p13"/>
          <p:cNvSpPr txBox="1"/>
          <p:nvPr/>
        </p:nvSpPr>
        <p:spPr>
          <a:xfrm>
            <a:off x="902004" y="892809"/>
            <a:ext cx="5879465" cy="7292975"/>
          </a:xfrm>
          <a:prstGeom prst="rect">
            <a:avLst/>
          </a:prstGeom>
          <a:noFill/>
          <a:ln>
            <a:noFill/>
          </a:ln>
        </p:spPr>
        <p:txBody>
          <a:bodyPr anchorCtr="0" anchor="t" bIns="0" lIns="0" spcFirstLastPara="1" rIns="0" wrap="square" tIns="11425">
            <a:spAutoFit/>
          </a:bodyPr>
          <a:lstStyle/>
          <a:p>
            <a:pPr indent="0" lvl="0" marL="927100" rtl="0" algn="l">
              <a:lnSpc>
                <a:spcPct val="100000"/>
              </a:lnSpc>
              <a:spcBef>
                <a:spcPts val="0"/>
              </a:spcBef>
              <a:spcAft>
                <a:spcPts val="0"/>
              </a:spcAft>
              <a:buNone/>
            </a:pPr>
            <a:r>
              <a:rPr lang="en-US" sz="1400">
                <a:latin typeface="Cambria"/>
                <a:ea typeface="Cambria"/>
                <a:cs typeface="Cambria"/>
                <a:sym typeface="Cambria"/>
              </a:rPr>
              <a:t>adb backup -apk -shared -all -f backup.ab</a:t>
            </a:r>
            <a:endParaRPr sz="1400">
              <a:latin typeface="Cambria"/>
              <a:ea typeface="Cambria"/>
              <a:cs typeface="Cambria"/>
              <a:sym typeface="Cambria"/>
            </a:endParaRPr>
          </a:p>
          <a:p>
            <a:pPr indent="-228600" lvl="0" marL="927100" marR="495934" rtl="0" algn="l">
              <a:lnSpc>
                <a:spcPct val="118571"/>
              </a:lnSpc>
              <a:spcBef>
                <a:spcPts val="1440"/>
              </a:spcBef>
              <a:spcAft>
                <a:spcPts val="0"/>
              </a:spcAft>
              <a:buSzPts val="1400"/>
              <a:buFont typeface="Cambria"/>
              <a:buAutoNum type="arabicPeriod" startAt="3"/>
            </a:pPr>
            <a:r>
              <a:rPr lang="en-US" sz="1400">
                <a:latin typeface="Cambria"/>
                <a:ea typeface="Cambria"/>
                <a:cs typeface="Cambria"/>
                <a:sym typeface="Cambria"/>
              </a:rPr>
              <a:t>Use a compatible tool or command to extract data from the backup file.</a:t>
            </a:r>
            <a:endParaRPr sz="1400">
              <a:latin typeface="Cambria"/>
              <a:ea typeface="Cambria"/>
              <a:cs typeface="Cambria"/>
              <a:sym typeface="Cambria"/>
            </a:endParaRPr>
          </a:p>
          <a:p>
            <a:pPr indent="-182245" lvl="0" marL="194945" rtl="0" algn="l">
              <a:lnSpc>
                <a:spcPct val="100000"/>
              </a:lnSpc>
              <a:spcBef>
                <a:spcPts val="1315"/>
              </a:spcBef>
              <a:spcAft>
                <a:spcPts val="0"/>
              </a:spcAft>
              <a:buSzPts val="1400"/>
              <a:buFont typeface="Cambria"/>
              <a:buAutoNum type="arabicPeriod" startAt="3"/>
            </a:pPr>
            <a:r>
              <a:rPr b="1" lang="en-US" sz="1400">
                <a:latin typeface="Cambria"/>
                <a:ea typeface="Cambria"/>
                <a:cs typeface="Cambria"/>
                <a:sym typeface="Cambria"/>
              </a:rPr>
              <a:t>Using Android's Built-in Export Features (Photos, Messages, etc.)</a:t>
            </a:r>
            <a:endParaRPr sz="1400">
              <a:latin typeface="Cambria"/>
              <a:ea typeface="Cambria"/>
              <a:cs typeface="Cambria"/>
              <a:sym typeface="Cambria"/>
            </a:endParaRPr>
          </a:p>
          <a:p>
            <a:pPr indent="0" lvl="0" marL="12700" marR="5080" rtl="0" algn="l">
              <a:lnSpc>
                <a:spcPct val="118571"/>
              </a:lnSpc>
              <a:spcBef>
                <a:spcPts val="1415"/>
              </a:spcBef>
              <a:spcAft>
                <a:spcPts val="0"/>
              </a:spcAft>
              <a:buNone/>
            </a:pPr>
            <a:r>
              <a:rPr lang="en-US" sz="1400">
                <a:latin typeface="Cambria"/>
                <a:ea typeface="Cambria"/>
                <a:cs typeface="Cambria"/>
                <a:sym typeface="Cambria"/>
              </a:rPr>
              <a:t>Android allows exporting some data manually through the respective apps or built-in export functions.</a:t>
            </a:r>
            <a:endParaRPr sz="1400">
              <a:latin typeface="Cambria"/>
              <a:ea typeface="Cambria"/>
              <a:cs typeface="Cambria"/>
              <a:sym typeface="Cambria"/>
            </a:endParaRPr>
          </a:p>
          <a:p>
            <a:pPr indent="0" lvl="0" marL="12700" rtl="0" algn="l">
              <a:lnSpc>
                <a:spcPct val="100000"/>
              </a:lnSpc>
              <a:spcBef>
                <a:spcPts val="1315"/>
              </a:spcBef>
              <a:spcAft>
                <a:spcPts val="0"/>
              </a:spcAft>
              <a:buNone/>
            </a:pPr>
            <a:r>
              <a:rPr b="1" lang="en-US" sz="1400">
                <a:latin typeface="Cambria"/>
                <a:ea typeface="Cambria"/>
                <a:cs typeface="Cambria"/>
                <a:sym typeface="Cambria"/>
              </a:rPr>
              <a:t>Steps:</a:t>
            </a:r>
            <a:endParaRPr sz="1400">
              <a:latin typeface="Cambria"/>
              <a:ea typeface="Cambria"/>
              <a:cs typeface="Cambria"/>
              <a:sym typeface="Cambria"/>
            </a:endParaRPr>
          </a:p>
          <a:p>
            <a:pPr indent="-228600" lvl="1" marL="469900" rtl="0" algn="l">
              <a:lnSpc>
                <a:spcPct val="119285"/>
              </a:lnSpc>
              <a:spcBef>
                <a:spcPts val="1320"/>
              </a:spcBef>
              <a:spcAft>
                <a:spcPts val="0"/>
              </a:spcAft>
              <a:buSzPts val="1000"/>
              <a:buFont typeface="Noto Sans Symbols"/>
              <a:buChar char="∙"/>
            </a:pPr>
            <a:r>
              <a:rPr b="1" lang="en-US" sz="1400">
                <a:latin typeface="Cambria"/>
                <a:ea typeface="Cambria"/>
                <a:cs typeface="Cambria"/>
                <a:sym typeface="Cambria"/>
              </a:rPr>
              <a:t>Exporting Photos and Media</a:t>
            </a:r>
            <a:r>
              <a:rPr lang="en-US" sz="1400">
                <a:latin typeface="Cambria"/>
                <a:ea typeface="Cambria"/>
                <a:cs typeface="Cambria"/>
                <a:sym typeface="Cambria"/>
              </a:rPr>
              <a:t>:</a:t>
            </a:r>
            <a:endParaRPr sz="1400">
              <a:latin typeface="Cambria"/>
              <a:ea typeface="Cambria"/>
              <a:cs typeface="Cambria"/>
              <a:sym typeface="Cambria"/>
            </a:endParaRPr>
          </a:p>
          <a:p>
            <a:pPr indent="-229235" lvl="2" marL="927735" rtl="0" algn="l">
              <a:lnSpc>
                <a:spcPct val="117499"/>
              </a:lnSpc>
              <a:spcBef>
                <a:spcPts val="0"/>
              </a:spcBef>
              <a:spcAft>
                <a:spcPts val="0"/>
              </a:spcAft>
              <a:buSzPts val="1400"/>
              <a:buFont typeface="Cambria"/>
              <a:buAutoNum type="arabicPeriod"/>
            </a:pPr>
            <a:r>
              <a:rPr lang="en-US" sz="1400">
                <a:latin typeface="Cambria"/>
                <a:ea typeface="Cambria"/>
                <a:cs typeface="Cambria"/>
                <a:sym typeface="Cambria"/>
              </a:rPr>
              <a:t>Open the </a:t>
            </a:r>
            <a:r>
              <a:rPr b="1" lang="en-US" sz="1400">
                <a:latin typeface="Cambria"/>
                <a:ea typeface="Cambria"/>
                <a:cs typeface="Cambria"/>
                <a:sym typeface="Cambria"/>
              </a:rPr>
              <a:t>Gallery </a:t>
            </a:r>
            <a:r>
              <a:rPr lang="en-US" sz="1400">
                <a:latin typeface="Cambria"/>
                <a:ea typeface="Cambria"/>
                <a:cs typeface="Cambria"/>
                <a:sym typeface="Cambria"/>
              </a:rPr>
              <a:t>or </a:t>
            </a:r>
            <a:r>
              <a:rPr b="1" lang="en-US" sz="1400">
                <a:latin typeface="Cambria"/>
                <a:ea typeface="Cambria"/>
                <a:cs typeface="Cambria"/>
                <a:sym typeface="Cambria"/>
              </a:rPr>
              <a:t>Photos </a:t>
            </a:r>
            <a:r>
              <a:rPr lang="en-US" sz="1400">
                <a:latin typeface="Cambria"/>
                <a:ea typeface="Cambria"/>
                <a:cs typeface="Cambria"/>
                <a:sym typeface="Cambria"/>
              </a:rPr>
              <a:t>app.</a:t>
            </a:r>
            <a:endParaRPr sz="1400">
              <a:latin typeface="Cambria"/>
              <a:ea typeface="Cambria"/>
              <a:cs typeface="Cambria"/>
              <a:sym typeface="Cambria"/>
            </a:endParaRPr>
          </a:p>
          <a:p>
            <a:pPr indent="-229235" lvl="2" marL="927735" rtl="0" algn="l">
              <a:lnSpc>
                <a:spcPct val="117499"/>
              </a:lnSpc>
              <a:spcBef>
                <a:spcPts val="0"/>
              </a:spcBef>
              <a:spcAft>
                <a:spcPts val="0"/>
              </a:spcAft>
              <a:buSzPts val="1400"/>
              <a:buFont typeface="Cambria"/>
              <a:buAutoNum type="arabicPeriod"/>
            </a:pPr>
            <a:r>
              <a:rPr lang="en-US" sz="1400">
                <a:latin typeface="Cambria"/>
                <a:ea typeface="Cambria"/>
                <a:cs typeface="Cambria"/>
                <a:sym typeface="Cambria"/>
              </a:rPr>
              <a:t>Select the photos or albums you want to extract.</a:t>
            </a:r>
            <a:endParaRPr sz="1400">
              <a:latin typeface="Cambria"/>
              <a:ea typeface="Cambria"/>
              <a:cs typeface="Cambria"/>
              <a:sym typeface="Cambria"/>
            </a:endParaRPr>
          </a:p>
          <a:p>
            <a:pPr indent="-228600" lvl="2" marL="927100" marR="104775" rtl="0" algn="l">
              <a:lnSpc>
                <a:spcPct val="116428"/>
              </a:lnSpc>
              <a:spcBef>
                <a:spcPts val="85"/>
              </a:spcBef>
              <a:spcAft>
                <a:spcPts val="0"/>
              </a:spcAft>
              <a:buSzPts val="1400"/>
              <a:buFont typeface="Cambria"/>
              <a:buAutoNum type="arabicPeriod"/>
            </a:pPr>
            <a:r>
              <a:rPr lang="en-US" sz="1400">
                <a:latin typeface="Cambria"/>
                <a:ea typeface="Cambria"/>
                <a:cs typeface="Cambria"/>
                <a:sym typeface="Cambria"/>
              </a:rPr>
              <a:t>Share or move them to an external storage device, such as an SD card or cloud storage.</a:t>
            </a:r>
            <a:endParaRPr sz="1400">
              <a:latin typeface="Cambria"/>
              <a:ea typeface="Cambria"/>
              <a:cs typeface="Cambria"/>
              <a:sym typeface="Cambria"/>
            </a:endParaRPr>
          </a:p>
          <a:p>
            <a:pPr indent="-228600" lvl="1" marL="469900" rtl="0" algn="l">
              <a:lnSpc>
                <a:spcPct val="112500"/>
              </a:lnSpc>
              <a:spcBef>
                <a:spcPts val="0"/>
              </a:spcBef>
              <a:spcAft>
                <a:spcPts val="0"/>
              </a:spcAft>
              <a:buSzPts val="1000"/>
              <a:buFont typeface="Noto Sans Symbols"/>
              <a:buChar char="∙"/>
            </a:pPr>
            <a:r>
              <a:rPr b="1" lang="en-US" sz="1400">
                <a:latin typeface="Cambria"/>
                <a:ea typeface="Cambria"/>
                <a:cs typeface="Cambria"/>
                <a:sym typeface="Cambria"/>
              </a:rPr>
              <a:t>Exporting SMS Messages</a:t>
            </a:r>
            <a:r>
              <a:rPr lang="en-US" sz="1400">
                <a:latin typeface="Cambria"/>
                <a:ea typeface="Cambria"/>
                <a:cs typeface="Cambria"/>
                <a:sym typeface="Cambria"/>
              </a:rPr>
              <a:t>:</a:t>
            </a:r>
            <a:endParaRPr sz="1400">
              <a:latin typeface="Cambria"/>
              <a:ea typeface="Cambria"/>
              <a:cs typeface="Cambria"/>
              <a:sym typeface="Cambria"/>
            </a:endParaRPr>
          </a:p>
          <a:p>
            <a:pPr indent="-228600" lvl="2" marL="927100" marR="680085" rtl="0" algn="l">
              <a:lnSpc>
                <a:spcPct val="116428"/>
              </a:lnSpc>
              <a:spcBef>
                <a:spcPts val="85"/>
              </a:spcBef>
              <a:spcAft>
                <a:spcPts val="0"/>
              </a:spcAft>
              <a:buSzPts val="1400"/>
              <a:buFont typeface="Cambria"/>
              <a:buAutoNum type="arabicPeriod"/>
            </a:pPr>
            <a:r>
              <a:rPr lang="en-US" sz="1400">
                <a:latin typeface="Cambria"/>
                <a:ea typeface="Cambria"/>
                <a:cs typeface="Cambria"/>
                <a:sym typeface="Cambria"/>
              </a:rPr>
              <a:t>Some Android phones allow direct exporting of SMS text messages using the </a:t>
            </a:r>
            <a:r>
              <a:rPr b="1" lang="en-US" sz="1400">
                <a:latin typeface="Cambria"/>
                <a:ea typeface="Cambria"/>
                <a:cs typeface="Cambria"/>
                <a:sym typeface="Cambria"/>
              </a:rPr>
              <a:t>SMS Backup &amp; Restore </a:t>
            </a:r>
            <a:r>
              <a:rPr lang="en-US" sz="1400">
                <a:latin typeface="Cambria"/>
                <a:ea typeface="Cambria"/>
                <a:cs typeface="Cambria"/>
                <a:sym typeface="Cambria"/>
              </a:rPr>
              <a:t>app.</a:t>
            </a:r>
            <a:endParaRPr sz="1400">
              <a:latin typeface="Cambria"/>
              <a:ea typeface="Cambria"/>
              <a:cs typeface="Cambria"/>
              <a:sym typeface="Cambria"/>
            </a:endParaRPr>
          </a:p>
          <a:p>
            <a:pPr indent="-229235" lvl="2" marL="927735" rtl="0" algn="l">
              <a:lnSpc>
                <a:spcPct val="112857"/>
              </a:lnSpc>
              <a:spcBef>
                <a:spcPts val="0"/>
              </a:spcBef>
              <a:spcAft>
                <a:spcPts val="0"/>
              </a:spcAft>
              <a:buSzPts val="1400"/>
              <a:buFont typeface="Cambria"/>
              <a:buAutoNum type="arabicPeriod"/>
            </a:pPr>
            <a:r>
              <a:rPr lang="en-US" sz="1400">
                <a:latin typeface="Cambria"/>
                <a:ea typeface="Cambria"/>
                <a:cs typeface="Cambria"/>
                <a:sym typeface="Cambria"/>
              </a:rPr>
              <a:t>You can export your SMS to an XML or other compatible format.</a:t>
            </a:r>
            <a:endParaRPr sz="1400">
              <a:latin typeface="Cambria"/>
              <a:ea typeface="Cambria"/>
              <a:cs typeface="Cambria"/>
              <a:sym typeface="Cambria"/>
            </a:endParaRPr>
          </a:p>
          <a:p>
            <a:pPr indent="-228600" lvl="2" marL="927100" marR="260984" rtl="0" algn="l">
              <a:lnSpc>
                <a:spcPct val="118571"/>
              </a:lnSpc>
              <a:spcBef>
                <a:spcPts val="60"/>
              </a:spcBef>
              <a:spcAft>
                <a:spcPts val="0"/>
              </a:spcAft>
              <a:buSzPts val="1400"/>
              <a:buFont typeface="Cambria"/>
              <a:buAutoNum type="arabicPeriod"/>
            </a:pPr>
            <a:r>
              <a:rPr lang="en-US" sz="1400">
                <a:latin typeface="Cambria"/>
                <a:ea typeface="Cambria"/>
                <a:cs typeface="Cambria"/>
                <a:sym typeface="Cambria"/>
              </a:rPr>
              <a:t>Alternatively, use third-party tools to backup messages (some apps provide manual export options).</a:t>
            </a:r>
            <a:endParaRPr sz="1400">
              <a:latin typeface="Cambria"/>
              <a:ea typeface="Cambria"/>
              <a:cs typeface="Cambria"/>
              <a:sym typeface="Cambria"/>
            </a:endParaRPr>
          </a:p>
          <a:p>
            <a:pPr indent="0" lvl="0" marL="12700" rtl="0" algn="l">
              <a:lnSpc>
                <a:spcPct val="100000"/>
              </a:lnSpc>
              <a:spcBef>
                <a:spcPts val="1315"/>
              </a:spcBef>
              <a:spcAft>
                <a:spcPts val="0"/>
              </a:spcAft>
              <a:buNone/>
            </a:pPr>
            <a:r>
              <a:rPr b="1" lang="en-US" sz="1400">
                <a:latin typeface="Cambria"/>
                <a:ea typeface="Cambria"/>
                <a:cs typeface="Cambria"/>
                <a:sym typeface="Cambria"/>
              </a:rPr>
              <a:t>Logical Data Extraction in Android</a:t>
            </a:r>
            <a:endParaRPr sz="1400">
              <a:latin typeface="Cambria"/>
              <a:ea typeface="Cambria"/>
              <a:cs typeface="Cambria"/>
              <a:sym typeface="Cambria"/>
            </a:endParaRPr>
          </a:p>
          <a:p>
            <a:pPr indent="0" lvl="0" marL="12700" marR="27940" rtl="0" algn="l">
              <a:lnSpc>
                <a:spcPct val="98000"/>
              </a:lnSpc>
              <a:spcBef>
                <a:spcPts val="1375"/>
              </a:spcBef>
              <a:spcAft>
                <a:spcPts val="0"/>
              </a:spcAft>
              <a:buNone/>
            </a:pPr>
            <a:r>
              <a:rPr lang="en-US" sz="1400">
                <a:latin typeface="Cambria"/>
                <a:ea typeface="Cambria"/>
                <a:cs typeface="Cambria"/>
                <a:sym typeface="Cambria"/>
              </a:rPr>
              <a:t>Logical data extraction involves retrieving data that is stored on the device in a manner that allows it to be directly accessed through system-level tools or applications, without needing to deal with raw or physical access to the device's storage. In the context of Android, logical extraction methods are particularly useful because they focus on extracting user and app data from the file system or databases.</a:t>
            </a:r>
            <a:endParaRPr sz="1400">
              <a:latin typeface="Cambria"/>
              <a:ea typeface="Cambria"/>
              <a:cs typeface="Cambria"/>
              <a:sym typeface="Cambria"/>
            </a:endParaRPr>
          </a:p>
          <a:p>
            <a:pPr indent="0" lvl="0" marL="12700" marR="121285" rtl="0" algn="l">
              <a:lnSpc>
                <a:spcPct val="98600"/>
              </a:lnSpc>
              <a:spcBef>
                <a:spcPts val="1345"/>
              </a:spcBef>
              <a:spcAft>
                <a:spcPts val="0"/>
              </a:spcAft>
              <a:buNone/>
            </a:pPr>
            <a:r>
              <a:rPr lang="en-US" sz="1400">
                <a:latin typeface="Cambria"/>
                <a:ea typeface="Cambria"/>
                <a:cs typeface="Cambria"/>
                <a:sym typeface="Cambria"/>
              </a:rPr>
              <a:t>different techniques for logical data extraction, including </a:t>
            </a:r>
            <a:r>
              <a:rPr b="1" lang="en-US" sz="1400">
                <a:latin typeface="Cambria"/>
                <a:ea typeface="Cambria"/>
                <a:cs typeface="Cambria"/>
                <a:sym typeface="Cambria"/>
              </a:rPr>
              <a:t>ADB pull</a:t>
            </a:r>
            <a:r>
              <a:rPr lang="en-US" sz="1400">
                <a:latin typeface="Cambria"/>
                <a:ea typeface="Cambria"/>
                <a:cs typeface="Cambria"/>
                <a:sym typeface="Cambria"/>
              </a:rPr>
              <a:t>, </a:t>
            </a:r>
            <a:r>
              <a:rPr b="1" lang="en-US" sz="1400">
                <a:latin typeface="Cambria"/>
                <a:ea typeface="Cambria"/>
                <a:cs typeface="Cambria"/>
                <a:sym typeface="Cambria"/>
              </a:rPr>
              <a:t>SQLite Browser</a:t>
            </a:r>
            <a:r>
              <a:rPr lang="en-US" sz="1400">
                <a:latin typeface="Cambria"/>
                <a:ea typeface="Cambria"/>
                <a:cs typeface="Cambria"/>
                <a:sym typeface="Cambria"/>
              </a:rPr>
              <a:t>, and various methods for extracting specific types of data (like call logs, SMS/MMS, browser history, and social networking/chat data).</a:t>
            </a:r>
            <a:endParaRPr sz="1400">
              <a:latin typeface="Cambria"/>
              <a:ea typeface="Cambria"/>
              <a:cs typeface="Cambria"/>
              <a:sym typeface="Cambria"/>
            </a:endParaRPr>
          </a:p>
        </p:txBody>
      </p:sp>
      <p:sp>
        <p:nvSpPr>
          <p:cNvPr id="118" name="Google Shape;118;p13"/>
          <p:cNvSpPr txBox="1"/>
          <p:nvPr/>
        </p:nvSpPr>
        <p:spPr>
          <a:xfrm>
            <a:off x="902004" y="8719210"/>
            <a:ext cx="2516505" cy="238125"/>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en-US" sz="1400">
                <a:latin typeface="Cambria"/>
                <a:ea typeface="Cambria"/>
                <a:cs typeface="Cambria"/>
                <a:sym typeface="Cambria"/>
              </a:rPr>
              <a:t>1. ADB Pull for Data Extraction</a:t>
            </a:r>
            <a:endParaRPr sz="1400">
              <a:latin typeface="Cambria"/>
              <a:ea typeface="Cambria"/>
              <a:cs typeface="Cambria"/>
              <a:sym typeface="Cambria"/>
            </a:endParaRPr>
          </a:p>
        </p:txBody>
      </p:sp>
      <p:sp>
        <p:nvSpPr>
          <p:cNvPr id="119" name="Google Shape;119;p13"/>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3" name="Shape 123"/>
        <p:cNvGrpSpPr/>
        <p:nvPr/>
      </p:nvGrpSpPr>
      <p:grpSpPr>
        <a:xfrm>
          <a:off x="0" y="0"/>
          <a:ext cx="0" cy="0"/>
          <a:chOff x="0" y="0"/>
          <a:chExt cx="0" cy="0"/>
        </a:xfrm>
      </p:grpSpPr>
      <p:sp>
        <p:nvSpPr>
          <p:cNvPr id="124" name="Google Shape;124;p14"/>
          <p:cNvSpPr txBox="1"/>
          <p:nvPr/>
        </p:nvSpPr>
        <p:spPr>
          <a:xfrm>
            <a:off x="902004" y="892809"/>
            <a:ext cx="5941695" cy="8034020"/>
          </a:xfrm>
          <a:prstGeom prst="rect">
            <a:avLst/>
          </a:prstGeom>
          <a:noFill/>
          <a:ln>
            <a:noFill/>
          </a:ln>
        </p:spPr>
        <p:txBody>
          <a:bodyPr anchorCtr="0" anchor="t" bIns="0" lIns="0" spcFirstLastPara="1" rIns="0" wrap="square" tIns="15225">
            <a:spAutoFit/>
          </a:bodyPr>
          <a:lstStyle/>
          <a:p>
            <a:pPr indent="0" lvl="0" marL="12700" marR="229870" rtl="0" algn="l">
              <a:lnSpc>
                <a:spcPct val="98200"/>
              </a:lnSpc>
              <a:spcBef>
                <a:spcPts val="0"/>
              </a:spcBef>
              <a:spcAft>
                <a:spcPts val="0"/>
              </a:spcAft>
              <a:buNone/>
            </a:pPr>
            <a:r>
              <a:rPr b="1" lang="en-US" sz="1400">
                <a:latin typeface="Cambria"/>
                <a:ea typeface="Cambria"/>
                <a:cs typeface="Cambria"/>
                <a:sym typeface="Cambria"/>
              </a:rPr>
              <a:t>ADB (Android Debug Bridge) </a:t>
            </a:r>
            <a:r>
              <a:rPr lang="en-US" sz="1400">
                <a:latin typeface="Cambria"/>
                <a:ea typeface="Cambria"/>
                <a:cs typeface="Cambria"/>
                <a:sym typeface="Cambria"/>
              </a:rPr>
              <a:t>is a command-line tool that allows you to interact with an Android device and extract data. One of the common commands used for logical data extraction is the </a:t>
            </a:r>
            <a:r>
              <a:rPr b="1" lang="en-US" sz="1400">
                <a:latin typeface="Cambria"/>
                <a:ea typeface="Cambria"/>
                <a:cs typeface="Cambria"/>
                <a:sym typeface="Cambria"/>
              </a:rPr>
              <a:t>adb pull </a:t>
            </a:r>
            <a:r>
              <a:rPr lang="en-US" sz="1400">
                <a:latin typeface="Cambria"/>
                <a:ea typeface="Cambria"/>
                <a:cs typeface="Cambria"/>
                <a:sym typeface="Cambria"/>
              </a:rPr>
              <a:t>command, which allows you to copy files from the Android device to your computer.</a:t>
            </a:r>
            <a:endParaRPr sz="1400">
              <a:latin typeface="Cambria"/>
              <a:ea typeface="Cambria"/>
              <a:cs typeface="Cambria"/>
              <a:sym typeface="Cambria"/>
            </a:endParaRPr>
          </a:p>
          <a:p>
            <a:pPr indent="0" lvl="0" marL="12700" rtl="0" algn="l">
              <a:lnSpc>
                <a:spcPct val="100000"/>
              </a:lnSpc>
              <a:spcBef>
                <a:spcPts val="1370"/>
              </a:spcBef>
              <a:spcAft>
                <a:spcPts val="0"/>
              </a:spcAft>
              <a:buNone/>
            </a:pPr>
            <a:r>
              <a:rPr b="1" lang="en-US" sz="1400">
                <a:latin typeface="Cambria"/>
                <a:ea typeface="Cambria"/>
                <a:cs typeface="Cambria"/>
                <a:sym typeface="Cambria"/>
              </a:rPr>
              <a:t>Steps:</a:t>
            </a:r>
            <a:endParaRPr sz="1400">
              <a:latin typeface="Cambria"/>
              <a:ea typeface="Cambria"/>
              <a:cs typeface="Cambria"/>
              <a:sym typeface="Cambria"/>
            </a:endParaRPr>
          </a:p>
          <a:p>
            <a:pPr indent="-229235" lvl="0" marL="470534" rtl="0" algn="l">
              <a:lnSpc>
                <a:spcPct val="118214"/>
              </a:lnSpc>
              <a:spcBef>
                <a:spcPts val="1345"/>
              </a:spcBef>
              <a:spcAft>
                <a:spcPts val="0"/>
              </a:spcAft>
              <a:buSzPts val="1400"/>
              <a:buFont typeface="Cambria"/>
              <a:buAutoNum type="arabicPeriod"/>
            </a:pPr>
            <a:r>
              <a:rPr b="1" lang="en-US" sz="1400">
                <a:latin typeface="Cambria"/>
                <a:ea typeface="Cambria"/>
                <a:cs typeface="Cambria"/>
                <a:sym typeface="Cambria"/>
              </a:rPr>
              <a:t>Enable Developer Options and USB Debugging</a:t>
            </a:r>
            <a:r>
              <a:rPr lang="en-US" sz="1400">
                <a:latin typeface="Cambria"/>
                <a:ea typeface="Cambria"/>
                <a:cs typeface="Cambria"/>
                <a:sym typeface="Cambria"/>
              </a:rPr>
              <a:t>:</a:t>
            </a:r>
            <a:endParaRPr sz="1400">
              <a:latin typeface="Cambria"/>
              <a:ea typeface="Cambria"/>
              <a:cs typeface="Cambria"/>
              <a:sym typeface="Cambria"/>
            </a:endParaRPr>
          </a:p>
          <a:p>
            <a:pPr indent="-228600" lvl="1" marL="927100" rtl="0" algn="l">
              <a:lnSpc>
                <a:spcPct val="116785"/>
              </a:lnSpc>
              <a:spcBef>
                <a:spcPts val="0"/>
              </a:spcBef>
              <a:spcAft>
                <a:spcPts val="0"/>
              </a:spcAft>
              <a:buSzPts val="1000"/>
              <a:buFont typeface="Courier New"/>
              <a:buChar char="o"/>
            </a:pPr>
            <a:r>
              <a:rPr lang="en-US" sz="1400">
                <a:latin typeface="Cambria"/>
                <a:ea typeface="Cambria"/>
                <a:cs typeface="Cambria"/>
                <a:sym typeface="Cambria"/>
              </a:rPr>
              <a:t>On the Android device, go to </a:t>
            </a:r>
            <a:r>
              <a:rPr b="1" lang="en-US" sz="1400">
                <a:latin typeface="Cambria"/>
                <a:ea typeface="Cambria"/>
                <a:cs typeface="Cambria"/>
                <a:sym typeface="Cambria"/>
              </a:rPr>
              <a:t>Settings &gt; About phone </a:t>
            </a:r>
            <a:r>
              <a:rPr lang="en-US" sz="1400">
                <a:latin typeface="Cambria"/>
                <a:ea typeface="Cambria"/>
                <a:cs typeface="Cambria"/>
                <a:sym typeface="Cambria"/>
              </a:rPr>
              <a:t>and tap</a:t>
            </a:r>
            <a:endParaRPr sz="1400">
              <a:latin typeface="Cambria"/>
              <a:ea typeface="Cambria"/>
              <a:cs typeface="Cambria"/>
              <a:sym typeface="Cambria"/>
            </a:endParaRPr>
          </a:p>
          <a:p>
            <a:pPr indent="0" lvl="0" marL="927100" rtl="0" algn="l">
              <a:lnSpc>
                <a:spcPct val="117499"/>
              </a:lnSpc>
              <a:spcBef>
                <a:spcPts val="0"/>
              </a:spcBef>
              <a:spcAft>
                <a:spcPts val="0"/>
              </a:spcAft>
              <a:buNone/>
            </a:pPr>
            <a:r>
              <a:rPr b="1" lang="en-US" sz="1400">
                <a:latin typeface="Cambria"/>
                <a:ea typeface="Cambria"/>
                <a:cs typeface="Cambria"/>
                <a:sym typeface="Cambria"/>
              </a:rPr>
              <a:t>Build number </a:t>
            </a:r>
            <a:r>
              <a:rPr lang="en-US" sz="1400">
                <a:latin typeface="Cambria"/>
                <a:ea typeface="Cambria"/>
                <a:cs typeface="Cambria"/>
                <a:sym typeface="Cambria"/>
              </a:rPr>
              <a:t>7 times to enable Developer Options.</a:t>
            </a:r>
            <a:endParaRPr sz="1400">
              <a:latin typeface="Cambria"/>
              <a:ea typeface="Cambria"/>
              <a:cs typeface="Cambria"/>
              <a:sym typeface="Cambria"/>
            </a:endParaRPr>
          </a:p>
          <a:p>
            <a:pPr indent="-228600" lvl="1" marL="927100" rtl="0" algn="l">
              <a:lnSpc>
                <a:spcPct val="117499"/>
              </a:lnSpc>
              <a:spcBef>
                <a:spcPts val="0"/>
              </a:spcBef>
              <a:spcAft>
                <a:spcPts val="0"/>
              </a:spcAft>
              <a:buSzPts val="1000"/>
              <a:buFont typeface="Courier New"/>
              <a:buChar char="o"/>
            </a:pPr>
            <a:r>
              <a:rPr lang="en-US" sz="1400">
                <a:latin typeface="Cambria"/>
                <a:ea typeface="Cambria"/>
                <a:cs typeface="Cambria"/>
                <a:sym typeface="Cambria"/>
              </a:rPr>
              <a:t>In </a:t>
            </a:r>
            <a:r>
              <a:rPr b="1" lang="en-US" sz="1400">
                <a:latin typeface="Cambria"/>
                <a:ea typeface="Cambria"/>
                <a:cs typeface="Cambria"/>
                <a:sym typeface="Cambria"/>
              </a:rPr>
              <a:t>Settings &gt; Developer options</a:t>
            </a:r>
            <a:r>
              <a:rPr lang="en-US" sz="1400">
                <a:latin typeface="Cambria"/>
                <a:ea typeface="Cambria"/>
                <a:cs typeface="Cambria"/>
                <a:sym typeface="Cambria"/>
              </a:rPr>
              <a:t>, enable </a:t>
            </a:r>
            <a:r>
              <a:rPr b="1" lang="en-US" sz="1400">
                <a:latin typeface="Cambria"/>
                <a:ea typeface="Cambria"/>
                <a:cs typeface="Cambria"/>
                <a:sym typeface="Cambria"/>
              </a:rPr>
              <a:t>USB debugging</a:t>
            </a:r>
            <a:r>
              <a:rPr lang="en-US" sz="1400">
                <a:latin typeface="Cambria"/>
                <a:ea typeface="Cambria"/>
                <a:cs typeface="Cambria"/>
                <a:sym typeface="Cambria"/>
              </a:rPr>
              <a:t>.</a:t>
            </a:r>
            <a:endParaRPr sz="1400">
              <a:latin typeface="Cambria"/>
              <a:ea typeface="Cambria"/>
              <a:cs typeface="Cambria"/>
              <a:sym typeface="Cambria"/>
            </a:endParaRPr>
          </a:p>
          <a:p>
            <a:pPr indent="-229235" lvl="0" marL="470534" rtl="0" algn="l">
              <a:lnSpc>
                <a:spcPct val="117499"/>
              </a:lnSpc>
              <a:spcBef>
                <a:spcPts val="0"/>
              </a:spcBef>
              <a:spcAft>
                <a:spcPts val="0"/>
              </a:spcAft>
              <a:buSzPts val="1400"/>
              <a:buFont typeface="Cambria"/>
              <a:buAutoNum type="arabicPeriod"/>
            </a:pPr>
            <a:r>
              <a:rPr b="1" lang="en-US" sz="1400">
                <a:latin typeface="Cambria"/>
                <a:ea typeface="Cambria"/>
                <a:cs typeface="Cambria"/>
                <a:sym typeface="Cambria"/>
              </a:rPr>
              <a:t>Connect the Device to the Computer</a:t>
            </a:r>
            <a:r>
              <a:rPr lang="en-US" sz="1400">
                <a:latin typeface="Cambria"/>
                <a:ea typeface="Cambria"/>
                <a:cs typeface="Cambria"/>
                <a:sym typeface="Cambria"/>
              </a:rPr>
              <a:t>:</a:t>
            </a:r>
            <a:endParaRPr sz="1400">
              <a:latin typeface="Cambria"/>
              <a:ea typeface="Cambria"/>
              <a:cs typeface="Cambria"/>
              <a:sym typeface="Cambria"/>
            </a:endParaRPr>
          </a:p>
          <a:p>
            <a:pPr indent="-228600" lvl="1" marL="927100" rtl="0" algn="l">
              <a:lnSpc>
                <a:spcPct val="117499"/>
              </a:lnSpc>
              <a:spcBef>
                <a:spcPts val="0"/>
              </a:spcBef>
              <a:spcAft>
                <a:spcPts val="0"/>
              </a:spcAft>
              <a:buSzPts val="1000"/>
              <a:buFont typeface="Courier New"/>
              <a:buChar char="o"/>
            </a:pPr>
            <a:r>
              <a:rPr lang="en-US" sz="1400">
                <a:latin typeface="Cambria"/>
                <a:ea typeface="Cambria"/>
                <a:cs typeface="Cambria"/>
                <a:sym typeface="Cambria"/>
              </a:rPr>
              <a:t>Connect the Android device via USB to your computer.</a:t>
            </a:r>
            <a:endParaRPr sz="1400">
              <a:latin typeface="Cambria"/>
              <a:ea typeface="Cambria"/>
              <a:cs typeface="Cambria"/>
              <a:sym typeface="Cambria"/>
            </a:endParaRPr>
          </a:p>
          <a:p>
            <a:pPr indent="-228600" lvl="1" marL="927100" marR="487044" rtl="0" algn="l">
              <a:lnSpc>
                <a:spcPct val="116428"/>
              </a:lnSpc>
              <a:spcBef>
                <a:spcPts val="70"/>
              </a:spcBef>
              <a:spcAft>
                <a:spcPts val="0"/>
              </a:spcAft>
              <a:buSzPts val="1000"/>
              <a:buFont typeface="Courier New"/>
              <a:buChar char="o"/>
            </a:pPr>
            <a:r>
              <a:rPr lang="en-US" sz="1400">
                <a:latin typeface="Cambria"/>
                <a:ea typeface="Cambria"/>
                <a:cs typeface="Cambria"/>
                <a:sym typeface="Cambria"/>
              </a:rPr>
              <a:t>Ensure that </a:t>
            </a:r>
            <a:r>
              <a:rPr b="1" lang="en-US" sz="1400">
                <a:latin typeface="Cambria"/>
                <a:ea typeface="Cambria"/>
                <a:cs typeface="Cambria"/>
                <a:sym typeface="Cambria"/>
              </a:rPr>
              <a:t>adb </a:t>
            </a:r>
            <a:r>
              <a:rPr lang="en-US" sz="1400">
                <a:latin typeface="Cambria"/>
                <a:ea typeface="Cambria"/>
                <a:cs typeface="Cambria"/>
                <a:sym typeface="Cambria"/>
              </a:rPr>
              <a:t>is installed on the computer. If not, you can download the Android SDK tools.</a:t>
            </a:r>
            <a:endParaRPr sz="1400">
              <a:latin typeface="Cambria"/>
              <a:ea typeface="Cambria"/>
              <a:cs typeface="Cambria"/>
              <a:sym typeface="Cambria"/>
            </a:endParaRPr>
          </a:p>
          <a:p>
            <a:pPr indent="-229235" lvl="0" marL="470534" rtl="0" algn="l">
              <a:lnSpc>
                <a:spcPct val="113571"/>
              </a:lnSpc>
              <a:spcBef>
                <a:spcPts val="0"/>
              </a:spcBef>
              <a:spcAft>
                <a:spcPts val="0"/>
              </a:spcAft>
              <a:buSzPts val="1400"/>
              <a:buFont typeface="Cambria"/>
              <a:buAutoNum type="arabicPeriod"/>
            </a:pPr>
            <a:r>
              <a:rPr b="1" lang="en-US" sz="1400">
                <a:latin typeface="Cambria"/>
                <a:ea typeface="Cambria"/>
                <a:cs typeface="Cambria"/>
                <a:sym typeface="Cambria"/>
              </a:rPr>
              <a:t>Use ADB Commands</a:t>
            </a:r>
            <a:r>
              <a:rPr lang="en-US" sz="1400">
                <a:latin typeface="Cambria"/>
                <a:ea typeface="Cambria"/>
                <a:cs typeface="Cambria"/>
                <a:sym typeface="Cambria"/>
              </a:rPr>
              <a:t>:</a:t>
            </a:r>
            <a:endParaRPr sz="1400">
              <a:latin typeface="Cambria"/>
              <a:ea typeface="Cambria"/>
              <a:cs typeface="Cambria"/>
              <a:sym typeface="Cambria"/>
            </a:endParaRPr>
          </a:p>
          <a:p>
            <a:pPr indent="-228600" lvl="1" marL="927100" rtl="0" algn="l">
              <a:lnSpc>
                <a:spcPct val="117499"/>
              </a:lnSpc>
              <a:spcBef>
                <a:spcPts val="0"/>
              </a:spcBef>
              <a:spcAft>
                <a:spcPts val="0"/>
              </a:spcAft>
              <a:buSzPts val="1000"/>
              <a:buFont typeface="Courier New"/>
              <a:buChar char="o"/>
            </a:pPr>
            <a:r>
              <a:rPr lang="en-US" sz="1400">
                <a:latin typeface="Cambria"/>
                <a:ea typeface="Cambria"/>
                <a:cs typeface="Cambria"/>
                <a:sym typeface="Cambria"/>
              </a:rPr>
              <a:t>Open the command prompt or terminal window on the computer.</a:t>
            </a:r>
            <a:endParaRPr sz="1400">
              <a:latin typeface="Cambria"/>
              <a:ea typeface="Cambria"/>
              <a:cs typeface="Cambria"/>
              <a:sym typeface="Cambria"/>
            </a:endParaRPr>
          </a:p>
          <a:p>
            <a:pPr indent="-228600" lvl="1" marL="927100" rtl="0" algn="l">
              <a:lnSpc>
                <a:spcPct val="119285"/>
              </a:lnSpc>
              <a:spcBef>
                <a:spcPts val="0"/>
              </a:spcBef>
              <a:spcAft>
                <a:spcPts val="0"/>
              </a:spcAft>
              <a:buSzPts val="1000"/>
              <a:buFont typeface="Courier New"/>
              <a:buChar char="o"/>
            </a:pPr>
            <a:r>
              <a:rPr lang="en-US" sz="1400">
                <a:latin typeface="Cambria"/>
                <a:ea typeface="Cambria"/>
                <a:cs typeface="Cambria"/>
                <a:sym typeface="Cambria"/>
              </a:rPr>
              <a:t>Check the connection:</a:t>
            </a:r>
            <a:endParaRPr sz="1400">
              <a:latin typeface="Cambria"/>
              <a:ea typeface="Cambria"/>
              <a:cs typeface="Cambria"/>
              <a:sym typeface="Cambria"/>
            </a:endParaRPr>
          </a:p>
          <a:p>
            <a:pPr indent="0" lvl="0" marL="927100" rtl="0" algn="l">
              <a:lnSpc>
                <a:spcPct val="100000"/>
              </a:lnSpc>
              <a:spcBef>
                <a:spcPts val="1345"/>
              </a:spcBef>
              <a:spcAft>
                <a:spcPts val="0"/>
              </a:spcAft>
              <a:buNone/>
            </a:pPr>
            <a:r>
              <a:rPr lang="en-US" sz="1400">
                <a:latin typeface="Cambria"/>
                <a:ea typeface="Cambria"/>
                <a:cs typeface="Cambria"/>
                <a:sym typeface="Cambria"/>
              </a:rPr>
              <a:t>adb devices</a:t>
            </a:r>
            <a:endParaRPr sz="1400">
              <a:latin typeface="Cambria"/>
              <a:ea typeface="Cambria"/>
              <a:cs typeface="Cambria"/>
              <a:sym typeface="Cambria"/>
            </a:endParaRPr>
          </a:p>
          <a:p>
            <a:pPr indent="-228600" lvl="1" marL="927100" marR="125095" rtl="0" algn="l">
              <a:lnSpc>
                <a:spcPct val="180000"/>
              </a:lnSpc>
              <a:spcBef>
                <a:spcPts val="50"/>
              </a:spcBef>
              <a:spcAft>
                <a:spcPts val="0"/>
              </a:spcAft>
              <a:buSzPts val="1000"/>
              <a:buFont typeface="Courier New"/>
              <a:buChar char="o"/>
            </a:pPr>
            <a:r>
              <a:rPr lang="en-US" sz="1400">
                <a:latin typeface="Cambria"/>
                <a:ea typeface="Cambria"/>
                <a:cs typeface="Cambria"/>
                <a:sym typeface="Cambria"/>
              </a:rPr>
              <a:t>Use the adb pull command to copy files from the Android device: adb pull /path/to/device/file /path/to/local/destination</a:t>
            </a:r>
            <a:endParaRPr sz="1400">
              <a:latin typeface="Cambria"/>
              <a:ea typeface="Cambria"/>
              <a:cs typeface="Cambria"/>
              <a:sym typeface="Cambria"/>
            </a:endParaRPr>
          </a:p>
          <a:p>
            <a:pPr indent="-228600" lvl="1" marL="927100" marR="108585" rtl="0" algn="l">
              <a:lnSpc>
                <a:spcPct val="118571"/>
              </a:lnSpc>
              <a:spcBef>
                <a:spcPts val="1440"/>
              </a:spcBef>
              <a:spcAft>
                <a:spcPts val="0"/>
              </a:spcAft>
              <a:buSzPts val="1000"/>
              <a:buFont typeface="Courier New"/>
              <a:buChar char="o"/>
            </a:pPr>
            <a:r>
              <a:rPr lang="en-US" sz="1400">
                <a:latin typeface="Cambria"/>
                <a:ea typeface="Cambria"/>
                <a:cs typeface="Cambria"/>
                <a:sym typeface="Cambria"/>
              </a:rPr>
              <a:t>For example, to extract the entire data/data directory where app data is stored:</a:t>
            </a:r>
            <a:endParaRPr sz="1400">
              <a:latin typeface="Cambria"/>
              <a:ea typeface="Cambria"/>
              <a:cs typeface="Cambria"/>
              <a:sym typeface="Cambria"/>
            </a:endParaRPr>
          </a:p>
          <a:p>
            <a:pPr indent="0" lvl="0" marL="927100" rtl="0" algn="l">
              <a:lnSpc>
                <a:spcPct val="100000"/>
              </a:lnSpc>
              <a:spcBef>
                <a:spcPts val="1265"/>
              </a:spcBef>
              <a:spcAft>
                <a:spcPts val="0"/>
              </a:spcAft>
              <a:buNone/>
            </a:pPr>
            <a:r>
              <a:rPr lang="en-US" sz="1400">
                <a:latin typeface="Cambria"/>
                <a:ea typeface="Cambria"/>
                <a:cs typeface="Cambria"/>
                <a:sym typeface="Cambria"/>
              </a:rPr>
              <a:t>adb pull /data/data /path/to/destination</a:t>
            </a:r>
            <a:endParaRPr sz="1400">
              <a:latin typeface="Cambria"/>
              <a:ea typeface="Cambria"/>
              <a:cs typeface="Cambria"/>
              <a:sym typeface="Cambria"/>
            </a:endParaRPr>
          </a:p>
          <a:p>
            <a:pPr indent="0" lvl="0" marL="0" rtl="0" algn="l">
              <a:lnSpc>
                <a:spcPct val="100000"/>
              </a:lnSpc>
              <a:spcBef>
                <a:spcPts val="1385"/>
              </a:spcBef>
              <a:spcAft>
                <a:spcPts val="0"/>
              </a:spcAft>
              <a:buNone/>
            </a:pPr>
            <a:r>
              <a:t/>
            </a:r>
            <a:endParaRPr sz="1400">
              <a:latin typeface="Cambria"/>
              <a:ea typeface="Cambria"/>
              <a:cs typeface="Cambria"/>
              <a:sym typeface="Cambria"/>
            </a:endParaRPr>
          </a:p>
          <a:p>
            <a:pPr indent="-182245" lvl="0" marL="194945" rtl="0" algn="l">
              <a:lnSpc>
                <a:spcPct val="100000"/>
              </a:lnSpc>
              <a:spcBef>
                <a:spcPts val="0"/>
              </a:spcBef>
              <a:spcAft>
                <a:spcPts val="0"/>
              </a:spcAft>
              <a:buSzPts val="1400"/>
              <a:buFont typeface="Cambria"/>
              <a:buAutoNum type="arabicPeriod" startAt="2"/>
            </a:pPr>
            <a:r>
              <a:rPr b="1" lang="en-US" sz="1400">
                <a:latin typeface="Cambria"/>
                <a:ea typeface="Cambria"/>
                <a:cs typeface="Cambria"/>
                <a:sym typeface="Cambria"/>
              </a:rPr>
              <a:t>Using SQLite Browser to View Data</a:t>
            </a:r>
            <a:endParaRPr sz="1400">
              <a:latin typeface="Cambria"/>
              <a:ea typeface="Cambria"/>
              <a:cs typeface="Cambria"/>
              <a:sym typeface="Cambria"/>
            </a:endParaRPr>
          </a:p>
          <a:p>
            <a:pPr indent="0" lvl="0" marL="12700" marR="5080" rtl="0" algn="l">
              <a:lnSpc>
                <a:spcPct val="98600"/>
              </a:lnSpc>
              <a:spcBef>
                <a:spcPts val="1370"/>
              </a:spcBef>
              <a:spcAft>
                <a:spcPts val="0"/>
              </a:spcAft>
              <a:buNone/>
            </a:pPr>
            <a:r>
              <a:rPr lang="en-US" sz="1400">
                <a:latin typeface="Cambria"/>
                <a:ea typeface="Cambria"/>
                <a:cs typeface="Cambria"/>
                <a:sym typeface="Cambria"/>
              </a:rPr>
              <a:t>SQLite is a common database used by many Android apps to store data locally. To extract and view data stored in SQLite databases (such as app data, call logs, or SMS data), a tool like </a:t>
            </a:r>
            <a:r>
              <a:rPr b="1" lang="en-US" sz="1400">
                <a:latin typeface="Cambria"/>
                <a:ea typeface="Cambria"/>
                <a:cs typeface="Cambria"/>
                <a:sym typeface="Cambria"/>
              </a:rPr>
              <a:t>DB Browser for SQLite </a:t>
            </a:r>
            <a:r>
              <a:rPr lang="en-US" sz="1400">
                <a:latin typeface="Cambria"/>
                <a:ea typeface="Cambria"/>
                <a:cs typeface="Cambria"/>
                <a:sym typeface="Cambria"/>
              </a:rPr>
              <a:t>is useful.</a:t>
            </a:r>
            <a:endParaRPr sz="1400">
              <a:latin typeface="Cambria"/>
              <a:ea typeface="Cambria"/>
              <a:cs typeface="Cambria"/>
              <a:sym typeface="Cambria"/>
            </a:endParaRPr>
          </a:p>
          <a:p>
            <a:pPr indent="0" lvl="0" marL="12700" rtl="0" algn="l">
              <a:lnSpc>
                <a:spcPct val="100000"/>
              </a:lnSpc>
              <a:spcBef>
                <a:spcPts val="1365"/>
              </a:spcBef>
              <a:spcAft>
                <a:spcPts val="0"/>
              </a:spcAft>
              <a:buNone/>
            </a:pPr>
            <a:r>
              <a:rPr b="1" lang="en-US" sz="1400">
                <a:latin typeface="Cambria"/>
                <a:ea typeface="Cambria"/>
                <a:cs typeface="Cambria"/>
                <a:sym typeface="Cambria"/>
              </a:rPr>
              <a:t>Steps:</a:t>
            </a:r>
            <a:endParaRPr sz="1400">
              <a:latin typeface="Cambria"/>
              <a:ea typeface="Cambria"/>
              <a:cs typeface="Cambria"/>
              <a:sym typeface="Cambria"/>
            </a:endParaRPr>
          </a:p>
          <a:p>
            <a:pPr indent="-229235" lvl="1" marL="470534" rtl="0" algn="l">
              <a:lnSpc>
                <a:spcPct val="100000"/>
              </a:lnSpc>
              <a:spcBef>
                <a:spcPts val="1345"/>
              </a:spcBef>
              <a:spcAft>
                <a:spcPts val="0"/>
              </a:spcAft>
              <a:buSzPts val="1400"/>
              <a:buFont typeface="Cambria"/>
              <a:buAutoNum type="arabicPeriod"/>
            </a:pPr>
            <a:r>
              <a:rPr b="1" lang="en-US" sz="1400">
                <a:latin typeface="Cambria"/>
                <a:ea typeface="Cambria"/>
                <a:cs typeface="Cambria"/>
                <a:sym typeface="Cambria"/>
              </a:rPr>
              <a:t>Access SQLite Database via ADB</a:t>
            </a:r>
            <a:r>
              <a:rPr lang="en-US" sz="1400">
                <a:latin typeface="Cambria"/>
                <a:ea typeface="Cambria"/>
                <a:cs typeface="Cambria"/>
                <a:sym typeface="Cambria"/>
              </a:rPr>
              <a:t>:</a:t>
            </a:r>
            <a:endParaRPr sz="1400">
              <a:latin typeface="Cambria"/>
              <a:ea typeface="Cambria"/>
              <a:cs typeface="Cambria"/>
              <a:sym typeface="Cambria"/>
            </a:endParaRPr>
          </a:p>
        </p:txBody>
      </p:sp>
      <p:sp>
        <p:nvSpPr>
          <p:cNvPr id="125" name="Google Shape;125;p14"/>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9" name="Shape 129"/>
        <p:cNvGrpSpPr/>
        <p:nvPr/>
      </p:nvGrpSpPr>
      <p:grpSpPr>
        <a:xfrm>
          <a:off x="0" y="0"/>
          <a:ext cx="0" cy="0"/>
          <a:chOff x="0" y="0"/>
          <a:chExt cx="0" cy="0"/>
        </a:xfrm>
      </p:grpSpPr>
      <p:sp>
        <p:nvSpPr>
          <p:cNvPr id="130" name="Google Shape;130;p15"/>
          <p:cNvSpPr txBox="1"/>
          <p:nvPr/>
        </p:nvSpPr>
        <p:spPr>
          <a:xfrm>
            <a:off x="902004" y="892809"/>
            <a:ext cx="5890260" cy="8094980"/>
          </a:xfrm>
          <a:prstGeom prst="rect">
            <a:avLst/>
          </a:prstGeom>
          <a:noFill/>
          <a:ln>
            <a:noFill/>
          </a:ln>
        </p:spPr>
        <p:txBody>
          <a:bodyPr anchorCtr="0" anchor="t" bIns="0" lIns="0" spcFirstLastPara="1" rIns="0" wrap="square" tIns="23475">
            <a:spAutoFit/>
          </a:bodyPr>
          <a:lstStyle/>
          <a:p>
            <a:pPr indent="-228600" lvl="0" marL="927100" marR="344805" rtl="0" algn="l">
              <a:lnSpc>
                <a:spcPct val="116428"/>
              </a:lnSpc>
              <a:spcBef>
                <a:spcPts val="0"/>
              </a:spcBef>
              <a:spcAft>
                <a:spcPts val="0"/>
              </a:spcAft>
              <a:buSzPts val="1000"/>
              <a:buFont typeface="Courier New"/>
              <a:buChar char="o"/>
            </a:pPr>
            <a:r>
              <a:rPr lang="en-US" sz="1400">
                <a:latin typeface="Cambria"/>
                <a:ea typeface="Cambria"/>
                <a:cs typeface="Cambria"/>
                <a:sym typeface="Cambria"/>
              </a:rPr>
              <a:t>Using ADB, locate the SQLite database on the Android device. Common locations for databases include:</a:t>
            </a:r>
            <a:endParaRPr sz="1400">
              <a:latin typeface="Cambria"/>
              <a:ea typeface="Cambria"/>
              <a:cs typeface="Cambria"/>
              <a:sym typeface="Cambria"/>
            </a:endParaRPr>
          </a:p>
          <a:p>
            <a:pPr indent="-228600" lvl="1" marL="1384300" rtl="0" algn="l">
              <a:lnSpc>
                <a:spcPct val="113571"/>
              </a:lnSpc>
              <a:spcBef>
                <a:spcPts val="0"/>
              </a:spcBef>
              <a:spcAft>
                <a:spcPts val="0"/>
              </a:spcAft>
              <a:buSzPts val="1000"/>
              <a:buFont typeface="Noto Sans Symbols"/>
              <a:buChar char="▪"/>
            </a:pPr>
            <a:r>
              <a:rPr lang="en-US" sz="1400">
                <a:latin typeface="Cambria"/>
                <a:ea typeface="Cambria"/>
                <a:cs typeface="Cambria"/>
                <a:sym typeface="Cambria"/>
              </a:rPr>
              <a:t>/data/data/com.appname/databases/</a:t>
            </a:r>
            <a:endParaRPr sz="1400">
              <a:latin typeface="Cambria"/>
              <a:ea typeface="Cambria"/>
              <a:cs typeface="Cambria"/>
              <a:sym typeface="Cambria"/>
            </a:endParaRPr>
          </a:p>
          <a:p>
            <a:pPr indent="-228600" lvl="1" marL="1384300" rtl="0" algn="l">
              <a:lnSpc>
                <a:spcPct val="118571"/>
              </a:lnSpc>
              <a:spcBef>
                <a:spcPts val="0"/>
              </a:spcBef>
              <a:spcAft>
                <a:spcPts val="0"/>
              </a:spcAft>
              <a:buSzPts val="1000"/>
              <a:buFont typeface="Noto Sans Symbols"/>
              <a:buChar char="▪"/>
            </a:pPr>
            <a:r>
              <a:rPr lang="en-US" sz="1400">
                <a:latin typeface="Cambria"/>
                <a:ea typeface="Cambria"/>
                <a:cs typeface="Cambria"/>
                <a:sym typeface="Cambria"/>
              </a:rPr>
              <a:t>/data/user/0/com.appname/databases/</a:t>
            </a:r>
            <a:endParaRPr sz="1400">
              <a:latin typeface="Cambria"/>
              <a:ea typeface="Cambria"/>
              <a:cs typeface="Cambria"/>
              <a:sym typeface="Cambria"/>
            </a:endParaRPr>
          </a:p>
          <a:p>
            <a:pPr indent="-228600" lvl="0" marL="927100" rtl="0" algn="l">
              <a:lnSpc>
                <a:spcPct val="100000"/>
              </a:lnSpc>
              <a:spcBef>
                <a:spcPts val="0"/>
              </a:spcBef>
              <a:spcAft>
                <a:spcPts val="0"/>
              </a:spcAft>
              <a:buSzPts val="1000"/>
              <a:buFont typeface="Courier New"/>
              <a:buChar char="o"/>
            </a:pPr>
            <a:r>
              <a:rPr lang="en-US" sz="1400">
                <a:latin typeface="Cambria"/>
                <a:ea typeface="Cambria"/>
                <a:cs typeface="Cambria"/>
                <a:sym typeface="Cambria"/>
              </a:rPr>
              <a:t>Use ADB to </a:t>
            </a:r>
            <a:r>
              <a:rPr b="1" lang="en-US" sz="1400">
                <a:latin typeface="Cambria"/>
                <a:ea typeface="Cambria"/>
                <a:cs typeface="Cambria"/>
                <a:sym typeface="Cambria"/>
              </a:rPr>
              <a:t>pull </a:t>
            </a:r>
            <a:r>
              <a:rPr lang="en-US" sz="1400">
                <a:latin typeface="Cambria"/>
                <a:ea typeface="Cambria"/>
                <a:cs typeface="Cambria"/>
                <a:sym typeface="Cambria"/>
              </a:rPr>
              <a:t>the database to the computer:</a:t>
            </a:r>
            <a:endParaRPr sz="1400">
              <a:latin typeface="Cambria"/>
              <a:ea typeface="Cambria"/>
              <a:cs typeface="Cambria"/>
              <a:sym typeface="Cambria"/>
            </a:endParaRPr>
          </a:p>
          <a:p>
            <a:pPr indent="0" lvl="0" marL="927100" rtl="0" algn="l">
              <a:lnSpc>
                <a:spcPct val="119285"/>
              </a:lnSpc>
              <a:spcBef>
                <a:spcPts val="1320"/>
              </a:spcBef>
              <a:spcAft>
                <a:spcPts val="0"/>
              </a:spcAft>
              <a:buNone/>
            </a:pPr>
            <a:r>
              <a:rPr lang="en-US" sz="1400">
                <a:latin typeface="Cambria"/>
                <a:ea typeface="Cambria"/>
                <a:cs typeface="Cambria"/>
                <a:sym typeface="Cambria"/>
              </a:rPr>
              <a:t>adb pull /data/data/com.appname/databases/appdata.db</a:t>
            </a:r>
            <a:endParaRPr sz="1400">
              <a:latin typeface="Cambria"/>
              <a:ea typeface="Cambria"/>
              <a:cs typeface="Cambria"/>
              <a:sym typeface="Cambria"/>
            </a:endParaRPr>
          </a:p>
          <a:p>
            <a:pPr indent="0" lvl="0" marL="927100" rtl="0" algn="l">
              <a:lnSpc>
                <a:spcPct val="119285"/>
              </a:lnSpc>
              <a:spcBef>
                <a:spcPts val="0"/>
              </a:spcBef>
              <a:spcAft>
                <a:spcPts val="0"/>
              </a:spcAft>
              <a:buNone/>
            </a:pPr>
            <a:r>
              <a:rPr lang="en-US" sz="1400">
                <a:latin typeface="Cambria"/>
                <a:ea typeface="Cambria"/>
                <a:cs typeface="Cambria"/>
                <a:sym typeface="Cambria"/>
              </a:rPr>
              <a:t>/path/to/local/destination</a:t>
            </a:r>
            <a:endParaRPr sz="1400">
              <a:latin typeface="Cambria"/>
              <a:ea typeface="Cambria"/>
              <a:cs typeface="Cambria"/>
              <a:sym typeface="Cambria"/>
            </a:endParaRPr>
          </a:p>
          <a:p>
            <a:pPr indent="-229235" lvl="0" marL="470534" rtl="0" algn="l">
              <a:lnSpc>
                <a:spcPct val="118214"/>
              </a:lnSpc>
              <a:spcBef>
                <a:spcPts val="1370"/>
              </a:spcBef>
              <a:spcAft>
                <a:spcPts val="0"/>
              </a:spcAft>
              <a:buSzPts val="1400"/>
              <a:buFont typeface="Cambria"/>
              <a:buAutoNum type="arabicPeriod" startAt="2"/>
            </a:pPr>
            <a:r>
              <a:rPr b="1" lang="en-US" sz="1400">
                <a:latin typeface="Cambria"/>
                <a:ea typeface="Cambria"/>
                <a:cs typeface="Cambria"/>
                <a:sym typeface="Cambria"/>
              </a:rPr>
              <a:t>Install DB Browser for SQLite</a:t>
            </a:r>
            <a:r>
              <a:rPr lang="en-US" sz="1400">
                <a:latin typeface="Cambria"/>
                <a:ea typeface="Cambria"/>
                <a:cs typeface="Cambria"/>
                <a:sym typeface="Cambria"/>
              </a:rPr>
              <a:t>:</a:t>
            </a:r>
            <a:endParaRPr sz="1400">
              <a:latin typeface="Cambria"/>
              <a:ea typeface="Cambria"/>
              <a:cs typeface="Cambria"/>
              <a:sym typeface="Cambria"/>
            </a:endParaRPr>
          </a:p>
          <a:p>
            <a:pPr indent="-228600" lvl="1" marL="927100" marR="437515" rtl="0" algn="l">
              <a:lnSpc>
                <a:spcPct val="116428"/>
              </a:lnSpc>
              <a:spcBef>
                <a:spcPts val="75"/>
              </a:spcBef>
              <a:spcAft>
                <a:spcPts val="0"/>
              </a:spcAft>
              <a:buSzPts val="1000"/>
              <a:buFont typeface="Courier New"/>
              <a:buChar char="o"/>
            </a:pPr>
            <a:r>
              <a:rPr lang="en-US" sz="1400">
                <a:latin typeface="Cambria"/>
                <a:ea typeface="Cambria"/>
                <a:cs typeface="Cambria"/>
                <a:sym typeface="Cambria"/>
              </a:rPr>
              <a:t>Download and install </a:t>
            </a:r>
            <a:r>
              <a:rPr b="1" lang="en-US" sz="1400">
                <a:latin typeface="Cambria"/>
                <a:ea typeface="Cambria"/>
                <a:cs typeface="Cambria"/>
                <a:sym typeface="Cambria"/>
              </a:rPr>
              <a:t>DB Browser for SQLite </a:t>
            </a:r>
            <a:r>
              <a:rPr lang="en-US" sz="1400">
                <a:latin typeface="Cambria"/>
                <a:ea typeface="Cambria"/>
                <a:cs typeface="Cambria"/>
                <a:sym typeface="Cambria"/>
              </a:rPr>
              <a:t>(available for Windows, macOS, and Linux).</a:t>
            </a:r>
            <a:endParaRPr sz="1400">
              <a:latin typeface="Cambria"/>
              <a:ea typeface="Cambria"/>
              <a:cs typeface="Cambria"/>
              <a:sym typeface="Cambria"/>
            </a:endParaRPr>
          </a:p>
          <a:p>
            <a:pPr indent="-229235" lvl="0" marL="470534" rtl="0" algn="l">
              <a:lnSpc>
                <a:spcPct val="113571"/>
              </a:lnSpc>
              <a:spcBef>
                <a:spcPts val="0"/>
              </a:spcBef>
              <a:spcAft>
                <a:spcPts val="0"/>
              </a:spcAft>
              <a:buSzPts val="1400"/>
              <a:buFont typeface="Cambria"/>
              <a:buAutoNum type="arabicPeriod" startAt="2"/>
            </a:pPr>
            <a:r>
              <a:rPr b="1" lang="en-US" sz="1400">
                <a:latin typeface="Cambria"/>
                <a:ea typeface="Cambria"/>
                <a:cs typeface="Cambria"/>
                <a:sym typeface="Cambria"/>
              </a:rPr>
              <a:t>Open the SQLite Database</a:t>
            </a:r>
            <a:r>
              <a:rPr lang="en-US" sz="1400">
                <a:latin typeface="Cambria"/>
                <a:ea typeface="Cambria"/>
                <a:cs typeface="Cambria"/>
                <a:sym typeface="Cambria"/>
              </a:rPr>
              <a:t>:</a:t>
            </a:r>
            <a:endParaRPr sz="1400">
              <a:latin typeface="Cambria"/>
              <a:ea typeface="Cambria"/>
              <a:cs typeface="Cambria"/>
              <a:sym typeface="Cambria"/>
            </a:endParaRPr>
          </a:p>
          <a:p>
            <a:pPr indent="-228600" lvl="1" marL="927100" rtl="0" algn="l">
              <a:lnSpc>
                <a:spcPct val="116785"/>
              </a:lnSpc>
              <a:spcBef>
                <a:spcPts val="0"/>
              </a:spcBef>
              <a:spcAft>
                <a:spcPts val="0"/>
              </a:spcAft>
              <a:buSzPts val="1000"/>
              <a:buFont typeface="Courier New"/>
              <a:buChar char="o"/>
            </a:pPr>
            <a:r>
              <a:rPr lang="en-US" sz="1400">
                <a:latin typeface="Cambria"/>
                <a:ea typeface="Cambria"/>
                <a:cs typeface="Cambria"/>
                <a:sym typeface="Cambria"/>
              </a:rPr>
              <a:t>Launch the SQLite Browser and open the appdata.db file.</a:t>
            </a:r>
            <a:endParaRPr sz="1400">
              <a:latin typeface="Cambria"/>
              <a:ea typeface="Cambria"/>
              <a:cs typeface="Cambria"/>
              <a:sym typeface="Cambria"/>
            </a:endParaRPr>
          </a:p>
          <a:p>
            <a:pPr indent="-228600" lvl="1" marL="927100" marR="29209" rtl="0" algn="l">
              <a:lnSpc>
                <a:spcPct val="120000"/>
              </a:lnSpc>
              <a:spcBef>
                <a:spcPts val="30"/>
              </a:spcBef>
              <a:spcAft>
                <a:spcPts val="0"/>
              </a:spcAft>
              <a:buSzPts val="1000"/>
              <a:buFont typeface="Courier New"/>
              <a:buChar char="o"/>
            </a:pPr>
            <a:r>
              <a:rPr lang="en-US" sz="1400">
                <a:latin typeface="Cambria"/>
                <a:ea typeface="Cambria"/>
                <a:cs typeface="Cambria"/>
                <a:sym typeface="Cambria"/>
              </a:rPr>
              <a:t>Browse through the tables and data, and perform queries to view or extract the required data.</a:t>
            </a:r>
            <a:endParaRPr sz="1400">
              <a:latin typeface="Cambria"/>
              <a:ea typeface="Cambria"/>
              <a:cs typeface="Cambria"/>
              <a:sym typeface="Cambria"/>
            </a:endParaRPr>
          </a:p>
          <a:p>
            <a:pPr indent="-182245" lvl="0" marL="194945" rtl="0" algn="l">
              <a:lnSpc>
                <a:spcPct val="100000"/>
              </a:lnSpc>
              <a:spcBef>
                <a:spcPts val="1290"/>
              </a:spcBef>
              <a:spcAft>
                <a:spcPts val="0"/>
              </a:spcAft>
              <a:buSzPts val="1400"/>
              <a:buFont typeface="Cambria"/>
              <a:buAutoNum type="arabicPeriod" startAt="2"/>
            </a:pPr>
            <a:r>
              <a:rPr b="1" lang="en-US" sz="1400">
                <a:latin typeface="Cambria"/>
                <a:ea typeface="Cambria"/>
                <a:cs typeface="Cambria"/>
                <a:sym typeface="Cambria"/>
              </a:rPr>
              <a:t>Extracting Device Information</a:t>
            </a:r>
            <a:endParaRPr sz="1400">
              <a:latin typeface="Cambria"/>
              <a:ea typeface="Cambria"/>
              <a:cs typeface="Cambria"/>
              <a:sym typeface="Cambria"/>
            </a:endParaRPr>
          </a:p>
          <a:p>
            <a:pPr indent="0" lvl="0" marL="12700" marR="164465" rtl="0" algn="l">
              <a:lnSpc>
                <a:spcPct val="118571"/>
              </a:lnSpc>
              <a:spcBef>
                <a:spcPts val="1415"/>
              </a:spcBef>
              <a:spcAft>
                <a:spcPts val="0"/>
              </a:spcAft>
              <a:buNone/>
            </a:pPr>
            <a:r>
              <a:rPr lang="en-US" sz="1400">
                <a:latin typeface="Cambria"/>
                <a:ea typeface="Cambria"/>
                <a:cs typeface="Cambria"/>
                <a:sym typeface="Cambria"/>
              </a:rPr>
              <a:t>Device information such as model, manufacturer, OS version, and hardware specs can be useful for analyzing a device in forensics or troubleshooting scenarios.</a:t>
            </a:r>
            <a:endParaRPr sz="1400">
              <a:latin typeface="Cambria"/>
              <a:ea typeface="Cambria"/>
              <a:cs typeface="Cambria"/>
              <a:sym typeface="Cambria"/>
            </a:endParaRPr>
          </a:p>
          <a:p>
            <a:pPr indent="0" lvl="0" marL="12700" rtl="0" algn="l">
              <a:lnSpc>
                <a:spcPct val="100000"/>
              </a:lnSpc>
              <a:spcBef>
                <a:spcPts val="1310"/>
              </a:spcBef>
              <a:spcAft>
                <a:spcPts val="0"/>
              </a:spcAft>
              <a:buNone/>
            </a:pPr>
            <a:r>
              <a:rPr b="1" lang="en-US" sz="1400">
                <a:latin typeface="Cambria"/>
                <a:ea typeface="Cambria"/>
                <a:cs typeface="Cambria"/>
                <a:sym typeface="Cambria"/>
              </a:rPr>
              <a:t>Steps:</a:t>
            </a:r>
            <a:endParaRPr sz="1400">
              <a:latin typeface="Cambria"/>
              <a:ea typeface="Cambria"/>
              <a:cs typeface="Cambria"/>
              <a:sym typeface="Cambria"/>
            </a:endParaRPr>
          </a:p>
          <a:p>
            <a:pPr indent="-229235" lvl="1" marL="470534" rtl="0" algn="l">
              <a:lnSpc>
                <a:spcPct val="119285"/>
              </a:lnSpc>
              <a:spcBef>
                <a:spcPts val="1320"/>
              </a:spcBef>
              <a:spcAft>
                <a:spcPts val="0"/>
              </a:spcAft>
              <a:buSzPts val="1400"/>
              <a:buFont typeface="Cambria"/>
              <a:buAutoNum type="arabicPeriod"/>
            </a:pPr>
            <a:r>
              <a:rPr b="1" lang="en-US" sz="1400">
                <a:latin typeface="Cambria"/>
                <a:ea typeface="Cambria"/>
                <a:cs typeface="Cambria"/>
                <a:sym typeface="Cambria"/>
              </a:rPr>
              <a:t>Use ADB to Extract Device Info</a:t>
            </a:r>
            <a:r>
              <a:rPr lang="en-US" sz="1400">
                <a:latin typeface="Cambria"/>
                <a:ea typeface="Cambria"/>
                <a:cs typeface="Cambria"/>
                <a:sym typeface="Cambria"/>
              </a:rPr>
              <a:t>:</a:t>
            </a:r>
            <a:endParaRPr sz="1400">
              <a:latin typeface="Cambria"/>
              <a:ea typeface="Cambria"/>
              <a:cs typeface="Cambria"/>
              <a:sym typeface="Cambria"/>
            </a:endParaRPr>
          </a:p>
          <a:p>
            <a:pPr indent="-228600" lvl="2" marL="927100" rtl="0" algn="l">
              <a:lnSpc>
                <a:spcPct val="117499"/>
              </a:lnSpc>
              <a:spcBef>
                <a:spcPts val="0"/>
              </a:spcBef>
              <a:spcAft>
                <a:spcPts val="0"/>
              </a:spcAft>
              <a:buSzPts val="1000"/>
              <a:buFont typeface="Courier New"/>
              <a:buChar char="o"/>
            </a:pPr>
            <a:r>
              <a:rPr lang="en-US" sz="1400">
                <a:latin typeface="Cambria"/>
                <a:ea typeface="Cambria"/>
                <a:cs typeface="Cambria"/>
                <a:sym typeface="Cambria"/>
              </a:rPr>
              <a:t>Connect the device via USB and ensure USB debugging is enabled.</a:t>
            </a:r>
            <a:endParaRPr sz="1400">
              <a:latin typeface="Cambria"/>
              <a:ea typeface="Cambria"/>
              <a:cs typeface="Cambria"/>
              <a:sym typeface="Cambria"/>
            </a:endParaRPr>
          </a:p>
          <a:p>
            <a:pPr indent="-228600" lvl="2" marL="927100" marR="350520" rtl="0" algn="l">
              <a:lnSpc>
                <a:spcPct val="120000"/>
              </a:lnSpc>
              <a:spcBef>
                <a:spcPts val="35"/>
              </a:spcBef>
              <a:spcAft>
                <a:spcPts val="0"/>
              </a:spcAft>
              <a:buSzPts val="1000"/>
              <a:buFont typeface="Courier New"/>
              <a:buChar char="o"/>
            </a:pPr>
            <a:r>
              <a:rPr lang="en-US" sz="1400">
                <a:latin typeface="Cambria"/>
                <a:ea typeface="Cambria"/>
                <a:cs typeface="Cambria"/>
                <a:sym typeface="Cambria"/>
              </a:rPr>
              <a:t>Run the following ADB commands to retrieve detailed device information:</a:t>
            </a:r>
            <a:endParaRPr sz="1400">
              <a:latin typeface="Cambria"/>
              <a:ea typeface="Cambria"/>
              <a:cs typeface="Cambria"/>
              <a:sym typeface="Cambria"/>
            </a:endParaRPr>
          </a:p>
          <a:p>
            <a:pPr indent="0" lvl="0" marL="927100" rtl="0" algn="l">
              <a:lnSpc>
                <a:spcPct val="100000"/>
              </a:lnSpc>
              <a:spcBef>
                <a:spcPts val="1265"/>
              </a:spcBef>
              <a:spcAft>
                <a:spcPts val="0"/>
              </a:spcAft>
              <a:buNone/>
            </a:pPr>
            <a:r>
              <a:rPr lang="en-US" sz="1400">
                <a:latin typeface="Cambria"/>
                <a:ea typeface="Cambria"/>
                <a:cs typeface="Cambria"/>
                <a:sym typeface="Cambria"/>
              </a:rPr>
              <a:t>adb shell getprop</a:t>
            </a:r>
            <a:endParaRPr sz="1400">
              <a:latin typeface="Cambria"/>
              <a:ea typeface="Cambria"/>
              <a:cs typeface="Cambria"/>
              <a:sym typeface="Cambria"/>
            </a:endParaRPr>
          </a:p>
          <a:p>
            <a:pPr indent="0" lvl="0" marL="927100" rtl="0" algn="l">
              <a:lnSpc>
                <a:spcPct val="100000"/>
              </a:lnSpc>
              <a:spcBef>
                <a:spcPts val="1395"/>
              </a:spcBef>
              <a:spcAft>
                <a:spcPts val="0"/>
              </a:spcAft>
              <a:buNone/>
            </a:pPr>
            <a:r>
              <a:rPr lang="en-US" sz="1400">
                <a:latin typeface="Cambria"/>
                <a:ea typeface="Cambria"/>
                <a:cs typeface="Cambria"/>
                <a:sym typeface="Cambria"/>
              </a:rPr>
              <a:t>This command outputs a list of properties such as:</a:t>
            </a:r>
            <a:endParaRPr sz="1400">
              <a:latin typeface="Cambria"/>
              <a:ea typeface="Cambria"/>
              <a:cs typeface="Cambria"/>
              <a:sym typeface="Cambria"/>
            </a:endParaRPr>
          </a:p>
          <a:p>
            <a:pPr indent="-228600" lvl="3" marL="1384300" rtl="0" algn="l">
              <a:lnSpc>
                <a:spcPct val="118214"/>
              </a:lnSpc>
              <a:spcBef>
                <a:spcPts val="1340"/>
              </a:spcBef>
              <a:spcAft>
                <a:spcPts val="0"/>
              </a:spcAft>
              <a:buSzPts val="1000"/>
              <a:buFont typeface="Noto Sans Symbols"/>
              <a:buChar char="▪"/>
            </a:pPr>
            <a:r>
              <a:rPr lang="en-US" sz="1400">
                <a:latin typeface="Cambria"/>
                <a:ea typeface="Cambria"/>
                <a:cs typeface="Cambria"/>
                <a:sym typeface="Cambria"/>
              </a:rPr>
              <a:t>Model</a:t>
            </a:r>
            <a:endParaRPr sz="1400">
              <a:latin typeface="Cambria"/>
              <a:ea typeface="Cambria"/>
              <a:cs typeface="Cambria"/>
              <a:sym typeface="Cambria"/>
            </a:endParaRPr>
          </a:p>
          <a:p>
            <a:pPr indent="-228600" lvl="3" marL="1384300" rtl="0" algn="l">
              <a:lnSpc>
                <a:spcPct val="116785"/>
              </a:lnSpc>
              <a:spcBef>
                <a:spcPts val="0"/>
              </a:spcBef>
              <a:spcAft>
                <a:spcPts val="0"/>
              </a:spcAft>
              <a:buSzPts val="1000"/>
              <a:buFont typeface="Noto Sans Symbols"/>
              <a:buChar char="▪"/>
            </a:pPr>
            <a:r>
              <a:rPr lang="en-US" sz="1400">
                <a:latin typeface="Cambria"/>
                <a:ea typeface="Cambria"/>
                <a:cs typeface="Cambria"/>
                <a:sym typeface="Cambria"/>
              </a:rPr>
              <a:t>Manufacturer</a:t>
            </a:r>
            <a:endParaRPr sz="1400">
              <a:latin typeface="Cambria"/>
              <a:ea typeface="Cambria"/>
              <a:cs typeface="Cambria"/>
              <a:sym typeface="Cambria"/>
            </a:endParaRPr>
          </a:p>
          <a:p>
            <a:pPr indent="-228600" lvl="3" marL="1384300" rtl="0" algn="l">
              <a:lnSpc>
                <a:spcPct val="117499"/>
              </a:lnSpc>
              <a:spcBef>
                <a:spcPts val="0"/>
              </a:spcBef>
              <a:spcAft>
                <a:spcPts val="0"/>
              </a:spcAft>
              <a:buSzPts val="1000"/>
              <a:buFont typeface="Noto Sans Symbols"/>
              <a:buChar char="▪"/>
            </a:pPr>
            <a:r>
              <a:rPr lang="en-US" sz="1400">
                <a:latin typeface="Cambria"/>
                <a:ea typeface="Cambria"/>
                <a:cs typeface="Cambria"/>
                <a:sym typeface="Cambria"/>
              </a:rPr>
              <a:t>Android version</a:t>
            </a:r>
            <a:endParaRPr sz="1400">
              <a:latin typeface="Cambria"/>
              <a:ea typeface="Cambria"/>
              <a:cs typeface="Cambria"/>
              <a:sym typeface="Cambria"/>
            </a:endParaRPr>
          </a:p>
          <a:p>
            <a:pPr indent="-228600" lvl="3" marL="1384300" rtl="0" algn="l">
              <a:lnSpc>
                <a:spcPct val="117499"/>
              </a:lnSpc>
              <a:spcBef>
                <a:spcPts val="0"/>
              </a:spcBef>
              <a:spcAft>
                <a:spcPts val="0"/>
              </a:spcAft>
              <a:buSzPts val="1000"/>
              <a:buFont typeface="Noto Sans Symbols"/>
              <a:buChar char="▪"/>
            </a:pPr>
            <a:r>
              <a:rPr lang="en-US" sz="1400">
                <a:latin typeface="Cambria"/>
                <a:ea typeface="Cambria"/>
                <a:cs typeface="Cambria"/>
                <a:sym typeface="Cambria"/>
              </a:rPr>
              <a:t>Build ID</a:t>
            </a:r>
            <a:endParaRPr sz="1400">
              <a:latin typeface="Cambria"/>
              <a:ea typeface="Cambria"/>
              <a:cs typeface="Cambria"/>
              <a:sym typeface="Cambria"/>
            </a:endParaRPr>
          </a:p>
          <a:p>
            <a:pPr indent="-228600" lvl="3" marL="1384300" rtl="0" algn="l">
              <a:lnSpc>
                <a:spcPct val="117499"/>
              </a:lnSpc>
              <a:spcBef>
                <a:spcPts val="0"/>
              </a:spcBef>
              <a:spcAft>
                <a:spcPts val="0"/>
              </a:spcAft>
              <a:buSzPts val="1000"/>
              <a:buFont typeface="Noto Sans Symbols"/>
              <a:buChar char="▪"/>
            </a:pPr>
            <a:r>
              <a:rPr lang="en-US" sz="1400">
                <a:latin typeface="Cambria"/>
                <a:ea typeface="Cambria"/>
                <a:cs typeface="Cambria"/>
                <a:sym typeface="Cambria"/>
              </a:rPr>
              <a:t>Security patch level</a:t>
            </a:r>
            <a:endParaRPr sz="1400">
              <a:latin typeface="Cambria"/>
              <a:ea typeface="Cambria"/>
              <a:cs typeface="Cambria"/>
              <a:sym typeface="Cambria"/>
            </a:endParaRPr>
          </a:p>
          <a:p>
            <a:pPr indent="-229235" lvl="1" marL="470534" rtl="0" algn="l">
              <a:lnSpc>
                <a:spcPct val="119285"/>
              </a:lnSpc>
              <a:spcBef>
                <a:spcPts val="0"/>
              </a:spcBef>
              <a:spcAft>
                <a:spcPts val="0"/>
              </a:spcAft>
              <a:buSzPts val="1400"/>
              <a:buFont typeface="Cambria"/>
              <a:buAutoNum type="arabicPeriod"/>
            </a:pPr>
            <a:r>
              <a:rPr b="1" lang="en-US" sz="1400">
                <a:latin typeface="Cambria"/>
                <a:ea typeface="Cambria"/>
                <a:cs typeface="Cambria"/>
                <a:sym typeface="Cambria"/>
              </a:rPr>
              <a:t>Extracting System Logs</a:t>
            </a:r>
            <a:r>
              <a:rPr lang="en-US" sz="1400">
                <a:latin typeface="Cambria"/>
                <a:ea typeface="Cambria"/>
                <a:cs typeface="Cambria"/>
                <a:sym typeface="Cambria"/>
              </a:rPr>
              <a:t>:</a:t>
            </a:r>
            <a:endParaRPr sz="1400">
              <a:latin typeface="Cambria"/>
              <a:ea typeface="Cambria"/>
              <a:cs typeface="Cambria"/>
              <a:sym typeface="Cambria"/>
            </a:endParaRPr>
          </a:p>
        </p:txBody>
      </p:sp>
      <p:sp>
        <p:nvSpPr>
          <p:cNvPr id="131" name="Google Shape;131;p15"/>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5" name="Shape 135"/>
        <p:cNvGrpSpPr/>
        <p:nvPr/>
      </p:nvGrpSpPr>
      <p:grpSpPr>
        <a:xfrm>
          <a:off x="0" y="0"/>
          <a:ext cx="0" cy="0"/>
          <a:chOff x="0" y="0"/>
          <a:chExt cx="0" cy="0"/>
        </a:xfrm>
      </p:grpSpPr>
      <p:sp>
        <p:nvSpPr>
          <p:cNvPr id="136" name="Google Shape;136;p16"/>
          <p:cNvSpPr txBox="1"/>
          <p:nvPr/>
        </p:nvSpPr>
        <p:spPr>
          <a:xfrm>
            <a:off x="902004" y="892809"/>
            <a:ext cx="5925820" cy="5655945"/>
          </a:xfrm>
          <a:prstGeom prst="rect">
            <a:avLst/>
          </a:prstGeom>
          <a:noFill/>
          <a:ln>
            <a:noFill/>
          </a:ln>
        </p:spPr>
        <p:txBody>
          <a:bodyPr anchorCtr="0" anchor="t" bIns="0" lIns="0" spcFirstLastPara="1" rIns="0" wrap="square" tIns="20300">
            <a:spAutoFit/>
          </a:bodyPr>
          <a:lstStyle/>
          <a:p>
            <a:pPr indent="-228600" lvl="0" marL="927100" marR="310515" rtl="0" algn="l">
              <a:lnSpc>
                <a:spcPct val="118571"/>
              </a:lnSpc>
              <a:spcBef>
                <a:spcPts val="0"/>
              </a:spcBef>
              <a:spcAft>
                <a:spcPts val="0"/>
              </a:spcAft>
              <a:buSzPts val="1000"/>
              <a:buFont typeface="Courier New"/>
              <a:buChar char="o"/>
            </a:pPr>
            <a:r>
              <a:rPr lang="en-US" sz="1400">
                <a:latin typeface="Cambria"/>
                <a:ea typeface="Cambria"/>
                <a:cs typeface="Cambria"/>
                <a:sym typeface="Cambria"/>
              </a:rPr>
              <a:t>You can also extract log files that contain detailed information about the system’s behavior:</a:t>
            </a:r>
            <a:endParaRPr sz="1400">
              <a:latin typeface="Cambria"/>
              <a:ea typeface="Cambria"/>
              <a:cs typeface="Cambria"/>
              <a:sym typeface="Cambria"/>
            </a:endParaRPr>
          </a:p>
          <a:p>
            <a:pPr indent="0" lvl="0" marL="927100" rtl="0" algn="l">
              <a:lnSpc>
                <a:spcPct val="100000"/>
              </a:lnSpc>
              <a:spcBef>
                <a:spcPts val="1295"/>
              </a:spcBef>
              <a:spcAft>
                <a:spcPts val="0"/>
              </a:spcAft>
              <a:buNone/>
            </a:pPr>
            <a:r>
              <a:rPr lang="en-US" sz="1400">
                <a:latin typeface="Cambria"/>
                <a:ea typeface="Cambria"/>
                <a:cs typeface="Cambria"/>
                <a:sym typeface="Cambria"/>
              </a:rPr>
              <a:t>adb logcat &gt; log.txt</a:t>
            </a:r>
            <a:endParaRPr sz="1400">
              <a:latin typeface="Cambria"/>
              <a:ea typeface="Cambria"/>
              <a:cs typeface="Cambria"/>
              <a:sym typeface="Cambria"/>
            </a:endParaRPr>
          </a:p>
          <a:p>
            <a:pPr indent="0" lvl="0" marL="0" rtl="0" algn="l">
              <a:lnSpc>
                <a:spcPct val="100000"/>
              </a:lnSpc>
              <a:spcBef>
                <a:spcPts val="1380"/>
              </a:spcBef>
              <a:spcAft>
                <a:spcPts val="0"/>
              </a:spcAft>
              <a:buNone/>
            </a:pPr>
            <a:r>
              <a:t/>
            </a:r>
            <a:endParaRPr sz="1400">
              <a:latin typeface="Cambria"/>
              <a:ea typeface="Cambria"/>
              <a:cs typeface="Cambria"/>
              <a:sym typeface="Cambria"/>
            </a:endParaRPr>
          </a:p>
          <a:p>
            <a:pPr indent="-182245" lvl="0" marL="194945" rtl="0" algn="l">
              <a:lnSpc>
                <a:spcPct val="100000"/>
              </a:lnSpc>
              <a:spcBef>
                <a:spcPts val="0"/>
              </a:spcBef>
              <a:spcAft>
                <a:spcPts val="0"/>
              </a:spcAft>
              <a:buSzPts val="1400"/>
              <a:buFont typeface="Cambria"/>
              <a:buAutoNum type="arabicPeriod" startAt="4"/>
            </a:pPr>
            <a:r>
              <a:rPr b="1" lang="en-US" sz="1400">
                <a:latin typeface="Cambria"/>
                <a:ea typeface="Cambria"/>
                <a:cs typeface="Cambria"/>
                <a:sym typeface="Cambria"/>
              </a:rPr>
              <a:t>Extracting Call Logs</a:t>
            </a:r>
            <a:endParaRPr sz="1400">
              <a:latin typeface="Cambria"/>
              <a:ea typeface="Cambria"/>
              <a:cs typeface="Cambria"/>
              <a:sym typeface="Cambria"/>
            </a:endParaRPr>
          </a:p>
          <a:p>
            <a:pPr indent="0" lvl="0" marL="12700" marR="107950" rtl="0" algn="l">
              <a:lnSpc>
                <a:spcPct val="118571"/>
              </a:lnSpc>
              <a:spcBef>
                <a:spcPts val="1420"/>
              </a:spcBef>
              <a:spcAft>
                <a:spcPts val="0"/>
              </a:spcAft>
              <a:buNone/>
            </a:pPr>
            <a:r>
              <a:rPr lang="en-US" sz="1400">
                <a:latin typeface="Cambria"/>
                <a:ea typeface="Cambria"/>
                <a:cs typeface="Cambria"/>
                <a:sym typeface="Cambria"/>
              </a:rPr>
              <a:t>Call logs are stored in the </a:t>
            </a:r>
            <a:r>
              <a:rPr b="1" lang="en-US" sz="1400">
                <a:latin typeface="Cambria"/>
                <a:ea typeface="Cambria"/>
                <a:cs typeface="Cambria"/>
                <a:sym typeface="Cambria"/>
              </a:rPr>
              <a:t>SQLite database </a:t>
            </a:r>
            <a:r>
              <a:rPr lang="en-US" sz="1400">
                <a:latin typeface="Cambria"/>
                <a:ea typeface="Cambria"/>
                <a:cs typeface="Cambria"/>
                <a:sym typeface="Cambria"/>
              </a:rPr>
              <a:t>on Android devices, and they can be extracted either manually or programmatically.</a:t>
            </a:r>
            <a:endParaRPr sz="1400">
              <a:latin typeface="Cambria"/>
              <a:ea typeface="Cambria"/>
              <a:cs typeface="Cambria"/>
              <a:sym typeface="Cambria"/>
            </a:endParaRPr>
          </a:p>
          <a:p>
            <a:pPr indent="0" lvl="0" marL="12700" rtl="0" algn="l">
              <a:lnSpc>
                <a:spcPct val="100000"/>
              </a:lnSpc>
              <a:spcBef>
                <a:spcPts val="1310"/>
              </a:spcBef>
              <a:spcAft>
                <a:spcPts val="0"/>
              </a:spcAft>
              <a:buNone/>
            </a:pPr>
            <a:r>
              <a:rPr b="1" lang="en-US" sz="1400">
                <a:latin typeface="Cambria"/>
                <a:ea typeface="Cambria"/>
                <a:cs typeface="Cambria"/>
                <a:sym typeface="Cambria"/>
              </a:rPr>
              <a:t>Steps:</a:t>
            </a:r>
            <a:endParaRPr sz="1400">
              <a:latin typeface="Cambria"/>
              <a:ea typeface="Cambria"/>
              <a:cs typeface="Cambria"/>
              <a:sym typeface="Cambria"/>
            </a:endParaRPr>
          </a:p>
          <a:p>
            <a:pPr indent="-229235" lvl="1" marL="470534" rtl="0" algn="l">
              <a:lnSpc>
                <a:spcPct val="118571"/>
              </a:lnSpc>
              <a:spcBef>
                <a:spcPts val="1345"/>
              </a:spcBef>
              <a:spcAft>
                <a:spcPts val="0"/>
              </a:spcAft>
              <a:buSzPts val="1400"/>
              <a:buFont typeface="Cambria"/>
              <a:buAutoNum type="arabicPeriod"/>
            </a:pPr>
            <a:r>
              <a:rPr b="1" lang="en-US" sz="1400">
                <a:latin typeface="Cambria"/>
                <a:ea typeface="Cambria"/>
                <a:cs typeface="Cambria"/>
                <a:sym typeface="Cambria"/>
              </a:rPr>
              <a:t>Access the Call Log Database</a:t>
            </a:r>
            <a:r>
              <a:rPr lang="en-US" sz="1400">
                <a:latin typeface="Cambria"/>
                <a:ea typeface="Cambria"/>
                <a:cs typeface="Cambria"/>
                <a:sym typeface="Cambria"/>
              </a:rPr>
              <a:t>:</a:t>
            </a:r>
            <a:endParaRPr sz="1400">
              <a:latin typeface="Cambria"/>
              <a:ea typeface="Cambria"/>
              <a:cs typeface="Cambria"/>
              <a:sym typeface="Cambria"/>
            </a:endParaRPr>
          </a:p>
          <a:p>
            <a:pPr indent="-228600" lvl="2" marL="927100" rtl="0" algn="l">
              <a:lnSpc>
                <a:spcPct val="117499"/>
              </a:lnSpc>
              <a:spcBef>
                <a:spcPts val="0"/>
              </a:spcBef>
              <a:spcAft>
                <a:spcPts val="0"/>
              </a:spcAft>
              <a:buSzPts val="1000"/>
              <a:buFont typeface="Courier New"/>
              <a:buChar char="o"/>
            </a:pPr>
            <a:r>
              <a:rPr lang="en-US" sz="1400">
                <a:latin typeface="Cambria"/>
                <a:ea typeface="Cambria"/>
                <a:cs typeface="Cambria"/>
                <a:sym typeface="Cambria"/>
              </a:rPr>
              <a:t>The call log is usually stored in a system database at:</a:t>
            </a:r>
            <a:endParaRPr sz="1400">
              <a:latin typeface="Cambria"/>
              <a:ea typeface="Cambria"/>
              <a:cs typeface="Cambria"/>
              <a:sym typeface="Cambria"/>
            </a:endParaRPr>
          </a:p>
          <a:p>
            <a:pPr indent="-228600" lvl="3" marL="1384300" marR="6350" rtl="0" algn="l">
              <a:lnSpc>
                <a:spcPct val="116428"/>
              </a:lnSpc>
              <a:spcBef>
                <a:spcPts val="85"/>
              </a:spcBef>
              <a:spcAft>
                <a:spcPts val="0"/>
              </a:spcAft>
              <a:buSzPts val="1000"/>
              <a:buFont typeface="Noto Sans Symbols"/>
              <a:buChar char="▪"/>
            </a:pPr>
            <a:r>
              <a:rPr lang="en-US" sz="1400">
                <a:latin typeface="Cambria"/>
                <a:ea typeface="Cambria"/>
                <a:cs typeface="Cambria"/>
                <a:sym typeface="Cambria"/>
              </a:rPr>
              <a:t>/data/data/com.android.providers.contacts/databases/con tacts2.db</a:t>
            </a:r>
            <a:endParaRPr sz="1400">
              <a:latin typeface="Cambria"/>
              <a:ea typeface="Cambria"/>
              <a:cs typeface="Cambria"/>
              <a:sym typeface="Cambria"/>
            </a:endParaRPr>
          </a:p>
          <a:p>
            <a:pPr indent="-229235" lvl="1" marL="470534" rtl="0" algn="l">
              <a:lnSpc>
                <a:spcPct val="113571"/>
              </a:lnSpc>
              <a:spcBef>
                <a:spcPts val="0"/>
              </a:spcBef>
              <a:spcAft>
                <a:spcPts val="0"/>
              </a:spcAft>
              <a:buSzPts val="1400"/>
              <a:buFont typeface="Cambria"/>
              <a:buAutoNum type="arabicPeriod"/>
            </a:pPr>
            <a:r>
              <a:rPr b="1" lang="en-US" sz="1400">
                <a:latin typeface="Cambria"/>
                <a:ea typeface="Cambria"/>
                <a:cs typeface="Cambria"/>
                <a:sym typeface="Cambria"/>
              </a:rPr>
              <a:t>Use SQLite Browser</a:t>
            </a:r>
            <a:r>
              <a:rPr lang="en-US" sz="1400">
                <a:latin typeface="Cambria"/>
                <a:ea typeface="Cambria"/>
                <a:cs typeface="Cambria"/>
                <a:sym typeface="Cambria"/>
              </a:rPr>
              <a:t>:</a:t>
            </a:r>
            <a:endParaRPr sz="1400">
              <a:latin typeface="Cambria"/>
              <a:ea typeface="Cambria"/>
              <a:cs typeface="Cambria"/>
              <a:sym typeface="Cambria"/>
            </a:endParaRPr>
          </a:p>
          <a:p>
            <a:pPr indent="-228600" lvl="2" marL="927100" rtl="0" algn="l">
              <a:lnSpc>
                <a:spcPct val="100000"/>
              </a:lnSpc>
              <a:spcBef>
                <a:spcPts val="0"/>
              </a:spcBef>
              <a:spcAft>
                <a:spcPts val="0"/>
              </a:spcAft>
              <a:buSzPts val="1000"/>
              <a:buFont typeface="Courier New"/>
              <a:buChar char="o"/>
            </a:pPr>
            <a:r>
              <a:rPr lang="en-US" sz="1400">
                <a:latin typeface="Cambria"/>
                <a:ea typeface="Cambria"/>
                <a:cs typeface="Cambria"/>
                <a:sym typeface="Cambria"/>
              </a:rPr>
              <a:t>Pull the database file to your computer via ADB:</a:t>
            </a:r>
            <a:endParaRPr sz="1400">
              <a:latin typeface="Cambria"/>
              <a:ea typeface="Cambria"/>
              <a:cs typeface="Cambria"/>
              <a:sym typeface="Cambria"/>
            </a:endParaRPr>
          </a:p>
          <a:p>
            <a:pPr indent="0" lvl="0" marL="927100" rtl="0" algn="l">
              <a:lnSpc>
                <a:spcPct val="119285"/>
              </a:lnSpc>
              <a:spcBef>
                <a:spcPts val="1320"/>
              </a:spcBef>
              <a:spcAft>
                <a:spcPts val="0"/>
              </a:spcAft>
              <a:buNone/>
            </a:pPr>
            <a:r>
              <a:rPr lang="en-US" sz="1400">
                <a:latin typeface="Cambria"/>
                <a:ea typeface="Cambria"/>
                <a:cs typeface="Cambria"/>
                <a:sym typeface="Cambria"/>
              </a:rPr>
              <a:t>adb pull</a:t>
            </a:r>
            <a:endParaRPr sz="1400">
              <a:latin typeface="Cambria"/>
              <a:ea typeface="Cambria"/>
              <a:cs typeface="Cambria"/>
              <a:sym typeface="Cambria"/>
            </a:endParaRPr>
          </a:p>
          <a:p>
            <a:pPr indent="0" lvl="0" marL="927100" rtl="0" algn="l">
              <a:lnSpc>
                <a:spcPct val="117499"/>
              </a:lnSpc>
              <a:spcBef>
                <a:spcPts val="0"/>
              </a:spcBef>
              <a:spcAft>
                <a:spcPts val="0"/>
              </a:spcAft>
              <a:buNone/>
            </a:pPr>
            <a:r>
              <a:rPr lang="en-US" sz="1400">
                <a:latin typeface="Cambria"/>
                <a:ea typeface="Cambria"/>
                <a:cs typeface="Cambria"/>
                <a:sym typeface="Cambria"/>
              </a:rPr>
              <a:t>/data/data/com.android.providers.contacts/databases/contacts2</a:t>
            </a:r>
            <a:endParaRPr sz="1400">
              <a:latin typeface="Cambria"/>
              <a:ea typeface="Cambria"/>
              <a:cs typeface="Cambria"/>
              <a:sym typeface="Cambria"/>
            </a:endParaRPr>
          </a:p>
          <a:p>
            <a:pPr indent="0" lvl="0" marL="927100" rtl="0" algn="l">
              <a:lnSpc>
                <a:spcPct val="118214"/>
              </a:lnSpc>
              <a:spcBef>
                <a:spcPts val="0"/>
              </a:spcBef>
              <a:spcAft>
                <a:spcPts val="0"/>
              </a:spcAft>
              <a:buNone/>
            </a:pPr>
            <a:r>
              <a:rPr lang="en-US" sz="1400">
                <a:latin typeface="Cambria"/>
                <a:ea typeface="Cambria"/>
                <a:cs typeface="Cambria"/>
                <a:sym typeface="Cambria"/>
              </a:rPr>
              <a:t>.db /path/to/local/destination</a:t>
            </a:r>
            <a:endParaRPr sz="1400">
              <a:latin typeface="Cambria"/>
              <a:ea typeface="Cambria"/>
              <a:cs typeface="Cambria"/>
              <a:sym typeface="Cambria"/>
            </a:endParaRPr>
          </a:p>
          <a:p>
            <a:pPr indent="-229235" lvl="1" marL="470534" rtl="0" algn="l">
              <a:lnSpc>
                <a:spcPct val="118214"/>
              </a:lnSpc>
              <a:spcBef>
                <a:spcPts val="1370"/>
              </a:spcBef>
              <a:spcAft>
                <a:spcPts val="0"/>
              </a:spcAft>
              <a:buSzPts val="1400"/>
              <a:buFont typeface="Cambria"/>
              <a:buAutoNum type="arabicPeriod" startAt="3"/>
            </a:pPr>
            <a:r>
              <a:rPr b="1" lang="en-US" sz="1400">
                <a:latin typeface="Cambria"/>
                <a:ea typeface="Cambria"/>
                <a:cs typeface="Cambria"/>
                <a:sym typeface="Cambria"/>
              </a:rPr>
              <a:t>Query the Database</a:t>
            </a:r>
            <a:r>
              <a:rPr lang="en-US" sz="1400">
                <a:latin typeface="Cambria"/>
                <a:ea typeface="Cambria"/>
                <a:cs typeface="Cambria"/>
                <a:sym typeface="Cambria"/>
              </a:rPr>
              <a:t>:</a:t>
            </a:r>
            <a:endParaRPr sz="1400">
              <a:latin typeface="Cambria"/>
              <a:ea typeface="Cambria"/>
              <a:cs typeface="Cambria"/>
              <a:sym typeface="Cambria"/>
            </a:endParaRPr>
          </a:p>
          <a:p>
            <a:pPr indent="-228600" lvl="2" marL="927100" rtl="0" algn="l">
              <a:lnSpc>
                <a:spcPct val="117499"/>
              </a:lnSpc>
              <a:spcBef>
                <a:spcPts val="0"/>
              </a:spcBef>
              <a:spcAft>
                <a:spcPts val="0"/>
              </a:spcAft>
              <a:buSzPts val="1000"/>
              <a:buFont typeface="Courier New"/>
              <a:buChar char="o"/>
            </a:pPr>
            <a:r>
              <a:rPr lang="en-US" sz="1400">
                <a:latin typeface="Cambria"/>
                <a:ea typeface="Cambria"/>
                <a:cs typeface="Cambria"/>
                <a:sym typeface="Cambria"/>
              </a:rPr>
              <a:t>Use a SQLite browser to open the contacts2.db file.</a:t>
            </a:r>
            <a:endParaRPr sz="1400">
              <a:latin typeface="Cambria"/>
              <a:ea typeface="Cambria"/>
              <a:cs typeface="Cambria"/>
              <a:sym typeface="Cambria"/>
            </a:endParaRPr>
          </a:p>
          <a:p>
            <a:pPr indent="-228600" lvl="2" marL="927100" marR="48895" rtl="0" algn="l">
              <a:lnSpc>
                <a:spcPct val="118571"/>
              </a:lnSpc>
              <a:spcBef>
                <a:spcPts val="60"/>
              </a:spcBef>
              <a:spcAft>
                <a:spcPts val="0"/>
              </a:spcAft>
              <a:buSzPts val="1000"/>
              <a:buFont typeface="Courier New"/>
              <a:buChar char="o"/>
            </a:pPr>
            <a:r>
              <a:rPr lang="en-US" sz="1400">
                <a:latin typeface="Cambria"/>
                <a:ea typeface="Cambria"/>
                <a:cs typeface="Cambria"/>
                <a:sym typeface="Cambria"/>
              </a:rPr>
              <a:t>Query the table calls to extract details like incoming and outgoing calls, timestamps, phone numbers, etc.</a:t>
            </a:r>
            <a:endParaRPr sz="1400">
              <a:latin typeface="Cambria"/>
              <a:ea typeface="Cambria"/>
              <a:cs typeface="Cambria"/>
              <a:sym typeface="Cambria"/>
            </a:endParaRPr>
          </a:p>
        </p:txBody>
      </p:sp>
      <p:sp>
        <p:nvSpPr>
          <p:cNvPr id="137" name="Google Shape;137;p16"/>
          <p:cNvSpPr txBox="1"/>
          <p:nvPr/>
        </p:nvSpPr>
        <p:spPr>
          <a:xfrm>
            <a:off x="902004" y="7469251"/>
            <a:ext cx="5838825" cy="1604010"/>
          </a:xfrm>
          <a:prstGeom prst="rect">
            <a:avLst/>
          </a:prstGeom>
          <a:noFill/>
          <a:ln>
            <a:noFill/>
          </a:ln>
        </p:spPr>
        <p:txBody>
          <a:bodyPr anchorCtr="0" anchor="t" bIns="0" lIns="0" spcFirstLastPara="1" rIns="0" wrap="square" tIns="11425">
            <a:spAutoFit/>
          </a:bodyPr>
          <a:lstStyle/>
          <a:p>
            <a:pPr indent="-182245" lvl="0" marL="194945" rtl="0" algn="l">
              <a:lnSpc>
                <a:spcPct val="100000"/>
              </a:lnSpc>
              <a:spcBef>
                <a:spcPts val="0"/>
              </a:spcBef>
              <a:spcAft>
                <a:spcPts val="0"/>
              </a:spcAft>
              <a:buSzPts val="1400"/>
              <a:buFont typeface="Cambria"/>
              <a:buAutoNum type="arabicPeriod" startAt="5"/>
            </a:pPr>
            <a:r>
              <a:rPr b="1" lang="en-US" sz="1400">
                <a:latin typeface="Cambria"/>
                <a:ea typeface="Cambria"/>
                <a:cs typeface="Cambria"/>
                <a:sym typeface="Cambria"/>
              </a:rPr>
              <a:t>Extracting SMS/MMS Messages</a:t>
            </a:r>
            <a:endParaRPr sz="1400">
              <a:latin typeface="Cambria"/>
              <a:ea typeface="Cambria"/>
              <a:cs typeface="Cambria"/>
              <a:sym typeface="Cambria"/>
            </a:endParaRPr>
          </a:p>
          <a:p>
            <a:pPr indent="0" lvl="0" marL="12700" marR="5080" rtl="0" algn="l">
              <a:lnSpc>
                <a:spcPct val="118571"/>
              </a:lnSpc>
              <a:spcBef>
                <a:spcPts val="1420"/>
              </a:spcBef>
              <a:spcAft>
                <a:spcPts val="0"/>
              </a:spcAft>
              <a:buNone/>
            </a:pPr>
            <a:r>
              <a:rPr lang="en-US" sz="1400">
                <a:latin typeface="Cambria"/>
                <a:ea typeface="Cambria"/>
                <a:cs typeface="Cambria"/>
                <a:sym typeface="Cambria"/>
              </a:rPr>
              <a:t>SMS and MMS messages are stored in the system database as well and can be extracted using ADB and SQLite.</a:t>
            </a:r>
            <a:endParaRPr sz="1400">
              <a:latin typeface="Cambria"/>
              <a:ea typeface="Cambria"/>
              <a:cs typeface="Cambria"/>
              <a:sym typeface="Cambria"/>
            </a:endParaRPr>
          </a:p>
          <a:p>
            <a:pPr indent="0" lvl="0" marL="12700" rtl="0" algn="l">
              <a:lnSpc>
                <a:spcPct val="100000"/>
              </a:lnSpc>
              <a:spcBef>
                <a:spcPts val="1310"/>
              </a:spcBef>
              <a:spcAft>
                <a:spcPts val="0"/>
              </a:spcAft>
              <a:buNone/>
            </a:pPr>
            <a:r>
              <a:rPr b="1" lang="en-US" sz="1400">
                <a:latin typeface="Cambria"/>
                <a:ea typeface="Cambria"/>
                <a:cs typeface="Cambria"/>
                <a:sym typeface="Cambria"/>
              </a:rPr>
              <a:t>Steps:</a:t>
            </a:r>
            <a:endParaRPr sz="1400">
              <a:latin typeface="Cambria"/>
              <a:ea typeface="Cambria"/>
              <a:cs typeface="Cambria"/>
              <a:sym typeface="Cambria"/>
            </a:endParaRPr>
          </a:p>
          <a:p>
            <a:pPr indent="-229235" lvl="1" marL="470534" rtl="0" algn="l">
              <a:lnSpc>
                <a:spcPct val="100000"/>
              </a:lnSpc>
              <a:spcBef>
                <a:spcPts val="1345"/>
              </a:spcBef>
              <a:spcAft>
                <a:spcPts val="0"/>
              </a:spcAft>
              <a:buSzPts val="1400"/>
              <a:buFont typeface="Cambria"/>
              <a:buAutoNum type="arabicPeriod"/>
            </a:pPr>
            <a:r>
              <a:rPr b="1" lang="en-US" sz="1400">
                <a:latin typeface="Cambria"/>
                <a:ea typeface="Cambria"/>
                <a:cs typeface="Cambria"/>
                <a:sym typeface="Cambria"/>
              </a:rPr>
              <a:t>Locate SMS/MMS Database</a:t>
            </a:r>
            <a:r>
              <a:rPr lang="en-US" sz="1400">
                <a:latin typeface="Cambria"/>
                <a:ea typeface="Cambria"/>
                <a:cs typeface="Cambria"/>
                <a:sym typeface="Cambria"/>
              </a:rPr>
              <a:t>:</a:t>
            </a:r>
            <a:endParaRPr sz="1400">
              <a:latin typeface="Cambria"/>
              <a:ea typeface="Cambria"/>
              <a:cs typeface="Cambria"/>
              <a:sym typeface="Cambria"/>
            </a:endParaRPr>
          </a:p>
        </p:txBody>
      </p:sp>
      <p:sp>
        <p:nvSpPr>
          <p:cNvPr id="138" name="Google Shape;138;p16"/>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2" name="Shape 142"/>
        <p:cNvGrpSpPr/>
        <p:nvPr/>
      </p:nvGrpSpPr>
      <p:grpSpPr>
        <a:xfrm>
          <a:off x="0" y="0"/>
          <a:ext cx="0" cy="0"/>
          <a:chOff x="0" y="0"/>
          <a:chExt cx="0" cy="0"/>
        </a:xfrm>
      </p:grpSpPr>
      <p:sp>
        <p:nvSpPr>
          <p:cNvPr id="143" name="Google Shape;143;p17"/>
          <p:cNvSpPr txBox="1"/>
          <p:nvPr/>
        </p:nvSpPr>
        <p:spPr>
          <a:xfrm>
            <a:off x="1130604" y="892809"/>
            <a:ext cx="5718175" cy="2890520"/>
          </a:xfrm>
          <a:prstGeom prst="rect">
            <a:avLst/>
          </a:prstGeom>
          <a:noFill/>
          <a:ln>
            <a:noFill/>
          </a:ln>
        </p:spPr>
        <p:txBody>
          <a:bodyPr anchorCtr="0" anchor="t" bIns="0" lIns="0" spcFirstLastPara="1" rIns="0" wrap="square" tIns="11425">
            <a:spAutoFit/>
          </a:bodyPr>
          <a:lstStyle/>
          <a:p>
            <a:pPr indent="-228600" lvl="0" marL="698500" rtl="0" algn="l">
              <a:lnSpc>
                <a:spcPct val="118214"/>
              </a:lnSpc>
              <a:spcBef>
                <a:spcPts val="0"/>
              </a:spcBef>
              <a:spcAft>
                <a:spcPts val="0"/>
              </a:spcAft>
              <a:buSzPts val="1000"/>
              <a:buFont typeface="Courier New"/>
              <a:buChar char="o"/>
            </a:pPr>
            <a:r>
              <a:rPr lang="en-US" sz="1400">
                <a:latin typeface="Cambria"/>
                <a:ea typeface="Cambria"/>
                <a:cs typeface="Cambria"/>
                <a:sym typeface="Cambria"/>
              </a:rPr>
              <a:t>SMS and MMS are typically stored in:</a:t>
            </a:r>
            <a:endParaRPr sz="1400">
              <a:latin typeface="Cambria"/>
              <a:ea typeface="Cambria"/>
              <a:cs typeface="Cambria"/>
              <a:sym typeface="Cambria"/>
            </a:endParaRPr>
          </a:p>
          <a:p>
            <a:pPr indent="-228600" lvl="1" marL="1155700" marR="20955" rtl="0" algn="l">
              <a:lnSpc>
                <a:spcPct val="118571"/>
              </a:lnSpc>
              <a:spcBef>
                <a:spcPts val="50"/>
              </a:spcBef>
              <a:spcAft>
                <a:spcPts val="0"/>
              </a:spcAft>
              <a:buSzPts val="1000"/>
              <a:buFont typeface="Noto Sans Symbols"/>
              <a:buChar char="▪"/>
            </a:pPr>
            <a:r>
              <a:rPr lang="en-US" sz="1400">
                <a:latin typeface="Cambria"/>
                <a:ea typeface="Cambria"/>
                <a:cs typeface="Cambria"/>
                <a:sym typeface="Cambria"/>
              </a:rPr>
              <a:t>/data/data/com.android.providers.telephony/databases/m mssms.db</a:t>
            </a:r>
            <a:endParaRPr sz="1400">
              <a:latin typeface="Cambria"/>
              <a:ea typeface="Cambria"/>
              <a:cs typeface="Cambria"/>
              <a:sym typeface="Cambria"/>
            </a:endParaRPr>
          </a:p>
          <a:p>
            <a:pPr indent="-229234" lvl="0" marL="241934" rtl="0" algn="l">
              <a:lnSpc>
                <a:spcPct val="112857"/>
              </a:lnSpc>
              <a:spcBef>
                <a:spcPts val="0"/>
              </a:spcBef>
              <a:spcAft>
                <a:spcPts val="0"/>
              </a:spcAft>
              <a:buSzPts val="1400"/>
              <a:buFont typeface="Cambria"/>
              <a:buAutoNum type="arabicPeriod" startAt="2"/>
            </a:pPr>
            <a:r>
              <a:rPr b="1" lang="en-US" sz="1400">
                <a:latin typeface="Cambria"/>
                <a:ea typeface="Cambria"/>
                <a:cs typeface="Cambria"/>
                <a:sym typeface="Cambria"/>
              </a:rPr>
              <a:t>Pull the Database</a:t>
            </a:r>
            <a:r>
              <a:rPr lang="en-US" sz="1400">
                <a:latin typeface="Cambria"/>
                <a:ea typeface="Cambria"/>
                <a:cs typeface="Cambria"/>
                <a:sym typeface="Cambria"/>
              </a:rPr>
              <a:t>:</a:t>
            </a:r>
            <a:endParaRPr sz="1400">
              <a:latin typeface="Cambria"/>
              <a:ea typeface="Cambria"/>
              <a:cs typeface="Cambria"/>
              <a:sym typeface="Cambria"/>
            </a:endParaRPr>
          </a:p>
          <a:p>
            <a:pPr indent="-228600" lvl="1" marL="698500" rtl="0" algn="l">
              <a:lnSpc>
                <a:spcPct val="100000"/>
              </a:lnSpc>
              <a:spcBef>
                <a:spcPts val="0"/>
              </a:spcBef>
              <a:spcAft>
                <a:spcPts val="0"/>
              </a:spcAft>
              <a:buSzPts val="1000"/>
              <a:buFont typeface="Courier New"/>
              <a:buChar char="o"/>
            </a:pPr>
            <a:r>
              <a:rPr lang="en-US" sz="1400">
                <a:latin typeface="Cambria"/>
                <a:ea typeface="Cambria"/>
                <a:cs typeface="Cambria"/>
                <a:sym typeface="Cambria"/>
              </a:rPr>
              <a:t>Use ADB to pull the mmssms.db database:</a:t>
            </a:r>
            <a:endParaRPr sz="1400">
              <a:latin typeface="Cambria"/>
              <a:ea typeface="Cambria"/>
              <a:cs typeface="Cambria"/>
              <a:sym typeface="Cambria"/>
            </a:endParaRPr>
          </a:p>
          <a:p>
            <a:pPr indent="0" lvl="0" marL="698500" rtl="0" algn="l">
              <a:lnSpc>
                <a:spcPct val="119285"/>
              </a:lnSpc>
              <a:spcBef>
                <a:spcPts val="1320"/>
              </a:spcBef>
              <a:spcAft>
                <a:spcPts val="0"/>
              </a:spcAft>
              <a:buNone/>
            </a:pPr>
            <a:r>
              <a:rPr lang="en-US" sz="1400">
                <a:latin typeface="Cambria"/>
                <a:ea typeface="Cambria"/>
                <a:cs typeface="Cambria"/>
                <a:sym typeface="Cambria"/>
              </a:rPr>
              <a:t>adb pull</a:t>
            </a:r>
            <a:endParaRPr sz="1400">
              <a:latin typeface="Cambria"/>
              <a:ea typeface="Cambria"/>
              <a:cs typeface="Cambria"/>
              <a:sym typeface="Cambria"/>
            </a:endParaRPr>
          </a:p>
          <a:p>
            <a:pPr indent="0" lvl="0" marL="698500" marR="30480" rtl="0" algn="l">
              <a:lnSpc>
                <a:spcPct val="116428"/>
              </a:lnSpc>
              <a:spcBef>
                <a:spcPts val="80"/>
              </a:spcBef>
              <a:spcAft>
                <a:spcPts val="0"/>
              </a:spcAft>
              <a:buNone/>
            </a:pPr>
            <a:r>
              <a:rPr lang="en-US" sz="1400">
                <a:latin typeface="Cambria"/>
                <a:ea typeface="Cambria"/>
                <a:cs typeface="Cambria"/>
                <a:sym typeface="Cambria"/>
              </a:rPr>
              <a:t>/data/data/com.android.providers.telephony/databases/mmssm s.db /path/to/local/destination</a:t>
            </a:r>
            <a:endParaRPr sz="1400">
              <a:latin typeface="Cambria"/>
              <a:ea typeface="Cambria"/>
              <a:cs typeface="Cambria"/>
              <a:sym typeface="Cambria"/>
            </a:endParaRPr>
          </a:p>
          <a:p>
            <a:pPr indent="-229234" lvl="0" marL="241934" rtl="0" algn="l">
              <a:lnSpc>
                <a:spcPct val="118214"/>
              </a:lnSpc>
              <a:spcBef>
                <a:spcPts val="1330"/>
              </a:spcBef>
              <a:spcAft>
                <a:spcPts val="0"/>
              </a:spcAft>
              <a:buSzPts val="1400"/>
              <a:buFont typeface="Cambria"/>
              <a:buAutoNum type="arabicPeriod" startAt="3"/>
            </a:pPr>
            <a:r>
              <a:rPr b="1" lang="en-US" sz="1400">
                <a:latin typeface="Cambria"/>
                <a:ea typeface="Cambria"/>
                <a:cs typeface="Cambria"/>
                <a:sym typeface="Cambria"/>
              </a:rPr>
              <a:t>View SMS Messages</a:t>
            </a:r>
            <a:r>
              <a:rPr lang="en-US" sz="1400">
                <a:latin typeface="Cambria"/>
                <a:ea typeface="Cambria"/>
                <a:cs typeface="Cambria"/>
                <a:sym typeface="Cambria"/>
              </a:rPr>
              <a:t>:</a:t>
            </a:r>
            <a:endParaRPr sz="1400">
              <a:latin typeface="Cambria"/>
              <a:ea typeface="Cambria"/>
              <a:cs typeface="Cambria"/>
              <a:sym typeface="Cambria"/>
            </a:endParaRPr>
          </a:p>
          <a:p>
            <a:pPr indent="-228600" lvl="1" marL="698500" rtl="0" algn="l">
              <a:lnSpc>
                <a:spcPct val="117499"/>
              </a:lnSpc>
              <a:spcBef>
                <a:spcPts val="0"/>
              </a:spcBef>
              <a:spcAft>
                <a:spcPts val="0"/>
              </a:spcAft>
              <a:buSzPts val="1000"/>
              <a:buFont typeface="Courier New"/>
              <a:buChar char="o"/>
            </a:pPr>
            <a:r>
              <a:rPr lang="en-US" sz="1400">
                <a:latin typeface="Cambria"/>
                <a:ea typeface="Cambria"/>
                <a:cs typeface="Cambria"/>
                <a:sym typeface="Cambria"/>
              </a:rPr>
              <a:t>Open the database file with an SQLite browser.</a:t>
            </a:r>
            <a:endParaRPr sz="1400">
              <a:latin typeface="Cambria"/>
              <a:ea typeface="Cambria"/>
              <a:cs typeface="Cambria"/>
              <a:sym typeface="Cambria"/>
            </a:endParaRPr>
          </a:p>
          <a:p>
            <a:pPr indent="-228600" lvl="1" marL="698500" marR="5080" rtl="0" algn="l">
              <a:lnSpc>
                <a:spcPct val="118571"/>
              </a:lnSpc>
              <a:spcBef>
                <a:spcPts val="60"/>
              </a:spcBef>
              <a:spcAft>
                <a:spcPts val="0"/>
              </a:spcAft>
              <a:buSzPts val="1000"/>
              <a:buFont typeface="Courier New"/>
              <a:buChar char="o"/>
            </a:pPr>
            <a:r>
              <a:rPr lang="en-US" sz="1400">
                <a:latin typeface="Cambria"/>
                <a:ea typeface="Cambria"/>
                <a:cs typeface="Cambria"/>
                <a:sym typeface="Cambria"/>
              </a:rPr>
              <a:t>Query the sms table for </a:t>
            </a:r>
            <a:r>
              <a:rPr b="1" lang="en-US" sz="1400">
                <a:latin typeface="Cambria"/>
                <a:ea typeface="Cambria"/>
                <a:cs typeface="Cambria"/>
                <a:sym typeface="Cambria"/>
              </a:rPr>
              <a:t>SMS messages</a:t>
            </a:r>
            <a:r>
              <a:rPr lang="en-US" sz="1400">
                <a:latin typeface="Cambria"/>
                <a:ea typeface="Cambria"/>
                <a:cs typeface="Cambria"/>
                <a:sym typeface="Cambria"/>
              </a:rPr>
              <a:t>, or the mms table for </a:t>
            </a:r>
            <a:r>
              <a:rPr b="1" lang="en-US" sz="1400">
                <a:latin typeface="Cambria"/>
                <a:ea typeface="Cambria"/>
                <a:cs typeface="Cambria"/>
                <a:sym typeface="Cambria"/>
              </a:rPr>
              <a:t>MMS messages </a:t>
            </a:r>
            <a:r>
              <a:rPr lang="en-US" sz="1400">
                <a:latin typeface="Cambria"/>
                <a:ea typeface="Cambria"/>
                <a:cs typeface="Cambria"/>
                <a:sym typeface="Cambria"/>
              </a:rPr>
              <a:t>(attachments, multimedia).</a:t>
            </a:r>
            <a:endParaRPr sz="1400">
              <a:latin typeface="Cambria"/>
              <a:ea typeface="Cambria"/>
              <a:cs typeface="Cambria"/>
              <a:sym typeface="Cambria"/>
            </a:endParaRPr>
          </a:p>
        </p:txBody>
      </p:sp>
      <p:sp>
        <p:nvSpPr>
          <p:cNvPr id="144" name="Google Shape;144;p17"/>
          <p:cNvSpPr txBox="1"/>
          <p:nvPr/>
        </p:nvSpPr>
        <p:spPr>
          <a:xfrm>
            <a:off x="902004" y="4316729"/>
            <a:ext cx="5940425" cy="4463415"/>
          </a:xfrm>
          <a:prstGeom prst="rect">
            <a:avLst/>
          </a:prstGeom>
          <a:noFill/>
          <a:ln>
            <a:noFill/>
          </a:ln>
        </p:spPr>
        <p:txBody>
          <a:bodyPr anchorCtr="0" anchor="t" bIns="0" lIns="0" spcFirstLastPara="1" rIns="0" wrap="square" tIns="11425">
            <a:spAutoFit/>
          </a:bodyPr>
          <a:lstStyle/>
          <a:p>
            <a:pPr indent="-182245" lvl="0" marL="194945" rtl="0" algn="l">
              <a:lnSpc>
                <a:spcPct val="100000"/>
              </a:lnSpc>
              <a:spcBef>
                <a:spcPts val="0"/>
              </a:spcBef>
              <a:spcAft>
                <a:spcPts val="0"/>
              </a:spcAft>
              <a:buSzPts val="1400"/>
              <a:buFont typeface="Cambria"/>
              <a:buAutoNum type="arabicPeriod" startAt="6"/>
            </a:pPr>
            <a:r>
              <a:rPr b="1" lang="en-US" sz="1400">
                <a:latin typeface="Cambria"/>
                <a:ea typeface="Cambria"/>
                <a:cs typeface="Cambria"/>
                <a:sym typeface="Cambria"/>
              </a:rPr>
              <a:t>Extracting Browser History</a:t>
            </a:r>
            <a:endParaRPr sz="1400">
              <a:latin typeface="Cambria"/>
              <a:ea typeface="Cambria"/>
              <a:cs typeface="Cambria"/>
              <a:sym typeface="Cambria"/>
            </a:endParaRPr>
          </a:p>
          <a:p>
            <a:pPr indent="0" lvl="0" marL="12700" marR="15875" rtl="0" algn="l">
              <a:lnSpc>
                <a:spcPct val="118571"/>
              </a:lnSpc>
              <a:spcBef>
                <a:spcPts val="1420"/>
              </a:spcBef>
              <a:spcAft>
                <a:spcPts val="0"/>
              </a:spcAft>
              <a:buNone/>
            </a:pPr>
            <a:r>
              <a:rPr lang="en-US" sz="1400">
                <a:latin typeface="Cambria"/>
                <a:ea typeface="Cambria"/>
                <a:cs typeface="Cambria"/>
                <a:sym typeface="Cambria"/>
              </a:rPr>
              <a:t>Browser history is stored within the SQLite database used by the browser app (e.g., </a:t>
            </a:r>
            <a:r>
              <a:rPr b="1" lang="en-US" sz="1400">
                <a:latin typeface="Cambria"/>
                <a:ea typeface="Cambria"/>
                <a:cs typeface="Cambria"/>
                <a:sym typeface="Cambria"/>
              </a:rPr>
              <a:t>Chrome</a:t>
            </a:r>
            <a:r>
              <a:rPr lang="en-US" sz="1400">
                <a:latin typeface="Cambria"/>
                <a:ea typeface="Cambria"/>
                <a:cs typeface="Cambria"/>
                <a:sym typeface="Cambria"/>
              </a:rPr>
              <a:t>, </a:t>
            </a:r>
            <a:r>
              <a:rPr b="1" lang="en-US" sz="1400">
                <a:latin typeface="Cambria"/>
                <a:ea typeface="Cambria"/>
                <a:cs typeface="Cambria"/>
                <a:sym typeface="Cambria"/>
              </a:rPr>
              <a:t>Firefox</a:t>
            </a:r>
            <a:r>
              <a:rPr lang="en-US" sz="1400">
                <a:latin typeface="Cambria"/>
                <a:ea typeface="Cambria"/>
                <a:cs typeface="Cambria"/>
                <a:sym typeface="Cambria"/>
              </a:rPr>
              <a:t>, etc.).</a:t>
            </a:r>
            <a:endParaRPr sz="1400">
              <a:latin typeface="Cambria"/>
              <a:ea typeface="Cambria"/>
              <a:cs typeface="Cambria"/>
              <a:sym typeface="Cambria"/>
            </a:endParaRPr>
          </a:p>
          <a:p>
            <a:pPr indent="0" lvl="0" marL="12700" rtl="0" algn="l">
              <a:lnSpc>
                <a:spcPct val="100000"/>
              </a:lnSpc>
              <a:spcBef>
                <a:spcPts val="1310"/>
              </a:spcBef>
              <a:spcAft>
                <a:spcPts val="0"/>
              </a:spcAft>
              <a:buNone/>
            </a:pPr>
            <a:r>
              <a:rPr b="1" lang="en-US" sz="1400">
                <a:latin typeface="Cambria"/>
                <a:ea typeface="Cambria"/>
                <a:cs typeface="Cambria"/>
                <a:sym typeface="Cambria"/>
              </a:rPr>
              <a:t>Steps:</a:t>
            </a:r>
            <a:endParaRPr sz="1400">
              <a:latin typeface="Cambria"/>
              <a:ea typeface="Cambria"/>
              <a:cs typeface="Cambria"/>
              <a:sym typeface="Cambria"/>
            </a:endParaRPr>
          </a:p>
          <a:p>
            <a:pPr indent="-229235" lvl="1" marL="470534" rtl="0" algn="l">
              <a:lnSpc>
                <a:spcPct val="118214"/>
              </a:lnSpc>
              <a:spcBef>
                <a:spcPts val="1345"/>
              </a:spcBef>
              <a:spcAft>
                <a:spcPts val="0"/>
              </a:spcAft>
              <a:buSzPts val="1400"/>
              <a:buFont typeface="Cambria"/>
              <a:buAutoNum type="arabicPeriod"/>
            </a:pPr>
            <a:r>
              <a:rPr b="1" lang="en-US" sz="1400">
                <a:latin typeface="Cambria"/>
                <a:ea typeface="Cambria"/>
                <a:cs typeface="Cambria"/>
                <a:sym typeface="Cambria"/>
              </a:rPr>
              <a:t>Locate Browser History Database</a:t>
            </a:r>
            <a:r>
              <a:rPr lang="en-US" sz="1400">
                <a:latin typeface="Cambria"/>
                <a:ea typeface="Cambria"/>
                <a:cs typeface="Cambria"/>
                <a:sym typeface="Cambria"/>
              </a:rPr>
              <a:t>:</a:t>
            </a:r>
            <a:endParaRPr sz="1400">
              <a:latin typeface="Cambria"/>
              <a:ea typeface="Cambria"/>
              <a:cs typeface="Cambria"/>
              <a:sym typeface="Cambria"/>
            </a:endParaRPr>
          </a:p>
          <a:p>
            <a:pPr indent="-228600" lvl="2" marL="927100" rtl="0" algn="l">
              <a:lnSpc>
                <a:spcPct val="117499"/>
              </a:lnSpc>
              <a:spcBef>
                <a:spcPts val="0"/>
              </a:spcBef>
              <a:spcAft>
                <a:spcPts val="0"/>
              </a:spcAft>
              <a:buSzPts val="1000"/>
              <a:buFont typeface="Courier New"/>
              <a:buChar char="o"/>
            </a:pPr>
            <a:r>
              <a:rPr lang="en-US" sz="1400">
                <a:latin typeface="Cambria"/>
                <a:ea typeface="Cambria"/>
                <a:cs typeface="Cambria"/>
                <a:sym typeface="Cambria"/>
              </a:rPr>
              <a:t>Chrome stores history in a SQLite database at:</a:t>
            </a:r>
            <a:endParaRPr sz="1400">
              <a:latin typeface="Cambria"/>
              <a:ea typeface="Cambria"/>
              <a:cs typeface="Cambria"/>
              <a:sym typeface="Cambria"/>
            </a:endParaRPr>
          </a:p>
          <a:p>
            <a:pPr indent="-228600" lvl="3" marL="1384300" marR="5080" rtl="0" algn="l">
              <a:lnSpc>
                <a:spcPct val="116428"/>
              </a:lnSpc>
              <a:spcBef>
                <a:spcPts val="85"/>
              </a:spcBef>
              <a:spcAft>
                <a:spcPts val="0"/>
              </a:spcAft>
              <a:buSzPts val="1000"/>
              <a:buFont typeface="Noto Sans Symbols"/>
              <a:buChar char="▪"/>
            </a:pPr>
            <a:r>
              <a:rPr lang="en-US" sz="1400">
                <a:latin typeface="Cambria"/>
                <a:ea typeface="Cambria"/>
                <a:cs typeface="Cambria"/>
                <a:sym typeface="Cambria"/>
              </a:rPr>
              <a:t>/data/data/com.android.chrome/app_chrome/Default/Hist ory</a:t>
            </a:r>
            <a:endParaRPr sz="1400">
              <a:latin typeface="Cambria"/>
              <a:ea typeface="Cambria"/>
              <a:cs typeface="Cambria"/>
              <a:sym typeface="Cambria"/>
            </a:endParaRPr>
          </a:p>
          <a:p>
            <a:pPr indent="-229235" lvl="1" marL="470534" rtl="0" algn="l">
              <a:lnSpc>
                <a:spcPct val="113571"/>
              </a:lnSpc>
              <a:spcBef>
                <a:spcPts val="0"/>
              </a:spcBef>
              <a:spcAft>
                <a:spcPts val="0"/>
              </a:spcAft>
              <a:buSzPts val="1400"/>
              <a:buFont typeface="Cambria"/>
              <a:buAutoNum type="arabicPeriod"/>
            </a:pPr>
            <a:r>
              <a:rPr b="1" lang="en-US" sz="1400">
                <a:latin typeface="Cambria"/>
                <a:ea typeface="Cambria"/>
                <a:cs typeface="Cambria"/>
                <a:sym typeface="Cambria"/>
              </a:rPr>
              <a:t>Pull the Database</a:t>
            </a:r>
            <a:r>
              <a:rPr lang="en-US" sz="1400">
                <a:latin typeface="Cambria"/>
                <a:ea typeface="Cambria"/>
                <a:cs typeface="Cambria"/>
                <a:sym typeface="Cambria"/>
              </a:rPr>
              <a:t>:</a:t>
            </a:r>
            <a:endParaRPr sz="1400">
              <a:latin typeface="Cambria"/>
              <a:ea typeface="Cambria"/>
              <a:cs typeface="Cambria"/>
              <a:sym typeface="Cambria"/>
            </a:endParaRPr>
          </a:p>
          <a:p>
            <a:pPr indent="-228600" lvl="2" marL="927100" rtl="0" algn="l">
              <a:lnSpc>
                <a:spcPct val="100000"/>
              </a:lnSpc>
              <a:spcBef>
                <a:spcPts val="5"/>
              </a:spcBef>
              <a:spcAft>
                <a:spcPts val="0"/>
              </a:spcAft>
              <a:buSzPts val="1000"/>
              <a:buFont typeface="Courier New"/>
              <a:buChar char="o"/>
            </a:pPr>
            <a:r>
              <a:rPr lang="en-US" sz="1400">
                <a:latin typeface="Cambria"/>
                <a:ea typeface="Cambria"/>
                <a:cs typeface="Cambria"/>
                <a:sym typeface="Cambria"/>
              </a:rPr>
              <a:t>Use ADB to pull the database file:</a:t>
            </a:r>
            <a:endParaRPr sz="1400">
              <a:latin typeface="Cambria"/>
              <a:ea typeface="Cambria"/>
              <a:cs typeface="Cambria"/>
              <a:sym typeface="Cambria"/>
            </a:endParaRPr>
          </a:p>
          <a:p>
            <a:pPr indent="0" lvl="0" marL="927100" rtl="0" algn="l">
              <a:lnSpc>
                <a:spcPct val="118214"/>
              </a:lnSpc>
              <a:spcBef>
                <a:spcPts val="1345"/>
              </a:spcBef>
              <a:spcAft>
                <a:spcPts val="0"/>
              </a:spcAft>
              <a:buNone/>
            </a:pPr>
            <a:r>
              <a:rPr lang="en-US" sz="1400">
                <a:latin typeface="Cambria"/>
                <a:ea typeface="Cambria"/>
                <a:cs typeface="Cambria"/>
                <a:sym typeface="Cambria"/>
              </a:rPr>
              <a:t>adb pull</a:t>
            </a:r>
            <a:endParaRPr sz="1400">
              <a:latin typeface="Cambria"/>
              <a:ea typeface="Cambria"/>
              <a:cs typeface="Cambria"/>
              <a:sym typeface="Cambria"/>
            </a:endParaRPr>
          </a:p>
          <a:p>
            <a:pPr indent="0" lvl="0" marL="927100" rtl="0" algn="l">
              <a:lnSpc>
                <a:spcPct val="116428"/>
              </a:lnSpc>
              <a:spcBef>
                <a:spcPts val="0"/>
              </a:spcBef>
              <a:spcAft>
                <a:spcPts val="0"/>
              </a:spcAft>
              <a:buNone/>
            </a:pPr>
            <a:r>
              <a:rPr lang="en-US" sz="1400">
                <a:latin typeface="Cambria"/>
                <a:ea typeface="Cambria"/>
                <a:cs typeface="Cambria"/>
                <a:sym typeface="Cambria"/>
              </a:rPr>
              <a:t>/data/data/com.android.chrome/app_chrome/Default/History</a:t>
            </a:r>
            <a:endParaRPr sz="1400">
              <a:latin typeface="Cambria"/>
              <a:ea typeface="Cambria"/>
              <a:cs typeface="Cambria"/>
              <a:sym typeface="Cambria"/>
            </a:endParaRPr>
          </a:p>
          <a:p>
            <a:pPr indent="0" lvl="0" marL="927100" rtl="0" algn="l">
              <a:lnSpc>
                <a:spcPct val="118214"/>
              </a:lnSpc>
              <a:spcBef>
                <a:spcPts val="0"/>
              </a:spcBef>
              <a:spcAft>
                <a:spcPts val="0"/>
              </a:spcAft>
              <a:buNone/>
            </a:pPr>
            <a:r>
              <a:rPr lang="en-US" sz="1400">
                <a:latin typeface="Cambria"/>
                <a:ea typeface="Cambria"/>
                <a:cs typeface="Cambria"/>
                <a:sym typeface="Cambria"/>
              </a:rPr>
              <a:t>/path/to/local/destination</a:t>
            </a:r>
            <a:endParaRPr sz="1400">
              <a:latin typeface="Cambria"/>
              <a:ea typeface="Cambria"/>
              <a:cs typeface="Cambria"/>
              <a:sym typeface="Cambria"/>
            </a:endParaRPr>
          </a:p>
          <a:p>
            <a:pPr indent="-229235" lvl="1" marL="470534" rtl="0" algn="l">
              <a:lnSpc>
                <a:spcPct val="118214"/>
              </a:lnSpc>
              <a:spcBef>
                <a:spcPts val="1370"/>
              </a:spcBef>
              <a:spcAft>
                <a:spcPts val="0"/>
              </a:spcAft>
              <a:buSzPts val="1400"/>
              <a:buFont typeface="Cambria"/>
              <a:buAutoNum type="arabicPeriod" startAt="3"/>
            </a:pPr>
            <a:r>
              <a:rPr b="1" lang="en-US" sz="1400">
                <a:latin typeface="Cambria"/>
                <a:ea typeface="Cambria"/>
                <a:cs typeface="Cambria"/>
                <a:sym typeface="Cambria"/>
              </a:rPr>
              <a:t>View Browser History</a:t>
            </a:r>
            <a:r>
              <a:rPr lang="en-US" sz="1400">
                <a:latin typeface="Cambria"/>
                <a:ea typeface="Cambria"/>
                <a:cs typeface="Cambria"/>
                <a:sym typeface="Cambria"/>
              </a:rPr>
              <a:t>:</a:t>
            </a:r>
            <a:endParaRPr sz="1400">
              <a:latin typeface="Cambria"/>
              <a:ea typeface="Cambria"/>
              <a:cs typeface="Cambria"/>
              <a:sym typeface="Cambria"/>
            </a:endParaRPr>
          </a:p>
          <a:p>
            <a:pPr indent="-228600" lvl="2" marL="927100" marR="35560" rtl="0" algn="l">
              <a:lnSpc>
                <a:spcPct val="118571"/>
              </a:lnSpc>
              <a:spcBef>
                <a:spcPts val="45"/>
              </a:spcBef>
              <a:spcAft>
                <a:spcPts val="0"/>
              </a:spcAft>
              <a:buSzPts val="1000"/>
              <a:buFont typeface="Courier New"/>
              <a:buChar char="o"/>
            </a:pPr>
            <a:r>
              <a:rPr lang="en-US" sz="1400">
                <a:latin typeface="Cambria"/>
                <a:ea typeface="Cambria"/>
                <a:cs typeface="Cambria"/>
                <a:sym typeface="Cambria"/>
              </a:rPr>
              <a:t>Open the History file with an SQLite browser and query the tables to extract URLs, timestamps, and other history-related information.</a:t>
            </a:r>
            <a:endParaRPr sz="1400">
              <a:latin typeface="Cambria"/>
              <a:ea typeface="Cambria"/>
              <a:cs typeface="Cambria"/>
              <a:sym typeface="Cambria"/>
            </a:endParaRPr>
          </a:p>
        </p:txBody>
      </p:sp>
      <p:sp>
        <p:nvSpPr>
          <p:cNvPr id="145" name="Google Shape;145;p17"/>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9" name="Shape 149"/>
        <p:cNvGrpSpPr/>
        <p:nvPr/>
      </p:nvGrpSpPr>
      <p:grpSpPr>
        <a:xfrm>
          <a:off x="0" y="0"/>
          <a:ext cx="0" cy="0"/>
          <a:chOff x="0" y="0"/>
          <a:chExt cx="0" cy="0"/>
        </a:xfrm>
      </p:grpSpPr>
      <p:sp>
        <p:nvSpPr>
          <p:cNvPr id="150" name="Google Shape;150;p18"/>
          <p:cNvSpPr txBox="1"/>
          <p:nvPr/>
        </p:nvSpPr>
        <p:spPr>
          <a:xfrm>
            <a:off x="902004" y="1279906"/>
            <a:ext cx="5913755" cy="7854315"/>
          </a:xfrm>
          <a:prstGeom prst="rect">
            <a:avLst/>
          </a:prstGeom>
          <a:noFill/>
          <a:ln>
            <a:noFill/>
          </a:ln>
        </p:spPr>
        <p:txBody>
          <a:bodyPr anchorCtr="0" anchor="t" bIns="0" lIns="0" spcFirstLastPara="1" rIns="0" wrap="square" tIns="11425">
            <a:spAutoFit/>
          </a:bodyPr>
          <a:lstStyle/>
          <a:p>
            <a:pPr indent="-182245" lvl="0" marL="194945" rtl="0" algn="l">
              <a:lnSpc>
                <a:spcPct val="100000"/>
              </a:lnSpc>
              <a:spcBef>
                <a:spcPts val="0"/>
              </a:spcBef>
              <a:spcAft>
                <a:spcPts val="0"/>
              </a:spcAft>
              <a:buSzPts val="1400"/>
              <a:buFont typeface="Cambria"/>
              <a:buAutoNum type="arabicPeriod" startAt="7"/>
            </a:pPr>
            <a:r>
              <a:rPr b="1" lang="en-US" sz="1400">
                <a:latin typeface="Cambria"/>
                <a:ea typeface="Cambria"/>
                <a:cs typeface="Cambria"/>
                <a:sym typeface="Cambria"/>
              </a:rPr>
              <a:t>Analysis of Social Networking/IM Chats</a:t>
            </a:r>
            <a:endParaRPr sz="1400">
              <a:latin typeface="Cambria"/>
              <a:ea typeface="Cambria"/>
              <a:cs typeface="Cambria"/>
              <a:sym typeface="Cambria"/>
            </a:endParaRPr>
          </a:p>
          <a:p>
            <a:pPr indent="0" lvl="0" marL="12700" marR="191135" rtl="0" algn="l">
              <a:lnSpc>
                <a:spcPct val="98600"/>
              </a:lnSpc>
              <a:spcBef>
                <a:spcPts val="1370"/>
              </a:spcBef>
              <a:spcAft>
                <a:spcPts val="0"/>
              </a:spcAft>
              <a:buNone/>
            </a:pPr>
            <a:r>
              <a:rPr lang="en-US" sz="1400">
                <a:latin typeface="Cambria"/>
                <a:ea typeface="Cambria"/>
                <a:cs typeface="Cambria"/>
                <a:sym typeface="Cambria"/>
              </a:rPr>
              <a:t>Social networking and instant messaging (IM) apps (e.g., </a:t>
            </a:r>
            <a:r>
              <a:rPr b="1" lang="en-US" sz="1400">
                <a:latin typeface="Cambria"/>
                <a:ea typeface="Cambria"/>
                <a:cs typeface="Cambria"/>
                <a:sym typeface="Cambria"/>
              </a:rPr>
              <a:t>WhatsApp</a:t>
            </a:r>
            <a:r>
              <a:rPr lang="en-US" sz="1400">
                <a:latin typeface="Cambria"/>
                <a:ea typeface="Cambria"/>
                <a:cs typeface="Cambria"/>
                <a:sym typeface="Cambria"/>
              </a:rPr>
              <a:t>, </a:t>
            </a:r>
            <a:r>
              <a:rPr b="1" lang="en-US" sz="1400">
                <a:latin typeface="Cambria"/>
                <a:ea typeface="Cambria"/>
                <a:cs typeface="Cambria"/>
                <a:sym typeface="Cambria"/>
              </a:rPr>
              <a:t>Facebook Messenger</a:t>
            </a:r>
            <a:r>
              <a:rPr lang="en-US" sz="1400">
                <a:latin typeface="Cambria"/>
                <a:ea typeface="Cambria"/>
                <a:cs typeface="Cambria"/>
                <a:sym typeface="Cambria"/>
              </a:rPr>
              <a:t>, </a:t>
            </a:r>
            <a:r>
              <a:rPr b="1" lang="en-US" sz="1400">
                <a:latin typeface="Cambria"/>
                <a:ea typeface="Cambria"/>
                <a:cs typeface="Cambria"/>
                <a:sym typeface="Cambria"/>
              </a:rPr>
              <a:t>Telegram</a:t>
            </a:r>
            <a:r>
              <a:rPr lang="en-US" sz="1400">
                <a:latin typeface="Cambria"/>
                <a:ea typeface="Cambria"/>
                <a:cs typeface="Cambria"/>
                <a:sym typeface="Cambria"/>
              </a:rPr>
              <a:t>) store messages locally in databases. The process to extract and analyze these messages depends on the app and its storage model.</a:t>
            </a:r>
            <a:endParaRPr sz="1400">
              <a:latin typeface="Cambria"/>
              <a:ea typeface="Cambria"/>
              <a:cs typeface="Cambria"/>
              <a:sym typeface="Cambria"/>
            </a:endParaRPr>
          </a:p>
          <a:p>
            <a:pPr indent="0" lvl="0" marL="12700" rtl="0" algn="l">
              <a:lnSpc>
                <a:spcPct val="100000"/>
              </a:lnSpc>
              <a:spcBef>
                <a:spcPts val="1345"/>
              </a:spcBef>
              <a:spcAft>
                <a:spcPts val="0"/>
              </a:spcAft>
              <a:buNone/>
            </a:pPr>
            <a:r>
              <a:rPr b="1" lang="en-US" sz="1400">
                <a:latin typeface="Cambria"/>
                <a:ea typeface="Cambria"/>
                <a:cs typeface="Cambria"/>
                <a:sym typeface="Cambria"/>
              </a:rPr>
              <a:t>Steps:</a:t>
            </a:r>
            <a:endParaRPr sz="1400">
              <a:latin typeface="Cambria"/>
              <a:ea typeface="Cambria"/>
              <a:cs typeface="Cambria"/>
              <a:sym typeface="Cambria"/>
            </a:endParaRPr>
          </a:p>
          <a:p>
            <a:pPr indent="-229235" lvl="1" marL="470534" rtl="0" algn="l">
              <a:lnSpc>
                <a:spcPct val="118214"/>
              </a:lnSpc>
              <a:spcBef>
                <a:spcPts val="1345"/>
              </a:spcBef>
              <a:spcAft>
                <a:spcPts val="0"/>
              </a:spcAft>
              <a:buSzPts val="1400"/>
              <a:buFont typeface="Cambria"/>
              <a:buAutoNum type="arabicPeriod"/>
            </a:pPr>
            <a:r>
              <a:rPr b="1" lang="en-US" sz="1400">
                <a:latin typeface="Cambria"/>
                <a:ea typeface="Cambria"/>
                <a:cs typeface="Cambria"/>
                <a:sym typeface="Cambria"/>
              </a:rPr>
              <a:t>Locate the App’s Database</a:t>
            </a:r>
            <a:r>
              <a:rPr lang="en-US" sz="1400">
                <a:latin typeface="Cambria"/>
                <a:ea typeface="Cambria"/>
                <a:cs typeface="Cambria"/>
                <a:sym typeface="Cambria"/>
              </a:rPr>
              <a:t>:</a:t>
            </a:r>
            <a:endParaRPr sz="1400">
              <a:latin typeface="Cambria"/>
              <a:ea typeface="Cambria"/>
              <a:cs typeface="Cambria"/>
              <a:sym typeface="Cambria"/>
            </a:endParaRPr>
          </a:p>
          <a:p>
            <a:pPr indent="-228600" lvl="2" marL="927100" rtl="0" algn="l">
              <a:lnSpc>
                <a:spcPct val="117499"/>
              </a:lnSpc>
              <a:spcBef>
                <a:spcPts val="0"/>
              </a:spcBef>
              <a:spcAft>
                <a:spcPts val="0"/>
              </a:spcAft>
              <a:buSzPts val="1000"/>
              <a:buFont typeface="Courier New"/>
              <a:buChar char="o"/>
            </a:pPr>
            <a:r>
              <a:rPr lang="en-US" sz="1400">
                <a:latin typeface="Cambria"/>
                <a:ea typeface="Cambria"/>
                <a:cs typeface="Cambria"/>
                <a:sym typeface="Cambria"/>
              </a:rPr>
              <a:t>WhatsApp: /data/data/com.whatsapp/databases/msgstore.db</a:t>
            </a:r>
            <a:endParaRPr sz="1400">
              <a:latin typeface="Cambria"/>
              <a:ea typeface="Cambria"/>
              <a:cs typeface="Cambria"/>
              <a:sym typeface="Cambria"/>
            </a:endParaRPr>
          </a:p>
          <a:p>
            <a:pPr indent="-228600" lvl="2" marL="927100" rtl="0" algn="l">
              <a:lnSpc>
                <a:spcPct val="117499"/>
              </a:lnSpc>
              <a:spcBef>
                <a:spcPts val="0"/>
              </a:spcBef>
              <a:spcAft>
                <a:spcPts val="0"/>
              </a:spcAft>
              <a:buSzPts val="1000"/>
              <a:buFont typeface="Courier New"/>
              <a:buChar char="o"/>
            </a:pPr>
            <a:r>
              <a:rPr lang="en-US" sz="1400">
                <a:latin typeface="Cambria"/>
                <a:ea typeface="Cambria"/>
                <a:cs typeface="Cambria"/>
                <a:sym typeface="Cambria"/>
              </a:rPr>
              <a:t>Facebook Messenger:</a:t>
            </a:r>
            <a:endParaRPr sz="1400">
              <a:latin typeface="Cambria"/>
              <a:ea typeface="Cambria"/>
              <a:cs typeface="Cambria"/>
              <a:sym typeface="Cambria"/>
            </a:endParaRPr>
          </a:p>
          <a:p>
            <a:pPr indent="0" lvl="0" marL="927100" rtl="0" algn="l">
              <a:lnSpc>
                <a:spcPct val="117499"/>
              </a:lnSpc>
              <a:spcBef>
                <a:spcPts val="0"/>
              </a:spcBef>
              <a:spcAft>
                <a:spcPts val="0"/>
              </a:spcAft>
              <a:buNone/>
            </a:pPr>
            <a:r>
              <a:rPr lang="en-US" sz="1400">
                <a:latin typeface="Cambria"/>
                <a:ea typeface="Cambria"/>
                <a:cs typeface="Cambria"/>
                <a:sym typeface="Cambria"/>
              </a:rPr>
              <a:t>/data/data/com.facebook.orca/databases/messenger.db</a:t>
            </a:r>
            <a:endParaRPr sz="1400">
              <a:latin typeface="Cambria"/>
              <a:ea typeface="Cambria"/>
              <a:cs typeface="Cambria"/>
              <a:sym typeface="Cambria"/>
            </a:endParaRPr>
          </a:p>
          <a:p>
            <a:pPr indent="-229235" lvl="1" marL="470534" rtl="0" algn="l">
              <a:lnSpc>
                <a:spcPct val="118214"/>
              </a:lnSpc>
              <a:spcBef>
                <a:spcPts val="0"/>
              </a:spcBef>
              <a:spcAft>
                <a:spcPts val="0"/>
              </a:spcAft>
              <a:buSzPts val="1400"/>
              <a:buFont typeface="Cambria"/>
              <a:buAutoNum type="arabicPeriod"/>
            </a:pPr>
            <a:r>
              <a:rPr b="1" lang="en-US" sz="1400">
                <a:latin typeface="Cambria"/>
                <a:ea typeface="Cambria"/>
                <a:cs typeface="Cambria"/>
                <a:sym typeface="Cambria"/>
              </a:rPr>
              <a:t>Pull the Database</a:t>
            </a:r>
            <a:r>
              <a:rPr lang="en-US" sz="1400">
                <a:latin typeface="Cambria"/>
                <a:ea typeface="Cambria"/>
                <a:cs typeface="Cambria"/>
                <a:sym typeface="Cambria"/>
              </a:rPr>
              <a:t>:</a:t>
            </a:r>
            <a:endParaRPr sz="1400">
              <a:latin typeface="Cambria"/>
              <a:ea typeface="Cambria"/>
              <a:cs typeface="Cambria"/>
              <a:sym typeface="Cambria"/>
            </a:endParaRPr>
          </a:p>
          <a:p>
            <a:pPr indent="-228600" lvl="2" marL="927100" rtl="0" algn="l">
              <a:lnSpc>
                <a:spcPct val="119285"/>
              </a:lnSpc>
              <a:spcBef>
                <a:spcPts val="0"/>
              </a:spcBef>
              <a:spcAft>
                <a:spcPts val="0"/>
              </a:spcAft>
              <a:buSzPts val="1000"/>
              <a:buFont typeface="Courier New"/>
              <a:buChar char="o"/>
            </a:pPr>
            <a:r>
              <a:rPr lang="en-US" sz="1400">
                <a:latin typeface="Cambria"/>
                <a:ea typeface="Cambria"/>
                <a:cs typeface="Cambria"/>
                <a:sym typeface="Cambria"/>
              </a:rPr>
              <a:t>Use ADB to pull the database file:</a:t>
            </a:r>
            <a:endParaRPr sz="1400">
              <a:latin typeface="Cambria"/>
              <a:ea typeface="Cambria"/>
              <a:cs typeface="Cambria"/>
              <a:sym typeface="Cambria"/>
            </a:endParaRPr>
          </a:p>
          <a:p>
            <a:pPr indent="0" lvl="0" marL="927100" rtl="0" algn="l">
              <a:lnSpc>
                <a:spcPct val="118214"/>
              </a:lnSpc>
              <a:spcBef>
                <a:spcPts val="1345"/>
              </a:spcBef>
              <a:spcAft>
                <a:spcPts val="0"/>
              </a:spcAft>
              <a:buNone/>
            </a:pPr>
            <a:r>
              <a:rPr lang="en-US" sz="1400">
                <a:latin typeface="Cambria"/>
                <a:ea typeface="Cambria"/>
                <a:cs typeface="Cambria"/>
                <a:sym typeface="Cambria"/>
              </a:rPr>
              <a:t>adb pull /data/data/com.whatsapp/databases/msgstore.db</a:t>
            </a:r>
            <a:endParaRPr sz="1400">
              <a:latin typeface="Cambria"/>
              <a:ea typeface="Cambria"/>
              <a:cs typeface="Cambria"/>
              <a:sym typeface="Cambria"/>
            </a:endParaRPr>
          </a:p>
          <a:p>
            <a:pPr indent="0" lvl="0" marL="927100" rtl="0" algn="l">
              <a:lnSpc>
                <a:spcPct val="118214"/>
              </a:lnSpc>
              <a:spcBef>
                <a:spcPts val="0"/>
              </a:spcBef>
              <a:spcAft>
                <a:spcPts val="0"/>
              </a:spcAft>
              <a:buNone/>
            </a:pPr>
            <a:r>
              <a:rPr lang="en-US" sz="1400">
                <a:latin typeface="Cambria"/>
                <a:ea typeface="Cambria"/>
                <a:cs typeface="Cambria"/>
                <a:sym typeface="Cambria"/>
              </a:rPr>
              <a:t>/path/to/local/destination</a:t>
            </a:r>
            <a:endParaRPr sz="1400">
              <a:latin typeface="Cambria"/>
              <a:ea typeface="Cambria"/>
              <a:cs typeface="Cambria"/>
              <a:sym typeface="Cambria"/>
            </a:endParaRPr>
          </a:p>
          <a:p>
            <a:pPr indent="-229235" lvl="1" marL="470534" rtl="0" algn="l">
              <a:lnSpc>
                <a:spcPct val="118214"/>
              </a:lnSpc>
              <a:spcBef>
                <a:spcPts val="1370"/>
              </a:spcBef>
              <a:spcAft>
                <a:spcPts val="0"/>
              </a:spcAft>
              <a:buSzPts val="1400"/>
              <a:buFont typeface="Cambria"/>
              <a:buAutoNum type="arabicPeriod"/>
            </a:pPr>
            <a:r>
              <a:rPr b="1" lang="en-US" sz="1400">
                <a:latin typeface="Cambria"/>
                <a:ea typeface="Cambria"/>
                <a:cs typeface="Cambria"/>
                <a:sym typeface="Cambria"/>
              </a:rPr>
              <a:t>Analyze the Data</a:t>
            </a:r>
            <a:r>
              <a:rPr lang="en-US" sz="1400">
                <a:latin typeface="Cambria"/>
                <a:ea typeface="Cambria"/>
                <a:cs typeface="Cambria"/>
                <a:sym typeface="Cambria"/>
              </a:rPr>
              <a:t>:</a:t>
            </a:r>
            <a:endParaRPr sz="1400">
              <a:latin typeface="Cambria"/>
              <a:ea typeface="Cambria"/>
              <a:cs typeface="Cambria"/>
              <a:sym typeface="Cambria"/>
            </a:endParaRPr>
          </a:p>
          <a:p>
            <a:pPr indent="-228600" lvl="2" marL="927100" marR="99060" rtl="0" algn="l">
              <a:lnSpc>
                <a:spcPct val="120000"/>
              </a:lnSpc>
              <a:spcBef>
                <a:spcPts val="30"/>
              </a:spcBef>
              <a:spcAft>
                <a:spcPts val="0"/>
              </a:spcAft>
              <a:buSzPts val="1000"/>
              <a:buFont typeface="Courier New"/>
              <a:buChar char="o"/>
            </a:pPr>
            <a:r>
              <a:rPr lang="en-US" sz="1400">
                <a:latin typeface="Cambria"/>
                <a:ea typeface="Cambria"/>
                <a:cs typeface="Cambria"/>
                <a:sym typeface="Cambria"/>
              </a:rPr>
              <a:t>Open the database in an SQLite browser and query the messages table to extract chat history, media attachments, and contacts.</a:t>
            </a:r>
            <a:endParaRPr sz="1400">
              <a:latin typeface="Cambria"/>
              <a:ea typeface="Cambria"/>
              <a:cs typeface="Cambria"/>
              <a:sym typeface="Cambria"/>
            </a:endParaRPr>
          </a:p>
          <a:p>
            <a:pPr indent="0" lvl="0" marL="12700" rtl="0" algn="l">
              <a:lnSpc>
                <a:spcPct val="100000"/>
              </a:lnSpc>
              <a:spcBef>
                <a:spcPts val="1290"/>
              </a:spcBef>
              <a:spcAft>
                <a:spcPts val="0"/>
              </a:spcAft>
              <a:buNone/>
            </a:pPr>
            <a:r>
              <a:rPr b="1" lang="en-US" sz="1400">
                <a:latin typeface="Cambria"/>
                <a:ea typeface="Cambria"/>
                <a:cs typeface="Cambria"/>
                <a:sym typeface="Cambria"/>
              </a:rPr>
              <a:t>Android Data Analysis and Recovery</a:t>
            </a:r>
            <a:endParaRPr sz="1400">
              <a:latin typeface="Cambria"/>
              <a:ea typeface="Cambria"/>
              <a:cs typeface="Cambria"/>
              <a:sym typeface="Cambria"/>
            </a:endParaRPr>
          </a:p>
          <a:p>
            <a:pPr indent="0" lvl="0" marL="12700" marR="313690" rtl="0" algn="just">
              <a:lnSpc>
                <a:spcPct val="98200"/>
              </a:lnSpc>
              <a:spcBef>
                <a:spcPts val="1375"/>
              </a:spcBef>
              <a:spcAft>
                <a:spcPts val="0"/>
              </a:spcAft>
              <a:buNone/>
            </a:pPr>
            <a:r>
              <a:rPr lang="en-US" sz="1400">
                <a:latin typeface="Cambria"/>
                <a:ea typeface="Cambria"/>
                <a:cs typeface="Cambria"/>
                <a:sym typeface="Cambria"/>
              </a:rPr>
              <a:t>Android data analysis and recovery involve extracting and analyzing data from Android devices to find useful information. This process can include recovering deleted files, messages, contacts, and more. Below is a detailed explanation of each of the listed sections:</a:t>
            </a:r>
            <a:endParaRPr sz="1400">
              <a:latin typeface="Cambria"/>
              <a:ea typeface="Cambria"/>
              <a:cs typeface="Cambria"/>
              <a:sym typeface="Cambria"/>
            </a:endParaRPr>
          </a:p>
          <a:p>
            <a:pPr indent="0" lvl="0" marL="12700" rtl="0" algn="l">
              <a:lnSpc>
                <a:spcPct val="100000"/>
              </a:lnSpc>
              <a:spcBef>
                <a:spcPts val="1365"/>
              </a:spcBef>
              <a:spcAft>
                <a:spcPts val="0"/>
              </a:spcAft>
              <a:buNone/>
            </a:pPr>
            <a:r>
              <a:rPr b="1" lang="en-US" sz="1400">
                <a:latin typeface="Cambria"/>
                <a:ea typeface="Cambria"/>
                <a:cs typeface="Cambria"/>
                <a:sym typeface="Cambria"/>
              </a:rPr>
              <a:t>Analyzing an Android Image using Autopsy</a:t>
            </a:r>
            <a:endParaRPr sz="1400">
              <a:latin typeface="Cambria"/>
              <a:ea typeface="Cambria"/>
              <a:cs typeface="Cambria"/>
              <a:sym typeface="Cambria"/>
            </a:endParaRPr>
          </a:p>
          <a:p>
            <a:pPr indent="0" lvl="0" marL="12700" marR="441959" rtl="0" algn="just">
              <a:lnSpc>
                <a:spcPct val="97900"/>
              </a:lnSpc>
              <a:spcBef>
                <a:spcPts val="1380"/>
              </a:spcBef>
              <a:spcAft>
                <a:spcPts val="0"/>
              </a:spcAft>
              <a:buNone/>
            </a:pPr>
            <a:r>
              <a:rPr b="1" lang="en-US" sz="1400">
                <a:latin typeface="Cambria"/>
                <a:ea typeface="Cambria"/>
                <a:cs typeface="Cambria"/>
                <a:sym typeface="Cambria"/>
              </a:rPr>
              <a:t>Autopsy </a:t>
            </a:r>
            <a:r>
              <a:rPr lang="en-US" sz="1400">
                <a:latin typeface="Cambria"/>
                <a:ea typeface="Cambria"/>
                <a:cs typeface="Cambria"/>
                <a:sym typeface="Cambria"/>
              </a:rPr>
              <a:t>is an open-source digital forensics platform that can be used to analyze Android device images. Here's how you can analyze an Android image:</a:t>
            </a:r>
            <a:endParaRPr sz="1400">
              <a:latin typeface="Cambria"/>
              <a:ea typeface="Cambria"/>
              <a:cs typeface="Cambria"/>
              <a:sym typeface="Cambria"/>
            </a:endParaRPr>
          </a:p>
          <a:p>
            <a:pPr indent="-229234" lvl="0" marL="469900" marR="5080" rtl="0" algn="l">
              <a:lnSpc>
                <a:spcPct val="97900"/>
              </a:lnSpc>
              <a:spcBef>
                <a:spcPts val="1380"/>
              </a:spcBef>
              <a:spcAft>
                <a:spcPts val="0"/>
              </a:spcAft>
              <a:buNone/>
            </a:pPr>
            <a:r>
              <a:rPr lang="en-US" sz="1400">
                <a:latin typeface="Cambria"/>
                <a:ea typeface="Cambria"/>
                <a:cs typeface="Cambria"/>
                <a:sym typeface="Cambria"/>
              </a:rPr>
              <a:t>1. </a:t>
            </a:r>
            <a:r>
              <a:rPr b="1" lang="en-US" sz="1400">
                <a:latin typeface="Cambria"/>
                <a:ea typeface="Cambria"/>
                <a:cs typeface="Cambria"/>
                <a:sym typeface="Cambria"/>
              </a:rPr>
              <a:t>Obtain the Image</a:t>
            </a:r>
            <a:r>
              <a:rPr lang="en-US" sz="1400">
                <a:latin typeface="Cambria"/>
                <a:ea typeface="Cambria"/>
                <a:cs typeface="Cambria"/>
                <a:sym typeface="Cambria"/>
              </a:rPr>
              <a:t>: You need a disk image (i.e., a clone or backup) of the Android device. This could be an image of the entire phone or specific partitions (e.g., internal storage or SD card).</a:t>
            </a:r>
            <a:endParaRPr sz="1400">
              <a:latin typeface="Cambria"/>
              <a:ea typeface="Cambria"/>
              <a:cs typeface="Cambria"/>
              <a:sym typeface="Cambria"/>
            </a:endParaRPr>
          </a:p>
        </p:txBody>
      </p:sp>
      <p:sp>
        <p:nvSpPr>
          <p:cNvPr id="151" name="Google Shape;151;p18"/>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5" name="Shape 155"/>
        <p:cNvGrpSpPr/>
        <p:nvPr/>
      </p:nvGrpSpPr>
      <p:grpSpPr>
        <a:xfrm>
          <a:off x="0" y="0"/>
          <a:ext cx="0" cy="0"/>
          <a:chOff x="0" y="0"/>
          <a:chExt cx="0" cy="0"/>
        </a:xfrm>
      </p:grpSpPr>
      <p:sp>
        <p:nvSpPr>
          <p:cNvPr id="156" name="Google Shape;156;p19"/>
          <p:cNvSpPr txBox="1"/>
          <p:nvPr/>
        </p:nvSpPr>
        <p:spPr>
          <a:xfrm>
            <a:off x="902004" y="892809"/>
            <a:ext cx="5899785" cy="8220075"/>
          </a:xfrm>
          <a:prstGeom prst="rect">
            <a:avLst/>
          </a:prstGeom>
          <a:noFill/>
          <a:ln>
            <a:noFill/>
          </a:ln>
        </p:spPr>
        <p:txBody>
          <a:bodyPr anchorCtr="0" anchor="t" bIns="0" lIns="0" spcFirstLastPara="1" rIns="0" wrap="square" tIns="11425">
            <a:spAutoFit/>
          </a:bodyPr>
          <a:lstStyle/>
          <a:p>
            <a:pPr indent="-229235" lvl="0" marL="470534" rtl="0" algn="l">
              <a:lnSpc>
                <a:spcPct val="118214"/>
              </a:lnSpc>
              <a:spcBef>
                <a:spcPts val="0"/>
              </a:spcBef>
              <a:spcAft>
                <a:spcPts val="0"/>
              </a:spcAft>
              <a:buSzPts val="1400"/>
              <a:buFont typeface="Cambria"/>
              <a:buAutoNum type="arabicPeriod" startAt="2"/>
            </a:pPr>
            <a:r>
              <a:rPr b="1" lang="en-US" sz="1400">
                <a:latin typeface="Cambria"/>
                <a:ea typeface="Cambria"/>
                <a:cs typeface="Cambria"/>
                <a:sym typeface="Cambria"/>
              </a:rPr>
              <a:t>Set Up Autopsy</a:t>
            </a:r>
            <a:r>
              <a:rPr lang="en-US" sz="1400">
                <a:latin typeface="Cambria"/>
                <a:ea typeface="Cambria"/>
                <a:cs typeface="Cambria"/>
                <a:sym typeface="Cambria"/>
              </a:rPr>
              <a:t>:</a:t>
            </a:r>
            <a:endParaRPr sz="1400">
              <a:latin typeface="Cambria"/>
              <a:ea typeface="Cambria"/>
              <a:cs typeface="Cambria"/>
              <a:sym typeface="Cambria"/>
            </a:endParaRPr>
          </a:p>
          <a:p>
            <a:pPr indent="-228600" lvl="1" marL="927100" rtl="0" algn="l">
              <a:lnSpc>
                <a:spcPct val="117499"/>
              </a:lnSpc>
              <a:spcBef>
                <a:spcPts val="0"/>
              </a:spcBef>
              <a:spcAft>
                <a:spcPts val="0"/>
              </a:spcAft>
              <a:buSzPts val="1000"/>
              <a:buFont typeface="Courier New"/>
              <a:buChar char="o"/>
            </a:pPr>
            <a:r>
              <a:rPr lang="en-US" sz="1400">
                <a:latin typeface="Cambria"/>
                <a:ea typeface="Cambria"/>
                <a:cs typeface="Cambria"/>
                <a:sym typeface="Cambria"/>
              </a:rPr>
              <a:t>Install Autopsy and set up a new case.</a:t>
            </a:r>
            <a:endParaRPr sz="1400">
              <a:latin typeface="Cambria"/>
              <a:ea typeface="Cambria"/>
              <a:cs typeface="Cambria"/>
              <a:sym typeface="Cambria"/>
            </a:endParaRPr>
          </a:p>
          <a:p>
            <a:pPr indent="-228600" lvl="1" marL="927100" rtl="0" algn="l">
              <a:lnSpc>
                <a:spcPct val="117499"/>
              </a:lnSpc>
              <a:spcBef>
                <a:spcPts val="0"/>
              </a:spcBef>
              <a:spcAft>
                <a:spcPts val="0"/>
              </a:spcAft>
              <a:buSzPts val="1000"/>
              <a:buFont typeface="Courier New"/>
              <a:buChar char="o"/>
            </a:pPr>
            <a:r>
              <a:rPr lang="en-US" sz="1400">
                <a:latin typeface="Cambria"/>
                <a:ea typeface="Cambria"/>
                <a:cs typeface="Cambria"/>
                <a:sym typeface="Cambria"/>
              </a:rPr>
              <a:t>Add the image (from the Android device) as a data source.</a:t>
            </a:r>
            <a:endParaRPr sz="1400">
              <a:latin typeface="Cambria"/>
              <a:ea typeface="Cambria"/>
              <a:cs typeface="Cambria"/>
              <a:sym typeface="Cambria"/>
            </a:endParaRPr>
          </a:p>
          <a:p>
            <a:pPr indent="-229235" lvl="0" marL="470534" rtl="0" algn="l">
              <a:lnSpc>
                <a:spcPct val="117499"/>
              </a:lnSpc>
              <a:spcBef>
                <a:spcPts val="0"/>
              </a:spcBef>
              <a:spcAft>
                <a:spcPts val="0"/>
              </a:spcAft>
              <a:buSzPts val="1400"/>
              <a:buFont typeface="Cambria"/>
              <a:buAutoNum type="arabicPeriod" startAt="2"/>
            </a:pPr>
            <a:r>
              <a:rPr b="1" lang="en-US" sz="1400">
                <a:latin typeface="Cambria"/>
                <a:ea typeface="Cambria"/>
                <a:cs typeface="Cambria"/>
                <a:sym typeface="Cambria"/>
              </a:rPr>
              <a:t>Analysis</a:t>
            </a:r>
            <a:r>
              <a:rPr lang="en-US" sz="1400">
                <a:latin typeface="Cambria"/>
                <a:ea typeface="Cambria"/>
                <a:cs typeface="Cambria"/>
                <a:sym typeface="Cambria"/>
              </a:rPr>
              <a:t>:</a:t>
            </a:r>
            <a:endParaRPr sz="1400">
              <a:latin typeface="Cambria"/>
              <a:ea typeface="Cambria"/>
              <a:cs typeface="Cambria"/>
              <a:sym typeface="Cambria"/>
            </a:endParaRPr>
          </a:p>
          <a:p>
            <a:pPr indent="-228600" lvl="1" marL="927100" marR="46355" rtl="0" algn="l">
              <a:lnSpc>
                <a:spcPct val="97600"/>
              </a:lnSpc>
              <a:spcBef>
                <a:spcPts val="30"/>
              </a:spcBef>
              <a:spcAft>
                <a:spcPts val="0"/>
              </a:spcAft>
              <a:buSzPts val="1000"/>
              <a:buFont typeface="Courier New"/>
              <a:buChar char="o"/>
            </a:pPr>
            <a:r>
              <a:rPr lang="en-US" sz="1400">
                <a:latin typeface="Cambria"/>
                <a:ea typeface="Cambria"/>
                <a:cs typeface="Cambria"/>
                <a:sym typeface="Cambria"/>
              </a:rPr>
              <a:t>Autopsy can help you examine the image by allowing you to search through file systems, recover deleted files, view metadata, and search for specific evidence like text messages, emails, contacts, or call logs.</a:t>
            </a:r>
            <a:endParaRPr sz="1400">
              <a:latin typeface="Cambria"/>
              <a:ea typeface="Cambria"/>
              <a:cs typeface="Cambria"/>
              <a:sym typeface="Cambria"/>
            </a:endParaRPr>
          </a:p>
          <a:p>
            <a:pPr indent="-228600" lvl="1" marL="927100" marR="70485" rtl="0" algn="l">
              <a:lnSpc>
                <a:spcPct val="116428"/>
              </a:lnSpc>
              <a:spcBef>
                <a:spcPts val="50"/>
              </a:spcBef>
              <a:spcAft>
                <a:spcPts val="0"/>
              </a:spcAft>
              <a:buSzPts val="1000"/>
              <a:buFont typeface="Courier New"/>
              <a:buChar char="o"/>
            </a:pPr>
            <a:r>
              <a:rPr lang="en-US" sz="1400">
                <a:latin typeface="Cambria"/>
                <a:ea typeface="Cambria"/>
                <a:cs typeface="Cambria"/>
                <a:sym typeface="Cambria"/>
              </a:rPr>
              <a:t>You can view file structure, mount various file systems, and even run hash analysis to verify file integrity.</a:t>
            </a:r>
            <a:endParaRPr sz="1400">
              <a:latin typeface="Cambria"/>
              <a:ea typeface="Cambria"/>
              <a:cs typeface="Cambria"/>
              <a:sym typeface="Cambria"/>
            </a:endParaRPr>
          </a:p>
          <a:p>
            <a:pPr indent="-228600" lvl="1" marL="927100" marR="53339" rtl="0" algn="l">
              <a:lnSpc>
                <a:spcPct val="116428"/>
              </a:lnSpc>
              <a:spcBef>
                <a:spcPts val="25"/>
              </a:spcBef>
              <a:spcAft>
                <a:spcPts val="0"/>
              </a:spcAft>
              <a:buSzPts val="1000"/>
              <a:buFont typeface="Courier New"/>
              <a:buChar char="o"/>
            </a:pPr>
            <a:r>
              <a:rPr lang="en-US" sz="1400">
                <a:latin typeface="Cambria"/>
                <a:ea typeface="Cambria"/>
                <a:cs typeface="Cambria"/>
                <a:sym typeface="Cambria"/>
              </a:rPr>
              <a:t>It's also possible to parse SQLite databases (which are often used in Android apps) to view app data.</a:t>
            </a:r>
            <a:endParaRPr sz="1400">
              <a:latin typeface="Cambria"/>
              <a:ea typeface="Cambria"/>
              <a:cs typeface="Cambria"/>
              <a:sym typeface="Cambria"/>
            </a:endParaRPr>
          </a:p>
          <a:p>
            <a:pPr indent="-229234" lvl="0" marL="469900" marR="53339" rtl="0" algn="l">
              <a:lnSpc>
                <a:spcPct val="117071"/>
              </a:lnSpc>
              <a:spcBef>
                <a:spcPts val="20"/>
              </a:spcBef>
              <a:spcAft>
                <a:spcPts val="0"/>
              </a:spcAft>
              <a:buSzPts val="1400"/>
              <a:buFont typeface="Cambria"/>
              <a:buAutoNum type="arabicPeriod" startAt="2"/>
            </a:pPr>
            <a:r>
              <a:rPr b="1" lang="en-US" sz="1400">
                <a:latin typeface="Cambria"/>
                <a:ea typeface="Cambria"/>
                <a:cs typeface="Cambria"/>
                <a:sym typeface="Cambria"/>
              </a:rPr>
              <a:t>Artifacts</a:t>
            </a:r>
            <a:r>
              <a:rPr lang="en-US" sz="1400">
                <a:latin typeface="Cambria"/>
                <a:ea typeface="Cambria"/>
                <a:cs typeface="Cambria"/>
                <a:sym typeface="Cambria"/>
              </a:rPr>
              <a:t>: Autopsy automatically generates reports and flags potential artifacts, such as files that have been deleted but not overwritten yet. It</a:t>
            </a:r>
            <a:endParaRPr sz="1400">
              <a:latin typeface="Cambria"/>
              <a:ea typeface="Cambria"/>
              <a:cs typeface="Cambria"/>
              <a:sym typeface="Cambria"/>
            </a:endParaRPr>
          </a:p>
          <a:p>
            <a:pPr indent="0" lvl="0" marL="469900" rtl="0" algn="l">
              <a:lnSpc>
                <a:spcPct val="114642"/>
              </a:lnSpc>
              <a:spcBef>
                <a:spcPts val="0"/>
              </a:spcBef>
              <a:spcAft>
                <a:spcPts val="0"/>
              </a:spcAft>
              <a:buNone/>
            </a:pPr>
            <a:r>
              <a:rPr lang="en-US" sz="1400">
                <a:latin typeface="Cambria"/>
                <a:ea typeface="Cambria"/>
                <a:cs typeface="Cambria"/>
                <a:sym typeface="Cambria"/>
              </a:rPr>
              <a:t>may also uncover logs, photos, and videos stored on the device.</a:t>
            </a:r>
            <a:endParaRPr sz="1400">
              <a:latin typeface="Cambria"/>
              <a:ea typeface="Cambria"/>
              <a:cs typeface="Cambria"/>
              <a:sym typeface="Cambria"/>
            </a:endParaRPr>
          </a:p>
          <a:p>
            <a:pPr indent="0" lvl="0" marL="12700" rtl="0" algn="l">
              <a:lnSpc>
                <a:spcPct val="100000"/>
              </a:lnSpc>
              <a:spcBef>
                <a:spcPts val="1370"/>
              </a:spcBef>
              <a:spcAft>
                <a:spcPts val="0"/>
              </a:spcAft>
              <a:buNone/>
            </a:pPr>
            <a:r>
              <a:rPr b="1" lang="en-US" sz="1400">
                <a:latin typeface="Cambria"/>
                <a:ea typeface="Cambria"/>
                <a:cs typeface="Cambria"/>
                <a:sym typeface="Cambria"/>
              </a:rPr>
              <a:t>Recovering Deleted Data from External SD Card</a:t>
            </a:r>
            <a:endParaRPr sz="1400">
              <a:latin typeface="Cambria"/>
              <a:ea typeface="Cambria"/>
              <a:cs typeface="Cambria"/>
              <a:sym typeface="Cambria"/>
            </a:endParaRPr>
          </a:p>
          <a:p>
            <a:pPr indent="0" lvl="0" marL="12700" marR="339725" rtl="0" algn="l">
              <a:lnSpc>
                <a:spcPct val="118571"/>
              </a:lnSpc>
              <a:spcBef>
                <a:spcPts val="1420"/>
              </a:spcBef>
              <a:spcAft>
                <a:spcPts val="0"/>
              </a:spcAft>
              <a:buNone/>
            </a:pPr>
            <a:r>
              <a:rPr lang="en-US" sz="1400">
                <a:latin typeface="Cambria"/>
                <a:ea typeface="Cambria"/>
                <a:cs typeface="Cambria"/>
                <a:sym typeface="Cambria"/>
              </a:rPr>
              <a:t>External SD cards are often used to store media files, documents, and app data. To recover deleted files from an external SD card:</a:t>
            </a:r>
            <a:endParaRPr sz="1400">
              <a:latin typeface="Cambria"/>
              <a:ea typeface="Cambria"/>
              <a:cs typeface="Cambria"/>
              <a:sym typeface="Cambria"/>
            </a:endParaRPr>
          </a:p>
          <a:p>
            <a:pPr indent="-229234" lvl="0" marL="469900" marR="151765" rtl="0" algn="l">
              <a:lnSpc>
                <a:spcPct val="97900"/>
              </a:lnSpc>
              <a:spcBef>
                <a:spcPts val="1320"/>
              </a:spcBef>
              <a:spcAft>
                <a:spcPts val="0"/>
              </a:spcAft>
              <a:buSzPts val="1400"/>
              <a:buFont typeface="Cambria"/>
              <a:buAutoNum type="arabicPeriod"/>
            </a:pPr>
            <a:r>
              <a:rPr b="1" lang="en-US" sz="1400">
                <a:latin typeface="Cambria"/>
                <a:ea typeface="Cambria"/>
                <a:cs typeface="Cambria"/>
                <a:sym typeface="Cambria"/>
              </a:rPr>
              <a:t>Use Forensic Tools</a:t>
            </a:r>
            <a:r>
              <a:rPr lang="en-US" sz="1400">
                <a:latin typeface="Cambria"/>
                <a:ea typeface="Cambria"/>
                <a:cs typeface="Cambria"/>
                <a:sym typeface="Cambria"/>
              </a:rPr>
              <a:t>: Tools like </a:t>
            </a:r>
            <a:r>
              <a:rPr b="1" lang="en-US" sz="1400">
                <a:latin typeface="Cambria"/>
                <a:ea typeface="Cambria"/>
                <a:cs typeface="Cambria"/>
                <a:sym typeface="Cambria"/>
              </a:rPr>
              <a:t>FTK Imager</a:t>
            </a:r>
            <a:r>
              <a:rPr lang="en-US" sz="1400">
                <a:latin typeface="Cambria"/>
                <a:ea typeface="Cambria"/>
                <a:cs typeface="Cambria"/>
                <a:sym typeface="Cambria"/>
              </a:rPr>
              <a:t>, </a:t>
            </a:r>
            <a:r>
              <a:rPr b="1" lang="en-US" sz="1400">
                <a:latin typeface="Cambria"/>
                <a:ea typeface="Cambria"/>
                <a:cs typeface="Cambria"/>
                <a:sym typeface="Cambria"/>
              </a:rPr>
              <a:t>Autopsy</a:t>
            </a:r>
            <a:r>
              <a:rPr lang="en-US" sz="1400">
                <a:latin typeface="Cambria"/>
                <a:ea typeface="Cambria"/>
                <a:cs typeface="Cambria"/>
                <a:sym typeface="Cambria"/>
              </a:rPr>
              <a:t>, or </a:t>
            </a:r>
            <a:r>
              <a:rPr b="1" lang="en-US" sz="1400">
                <a:latin typeface="Cambria"/>
                <a:ea typeface="Cambria"/>
                <a:cs typeface="Cambria"/>
                <a:sym typeface="Cambria"/>
              </a:rPr>
              <a:t>Recuva </a:t>
            </a:r>
            <a:r>
              <a:rPr lang="en-US" sz="1400">
                <a:latin typeface="Cambria"/>
                <a:ea typeface="Cambria"/>
                <a:cs typeface="Cambria"/>
                <a:sym typeface="Cambria"/>
              </a:rPr>
              <a:t>can be used to scan and recover deleted data. Forensic tools are better because they work on the raw data and avoid overwriting sectors.</a:t>
            </a:r>
            <a:endParaRPr sz="1400">
              <a:latin typeface="Cambria"/>
              <a:ea typeface="Cambria"/>
              <a:cs typeface="Cambria"/>
              <a:sym typeface="Cambria"/>
            </a:endParaRPr>
          </a:p>
          <a:p>
            <a:pPr indent="-229235" lvl="0" marL="470534" rtl="0" algn="l">
              <a:lnSpc>
                <a:spcPct val="115714"/>
              </a:lnSpc>
              <a:spcBef>
                <a:spcPts val="0"/>
              </a:spcBef>
              <a:spcAft>
                <a:spcPts val="0"/>
              </a:spcAft>
              <a:buSzPts val="1400"/>
              <a:buFont typeface="Cambria"/>
              <a:buAutoNum type="arabicPeriod"/>
            </a:pPr>
            <a:r>
              <a:rPr b="1" lang="en-US" sz="1400">
                <a:latin typeface="Cambria"/>
                <a:ea typeface="Cambria"/>
                <a:cs typeface="Cambria"/>
                <a:sym typeface="Cambria"/>
              </a:rPr>
              <a:t>File Carving</a:t>
            </a:r>
            <a:r>
              <a:rPr lang="en-US" sz="1400">
                <a:latin typeface="Cambria"/>
                <a:ea typeface="Cambria"/>
                <a:cs typeface="Cambria"/>
                <a:sym typeface="Cambria"/>
              </a:rPr>
              <a:t>: If files are deleted, file carving techniques can be used to</a:t>
            </a:r>
            <a:endParaRPr sz="1400">
              <a:latin typeface="Cambria"/>
              <a:ea typeface="Cambria"/>
              <a:cs typeface="Cambria"/>
              <a:sym typeface="Cambria"/>
            </a:endParaRPr>
          </a:p>
          <a:p>
            <a:pPr indent="0" lvl="0" marL="469900" marR="5080" rtl="0" algn="l">
              <a:lnSpc>
                <a:spcPct val="116428"/>
              </a:lnSpc>
              <a:spcBef>
                <a:spcPts val="85"/>
              </a:spcBef>
              <a:spcAft>
                <a:spcPts val="0"/>
              </a:spcAft>
              <a:buNone/>
            </a:pPr>
            <a:r>
              <a:rPr lang="en-US" sz="1400">
                <a:latin typeface="Cambria"/>
                <a:ea typeface="Cambria"/>
                <a:cs typeface="Cambria"/>
                <a:sym typeface="Cambria"/>
              </a:rPr>
              <a:t>recover them. This process involves searching for known file signatures or headers and footers that indicate file types.</a:t>
            </a:r>
            <a:endParaRPr sz="1400">
              <a:latin typeface="Cambria"/>
              <a:ea typeface="Cambria"/>
              <a:cs typeface="Cambria"/>
              <a:sym typeface="Cambria"/>
            </a:endParaRPr>
          </a:p>
          <a:p>
            <a:pPr indent="-229235" lvl="0" marL="470534" rtl="0" algn="l">
              <a:lnSpc>
                <a:spcPct val="112500"/>
              </a:lnSpc>
              <a:spcBef>
                <a:spcPts val="0"/>
              </a:spcBef>
              <a:spcAft>
                <a:spcPts val="0"/>
              </a:spcAft>
              <a:buSzPts val="1400"/>
              <a:buFont typeface="Cambria"/>
              <a:buAutoNum type="arabicPeriod" startAt="3"/>
            </a:pPr>
            <a:r>
              <a:rPr b="1" lang="en-US" sz="1400">
                <a:latin typeface="Cambria"/>
                <a:ea typeface="Cambria"/>
                <a:cs typeface="Cambria"/>
                <a:sym typeface="Cambria"/>
              </a:rPr>
              <a:t>Recovery Process</a:t>
            </a:r>
            <a:r>
              <a:rPr lang="en-US" sz="1400">
                <a:latin typeface="Cambria"/>
                <a:ea typeface="Cambria"/>
                <a:cs typeface="Cambria"/>
                <a:sym typeface="Cambria"/>
              </a:rPr>
              <a:t>:</a:t>
            </a:r>
            <a:endParaRPr sz="1400">
              <a:latin typeface="Cambria"/>
              <a:ea typeface="Cambria"/>
              <a:cs typeface="Cambria"/>
              <a:sym typeface="Cambria"/>
            </a:endParaRPr>
          </a:p>
          <a:p>
            <a:pPr indent="-228600" lvl="1" marL="927100" rtl="0" algn="l">
              <a:lnSpc>
                <a:spcPct val="117499"/>
              </a:lnSpc>
              <a:spcBef>
                <a:spcPts val="0"/>
              </a:spcBef>
              <a:spcAft>
                <a:spcPts val="0"/>
              </a:spcAft>
              <a:buSzPts val="1000"/>
              <a:buFont typeface="Courier New"/>
              <a:buChar char="o"/>
            </a:pPr>
            <a:r>
              <a:rPr lang="en-US" sz="1400">
                <a:latin typeface="Cambria"/>
                <a:ea typeface="Cambria"/>
                <a:cs typeface="Cambria"/>
                <a:sym typeface="Cambria"/>
              </a:rPr>
              <a:t>Create an image of the SD card.</a:t>
            </a:r>
            <a:endParaRPr sz="1400">
              <a:latin typeface="Cambria"/>
              <a:ea typeface="Cambria"/>
              <a:cs typeface="Cambria"/>
              <a:sym typeface="Cambria"/>
            </a:endParaRPr>
          </a:p>
          <a:p>
            <a:pPr indent="-228600" lvl="1" marL="927100" rtl="0" algn="l">
              <a:lnSpc>
                <a:spcPct val="116785"/>
              </a:lnSpc>
              <a:spcBef>
                <a:spcPts val="0"/>
              </a:spcBef>
              <a:spcAft>
                <a:spcPts val="0"/>
              </a:spcAft>
              <a:buSzPts val="1000"/>
              <a:buFont typeface="Courier New"/>
              <a:buChar char="o"/>
            </a:pPr>
            <a:r>
              <a:rPr lang="en-US" sz="1400">
                <a:latin typeface="Cambria"/>
                <a:ea typeface="Cambria"/>
                <a:cs typeface="Cambria"/>
                <a:sym typeface="Cambria"/>
              </a:rPr>
              <a:t>Run a recovery tool on the image to search for deleted files.</a:t>
            </a:r>
            <a:endParaRPr sz="1400">
              <a:latin typeface="Cambria"/>
              <a:ea typeface="Cambria"/>
              <a:cs typeface="Cambria"/>
              <a:sym typeface="Cambria"/>
            </a:endParaRPr>
          </a:p>
          <a:p>
            <a:pPr indent="-228600" lvl="1" marL="927100" marR="404495" rtl="0" algn="l">
              <a:lnSpc>
                <a:spcPct val="118571"/>
              </a:lnSpc>
              <a:spcBef>
                <a:spcPts val="50"/>
              </a:spcBef>
              <a:spcAft>
                <a:spcPts val="0"/>
              </a:spcAft>
              <a:buSzPts val="1000"/>
              <a:buFont typeface="Courier New"/>
              <a:buChar char="o"/>
            </a:pPr>
            <a:r>
              <a:rPr lang="en-US" sz="1400">
                <a:latin typeface="Cambria"/>
                <a:ea typeface="Cambria"/>
                <a:cs typeface="Cambria"/>
                <a:sym typeface="Cambria"/>
              </a:rPr>
              <a:t>Some files might be partially overwritten or fragmented, but recovery is still possible through carving.</a:t>
            </a:r>
            <a:endParaRPr sz="1400">
              <a:latin typeface="Cambria"/>
              <a:ea typeface="Cambria"/>
              <a:cs typeface="Cambria"/>
              <a:sym typeface="Cambria"/>
            </a:endParaRPr>
          </a:p>
          <a:p>
            <a:pPr indent="-229235" lvl="0" marL="470534" rtl="0" algn="l">
              <a:lnSpc>
                <a:spcPct val="112500"/>
              </a:lnSpc>
              <a:spcBef>
                <a:spcPts val="0"/>
              </a:spcBef>
              <a:spcAft>
                <a:spcPts val="0"/>
              </a:spcAft>
              <a:buSzPts val="1400"/>
              <a:buFont typeface="Cambria"/>
              <a:buAutoNum type="arabicPeriod" startAt="3"/>
            </a:pPr>
            <a:r>
              <a:rPr b="1" lang="en-US" sz="1400">
                <a:latin typeface="Cambria"/>
                <a:ea typeface="Cambria"/>
                <a:cs typeface="Cambria"/>
                <a:sym typeface="Cambria"/>
              </a:rPr>
              <a:t>Limitations</a:t>
            </a:r>
            <a:r>
              <a:rPr lang="en-US" sz="1400">
                <a:latin typeface="Cambria"/>
                <a:ea typeface="Cambria"/>
                <a:cs typeface="Cambria"/>
                <a:sym typeface="Cambria"/>
              </a:rPr>
              <a:t>: If data on the SD card is overwritten, it may be impossible</a:t>
            </a:r>
            <a:endParaRPr sz="1400">
              <a:latin typeface="Cambria"/>
              <a:ea typeface="Cambria"/>
              <a:cs typeface="Cambria"/>
              <a:sym typeface="Cambria"/>
            </a:endParaRPr>
          </a:p>
          <a:p>
            <a:pPr indent="0" lvl="0" marL="469900" rtl="0" algn="l">
              <a:lnSpc>
                <a:spcPct val="100000"/>
              </a:lnSpc>
              <a:spcBef>
                <a:spcPts val="0"/>
              </a:spcBef>
              <a:spcAft>
                <a:spcPts val="0"/>
              </a:spcAft>
              <a:buNone/>
            </a:pPr>
            <a:r>
              <a:rPr lang="en-US" sz="1400">
                <a:latin typeface="Cambria"/>
                <a:ea typeface="Cambria"/>
                <a:cs typeface="Cambria"/>
                <a:sym typeface="Cambria"/>
              </a:rPr>
              <a:t>to recover. Thus, it's crucial to perform recovery soon after deletion.</a:t>
            </a:r>
            <a:endParaRPr sz="1400">
              <a:latin typeface="Cambria"/>
              <a:ea typeface="Cambria"/>
              <a:cs typeface="Cambria"/>
              <a:sym typeface="Cambria"/>
            </a:endParaRPr>
          </a:p>
          <a:p>
            <a:pPr indent="0" lvl="0" marL="12700" rtl="0" algn="l">
              <a:lnSpc>
                <a:spcPct val="100000"/>
              </a:lnSpc>
              <a:spcBef>
                <a:spcPts val="1345"/>
              </a:spcBef>
              <a:spcAft>
                <a:spcPts val="0"/>
              </a:spcAft>
              <a:buNone/>
            </a:pPr>
            <a:r>
              <a:rPr b="1" lang="en-US" sz="1400">
                <a:latin typeface="Cambria"/>
                <a:ea typeface="Cambria"/>
                <a:cs typeface="Cambria"/>
                <a:sym typeface="Cambria"/>
              </a:rPr>
              <a:t>Recovering Data Deleted from Internal Memory</a:t>
            </a:r>
            <a:endParaRPr sz="1400">
              <a:latin typeface="Cambria"/>
              <a:ea typeface="Cambria"/>
              <a:cs typeface="Cambria"/>
              <a:sym typeface="Cambria"/>
            </a:endParaRPr>
          </a:p>
          <a:p>
            <a:pPr indent="0" lvl="0" marL="12700" marR="250190" rtl="0" algn="l">
              <a:lnSpc>
                <a:spcPct val="98600"/>
              </a:lnSpc>
              <a:spcBef>
                <a:spcPts val="1365"/>
              </a:spcBef>
              <a:spcAft>
                <a:spcPts val="0"/>
              </a:spcAft>
              <a:buNone/>
            </a:pPr>
            <a:r>
              <a:rPr lang="en-US" sz="1400">
                <a:latin typeface="Cambria"/>
                <a:ea typeface="Cambria"/>
                <a:cs typeface="Cambria"/>
                <a:sym typeface="Cambria"/>
              </a:rPr>
              <a:t>Recovering data from internal memory (also known as NAND memory) is more difficult than from external SD cards due to the way Android handles internal storage. Here's how it's done:</a:t>
            </a:r>
            <a:endParaRPr sz="1400">
              <a:latin typeface="Cambria"/>
              <a:ea typeface="Cambria"/>
              <a:cs typeface="Cambria"/>
              <a:sym typeface="Cambria"/>
            </a:endParaRPr>
          </a:p>
        </p:txBody>
      </p:sp>
      <p:sp>
        <p:nvSpPr>
          <p:cNvPr id="157" name="Google Shape;157;p19"/>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1" name="Shape 161"/>
        <p:cNvGrpSpPr/>
        <p:nvPr/>
      </p:nvGrpSpPr>
      <p:grpSpPr>
        <a:xfrm>
          <a:off x="0" y="0"/>
          <a:ext cx="0" cy="0"/>
          <a:chOff x="0" y="0"/>
          <a:chExt cx="0" cy="0"/>
        </a:xfrm>
      </p:grpSpPr>
      <p:sp>
        <p:nvSpPr>
          <p:cNvPr id="162" name="Google Shape;162;p20"/>
          <p:cNvSpPr txBox="1"/>
          <p:nvPr/>
        </p:nvSpPr>
        <p:spPr>
          <a:xfrm>
            <a:off x="902004" y="892809"/>
            <a:ext cx="5826760" cy="8070215"/>
          </a:xfrm>
          <a:prstGeom prst="rect">
            <a:avLst/>
          </a:prstGeom>
          <a:noFill/>
          <a:ln>
            <a:noFill/>
          </a:ln>
        </p:spPr>
        <p:txBody>
          <a:bodyPr anchorCtr="0" anchor="t" bIns="0" lIns="0" spcFirstLastPara="1" rIns="0" wrap="square" tIns="16500">
            <a:spAutoFit/>
          </a:bodyPr>
          <a:lstStyle/>
          <a:p>
            <a:pPr indent="-229234" lvl="0" marL="469900" marR="126364" rtl="0" algn="l">
              <a:lnSpc>
                <a:spcPct val="97700"/>
              </a:lnSpc>
              <a:spcBef>
                <a:spcPts val="0"/>
              </a:spcBef>
              <a:spcAft>
                <a:spcPts val="0"/>
              </a:spcAft>
              <a:buSzPts val="1400"/>
              <a:buFont typeface="Cambria"/>
              <a:buAutoNum type="arabicPeriod"/>
            </a:pPr>
            <a:r>
              <a:rPr b="1" lang="en-US" sz="1400">
                <a:latin typeface="Cambria"/>
                <a:ea typeface="Cambria"/>
                <a:cs typeface="Cambria"/>
                <a:sym typeface="Cambria"/>
              </a:rPr>
              <a:t>Rooting the Device (Optional)</a:t>
            </a:r>
            <a:r>
              <a:rPr lang="en-US" sz="1400">
                <a:latin typeface="Cambria"/>
                <a:ea typeface="Cambria"/>
                <a:cs typeface="Cambria"/>
                <a:sym typeface="Cambria"/>
              </a:rPr>
              <a:t>: Sometimes, rooting the device gives you access to internal storage, but it could void warranties or lead to data corruption. Forensics often avoid this and opt for a logical extraction approach.</a:t>
            </a:r>
            <a:endParaRPr sz="1400">
              <a:latin typeface="Cambria"/>
              <a:ea typeface="Cambria"/>
              <a:cs typeface="Cambria"/>
              <a:sym typeface="Cambria"/>
            </a:endParaRPr>
          </a:p>
          <a:p>
            <a:pPr indent="-229235" lvl="0" marL="470534" rtl="0" algn="l">
              <a:lnSpc>
                <a:spcPct val="116428"/>
              </a:lnSpc>
              <a:spcBef>
                <a:spcPts val="0"/>
              </a:spcBef>
              <a:spcAft>
                <a:spcPts val="0"/>
              </a:spcAft>
              <a:buSzPts val="1400"/>
              <a:buFont typeface="Cambria"/>
              <a:buAutoNum type="arabicPeriod"/>
            </a:pPr>
            <a:r>
              <a:rPr b="1" lang="en-US" sz="1400">
                <a:latin typeface="Cambria"/>
                <a:ea typeface="Cambria"/>
                <a:cs typeface="Cambria"/>
                <a:sym typeface="Cambria"/>
              </a:rPr>
              <a:t>Use Forensic Tools</a:t>
            </a:r>
            <a:r>
              <a:rPr lang="en-US" sz="1400">
                <a:latin typeface="Cambria"/>
                <a:ea typeface="Cambria"/>
                <a:cs typeface="Cambria"/>
                <a:sym typeface="Cambria"/>
              </a:rPr>
              <a:t>:</a:t>
            </a:r>
            <a:endParaRPr sz="1400">
              <a:latin typeface="Cambria"/>
              <a:ea typeface="Cambria"/>
              <a:cs typeface="Cambria"/>
              <a:sym typeface="Cambria"/>
            </a:endParaRPr>
          </a:p>
          <a:p>
            <a:pPr indent="-228600" lvl="1" marL="927100" rtl="0" algn="l">
              <a:lnSpc>
                <a:spcPct val="116428"/>
              </a:lnSpc>
              <a:spcBef>
                <a:spcPts val="0"/>
              </a:spcBef>
              <a:spcAft>
                <a:spcPts val="0"/>
              </a:spcAft>
              <a:buSzPts val="1000"/>
              <a:buFont typeface="Courier New"/>
              <a:buChar char="o"/>
            </a:pPr>
            <a:r>
              <a:rPr lang="en-US" sz="1400">
                <a:latin typeface="Cambria"/>
                <a:ea typeface="Cambria"/>
                <a:cs typeface="Cambria"/>
                <a:sym typeface="Cambria"/>
              </a:rPr>
              <a:t>Tools like </a:t>
            </a:r>
            <a:r>
              <a:rPr b="1" lang="en-US" sz="1400">
                <a:latin typeface="Cambria"/>
                <a:ea typeface="Cambria"/>
                <a:cs typeface="Cambria"/>
                <a:sym typeface="Cambria"/>
              </a:rPr>
              <a:t>Cellebrite UFED</a:t>
            </a:r>
            <a:r>
              <a:rPr lang="en-US" sz="1400">
                <a:latin typeface="Cambria"/>
                <a:ea typeface="Cambria"/>
                <a:cs typeface="Cambria"/>
                <a:sym typeface="Cambria"/>
              </a:rPr>
              <a:t>, </a:t>
            </a:r>
            <a:r>
              <a:rPr b="1" lang="en-US" sz="1400">
                <a:latin typeface="Cambria"/>
                <a:ea typeface="Cambria"/>
                <a:cs typeface="Cambria"/>
                <a:sym typeface="Cambria"/>
              </a:rPr>
              <a:t>Oxygen Forensic Detective</a:t>
            </a:r>
            <a:r>
              <a:rPr lang="en-US" sz="1400">
                <a:latin typeface="Cambria"/>
                <a:ea typeface="Cambria"/>
                <a:cs typeface="Cambria"/>
                <a:sym typeface="Cambria"/>
              </a:rPr>
              <a:t>, or</a:t>
            </a:r>
            <a:endParaRPr sz="1400">
              <a:latin typeface="Cambria"/>
              <a:ea typeface="Cambria"/>
              <a:cs typeface="Cambria"/>
              <a:sym typeface="Cambria"/>
            </a:endParaRPr>
          </a:p>
          <a:p>
            <a:pPr indent="0" lvl="0" marL="927100" rtl="0" algn="l">
              <a:lnSpc>
                <a:spcPct val="117499"/>
              </a:lnSpc>
              <a:spcBef>
                <a:spcPts val="0"/>
              </a:spcBef>
              <a:spcAft>
                <a:spcPts val="0"/>
              </a:spcAft>
              <a:buNone/>
            </a:pPr>
            <a:r>
              <a:rPr b="1" lang="en-US" sz="1400">
                <a:latin typeface="Cambria"/>
                <a:ea typeface="Cambria"/>
                <a:cs typeface="Cambria"/>
                <a:sym typeface="Cambria"/>
              </a:rPr>
              <a:t>Autopsy </a:t>
            </a:r>
            <a:r>
              <a:rPr lang="en-US" sz="1400">
                <a:latin typeface="Cambria"/>
                <a:ea typeface="Cambria"/>
                <a:cs typeface="Cambria"/>
                <a:sym typeface="Cambria"/>
              </a:rPr>
              <a:t>can be used to extract data from internal storage.</a:t>
            </a:r>
            <a:endParaRPr sz="1400">
              <a:latin typeface="Cambria"/>
              <a:ea typeface="Cambria"/>
              <a:cs typeface="Cambria"/>
              <a:sym typeface="Cambria"/>
            </a:endParaRPr>
          </a:p>
          <a:p>
            <a:pPr indent="-228600" lvl="1" marL="927100" marR="5080" rtl="0" algn="l">
              <a:lnSpc>
                <a:spcPct val="116428"/>
              </a:lnSpc>
              <a:spcBef>
                <a:spcPts val="85"/>
              </a:spcBef>
              <a:spcAft>
                <a:spcPts val="0"/>
              </a:spcAft>
              <a:buSzPts val="1000"/>
              <a:buFont typeface="Courier New"/>
              <a:buChar char="o"/>
            </a:pPr>
            <a:r>
              <a:rPr lang="en-US" sz="1400">
                <a:latin typeface="Cambria"/>
                <a:ea typeface="Cambria"/>
                <a:cs typeface="Cambria"/>
                <a:sym typeface="Cambria"/>
              </a:rPr>
              <a:t>These tools can often extract deleted files or metadata even after deletion by accessing "unallocated space."</a:t>
            </a:r>
            <a:endParaRPr sz="1400">
              <a:latin typeface="Cambria"/>
              <a:ea typeface="Cambria"/>
              <a:cs typeface="Cambria"/>
              <a:sym typeface="Cambria"/>
            </a:endParaRPr>
          </a:p>
          <a:p>
            <a:pPr indent="-229235" lvl="0" marL="470534" rtl="0" algn="l">
              <a:lnSpc>
                <a:spcPct val="112857"/>
              </a:lnSpc>
              <a:spcBef>
                <a:spcPts val="0"/>
              </a:spcBef>
              <a:spcAft>
                <a:spcPts val="0"/>
              </a:spcAft>
              <a:buSzPts val="1400"/>
              <a:buFont typeface="Cambria"/>
              <a:buAutoNum type="arabicPeriod"/>
            </a:pPr>
            <a:r>
              <a:rPr b="1" lang="en-US" sz="1400">
                <a:latin typeface="Cambria"/>
                <a:ea typeface="Cambria"/>
                <a:cs typeface="Cambria"/>
                <a:sym typeface="Cambria"/>
              </a:rPr>
              <a:t>File System Analysis</a:t>
            </a:r>
            <a:r>
              <a:rPr lang="en-US" sz="1400">
                <a:latin typeface="Cambria"/>
                <a:ea typeface="Cambria"/>
                <a:cs typeface="Cambria"/>
                <a:sym typeface="Cambria"/>
              </a:rPr>
              <a:t>: Android uses file systems like </a:t>
            </a:r>
            <a:r>
              <a:rPr b="1" lang="en-US" sz="1400">
                <a:latin typeface="Cambria"/>
                <a:ea typeface="Cambria"/>
                <a:cs typeface="Cambria"/>
                <a:sym typeface="Cambria"/>
              </a:rPr>
              <a:t>EXT4 </a:t>
            </a:r>
            <a:r>
              <a:rPr lang="en-US" sz="1400">
                <a:latin typeface="Cambria"/>
                <a:ea typeface="Cambria"/>
                <a:cs typeface="Cambria"/>
                <a:sym typeface="Cambria"/>
              </a:rPr>
              <a:t>(common</a:t>
            </a:r>
            <a:endParaRPr sz="1400">
              <a:latin typeface="Cambria"/>
              <a:ea typeface="Cambria"/>
              <a:cs typeface="Cambria"/>
              <a:sym typeface="Cambria"/>
            </a:endParaRPr>
          </a:p>
          <a:p>
            <a:pPr indent="0" lvl="0" marL="469900" marR="269240" rtl="0" algn="l">
              <a:lnSpc>
                <a:spcPct val="116428"/>
              </a:lnSpc>
              <a:spcBef>
                <a:spcPts val="80"/>
              </a:spcBef>
              <a:spcAft>
                <a:spcPts val="0"/>
              </a:spcAft>
              <a:buNone/>
            </a:pPr>
            <a:r>
              <a:rPr lang="en-US" sz="1400">
                <a:latin typeface="Cambria"/>
                <a:ea typeface="Cambria"/>
                <a:cs typeface="Cambria"/>
                <a:sym typeface="Cambria"/>
              </a:rPr>
              <a:t>for internal memory), which may still have traces of deleted files or metadata.</a:t>
            </a:r>
            <a:endParaRPr sz="1400">
              <a:latin typeface="Cambria"/>
              <a:ea typeface="Cambria"/>
              <a:cs typeface="Cambria"/>
              <a:sym typeface="Cambria"/>
            </a:endParaRPr>
          </a:p>
          <a:p>
            <a:pPr indent="-228600" lvl="1" marL="927100" marR="19050" rtl="0" algn="l">
              <a:lnSpc>
                <a:spcPct val="117071"/>
              </a:lnSpc>
              <a:spcBef>
                <a:spcPts val="20"/>
              </a:spcBef>
              <a:spcAft>
                <a:spcPts val="0"/>
              </a:spcAft>
              <a:buSzPts val="1000"/>
              <a:buFont typeface="Courier New"/>
              <a:buChar char="o"/>
            </a:pPr>
            <a:r>
              <a:rPr lang="en-US" sz="1400">
                <a:latin typeface="Cambria"/>
                <a:ea typeface="Cambria"/>
                <a:cs typeface="Cambria"/>
                <a:sym typeface="Cambria"/>
              </a:rPr>
              <a:t>Use specialized software to parse EXT4 partitions and search for deleted files or data fragments.</a:t>
            </a:r>
            <a:endParaRPr sz="1400">
              <a:latin typeface="Cambria"/>
              <a:ea typeface="Cambria"/>
              <a:cs typeface="Cambria"/>
              <a:sym typeface="Cambria"/>
            </a:endParaRPr>
          </a:p>
          <a:p>
            <a:pPr indent="-229235" lvl="0" marL="470534" rtl="0" algn="l">
              <a:lnSpc>
                <a:spcPct val="111785"/>
              </a:lnSpc>
              <a:spcBef>
                <a:spcPts val="0"/>
              </a:spcBef>
              <a:spcAft>
                <a:spcPts val="0"/>
              </a:spcAft>
              <a:buSzPts val="1400"/>
              <a:buFont typeface="Cambria"/>
              <a:buAutoNum type="arabicPeriod" startAt="4"/>
            </a:pPr>
            <a:r>
              <a:rPr b="1" lang="en-US" sz="1400">
                <a:latin typeface="Cambria"/>
                <a:ea typeface="Cambria"/>
                <a:cs typeface="Cambria"/>
                <a:sym typeface="Cambria"/>
              </a:rPr>
              <a:t>Challenges</a:t>
            </a:r>
            <a:r>
              <a:rPr lang="en-US" sz="1400">
                <a:latin typeface="Cambria"/>
                <a:ea typeface="Cambria"/>
                <a:cs typeface="Cambria"/>
                <a:sym typeface="Cambria"/>
              </a:rPr>
              <a:t>: Data overwriting (especially on newer devices with</a:t>
            </a:r>
            <a:endParaRPr sz="1400">
              <a:latin typeface="Cambria"/>
              <a:ea typeface="Cambria"/>
              <a:cs typeface="Cambria"/>
              <a:sym typeface="Cambria"/>
            </a:endParaRPr>
          </a:p>
          <a:p>
            <a:pPr indent="0" lvl="0" marL="469900" marR="177800" rtl="0" algn="l">
              <a:lnSpc>
                <a:spcPct val="98600"/>
              </a:lnSpc>
              <a:spcBef>
                <a:spcPts val="15"/>
              </a:spcBef>
              <a:spcAft>
                <a:spcPts val="0"/>
              </a:spcAft>
              <a:buNone/>
            </a:pPr>
            <a:r>
              <a:rPr lang="en-US" sz="1400">
                <a:latin typeface="Cambria"/>
                <a:ea typeface="Cambria"/>
                <a:cs typeface="Cambria"/>
                <a:sym typeface="Cambria"/>
              </a:rPr>
              <a:t>encryption) complicates recovery. Also, many newer devices use full disk encryption, making raw data analysis difficult without the decryption key.</a:t>
            </a:r>
            <a:endParaRPr sz="1400">
              <a:latin typeface="Cambria"/>
              <a:ea typeface="Cambria"/>
              <a:cs typeface="Cambria"/>
              <a:sym typeface="Cambria"/>
            </a:endParaRPr>
          </a:p>
          <a:p>
            <a:pPr indent="0" lvl="0" marL="12700" rtl="0" algn="l">
              <a:lnSpc>
                <a:spcPct val="100000"/>
              </a:lnSpc>
              <a:spcBef>
                <a:spcPts val="1345"/>
              </a:spcBef>
              <a:spcAft>
                <a:spcPts val="0"/>
              </a:spcAft>
              <a:buNone/>
            </a:pPr>
            <a:r>
              <a:rPr b="1" lang="en-US" sz="1400">
                <a:latin typeface="Cambria"/>
                <a:ea typeface="Cambria"/>
                <a:cs typeface="Cambria"/>
                <a:sym typeface="Cambria"/>
              </a:rPr>
              <a:t>Recovering Deleted Files by Parsing SQLite Files</a:t>
            </a:r>
            <a:endParaRPr sz="1400">
              <a:latin typeface="Cambria"/>
              <a:ea typeface="Cambria"/>
              <a:cs typeface="Cambria"/>
              <a:sym typeface="Cambria"/>
            </a:endParaRPr>
          </a:p>
          <a:p>
            <a:pPr indent="0" lvl="0" marL="12700" marR="133985" rtl="0" algn="l">
              <a:lnSpc>
                <a:spcPct val="118571"/>
              </a:lnSpc>
              <a:spcBef>
                <a:spcPts val="1415"/>
              </a:spcBef>
              <a:spcAft>
                <a:spcPts val="0"/>
              </a:spcAft>
              <a:buNone/>
            </a:pPr>
            <a:r>
              <a:rPr lang="en-US" sz="1400">
                <a:latin typeface="Cambria"/>
                <a:ea typeface="Cambria"/>
                <a:cs typeface="Cambria"/>
                <a:sym typeface="Cambria"/>
              </a:rPr>
              <a:t>SQLite is a popular database format used by many Android applications to store data like app settings, messages, contacts, and even browsing history.</a:t>
            </a:r>
            <a:endParaRPr sz="1400">
              <a:latin typeface="Cambria"/>
              <a:ea typeface="Cambria"/>
              <a:cs typeface="Cambria"/>
              <a:sym typeface="Cambria"/>
            </a:endParaRPr>
          </a:p>
          <a:p>
            <a:pPr indent="-229234" lvl="0" marL="469900" marR="154940" rtl="0" algn="l">
              <a:lnSpc>
                <a:spcPct val="118571"/>
              </a:lnSpc>
              <a:spcBef>
                <a:spcPts val="1365"/>
              </a:spcBef>
              <a:spcAft>
                <a:spcPts val="0"/>
              </a:spcAft>
              <a:buSzPts val="1400"/>
              <a:buFont typeface="Cambria"/>
              <a:buAutoNum type="arabicPeriod"/>
            </a:pPr>
            <a:r>
              <a:rPr b="1" lang="en-US" sz="1400">
                <a:latin typeface="Cambria"/>
                <a:ea typeface="Cambria"/>
                <a:cs typeface="Cambria"/>
                <a:sym typeface="Cambria"/>
              </a:rPr>
              <a:t>Locate SQLite Databases</a:t>
            </a:r>
            <a:r>
              <a:rPr lang="en-US" sz="1400">
                <a:latin typeface="Cambria"/>
                <a:ea typeface="Cambria"/>
                <a:cs typeface="Cambria"/>
                <a:sym typeface="Cambria"/>
              </a:rPr>
              <a:t>: You can locate these databases in specific app folders in the internal storage or SD card.</a:t>
            </a:r>
            <a:endParaRPr sz="1400">
              <a:latin typeface="Cambria"/>
              <a:ea typeface="Cambria"/>
              <a:cs typeface="Cambria"/>
              <a:sym typeface="Cambria"/>
            </a:endParaRPr>
          </a:p>
          <a:p>
            <a:pPr indent="-228600" lvl="1" marL="927100" rtl="0" algn="l">
              <a:lnSpc>
                <a:spcPct val="110714"/>
              </a:lnSpc>
              <a:spcBef>
                <a:spcPts val="0"/>
              </a:spcBef>
              <a:spcAft>
                <a:spcPts val="0"/>
              </a:spcAft>
              <a:buSzPts val="1000"/>
              <a:buFont typeface="Courier New"/>
              <a:buChar char="o"/>
            </a:pPr>
            <a:r>
              <a:rPr lang="en-US" sz="1400">
                <a:latin typeface="Cambria"/>
                <a:ea typeface="Cambria"/>
                <a:cs typeface="Cambria"/>
                <a:sym typeface="Cambria"/>
              </a:rPr>
              <a:t>For example, WhatsApp uses databases like </a:t>
            </a:r>
            <a:r>
              <a:rPr lang="en-US" sz="1100">
                <a:latin typeface="Cambria"/>
                <a:ea typeface="Cambria"/>
                <a:cs typeface="Cambria"/>
                <a:sym typeface="Cambria"/>
              </a:rPr>
              <a:t>msgstore.db </a:t>
            </a:r>
            <a:r>
              <a:rPr lang="en-US" sz="1400">
                <a:latin typeface="Cambria"/>
                <a:ea typeface="Cambria"/>
                <a:cs typeface="Cambria"/>
                <a:sym typeface="Cambria"/>
              </a:rPr>
              <a:t>for chat</a:t>
            </a:r>
            <a:endParaRPr sz="1400">
              <a:latin typeface="Cambria"/>
              <a:ea typeface="Cambria"/>
              <a:cs typeface="Cambria"/>
              <a:sym typeface="Cambria"/>
            </a:endParaRPr>
          </a:p>
          <a:p>
            <a:pPr indent="0" lvl="0" marL="927100" rtl="0" algn="l">
              <a:lnSpc>
                <a:spcPct val="117499"/>
              </a:lnSpc>
              <a:spcBef>
                <a:spcPts val="0"/>
              </a:spcBef>
              <a:spcAft>
                <a:spcPts val="0"/>
              </a:spcAft>
              <a:buNone/>
            </a:pPr>
            <a:r>
              <a:rPr lang="en-US" sz="1400">
                <a:latin typeface="Cambria"/>
                <a:ea typeface="Cambria"/>
                <a:cs typeface="Cambria"/>
                <a:sym typeface="Cambria"/>
              </a:rPr>
              <a:t>history.</a:t>
            </a:r>
            <a:endParaRPr sz="1400">
              <a:latin typeface="Cambria"/>
              <a:ea typeface="Cambria"/>
              <a:cs typeface="Cambria"/>
              <a:sym typeface="Cambria"/>
            </a:endParaRPr>
          </a:p>
          <a:p>
            <a:pPr indent="-228600" lvl="1" marL="927100" marR="895350" rtl="0" algn="l">
              <a:lnSpc>
                <a:spcPct val="116428"/>
              </a:lnSpc>
              <a:spcBef>
                <a:spcPts val="80"/>
              </a:spcBef>
              <a:spcAft>
                <a:spcPts val="0"/>
              </a:spcAft>
              <a:buSzPts val="1000"/>
              <a:buFont typeface="Courier New"/>
              <a:buChar char="o"/>
            </a:pPr>
            <a:r>
              <a:rPr lang="en-US" sz="1400">
                <a:latin typeface="Cambria"/>
                <a:ea typeface="Cambria"/>
                <a:cs typeface="Cambria"/>
                <a:sym typeface="Cambria"/>
              </a:rPr>
              <a:t>These databases are often stored in </a:t>
            </a:r>
            <a:r>
              <a:rPr lang="en-US" sz="1100">
                <a:latin typeface="Cambria"/>
                <a:ea typeface="Cambria"/>
                <a:cs typeface="Cambria"/>
                <a:sym typeface="Cambria"/>
              </a:rPr>
              <a:t>data/data/&lt;package- name&gt;/databases/</a:t>
            </a:r>
            <a:r>
              <a:rPr lang="en-US" sz="1400">
                <a:latin typeface="Cambria"/>
                <a:ea typeface="Cambria"/>
                <a:cs typeface="Cambria"/>
                <a:sym typeface="Cambria"/>
              </a:rPr>
              <a:t>.</a:t>
            </a:r>
            <a:endParaRPr sz="1400">
              <a:latin typeface="Cambria"/>
              <a:ea typeface="Cambria"/>
              <a:cs typeface="Cambria"/>
              <a:sym typeface="Cambria"/>
            </a:endParaRPr>
          </a:p>
          <a:p>
            <a:pPr indent="-229235" lvl="0" marL="470534" rtl="0" algn="l">
              <a:lnSpc>
                <a:spcPct val="112857"/>
              </a:lnSpc>
              <a:spcBef>
                <a:spcPts val="0"/>
              </a:spcBef>
              <a:spcAft>
                <a:spcPts val="0"/>
              </a:spcAft>
              <a:buSzPts val="1400"/>
              <a:buFont typeface="Cambria"/>
              <a:buAutoNum type="arabicPeriod"/>
            </a:pPr>
            <a:r>
              <a:rPr b="1" lang="en-US" sz="1400">
                <a:latin typeface="Cambria"/>
                <a:ea typeface="Cambria"/>
                <a:cs typeface="Cambria"/>
                <a:sym typeface="Cambria"/>
              </a:rPr>
              <a:t>SQLite Database Analysis</a:t>
            </a:r>
            <a:r>
              <a:rPr lang="en-US" sz="1400">
                <a:latin typeface="Cambria"/>
                <a:ea typeface="Cambria"/>
                <a:cs typeface="Cambria"/>
                <a:sym typeface="Cambria"/>
              </a:rPr>
              <a:t>:</a:t>
            </a:r>
            <a:endParaRPr sz="1400">
              <a:latin typeface="Cambria"/>
              <a:ea typeface="Cambria"/>
              <a:cs typeface="Cambria"/>
              <a:sym typeface="Cambria"/>
            </a:endParaRPr>
          </a:p>
          <a:p>
            <a:pPr indent="-228600" lvl="1" marL="927100" marR="461644" rtl="0" algn="l">
              <a:lnSpc>
                <a:spcPct val="116428"/>
              </a:lnSpc>
              <a:spcBef>
                <a:spcPts val="85"/>
              </a:spcBef>
              <a:spcAft>
                <a:spcPts val="0"/>
              </a:spcAft>
              <a:buSzPts val="1000"/>
              <a:buFont typeface="Courier New"/>
              <a:buChar char="o"/>
            </a:pPr>
            <a:r>
              <a:rPr lang="en-US" sz="1400">
                <a:latin typeface="Cambria"/>
                <a:ea typeface="Cambria"/>
                <a:cs typeface="Cambria"/>
                <a:sym typeface="Cambria"/>
              </a:rPr>
              <a:t>Use tools like </a:t>
            </a:r>
            <a:r>
              <a:rPr b="1" lang="en-US" sz="1400">
                <a:latin typeface="Cambria"/>
                <a:ea typeface="Cambria"/>
                <a:cs typeface="Cambria"/>
                <a:sym typeface="Cambria"/>
              </a:rPr>
              <a:t>DB Browser for SQLite</a:t>
            </a:r>
            <a:r>
              <a:rPr lang="en-US" sz="1400">
                <a:latin typeface="Cambria"/>
                <a:ea typeface="Cambria"/>
                <a:cs typeface="Cambria"/>
                <a:sym typeface="Cambria"/>
              </a:rPr>
              <a:t>, </a:t>
            </a:r>
            <a:r>
              <a:rPr b="1" lang="en-US" sz="1400">
                <a:latin typeface="Cambria"/>
                <a:ea typeface="Cambria"/>
                <a:cs typeface="Cambria"/>
                <a:sym typeface="Cambria"/>
              </a:rPr>
              <a:t>Autopsy</a:t>
            </a:r>
            <a:r>
              <a:rPr lang="en-US" sz="1400">
                <a:latin typeface="Cambria"/>
                <a:ea typeface="Cambria"/>
                <a:cs typeface="Cambria"/>
                <a:sym typeface="Cambria"/>
              </a:rPr>
              <a:t>, or </a:t>
            </a:r>
            <a:r>
              <a:rPr b="1" lang="en-US" sz="1400">
                <a:latin typeface="Cambria"/>
                <a:ea typeface="Cambria"/>
                <a:cs typeface="Cambria"/>
                <a:sym typeface="Cambria"/>
              </a:rPr>
              <a:t>SQLite Forensic Toolkit </a:t>
            </a:r>
            <a:r>
              <a:rPr lang="en-US" sz="1400">
                <a:latin typeface="Cambria"/>
                <a:ea typeface="Cambria"/>
                <a:cs typeface="Cambria"/>
                <a:sym typeface="Cambria"/>
              </a:rPr>
              <a:t>to parse and analyze these databases.</a:t>
            </a:r>
            <a:endParaRPr sz="1400">
              <a:latin typeface="Cambria"/>
              <a:ea typeface="Cambria"/>
              <a:cs typeface="Cambria"/>
              <a:sym typeface="Cambria"/>
            </a:endParaRPr>
          </a:p>
          <a:p>
            <a:pPr indent="-228600" lvl="1" marL="927100" marR="34290" rtl="0" algn="l">
              <a:lnSpc>
                <a:spcPct val="116428"/>
              </a:lnSpc>
              <a:spcBef>
                <a:spcPts val="30"/>
              </a:spcBef>
              <a:spcAft>
                <a:spcPts val="0"/>
              </a:spcAft>
              <a:buSzPts val="1000"/>
              <a:buFont typeface="Courier New"/>
              <a:buChar char="o"/>
            </a:pPr>
            <a:r>
              <a:rPr lang="en-US" sz="1400">
                <a:latin typeface="Cambria"/>
                <a:ea typeface="Cambria"/>
                <a:cs typeface="Cambria"/>
                <a:sym typeface="Cambria"/>
              </a:rPr>
              <a:t>These tools can help you find deleted records by scanning the database for "free space" where deleted records may still reside.</a:t>
            </a:r>
            <a:endParaRPr sz="1400">
              <a:latin typeface="Cambria"/>
              <a:ea typeface="Cambria"/>
              <a:cs typeface="Cambria"/>
              <a:sym typeface="Cambria"/>
            </a:endParaRPr>
          </a:p>
          <a:p>
            <a:pPr indent="-229235" lvl="0" marL="470534" rtl="0" algn="l">
              <a:lnSpc>
                <a:spcPct val="112857"/>
              </a:lnSpc>
              <a:spcBef>
                <a:spcPts val="0"/>
              </a:spcBef>
              <a:spcAft>
                <a:spcPts val="0"/>
              </a:spcAft>
              <a:buSzPts val="1400"/>
              <a:buFont typeface="Cambria"/>
              <a:buAutoNum type="arabicPeriod"/>
            </a:pPr>
            <a:r>
              <a:rPr b="1" lang="en-US" sz="1400">
                <a:latin typeface="Cambria"/>
                <a:ea typeface="Cambria"/>
                <a:cs typeface="Cambria"/>
                <a:sym typeface="Cambria"/>
              </a:rPr>
              <a:t>Recover Data</a:t>
            </a:r>
            <a:r>
              <a:rPr lang="en-US" sz="1400">
                <a:latin typeface="Cambria"/>
                <a:ea typeface="Cambria"/>
                <a:cs typeface="Cambria"/>
                <a:sym typeface="Cambria"/>
              </a:rPr>
              <a:t>: By looking at the raw database file and extracting the</a:t>
            </a:r>
            <a:endParaRPr sz="1400">
              <a:latin typeface="Cambria"/>
              <a:ea typeface="Cambria"/>
              <a:cs typeface="Cambria"/>
              <a:sym typeface="Cambria"/>
            </a:endParaRPr>
          </a:p>
          <a:p>
            <a:pPr indent="0" lvl="0" marL="469900" marR="46990" rtl="0" algn="l">
              <a:lnSpc>
                <a:spcPct val="97900"/>
              </a:lnSpc>
              <a:spcBef>
                <a:spcPts val="20"/>
              </a:spcBef>
              <a:spcAft>
                <a:spcPts val="0"/>
              </a:spcAft>
              <a:buNone/>
            </a:pPr>
            <a:r>
              <a:rPr lang="en-US" sz="1400">
                <a:latin typeface="Cambria"/>
                <a:ea typeface="Cambria"/>
                <a:cs typeface="Cambria"/>
                <a:sym typeface="Cambria"/>
              </a:rPr>
              <a:t>contents of deleted records (which may still reside in unallocated space), you can often recover deleted messages, contacts, or other app data.</a:t>
            </a:r>
            <a:endParaRPr sz="1400">
              <a:latin typeface="Cambria"/>
              <a:ea typeface="Cambria"/>
              <a:cs typeface="Cambria"/>
              <a:sym typeface="Cambria"/>
            </a:endParaRPr>
          </a:p>
        </p:txBody>
      </p:sp>
      <p:sp>
        <p:nvSpPr>
          <p:cNvPr id="163" name="Google Shape;163;p20"/>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7" name="Shape 167"/>
        <p:cNvGrpSpPr/>
        <p:nvPr/>
      </p:nvGrpSpPr>
      <p:grpSpPr>
        <a:xfrm>
          <a:off x="0" y="0"/>
          <a:ext cx="0" cy="0"/>
          <a:chOff x="0" y="0"/>
          <a:chExt cx="0" cy="0"/>
        </a:xfrm>
      </p:grpSpPr>
      <p:sp>
        <p:nvSpPr>
          <p:cNvPr id="168" name="Google Shape;168;p21"/>
          <p:cNvSpPr txBox="1"/>
          <p:nvPr/>
        </p:nvSpPr>
        <p:spPr>
          <a:xfrm>
            <a:off x="902004" y="892809"/>
            <a:ext cx="5940425" cy="5509260"/>
          </a:xfrm>
          <a:prstGeom prst="rect">
            <a:avLst/>
          </a:prstGeom>
          <a:noFill/>
          <a:ln>
            <a:noFill/>
          </a:ln>
        </p:spPr>
        <p:txBody>
          <a:bodyPr anchorCtr="0" anchor="t" bIns="0" lIns="0" spcFirstLastPara="1" rIns="0" wrap="square" tIns="14600">
            <a:spAutoFit/>
          </a:bodyPr>
          <a:lstStyle/>
          <a:p>
            <a:pPr indent="-229234" lvl="0" marL="469900" marR="140335" rtl="0" algn="l">
              <a:lnSpc>
                <a:spcPct val="98600"/>
              </a:lnSpc>
              <a:spcBef>
                <a:spcPts val="0"/>
              </a:spcBef>
              <a:spcAft>
                <a:spcPts val="0"/>
              </a:spcAft>
              <a:buNone/>
            </a:pPr>
            <a:r>
              <a:rPr lang="en-US" sz="1400">
                <a:latin typeface="Cambria"/>
                <a:ea typeface="Cambria"/>
                <a:cs typeface="Cambria"/>
                <a:sym typeface="Cambria"/>
              </a:rPr>
              <a:t>4. </a:t>
            </a:r>
            <a:r>
              <a:rPr b="1" lang="en-US" sz="1400">
                <a:latin typeface="Cambria"/>
                <a:ea typeface="Cambria"/>
                <a:cs typeface="Cambria"/>
                <a:sym typeface="Cambria"/>
              </a:rPr>
              <a:t>Data Integrity</a:t>
            </a:r>
            <a:r>
              <a:rPr lang="en-US" sz="1400">
                <a:latin typeface="Cambria"/>
                <a:ea typeface="Cambria"/>
                <a:cs typeface="Cambria"/>
                <a:sym typeface="Cambria"/>
              </a:rPr>
              <a:t>: Keep in mind that even after deletion, SQLite files may still contain fragments of old records, especially if they were not overwritten by new data.</a:t>
            </a:r>
            <a:endParaRPr sz="1400">
              <a:latin typeface="Cambria"/>
              <a:ea typeface="Cambria"/>
              <a:cs typeface="Cambria"/>
              <a:sym typeface="Cambria"/>
            </a:endParaRPr>
          </a:p>
          <a:p>
            <a:pPr indent="0" lvl="0" marL="12700" rtl="0" algn="l">
              <a:lnSpc>
                <a:spcPct val="100000"/>
              </a:lnSpc>
              <a:spcBef>
                <a:spcPts val="1345"/>
              </a:spcBef>
              <a:spcAft>
                <a:spcPts val="0"/>
              </a:spcAft>
              <a:buNone/>
            </a:pPr>
            <a:r>
              <a:rPr b="1" lang="en-US" sz="1400">
                <a:latin typeface="Cambria"/>
                <a:ea typeface="Cambria"/>
                <a:cs typeface="Cambria"/>
                <a:sym typeface="Cambria"/>
              </a:rPr>
              <a:t>Recovering Files Using File Carving Techniques</a:t>
            </a:r>
            <a:endParaRPr sz="1400">
              <a:latin typeface="Cambria"/>
              <a:ea typeface="Cambria"/>
              <a:cs typeface="Cambria"/>
              <a:sym typeface="Cambria"/>
            </a:endParaRPr>
          </a:p>
          <a:p>
            <a:pPr indent="0" lvl="0" marL="12700" marR="80010" rtl="0" algn="l">
              <a:lnSpc>
                <a:spcPct val="98600"/>
              </a:lnSpc>
              <a:spcBef>
                <a:spcPts val="1370"/>
              </a:spcBef>
              <a:spcAft>
                <a:spcPts val="0"/>
              </a:spcAft>
              <a:buNone/>
            </a:pPr>
            <a:r>
              <a:rPr b="1" lang="en-US" sz="1400">
                <a:latin typeface="Cambria"/>
                <a:ea typeface="Cambria"/>
                <a:cs typeface="Cambria"/>
                <a:sym typeface="Cambria"/>
              </a:rPr>
              <a:t>File carving </a:t>
            </a:r>
            <a:r>
              <a:rPr lang="en-US" sz="1400">
                <a:latin typeface="Cambria"/>
                <a:ea typeface="Cambria"/>
                <a:cs typeface="Cambria"/>
                <a:sym typeface="Cambria"/>
              </a:rPr>
              <a:t>is a technique used to recover deleted files based on file signatures or specific patterns within a disk's raw data, even if file headers or file system entries are missing.</a:t>
            </a:r>
            <a:endParaRPr sz="1400">
              <a:latin typeface="Cambria"/>
              <a:ea typeface="Cambria"/>
              <a:cs typeface="Cambria"/>
              <a:sym typeface="Cambria"/>
            </a:endParaRPr>
          </a:p>
          <a:p>
            <a:pPr indent="-229234" lvl="0" marL="469900" marR="5080" rtl="0" algn="just">
              <a:lnSpc>
                <a:spcPct val="116428"/>
              </a:lnSpc>
              <a:spcBef>
                <a:spcPts val="1440"/>
              </a:spcBef>
              <a:spcAft>
                <a:spcPts val="0"/>
              </a:spcAft>
              <a:buSzPts val="1400"/>
              <a:buFont typeface="Cambria"/>
              <a:buAutoNum type="arabicPeriod"/>
            </a:pPr>
            <a:r>
              <a:rPr b="1" lang="en-US" sz="1400">
                <a:latin typeface="Cambria"/>
                <a:ea typeface="Cambria"/>
                <a:cs typeface="Cambria"/>
                <a:sym typeface="Cambria"/>
              </a:rPr>
              <a:t>Identify File Types</a:t>
            </a:r>
            <a:r>
              <a:rPr lang="en-US" sz="1400">
                <a:latin typeface="Cambria"/>
                <a:ea typeface="Cambria"/>
                <a:cs typeface="Cambria"/>
                <a:sym typeface="Cambria"/>
              </a:rPr>
              <a:t>: File carving tools use known signatures to identify the type of file (e.g., JPG, PNG, MP3) and search for those patterns within the unallocated space.</a:t>
            </a:r>
            <a:endParaRPr sz="1400">
              <a:latin typeface="Cambria"/>
              <a:ea typeface="Cambria"/>
              <a:cs typeface="Cambria"/>
              <a:sym typeface="Cambria"/>
            </a:endParaRPr>
          </a:p>
          <a:p>
            <a:pPr indent="-229235" lvl="0" marL="470534" rtl="0" algn="just">
              <a:lnSpc>
                <a:spcPct val="113928"/>
              </a:lnSpc>
              <a:spcBef>
                <a:spcPts val="0"/>
              </a:spcBef>
              <a:spcAft>
                <a:spcPts val="0"/>
              </a:spcAft>
              <a:buSzPts val="1400"/>
              <a:buFont typeface="Cambria"/>
              <a:buAutoNum type="arabicPeriod"/>
            </a:pPr>
            <a:r>
              <a:rPr b="1" lang="en-US" sz="1400">
                <a:latin typeface="Cambria"/>
                <a:ea typeface="Cambria"/>
                <a:cs typeface="Cambria"/>
                <a:sym typeface="Cambria"/>
              </a:rPr>
              <a:t>Tools</a:t>
            </a:r>
            <a:r>
              <a:rPr lang="en-US" sz="1400">
                <a:latin typeface="Cambria"/>
                <a:ea typeface="Cambria"/>
                <a:cs typeface="Cambria"/>
                <a:sym typeface="Cambria"/>
              </a:rPr>
              <a:t>:</a:t>
            </a:r>
            <a:endParaRPr sz="1400">
              <a:latin typeface="Cambria"/>
              <a:ea typeface="Cambria"/>
              <a:cs typeface="Cambria"/>
              <a:sym typeface="Cambria"/>
            </a:endParaRPr>
          </a:p>
          <a:p>
            <a:pPr indent="-228600" lvl="1" marL="927100" rtl="0" algn="l">
              <a:lnSpc>
                <a:spcPct val="117499"/>
              </a:lnSpc>
              <a:spcBef>
                <a:spcPts val="0"/>
              </a:spcBef>
              <a:spcAft>
                <a:spcPts val="0"/>
              </a:spcAft>
              <a:buSzPts val="1000"/>
              <a:buFont typeface="Courier New"/>
              <a:buChar char="o"/>
            </a:pPr>
            <a:r>
              <a:rPr b="1" lang="en-US" sz="1400">
                <a:latin typeface="Cambria"/>
                <a:ea typeface="Cambria"/>
                <a:cs typeface="Cambria"/>
                <a:sym typeface="Cambria"/>
              </a:rPr>
              <a:t>PhotoRec</a:t>
            </a:r>
            <a:r>
              <a:rPr lang="en-US" sz="1400">
                <a:latin typeface="Cambria"/>
                <a:ea typeface="Cambria"/>
                <a:cs typeface="Cambria"/>
                <a:sym typeface="Cambria"/>
              </a:rPr>
              <a:t>, </a:t>
            </a:r>
            <a:r>
              <a:rPr b="1" lang="en-US" sz="1400">
                <a:latin typeface="Cambria"/>
                <a:ea typeface="Cambria"/>
                <a:cs typeface="Cambria"/>
                <a:sym typeface="Cambria"/>
              </a:rPr>
              <a:t>Scalpel</a:t>
            </a:r>
            <a:r>
              <a:rPr lang="en-US" sz="1400">
                <a:latin typeface="Cambria"/>
                <a:ea typeface="Cambria"/>
                <a:cs typeface="Cambria"/>
                <a:sym typeface="Cambria"/>
              </a:rPr>
              <a:t>, and </a:t>
            </a:r>
            <a:r>
              <a:rPr b="1" lang="en-US" sz="1400">
                <a:latin typeface="Cambria"/>
                <a:ea typeface="Cambria"/>
                <a:cs typeface="Cambria"/>
                <a:sym typeface="Cambria"/>
              </a:rPr>
              <a:t>Foremost </a:t>
            </a:r>
            <a:r>
              <a:rPr lang="en-US" sz="1400">
                <a:latin typeface="Cambria"/>
                <a:ea typeface="Cambria"/>
                <a:cs typeface="Cambria"/>
                <a:sym typeface="Cambria"/>
              </a:rPr>
              <a:t>are popular file carving tools.</a:t>
            </a:r>
            <a:endParaRPr sz="1400">
              <a:latin typeface="Cambria"/>
              <a:ea typeface="Cambria"/>
              <a:cs typeface="Cambria"/>
              <a:sym typeface="Cambria"/>
            </a:endParaRPr>
          </a:p>
          <a:p>
            <a:pPr indent="-228600" lvl="1" marL="927100" marR="278765" rtl="0" algn="l">
              <a:lnSpc>
                <a:spcPct val="116428"/>
              </a:lnSpc>
              <a:spcBef>
                <a:spcPts val="85"/>
              </a:spcBef>
              <a:spcAft>
                <a:spcPts val="0"/>
              </a:spcAft>
              <a:buSzPts val="1000"/>
              <a:buFont typeface="Courier New"/>
              <a:buChar char="o"/>
            </a:pPr>
            <a:r>
              <a:rPr lang="en-US" sz="1400">
                <a:latin typeface="Cambria"/>
                <a:ea typeface="Cambria"/>
                <a:cs typeface="Cambria"/>
                <a:sym typeface="Cambria"/>
              </a:rPr>
              <a:t>These tools search for data fragments and piece them together into recoverable files.</a:t>
            </a:r>
            <a:endParaRPr sz="1400">
              <a:latin typeface="Cambria"/>
              <a:ea typeface="Cambria"/>
              <a:cs typeface="Cambria"/>
              <a:sym typeface="Cambria"/>
            </a:endParaRPr>
          </a:p>
          <a:p>
            <a:pPr indent="-229235" lvl="0" marL="470534" rtl="0" algn="l">
              <a:lnSpc>
                <a:spcPct val="112500"/>
              </a:lnSpc>
              <a:spcBef>
                <a:spcPts val="0"/>
              </a:spcBef>
              <a:spcAft>
                <a:spcPts val="0"/>
              </a:spcAft>
              <a:buSzPts val="1400"/>
              <a:buFont typeface="Cambria"/>
              <a:buAutoNum type="arabicPeriod"/>
            </a:pPr>
            <a:r>
              <a:rPr b="1" lang="en-US" sz="1400">
                <a:latin typeface="Cambria"/>
                <a:ea typeface="Cambria"/>
                <a:cs typeface="Cambria"/>
                <a:sym typeface="Cambria"/>
              </a:rPr>
              <a:t>Search for Specific File Types</a:t>
            </a:r>
            <a:r>
              <a:rPr lang="en-US" sz="1400">
                <a:latin typeface="Cambria"/>
                <a:ea typeface="Cambria"/>
                <a:cs typeface="Cambria"/>
                <a:sym typeface="Cambria"/>
              </a:rPr>
              <a:t>: If you are looking to recover images,</a:t>
            </a:r>
            <a:endParaRPr sz="1400">
              <a:latin typeface="Cambria"/>
              <a:ea typeface="Cambria"/>
              <a:cs typeface="Cambria"/>
              <a:sym typeface="Cambria"/>
            </a:endParaRPr>
          </a:p>
          <a:p>
            <a:pPr indent="0" lvl="0" marL="469900" marR="140335" rtl="0" algn="l">
              <a:lnSpc>
                <a:spcPct val="116428"/>
              </a:lnSpc>
              <a:spcBef>
                <a:spcPts val="80"/>
              </a:spcBef>
              <a:spcAft>
                <a:spcPts val="0"/>
              </a:spcAft>
              <a:buNone/>
            </a:pPr>
            <a:r>
              <a:rPr lang="en-US" sz="1400">
                <a:latin typeface="Cambria"/>
                <a:ea typeface="Cambria"/>
                <a:cs typeface="Cambria"/>
                <a:sym typeface="Cambria"/>
              </a:rPr>
              <a:t>videos, or documents, file carving can recover these types by detecting the start and end markers in the file's raw data.</a:t>
            </a:r>
            <a:endParaRPr sz="1400">
              <a:latin typeface="Cambria"/>
              <a:ea typeface="Cambria"/>
              <a:cs typeface="Cambria"/>
              <a:sym typeface="Cambria"/>
            </a:endParaRPr>
          </a:p>
          <a:p>
            <a:pPr indent="-229234" lvl="0" marL="469900" marR="54610" rtl="0" algn="l">
              <a:lnSpc>
                <a:spcPct val="116428"/>
              </a:lnSpc>
              <a:spcBef>
                <a:spcPts val="30"/>
              </a:spcBef>
              <a:spcAft>
                <a:spcPts val="0"/>
              </a:spcAft>
              <a:buSzPts val="1400"/>
              <a:buFont typeface="Cambria"/>
              <a:buAutoNum type="arabicPeriod" startAt="4"/>
            </a:pPr>
            <a:r>
              <a:rPr b="1" lang="en-US" sz="1400">
                <a:latin typeface="Cambria"/>
                <a:ea typeface="Cambria"/>
                <a:cs typeface="Cambria"/>
                <a:sym typeface="Cambria"/>
              </a:rPr>
              <a:t>Challenges</a:t>
            </a:r>
            <a:r>
              <a:rPr lang="en-US" sz="1400">
                <a:latin typeface="Cambria"/>
                <a:ea typeface="Cambria"/>
                <a:cs typeface="Cambria"/>
                <a:sym typeface="Cambria"/>
              </a:rPr>
              <a:t>: This method works best on files that have not been overwritten by new data. If significant new data has been written to the</a:t>
            </a:r>
            <a:endParaRPr sz="1400">
              <a:latin typeface="Cambria"/>
              <a:ea typeface="Cambria"/>
              <a:cs typeface="Cambria"/>
              <a:sym typeface="Cambria"/>
            </a:endParaRPr>
          </a:p>
          <a:p>
            <a:pPr indent="0" lvl="0" marL="469900" rtl="0" algn="l">
              <a:lnSpc>
                <a:spcPct val="115000"/>
              </a:lnSpc>
              <a:spcBef>
                <a:spcPts val="0"/>
              </a:spcBef>
              <a:spcAft>
                <a:spcPts val="0"/>
              </a:spcAft>
              <a:buNone/>
            </a:pPr>
            <a:r>
              <a:rPr lang="en-US" sz="1400">
                <a:latin typeface="Cambria"/>
                <a:ea typeface="Cambria"/>
                <a:cs typeface="Cambria"/>
                <a:sym typeface="Cambria"/>
              </a:rPr>
              <a:t>device, carved files may be fragmented and harder to recover.</a:t>
            </a:r>
            <a:endParaRPr sz="1400">
              <a:latin typeface="Cambria"/>
              <a:ea typeface="Cambria"/>
              <a:cs typeface="Cambria"/>
              <a:sym typeface="Cambria"/>
            </a:endParaRPr>
          </a:p>
          <a:p>
            <a:pPr indent="0" lvl="0" marL="12700" rtl="0" algn="l">
              <a:lnSpc>
                <a:spcPct val="100000"/>
              </a:lnSpc>
              <a:spcBef>
                <a:spcPts val="1370"/>
              </a:spcBef>
              <a:spcAft>
                <a:spcPts val="0"/>
              </a:spcAft>
              <a:buNone/>
            </a:pPr>
            <a:r>
              <a:rPr b="1" lang="en-US" sz="1400">
                <a:latin typeface="Cambria"/>
                <a:ea typeface="Cambria"/>
                <a:cs typeface="Cambria"/>
                <a:sym typeface="Cambria"/>
              </a:rPr>
              <a:t>Recovering Contacts Using Your Google Account</a:t>
            </a:r>
            <a:endParaRPr sz="1400">
              <a:latin typeface="Cambria"/>
              <a:ea typeface="Cambria"/>
              <a:cs typeface="Cambria"/>
              <a:sym typeface="Cambria"/>
            </a:endParaRPr>
          </a:p>
          <a:p>
            <a:pPr indent="0" lvl="0" marL="12700" rtl="0" algn="l">
              <a:lnSpc>
                <a:spcPct val="100000"/>
              </a:lnSpc>
              <a:spcBef>
                <a:spcPts val="1370"/>
              </a:spcBef>
              <a:spcAft>
                <a:spcPts val="0"/>
              </a:spcAft>
              <a:buNone/>
            </a:pPr>
            <a:r>
              <a:rPr lang="en-US" sz="1400">
                <a:latin typeface="Cambria"/>
                <a:ea typeface="Cambria"/>
                <a:cs typeface="Cambria"/>
                <a:sym typeface="Cambria"/>
              </a:rPr>
              <a:t>If contacts are synced to your Google account, recovery is relatively easy:</a:t>
            </a:r>
            <a:endParaRPr sz="1400">
              <a:latin typeface="Cambria"/>
              <a:ea typeface="Cambria"/>
              <a:cs typeface="Cambria"/>
              <a:sym typeface="Cambria"/>
            </a:endParaRPr>
          </a:p>
        </p:txBody>
      </p:sp>
      <p:sp>
        <p:nvSpPr>
          <p:cNvPr id="169" name="Google Shape;169;p21"/>
          <p:cNvSpPr txBox="1"/>
          <p:nvPr/>
        </p:nvSpPr>
        <p:spPr>
          <a:xfrm>
            <a:off x="1130604" y="6932803"/>
            <a:ext cx="5475605" cy="2115820"/>
          </a:xfrm>
          <a:prstGeom prst="rect">
            <a:avLst/>
          </a:prstGeom>
          <a:noFill/>
          <a:ln>
            <a:noFill/>
          </a:ln>
        </p:spPr>
        <p:txBody>
          <a:bodyPr anchorCtr="0" anchor="t" bIns="0" lIns="0" spcFirstLastPara="1" rIns="0" wrap="square" tIns="11425">
            <a:spAutoFit/>
          </a:bodyPr>
          <a:lstStyle/>
          <a:p>
            <a:pPr indent="-229234" lvl="0" marL="241934" rtl="0" algn="l">
              <a:lnSpc>
                <a:spcPct val="119285"/>
              </a:lnSpc>
              <a:spcBef>
                <a:spcPts val="0"/>
              </a:spcBef>
              <a:spcAft>
                <a:spcPts val="0"/>
              </a:spcAft>
              <a:buSzPts val="1400"/>
              <a:buFont typeface="Cambria"/>
              <a:buAutoNum type="arabicPeriod"/>
            </a:pPr>
            <a:r>
              <a:rPr b="1" lang="en-US" sz="1400">
                <a:latin typeface="Cambria"/>
                <a:ea typeface="Cambria"/>
                <a:cs typeface="Cambria"/>
                <a:sym typeface="Cambria"/>
              </a:rPr>
              <a:t>Check Google Contacts</a:t>
            </a:r>
            <a:r>
              <a:rPr lang="en-US" sz="1400">
                <a:latin typeface="Cambria"/>
                <a:ea typeface="Cambria"/>
                <a:cs typeface="Cambria"/>
                <a:sym typeface="Cambria"/>
              </a:rPr>
              <a:t>:</a:t>
            </a:r>
            <a:endParaRPr sz="1400">
              <a:latin typeface="Cambria"/>
              <a:ea typeface="Cambria"/>
              <a:cs typeface="Cambria"/>
              <a:sym typeface="Cambria"/>
            </a:endParaRPr>
          </a:p>
          <a:p>
            <a:pPr indent="-228600" lvl="1" marL="698500" rtl="0" algn="l">
              <a:lnSpc>
                <a:spcPct val="117499"/>
              </a:lnSpc>
              <a:spcBef>
                <a:spcPts val="0"/>
              </a:spcBef>
              <a:spcAft>
                <a:spcPts val="0"/>
              </a:spcAft>
              <a:buSzPts val="1000"/>
              <a:buFont typeface="Courier New"/>
              <a:buChar char="o"/>
            </a:pPr>
            <a:r>
              <a:rPr lang="en-US" sz="1400">
                <a:latin typeface="Cambria"/>
                <a:ea typeface="Cambria"/>
                <a:cs typeface="Cambria"/>
                <a:sym typeface="Cambria"/>
              </a:rPr>
              <a:t>Log into your Google account at </a:t>
            </a:r>
            <a:r>
              <a:rPr lang="en-US" sz="1400" u="sng">
                <a:solidFill>
                  <a:srgbClr val="0000FF"/>
                </a:solidFill>
                <a:latin typeface="Cambria"/>
                <a:ea typeface="Cambria"/>
                <a:cs typeface="Cambria"/>
                <a:sym typeface="Cambria"/>
              </a:rPr>
              <a:t>contacts.google.com</a:t>
            </a:r>
            <a:r>
              <a:rPr lang="en-US" sz="1400">
                <a:latin typeface="Cambria"/>
                <a:ea typeface="Cambria"/>
                <a:cs typeface="Cambria"/>
                <a:sym typeface="Cambria"/>
              </a:rPr>
              <a:t>.</a:t>
            </a:r>
            <a:endParaRPr sz="1400">
              <a:latin typeface="Cambria"/>
              <a:ea typeface="Cambria"/>
              <a:cs typeface="Cambria"/>
              <a:sym typeface="Cambria"/>
            </a:endParaRPr>
          </a:p>
          <a:p>
            <a:pPr indent="-228600" lvl="1" marL="698500" marR="222250" rtl="0" algn="l">
              <a:lnSpc>
                <a:spcPct val="116428"/>
              </a:lnSpc>
              <a:spcBef>
                <a:spcPts val="75"/>
              </a:spcBef>
              <a:spcAft>
                <a:spcPts val="0"/>
              </a:spcAft>
              <a:buSzPts val="1000"/>
              <a:buFont typeface="Courier New"/>
              <a:buChar char="o"/>
            </a:pPr>
            <a:r>
              <a:rPr lang="en-US" sz="1400">
                <a:latin typeface="Cambria"/>
                <a:ea typeface="Cambria"/>
                <a:cs typeface="Cambria"/>
                <a:sym typeface="Cambria"/>
              </a:rPr>
              <a:t>If your contacts were synced before deletion, they should be available there.</a:t>
            </a:r>
            <a:endParaRPr sz="1400">
              <a:latin typeface="Cambria"/>
              <a:ea typeface="Cambria"/>
              <a:cs typeface="Cambria"/>
              <a:sym typeface="Cambria"/>
            </a:endParaRPr>
          </a:p>
          <a:p>
            <a:pPr indent="-229234" lvl="0" marL="241934" rtl="0" algn="l">
              <a:lnSpc>
                <a:spcPct val="113571"/>
              </a:lnSpc>
              <a:spcBef>
                <a:spcPts val="0"/>
              </a:spcBef>
              <a:spcAft>
                <a:spcPts val="0"/>
              </a:spcAft>
              <a:buSzPts val="1400"/>
              <a:buFont typeface="Cambria"/>
              <a:buAutoNum type="arabicPeriod"/>
            </a:pPr>
            <a:r>
              <a:rPr b="1" lang="en-US" sz="1400">
                <a:latin typeface="Cambria"/>
                <a:ea typeface="Cambria"/>
                <a:cs typeface="Cambria"/>
                <a:sym typeface="Cambria"/>
              </a:rPr>
              <a:t>Restore from Google</a:t>
            </a:r>
            <a:r>
              <a:rPr lang="en-US" sz="1400">
                <a:latin typeface="Cambria"/>
                <a:ea typeface="Cambria"/>
                <a:cs typeface="Cambria"/>
                <a:sym typeface="Cambria"/>
              </a:rPr>
              <a:t>:</a:t>
            </a:r>
            <a:endParaRPr sz="1400">
              <a:latin typeface="Cambria"/>
              <a:ea typeface="Cambria"/>
              <a:cs typeface="Cambria"/>
              <a:sym typeface="Cambria"/>
            </a:endParaRPr>
          </a:p>
          <a:p>
            <a:pPr indent="-228600" lvl="1" marL="698500" marR="5080" rtl="0" algn="l">
              <a:lnSpc>
                <a:spcPct val="97600"/>
              </a:lnSpc>
              <a:spcBef>
                <a:spcPts val="15"/>
              </a:spcBef>
              <a:spcAft>
                <a:spcPts val="0"/>
              </a:spcAft>
              <a:buSzPts val="1000"/>
              <a:buFont typeface="Courier New"/>
              <a:buChar char="o"/>
            </a:pPr>
            <a:r>
              <a:rPr lang="en-US" sz="1400">
                <a:latin typeface="Cambria"/>
                <a:ea typeface="Cambria"/>
                <a:cs typeface="Cambria"/>
                <a:sym typeface="Cambria"/>
              </a:rPr>
              <a:t>Google Contacts also allows you to restore your contacts to a previous version if some were accidentally deleted. This can be done under "More" &gt; "Restore Contacts" and selecting a timeframe.</a:t>
            </a:r>
            <a:endParaRPr sz="1400">
              <a:latin typeface="Cambria"/>
              <a:ea typeface="Cambria"/>
              <a:cs typeface="Cambria"/>
              <a:sym typeface="Cambria"/>
            </a:endParaRPr>
          </a:p>
          <a:p>
            <a:pPr indent="-229234" lvl="0" marL="241934" rtl="0" algn="l">
              <a:lnSpc>
                <a:spcPct val="118214"/>
              </a:lnSpc>
              <a:spcBef>
                <a:spcPts val="0"/>
              </a:spcBef>
              <a:spcAft>
                <a:spcPts val="0"/>
              </a:spcAft>
              <a:buSzPts val="1400"/>
              <a:buFont typeface="Cambria"/>
              <a:buAutoNum type="arabicPeriod"/>
            </a:pPr>
            <a:r>
              <a:rPr b="1" lang="en-US" sz="1400">
                <a:latin typeface="Cambria"/>
                <a:ea typeface="Cambria"/>
                <a:cs typeface="Cambria"/>
                <a:sym typeface="Cambria"/>
              </a:rPr>
              <a:t>Android Backup</a:t>
            </a:r>
            <a:r>
              <a:rPr lang="en-US" sz="1400">
                <a:latin typeface="Cambria"/>
                <a:ea typeface="Cambria"/>
                <a:cs typeface="Cambria"/>
                <a:sym typeface="Cambria"/>
              </a:rPr>
              <a:t>:</a:t>
            </a:r>
            <a:endParaRPr sz="1400">
              <a:latin typeface="Cambria"/>
              <a:ea typeface="Cambria"/>
              <a:cs typeface="Cambria"/>
              <a:sym typeface="Cambria"/>
            </a:endParaRPr>
          </a:p>
        </p:txBody>
      </p:sp>
      <p:sp>
        <p:nvSpPr>
          <p:cNvPr id="170" name="Google Shape;170;p21"/>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4" name="Shape 174"/>
        <p:cNvGrpSpPr/>
        <p:nvPr/>
      </p:nvGrpSpPr>
      <p:grpSpPr>
        <a:xfrm>
          <a:off x="0" y="0"/>
          <a:ext cx="0" cy="0"/>
          <a:chOff x="0" y="0"/>
          <a:chExt cx="0" cy="0"/>
        </a:xfrm>
      </p:grpSpPr>
      <p:sp>
        <p:nvSpPr>
          <p:cNvPr id="175" name="Google Shape;175;p22"/>
          <p:cNvSpPr txBox="1"/>
          <p:nvPr/>
        </p:nvSpPr>
        <p:spPr>
          <a:xfrm>
            <a:off x="1130604" y="892809"/>
            <a:ext cx="5653405" cy="1283970"/>
          </a:xfrm>
          <a:prstGeom prst="rect">
            <a:avLst/>
          </a:prstGeom>
          <a:noFill/>
          <a:ln>
            <a:noFill/>
          </a:ln>
        </p:spPr>
        <p:txBody>
          <a:bodyPr anchorCtr="0" anchor="t" bIns="0" lIns="0" spcFirstLastPara="1" rIns="0" wrap="square" tIns="15875">
            <a:spAutoFit/>
          </a:bodyPr>
          <a:lstStyle/>
          <a:p>
            <a:pPr indent="-227329" lvl="0" marL="697230" marR="5080" rtl="0" algn="just">
              <a:lnSpc>
                <a:spcPct val="97900"/>
              </a:lnSpc>
              <a:spcBef>
                <a:spcPts val="0"/>
              </a:spcBef>
              <a:spcAft>
                <a:spcPts val="0"/>
              </a:spcAft>
              <a:buSzPts val="1000"/>
              <a:buFont typeface="Courier New"/>
              <a:buChar char="o"/>
            </a:pPr>
            <a:r>
              <a:rPr lang="en-US" sz="1400">
                <a:latin typeface="Cambria"/>
                <a:ea typeface="Cambria"/>
                <a:cs typeface="Cambria"/>
                <a:sym typeface="Cambria"/>
              </a:rPr>
              <a:t>If you had enabled </a:t>
            </a:r>
            <a:r>
              <a:rPr b="1" lang="en-US" sz="1400">
                <a:latin typeface="Cambria"/>
                <a:ea typeface="Cambria"/>
                <a:cs typeface="Cambria"/>
                <a:sym typeface="Cambria"/>
              </a:rPr>
              <a:t>Google Backup</a:t>
            </a:r>
            <a:r>
              <a:rPr lang="en-US" sz="1400">
                <a:latin typeface="Cambria"/>
                <a:ea typeface="Cambria"/>
                <a:cs typeface="Cambria"/>
                <a:sym typeface="Cambria"/>
              </a:rPr>
              <a:t>, contacts would be backed up, 	and you can restore them by signing into your Google account on 	a new or reset device.</a:t>
            </a:r>
            <a:endParaRPr sz="1400">
              <a:latin typeface="Cambria"/>
              <a:ea typeface="Cambria"/>
              <a:cs typeface="Cambria"/>
              <a:sym typeface="Cambria"/>
            </a:endParaRPr>
          </a:p>
          <a:p>
            <a:pPr indent="-229234" lvl="0" marL="241300" marR="207009" rtl="0" algn="l">
              <a:lnSpc>
                <a:spcPct val="118571"/>
              </a:lnSpc>
              <a:spcBef>
                <a:spcPts val="30"/>
              </a:spcBef>
              <a:spcAft>
                <a:spcPts val="0"/>
              </a:spcAft>
              <a:buNone/>
            </a:pPr>
            <a:r>
              <a:rPr lang="en-US" sz="1400">
                <a:latin typeface="Cambria"/>
                <a:ea typeface="Cambria"/>
                <a:cs typeface="Cambria"/>
                <a:sym typeface="Cambria"/>
              </a:rPr>
              <a:t>4. </a:t>
            </a:r>
            <a:r>
              <a:rPr b="1" lang="en-US" sz="1400">
                <a:latin typeface="Cambria"/>
                <a:ea typeface="Cambria"/>
                <a:cs typeface="Cambria"/>
                <a:sym typeface="Cambria"/>
              </a:rPr>
              <a:t>Syncing Issues</a:t>
            </a:r>
            <a:r>
              <a:rPr lang="en-US" sz="1400">
                <a:latin typeface="Cambria"/>
                <a:ea typeface="Cambria"/>
                <a:cs typeface="Cambria"/>
                <a:sym typeface="Cambria"/>
              </a:rPr>
              <a:t>: If syncing was disabled, or you didn’t use a Google account for syncing contacts, recovery may not be possible without a backup.</a:t>
            </a:r>
            <a:endParaRPr sz="1400">
              <a:latin typeface="Cambria"/>
              <a:ea typeface="Cambria"/>
              <a:cs typeface="Cambria"/>
              <a:sym typeface="Cambria"/>
            </a:endParaRPr>
          </a:p>
        </p:txBody>
      </p:sp>
      <p:sp>
        <p:nvSpPr>
          <p:cNvPr id="176" name="Google Shape;176;p22"/>
          <p:cNvSpPr/>
          <p:nvPr/>
        </p:nvSpPr>
        <p:spPr>
          <a:xfrm>
            <a:off x="304800" y="304799"/>
            <a:ext cx="7165975" cy="9451975"/>
          </a:xfrm>
          <a:custGeom>
            <a:rect b="b" l="l" r="r" t="t"/>
            <a:pathLst>
              <a:path extrusionOk="0" h="9451975" w="7165975">
                <a:moveTo>
                  <a:pt x="7119874" y="45720"/>
                </a:moveTo>
                <a:lnTo>
                  <a:pt x="7110730" y="45720"/>
                </a:lnTo>
                <a:lnTo>
                  <a:pt x="7110730" y="54864"/>
                </a:lnTo>
                <a:lnTo>
                  <a:pt x="7110730" y="9396679"/>
                </a:lnTo>
                <a:lnTo>
                  <a:pt x="54864" y="9396679"/>
                </a:lnTo>
                <a:lnTo>
                  <a:pt x="54864" y="54864"/>
                </a:lnTo>
                <a:lnTo>
                  <a:pt x="7110730" y="54864"/>
                </a:lnTo>
                <a:lnTo>
                  <a:pt x="7110730" y="45720"/>
                </a:lnTo>
                <a:lnTo>
                  <a:pt x="54864" y="45720"/>
                </a:lnTo>
                <a:lnTo>
                  <a:pt x="45720" y="45720"/>
                </a:lnTo>
                <a:lnTo>
                  <a:pt x="45720" y="54813"/>
                </a:lnTo>
                <a:lnTo>
                  <a:pt x="45720" y="9396679"/>
                </a:lnTo>
                <a:lnTo>
                  <a:pt x="45720" y="9405823"/>
                </a:lnTo>
                <a:lnTo>
                  <a:pt x="54864" y="9405823"/>
                </a:lnTo>
                <a:lnTo>
                  <a:pt x="7110730" y="9405823"/>
                </a:lnTo>
                <a:lnTo>
                  <a:pt x="7119874" y="9405823"/>
                </a:lnTo>
                <a:lnTo>
                  <a:pt x="7119874" y="9396679"/>
                </a:lnTo>
                <a:lnTo>
                  <a:pt x="7119874" y="54864"/>
                </a:lnTo>
                <a:lnTo>
                  <a:pt x="7119874" y="45720"/>
                </a:lnTo>
                <a:close/>
              </a:path>
              <a:path extrusionOk="0" h="9451975" w="7165975">
                <a:moveTo>
                  <a:pt x="7165594" y="0"/>
                </a:moveTo>
                <a:lnTo>
                  <a:pt x="7129018" y="0"/>
                </a:lnTo>
                <a:lnTo>
                  <a:pt x="7129018" y="36576"/>
                </a:lnTo>
                <a:lnTo>
                  <a:pt x="7129018" y="54813"/>
                </a:lnTo>
                <a:lnTo>
                  <a:pt x="7129018" y="9396679"/>
                </a:lnTo>
                <a:lnTo>
                  <a:pt x="7129018" y="9414980"/>
                </a:lnTo>
                <a:lnTo>
                  <a:pt x="7110730" y="9414980"/>
                </a:lnTo>
                <a:lnTo>
                  <a:pt x="54864" y="9414980"/>
                </a:lnTo>
                <a:lnTo>
                  <a:pt x="36576" y="9414980"/>
                </a:lnTo>
                <a:lnTo>
                  <a:pt x="36576" y="9396679"/>
                </a:lnTo>
                <a:lnTo>
                  <a:pt x="36576" y="54864"/>
                </a:lnTo>
                <a:lnTo>
                  <a:pt x="36576" y="36576"/>
                </a:lnTo>
                <a:lnTo>
                  <a:pt x="54864" y="36576"/>
                </a:lnTo>
                <a:lnTo>
                  <a:pt x="7110730" y="36576"/>
                </a:lnTo>
                <a:lnTo>
                  <a:pt x="7129018" y="36576"/>
                </a:lnTo>
                <a:lnTo>
                  <a:pt x="7129018" y="0"/>
                </a:lnTo>
                <a:lnTo>
                  <a:pt x="7110730" y="0"/>
                </a:lnTo>
                <a:lnTo>
                  <a:pt x="54864" y="0"/>
                </a:lnTo>
                <a:lnTo>
                  <a:pt x="36576" y="0"/>
                </a:lnTo>
                <a:lnTo>
                  <a:pt x="0" y="0"/>
                </a:lnTo>
                <a:lnTo>
                  <a:pt x="0" y="36576"/>
                </a:lnTo>
                <a:lnTo>
                  <a:pt x="0" y="9451543"/>
                </a:lnTo>
                <a:lnTo>
                  <a:pt x="36576" y="9451543"/>
                </a:lnTo>
                <a:lnTo>
                  <a:pt x="54864" y="9451543"/>
                </a:lnTo>
                <a:lnTo>
                  <a:pt x="7110730" y="9451543"/>
                </a:lnTo>
                <a:lnTo>
                  <a:pt x="7129018" y="9451543"/>
                </a:lnTo>
                <a:lnTo>
                  <a:pt x="7165594" y="9451543"/>
                </a:lnTo>
                <a:lnTo>
                  <a:pt x="7165594" y="9414980"/>
                </a:lnTo>
                <a:lnTo>
                  <a:pt x="7165594" y="9396679"/>
                </a:lnTo>
                <a:lnTo>
                  <a:pt x="7165594" y="54864"/>
                </a:lnTo>
                <a:lnTo>
                  <a:pt x="7165594" y="36576"/>
                </a:lnTo>
                <a:lnTo>
                  <a:pt x="7165594"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2026-01-12T03:36:06Z</dcterms:created>
  <dc:creator>Admin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2025-02-05T00:00:00Z</vt:filetime>
  </property>
  <property fmtid="{D5CDD505-2E9C-101B-9397-08002B2CF9AE}" pid="3" name="Creator">
    <vt:lpwstr>Microsoft® Word 2016</vt:lpwstr>
  </property>
  <property fmtid="{D5CDD505-2E9C-101B-9397-08002B2CF9AE}" pid="4" name="LastSaved">
    <vt:filetime>2026-01-12T00:00:00Z</vt:filetime>
  </property>
  <property fmtid="{D5CDD505-2E9C-101B-9397-08002B2CF9AE}" pid="5" name="Producer">
    <vt:lpwstr>www.ilovepdf.com</vt:lpwstr>
  </property>
</Properties>
</file>