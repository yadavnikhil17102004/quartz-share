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66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8CB025-E3F9-40EC-BB48-6F8EEF774172}"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762B2-BBF4-4283-838D-06350F85A623}"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83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CB025-E3F9-40EC-BB48-6F8EEF774172}"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12432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8CB025-E3F9-40EC-BB48-6F8EEF774172}"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762B2-BBF4-4283-838D-06350F85A623}"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612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8CB025-E3F9-40EC-BB48-6F8EEF774172}"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2478593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8CB025-E3F9-40EC-BB48-6F8EEF774172}"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1969399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8CB025-E3F9-40EC-BB48-6F8EEF774172}"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4063765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F8CB025-E3F9-40EC-BB48-6F8EEF774172}" type="datetimeFigureOut">
              <a:rPr lang="en-US" smtClean="0"/>
              <a:pPr/>
              <a:t>2/5/2026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701520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F8CB025-E3F9-40EC-BB48-6F8EEF774172}" type="datetimeFigureOut">
              <a:rPr lang="en-US" smtClean="0"/>
              <a:pPr/>
              <a:t>2/5/2026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38762B2-BBF4-4283-838D-06350F85A623}" type="slidenum">
              <a:rPr lang="en-US" smtClean="0"/>
              <a:pPr/>
              <a:t>‹#›</a:t>
            </a:fld>
            <a:endParaRPr lang="en-US"/>
          </a:p>
        </p:txBody>
      </p:sp>
    </p:spTree>
    <p:extLst>
      <p:ext uri="{BB962C8B-B14F-4D97-AF65-F5344CB8AC3E}">
        <p14:creationId xmlns:p14="http://schemas.microsoft.com/office/powerpoint/2010/main" val="2821179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8CB025-E3F9-40EC-BB48-6F8EEF774172}"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1645795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CB025-E3F9-40EC-BB48-6F8EEF774172}"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2737214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CB025-E3F9-40EC-BB48-6F8EEF774172}"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8762B2-BBF4-4283-838D-06350F85A623}" type="slidenum">
              <a:rPr lang="en-US" smtClean="0"/>
              <a:pPr/>
              <a:t>‹#›</a:t>
            </a:fld>
            <a:endParaRPr lang="en-US"/>
          </a:p>
        </p:txBody>
      </p:sp>
    </p:spTree>
    <p:extLst>
      <p:ext uri="{BB962C8B-B14F-4D97-AF65-F5344CB8AC3E}">
        <p14:creationId xmlns:p14="http://schemas.microsoft.com/office/powerpoint/2010/main" val="4085174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FF8CB025-E3F9-40EC-BB48-6F8EEF774172}" type="datetimeFigureOut">
              <a:rPr lang="en-US" smtClean="0"/>
              <a:pPr/>
              <a:t>2/5/2026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338762B2-BBF4-4283-838D-06350F85A623}"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582825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09800"/>
            <a:ext cx="7772400" cy="1470025"/>
          </a:xfrm>
        </p:spPr>
        <p:txBody>
          <a:bodyPr>
            <a:normAutofit fontScale="90000"/>
          </a:bodyPr>
          <a:lstStyle/>
          <a:p>
            <a:r>
              <a:rPr lang="en-US" dirty="0">
                <a:latin typeface="Algerian" pitchFamily="82" charset="0"/>
              </a:rPr>
              <a:t>Multimedia Forensics</a:t>
            </a:r>
          </a:p>
        </p:txBody>
      </p:sp>
      <p:sp>
        <p:nvSpPr>
          <p:cNvPr id="3" name="Subtitle 2"/>
          <p:cNvSpPr>
            <a:spLocks noGrp="1"/>
          </p:cNvSpPr>
          <p:nvPr>
            <p:ph type="subTitle" idx="1"/>
          </p:nvPr>
        </p:nvSpPr>
        <p:spPr/>
        <p:txBody>
          <a:bodyPr>
            <a:normAutofit/>
          </a:bodyPr>
          <a:lstStyle/>
          <a:p>
            <a:r>
              <a:rPr lang="en-US" sz="4800" dirty="0">
                <a:solidFill>
                  <a:schemeClr val="tx1"/>
                </a:solidFill>
                <a:latin typeface="Algerian" pitchFamily="82" charset="0"/>
              </a:rPr>
              <a:t>Unit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Graphics File formats</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i</a:t>
            </a:r>
            <a:r>
              <a:rPr lang="en-US" sz="2400" dirty="0">
                <a:latin typeface="Times New Roman" pitchFamily="18" charset="0"/>
                <a:cs typeface="Times New Roman" pitchFamily="18" charset="0"/>
              </a:rPr>
              <a:t>. Understanding Bitmap and Raster Images</a:t>
            </a:r>
          </a:p>
          <a:p>
            <a:pPr>
              <a:buNone/>
            </a:pPr>
            <a:r>
              <a:rPr lang="en-US" sz="2400" dirty="0">
                <a:latin typeface="Times New Roman" pitchFamily="18" charset="0"/>
                <a:cs typeface="Times New Roman" pitchFamily="18" charset="0"/>
              </a:rPr>
              <a:t> ii. Understanding Vector Graphics</a:t>
            </a:r>
          </a:p>
          <a:p>
            <a:pPr>
              <a:buNone/>
            </a:pPr>
            <a:r>
              <a:rPr lang="en-US" sz="2400" dirty="0">
                <a:latin typeface="Times New Roman" pitchFamily="18" charset="0"/>
                <a:cs typeface="Times New Roman" pitchFamily="18" charset="0"/>
              </a:rPr>
              <a:t> iii. Understanding Metafile Graphics </a:t>
            </a:r>
          </a:p>
          <a:p>
            <a:pPr>
              <a:buNone/>
            </a:pPr>
            <a:r>
              <a:rPr lang="en-US" sz="2400" dirty="0">
                <a:latin typeface="Times New Roman" pitchFamily="18" charset="0"/>
                <a:cs typeface="Times New Roman" pitchFamily="18" charset="0"/>
              </a:rPr>
              <a:t>iv. Understanding Graphics File Formats </a:t>
            </a:r>
          </a:p>
          <a:p>
            <a:pPr>
              <a:buNone/>
            </a:pPr>
            <a:r>
              <a:rPr lang="en-US" sz="2400" dirty="0">
                <a:latin typeface="Times New Roman" pitchFamily="18" charset="0"/>
                <a:cs typeface="Times New Roman" pitchFamily="18" charset="0"/>
              </a:rPr>
              <a:t>v. Understanding Digital Photograph File Formats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rmAutofit/>
          </a:bodyPr>
          <a:lstStyle/>
          <a:p>
            <a:r>
              <a:rPr lang="en-US" sz="2400" b="1" dirty="0">
                <a:latin typeface="Times New Roman" pitchFamily="18" charset="0"/>
                <a:cs typeface="Times New Roman" pitchFamily="18" charset="0"/>
              </a:rPr>
              <a:t>Bitmap and Raster Images</a:t>
            </a:r>
            <a:r>
              <a:rPr lang="en-US" sz="2400" dirty="0">
                <a:latin typeface="Times New Roman" pitchFamily="18" charset="0"/>
                <a:cs typeface="Times New Roman" pitchFamily="18" charset="0"/>
              </a:rPr>
              <a:t>: Bitmap and raster images are made up of a grid of pixels, where each pixel has a specific color or shade. The image resolution is determined by the number of pixels it contains (e.g., 1920x1080 for HD).</a:t>
            </a:r>
          </a:p>
          <a:p>
            <a:r>
              <a:rPr lang="en-US" sz="2400" b="1" dirty="0">
                <a:latin typeface="Times New Roman" pitchFamily="18" charset="0"/>
                <a:cs typeface="Times New Roman" pitchFamily="18" charset="0"/>
              </a:rPr>
              <a:t>Characteristics</a:t>
            </a:r>
            <a:r>
              <a:rPr lang="en-US" sz="2400" dirty="0">
                <a:latin typeface="Times New Roman" pitchFamily="18" charset="0"/>
                <a:cs typeface="Times New Roman" pitchFamily="18" charset="0"/>
              </a:rPr>
              <a:t>:</a:t>
            </a:r>
          </a:p>
          <a:p>
            <a:pPr lvl="1">
              <a:buFont typeface="Wingdings" pitchFamily="2" charset="2"/>
              <a:buChar char="Ø"/>
            </a:pPr>
            <a:r>
              <a:rPr lang="en-US" sz="2400" b="1" dirty="0">
                <a:solidFill>
                  <a:schemeClr val="tx1"/>
                </a:solidFill>
                <a:latin typeface="Times New Roman" pitchFamily="18" charset="0"/>
                <a:cs typeface="Times New Roman" pitchFamily="18" charset="0"/>
              </a:rPr>
              <a:t>Resolution dependent</a:t>
            </a:r>
            <a:r>
              <a:rPr lang="en-US" sz="2400" dirty="0">
                <a:solidFill>
                  <a:schemeClr val="tx1"/>
                </a:solidFill>
                <a:latin typeface="Times New Roman" pitchFamily="18" charset="0"/>
                <a:cs typeface="Times New Roman" pitchFamily="18" charset="0"/>
              </a:rPr>
              <a:t>: When resized, bitmap images can lose quality and appear </a:t>
            </a:r>
            <a:r>
              <a:rPr lang="en-US" sz="2400" dirty="0" err="1">
                <a:solidFill>
                  <a:schemeClr val="tx1"/>
                </a:solidFill>
                <a:latin typeface="Times New Roman" pitchFamily="18" charset="0"/>
                <a:cs typeface="Times New Roman" pitchFamily="18" charset="0"/>
              </a:rPr>
              <a:t>pixelated</a:t>
            </a:r>
            <a:r>
              <a:rPr lang="en-US" sz="2400" dirty="0">
                <a:solidFill>
                  <a:schemeClr val="tx1"/>
                </a:solidFill>
                <a:latin typeface="Times New Roman" pitchFamily="18" charset="0"/>
                <a:cs typeface="Times New Roman" pitchFamily="18" charset="0"/>
              </a:rPr>
              <a:t> (low resolution).</a:t>
            </a:r>
          </a:p>
          <a:p>
            <a:pPr lvl="1">
              <a:buFont typeface="Wingdings" pitchFamily="2" charset="2"/>
              <a:buChar char="Ø"/>
            </a:pPr>
            <a:r>
              <a:rPr lang="en-US" sz="2400" b="1" dirty="0">
                <a:solidFill>
                  <a:schemeClr val="tx1"/>
                </a:solidFill>
                <a:latin typeface="Times New Roman" pitchFamily="18" charset="0"/>
                <a:cs typeface="Times New Roman" pitchFamily="18" charset="0"/>
              </a:rPr>
              <a:t>File Size</a:t>
            </a:r>
            <a:r>
              <a:rPr lang="en-US" sz="2400" dirty="0">
                <a:solidFill>
                  <a:schemeClr val="tx1"/>
                </a:solidFill>
                <a:latin typeface="Times New Roman" pitchFamily="18" charset="0"/>
                <a:cs typeface="Times New Roman" pitchFamily="18" charset="0"/>
              </a:rPr>
              <a:t>: Bitmap images tend to have larger file sizes, especially with high resolutions.</a:t>
            </a:r>
          </a:p>
          <a:p>
            <a:pPr lvl="1">
              <a:buFont typeface="Wingdings" pitchFamily="2" charset="2"/>
              <a:buChar char="Ø"/>
            </a:pPr>
            <a:r>
              <a:rPr lang="en-US" sz="2400" b="1" dirty="0">
                <a:solidFill>
                  <a:schemeClr val="tx1"/>
                </a:solidFill>
                <a:latin typeface="Times New Roman" pitchFamily="18" charset="0"/>
                <a:cs typeface="Times New Roman" pitchFamily="18" charset="0"/>
              </a:rPr>
              <a:t>Examples</a:t>
            </a:r>
            <a:r>
              <a:rPr lang="en-US" sz="2400" dirty="0">
                <a:solidFill>
                  <a:schemeClr val="tx1"/>
                </a:solidFill>
                <a:latin typeface="Times New Roman" pitchFamily="18" charset="0"/>
                <a:cs typeface="Times New Roman" pitchFamily="18" charset="0"/>
              </a:rPr>
              <a:t>: JPEG, PNG, GIF, BMP,</a:t>
            </a:r>
          </a:p>
          <a:p>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rmAutofit lnSpcReduction="10000"/>
          </a:bodyPr>
          <a:lstStyle/>
          <a:p>
            <a:pPr>
              <a:buNone/>
            </a:pPr>
            <a:r>
              <a:rPr lang="en-US" sz="2400" b="1" dirty="0">
                <a:latin typeface="Times New Roman" pitchFamily="18" charset="0"/>
                <a:cs typeface="Times New Roman" pitchFamily="18" charset="0"/>
              </a:rPr>
              <a:t>Common Formats</a:t>
            </a:r>
            <a:r>
              <a:rPr lang="en-US" sz="2400" dirty="0">
                <a:latin typeface="Times New Roman" pitchFamily="18" charset="0"/>
                <a:cs typeface="Times New Roman" pitchFamily="18" charset="0"/>
              </a:rPr>
              <a:t>:</a:t>
            </a:r>
          </a:p>
          <a:p>
            <a:pPr>
              <a:buFont typeface="Wingdings" pitchFamily="2" charset="2"/>
              <a:buChar char="Ø"/>
            </a:pPr>
            <a:r>
              <a:rPr lang="en-US" sz="2400" b="1" dirty="0">
                <a:latin typeface="Times New Roman" pitchFamily="18" charset="0"/>
                <a:cs typeface="Times New Roman" pitchFamily="18" charset="0"/>
              </a:rPr>
              <a:t>JPEG</a:t>
            </a:r>
            <a:r>
              <a:rPr lang="en-US" sz="2400" dirty="0">
                <a:latin typeface="Times New Roman" pitchFamily="18" charset="0"/>
                <a:cs typeface="Times New Roman" pitchFamily="18" charset="0"/>
              </a:rPr>
              <a:t>: Often used for photographs due to its efficient compression.</a:t>
            </a:r>
          </a:p>
          <a:p>
            <a:pPr>
              <a:buFont typeface="Wingdings" pitchFamily="2" charset="2"/>
              <a:buChar char="Ø"/>
            </a:pPr>
            <a:r>
              <a:rPr lang="en-US" sz="2400" b="1" dirty="0">
                <a:latin typeface="Times New Roman" pitchFamily="18" charset="0"/>
                <a:cs typeface="Times New Roman" pitchFamily="18" charset="0"/>
              </a:rPr>
              <a:t>PNG</a:t>
            </a:r>
            <a:r>
              <a:rPr lang="en-US" sz="2400" dirty="0">
                <a:latin typeface="Times New Roman" pitchFamily="18" charset="0"/>
                <a:cs typeface="Times New Roman" pitchFamily="18" charset="0"/>
              </a:rPr>
              <a:t>: Lossless compression, supports transparency.</a:t>
            </a:r>
          </a:p>
          <a:p>
            <a:pPr>
              <a:buFont typeface="Wingdings" pitchFamily="2" charset="2"/>
              <a:buChar char="Ø"/>
            </a:pPr>
            <a:r>
              <a:rPr lang="en-US" sz="2400" b="1" dirty="0">
                <a:latin typeface="Times New Roman" pitchFamily="18" charset="0"/>
                <a:cs typeface="Times New Roman" pitchFamily="18" charset="0"/>
              </a:rPr>
              <a:t>GIF</a:t>
            </a:r>
            <a:r>
              <a:rPr lang="en-US" sz="2400" dirty="0">
                <a:latin typeface="Times New Roman" pitchFamily="18" charset="0"/>
                <a:cs typeface="Times New Roman" pitchFamily="18" charset="0"/>
              </a:rPr>
              <a:t>: Limited to 256 colors, often used for simple animations.</a:t>
            </a:r>
          </a:p>
          <a:p>
            <a:pPr>
              <a:buFont typeface="Wingdings" pitchFamily="2" charset="2"/>
              <a:buChar char="Ø"/>
            </a:pPr>
            <a:r>
              <a:rPr lang="en-US" sz="2400" b="1" dirty="0">
                <a:latin typeface="Times New Roman" pitchFamily="18" charset="0"/>
                <a:cs typeface="Times New Roman" pitchFamily="18" charset="0"/>
              </a:rPr>
              <a:t>BMP</a:t>
            </a:r>
            <a:r>
              <a:rPr lang="en-US" sz="2400" dirty="0">
                <a:latin typeface="Times New Roman" pitchFamily="18" charset="0"/>
                <a:cs typeface="Times New Roman" pitchFamily="18" charset="0"/>
              </a:rPr>
              <a:t>: Uncompressed format, larger file size, used in Windows environments.</a:t>
            </a:r>
          </a:p>
          <a:p>
            <a:pPr>
              <a:buFont typeface="Wingdings" pitchFamily="2" charset="2"/>
              <a:buChar char="Ø"/>
            </a:pPr>
            <a:r>
              <a:rPr lang="en-US" sz="2400" b="1" dirty="0">
                <a:latin typeface="Times New Roman" pitchFamily="18" charset="0"/>
                <a:cs typeface="Times New Roman" pitchFamily="18" charset="0"/>
              </a:rPr>
              <a:t>TIFF</a:t>
            </a:r>
            <a:r>
              <a:rPr lang="en-US" sz="2400" dirty="0">
                <a:latin typeface="Times New Roman" pitchFamily="18" charset="0"/>
                <a:cs typeface="Times New Roman" pitchFamily="18" charset="0"/>
              </a:rPr>
              <a:t>: High-quality, often used in professional photography or printing</a:t>
            </a:r>
          </a:p>
          <a:p>
            <a:endParaRPr lang="en-US"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Understanding Vector Graphics</a:t>
            </a:r>
          </a:p>
          <a:p>
            <a:r>
              <a:rPr lang="en-US" sz="2400" b="1" dirty="0">
                <a:latin typeface="Times New Roman" pitchFamily="18" charset="0"/>
                <a:cs typeface="Times New Roman" pitchFamily="18" charset="0"/>
              </a:rPr>
              <a:t>Vector Graphics</a:t>
            </a:r>
            <a:r>
              <a:rPr lang="en-US" sz="2400" dirty="0">
                <a:latin typeface="Times New Roman" pitchFamily="18" charset="0"/>
                <a:cs typeface="Times New Roman" pitchFamily="18" charset="0"/>
              </a:rPr>
              <a:t>: Vector graphics are based on mathematical formulas that define shapes such as lines, curves, and polygons. Unlike bitmap images, they are resolution-independent and can be scaled without any loss of quality.</a:t>
            </a:r>
          </a:p>
          <a:p>
            <a:pPr>
              <a:buNone/>
            </a:pPr>
            <a:r>
              <a:rPr lang="en-US" sz="2400" b="1" dirty="0">
                <a:latin typeface="Times New Roman" pitchFamily="18" charset="0"/>
                <a:cs typeface="Times New Roman" pitchFamily="18" charset="0"/>
              </a:rPr>
              <a:t>Characteristics</a:t>
            </a:r>
            <a:r>
              <a:rPr lang="en-US" sz="2400" dirty="0">
                <a:latin typeface="Times New Roman" pitchFamily="18" charset="0"/>
                <a:cs typeface="Times New Roman" pitchFamily="18" charset="0"/>
              </a:rPr>
              <a:t>:</a:t>
            </a:r>
          </a:p>
          <a:p>
            <a:pPr lvl="2">
              <a:buFont typeface="Wingdings" pitchFamily="2" charset="2"/>
              <a:buChar char="Ø"/>
            </a:pPr>
            <a:r>
              <a:rPr lang="en-US" b="1" dirty="0">
                <a:solidFill>
                  <a:schemeClr val="tx1"/>
                </a:solidFill>
                <a:latin typeface="Times New Roman" pitchFamily="18" charset="0"/>
                <a:cs typeface="Times New Roman" pitchFamily="18" charset="0"/>
              </a:rPr>
              <a:t>Resolution-independent</a:t>
            </a:r>
            <a:r>
              <a:rPr lang="en-US" dirty="0">
                <a:solidFill>
                  <a:schemeClr val="tx1"/>
                </a:solidFill>
                <a:latin typeface="Times New Roman" pitchFamily="18" charset="0"/>
                <a:cs typeface="Times New Roman" pitchFamily="18" charset="0"/>
              </a:rPr>
              <a:t>: Can be resized without losing clarity.</a:t>
            </a:r>
          </a:p>
          <a:p>
            <a:pPr lvl="2">
              <a:buFont typeface="Wingdings" pitchFamily="2" charset="2"/>
              <a:buChar char="Ø"/>
            </a:pPr>
            <a:r>
              <a:rPr lang="en-US" b="1" dirty="0">
                <a:solidFill>
                  <a:schemeClr val="tx1"/>
                </a:solidFill>
                <a:latin typeface="Times New Roman" pitchFamily="18" charset="0"/>
                <a:cs typeface="Times New Roman" pitchFamily="18" charset="0"/>
              </a:rPr>
              <a:t>Smaller File Sizes</a:t>
            </a:r>
            <a:r>
              <a:rPr lang="en-US" dirty="0">
                <a:solidFill>
                  <a:schemeClr val="tx1"/>
                </a:solidFill>
                <a:latin typeface="Times New Roman" pitchFamily="18" charset="0"/>
                <a:cs typeface="Times New Roman" pitchFamily="18" charset="0"/>
              </a:rPr>
              <a:t>: Often more efficient in terms of storage compared to bitmap images.</a:t>
            </a:r>
          </a:p>
          <a:p>
            <a:pPr lvl="2">
              <a:buFont typeface="Wingdings" pitchFamily="2" charset="2"/>
              <a:buChar char="Ø"/>
            </a:pPr>
            <a:r>
              <a:rPr lang="en-US" b="1" dirty="0">
                <a:solidFill>
                  <a:schemeClr val="tx1"/>
                </a:solidFill>
                <a:latin typeface="Times New Roman" pitchFamily="18" charset="0"/>
                <a:cs typeface="Times New Roman" pitchFamily="18" charset="0"/>
              </a:rPr>
              <a:t>Editable</a:t>
            </a:r>
            <a:r>
              <a:rPr lang="en-US" dirty="0">
                <a:solidFill>
                  <a:schemeClr val="tx1"/>
                </a:solidFill>
                <a:latin typeface="Times New Roman" pitchFamily="18" charset="0"/>
                <a:cs typeface="Times New Roman" pitchFamily="18" charset="0"/>
              </a:rPr>
              <a:t>: Easy to edit or modify elements like color, shape, and size</a:t>
            </a:r>
          </a:p>
          <a:p>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sz="2400" b="1" dirty="0">
                <a:latin typeface="Times New Roman" pitchFamily="18" charset="0"/>
                <a:cs typeface="Times New Roman" pitchFamily="18" charset="0"/>
              </a:rPr>
              <a:t>Common Formats</a:t>
            </a:r>
            <a:endParaRPr lang="en-US" sz="2400" dirty="0">
              <a:latin typeface="Times New Roman" pitchFamily="18" charset="0"/>
              <a:cs typeface="Times New Roman" pitchFamily="18" charset="0"/>
            </a:endParaRPr>
          </a:p>
          <a:p>
            <a:pPr>
              <a:buFont typeface="Wingdings" pitchFamily="2" charset="2"/>
              <a:buChar char="Ø"/>
            </a:pPr>
            <a:r>
              <a:rPr lang="en-US" sz="2400" b="1" dirty="0">
                <a:latin typeface="Times New Roman" pitchFamily="18" charset="0"/>
                <a:cs typeface="Times New Roman" pitchFamily="18" charset="0"/>
              </a:rPr>
              <a:t>SVG (Scalable Vector Graphics)</a:t>
            </a:r>
            <a:r>
              <a:rPr lang="en-US" sz="2400" dirty="0">
                <a:latin typeface="Times New Roman" pitchFamily="18" charset="0"/>
                <a:cs typeface="Times New Roman" pitchFamily="18" charset="0"/>
              </a:rPr>
              <a:t>: Widely used on the web, especially for simple graphics, logos, and icons.</a:t>
            </a:r>
          </a:p>
          <a:p>
            <a:pPr>
              <a:buFont typeface="Wingdings" pitchFamily="2" charset="2"/>
              <a:buChar char="Ø"/>
            </a:pPr>
            <a:r>
              <a:rPr lang="en-US" sz="2400" b="1" dirty="0">
                <a:latin typeface="Times New Roman" pitchFamily="18" charset="0"/>
                <a:cs typeface="Times New Roman" pitchFamily="18" charset="0"/>
              </a:rPr>
              <a:t>EPS (Encapsulated PostScript)</a:t>
            </a:r>
            <a:r>
              <a:rPr lang="en-US" sz="2400" dirty="0">
                <a:latin typeface="Times New Roman" pitchFamily="18" charset="0"/>
                <a:cs typeface="Times New Roman" pitchFamily="18" charset="0"/>
              </a:rPr>
              <a:t>: Used for high-quality printing and professional design.</a:t>
            </a:r>
          </a:p>
          <a:p>
            <a:pPr>
              <a:buFont typeface="Wingdings" pitchFamily="2" charset="2"/>
              <a:buChar char="Ø"/>
            </a:pPr>
            <a:r>
              <a:rPr lang="en-US" sz="2400" b="1" dirty="0">
                <a:latin typeface="Times New Roman" pitchFamily="18" charset="0"/>
                <a:cs typeface="Times New Roman" pitchFamily="18" charset="0"/>
              </a:rPr>
              <a:t>PDF (Portable Document Format)</a:t>
            </a:r>
            <a:r>
              <a:rPr lang="en-US" sz="2400" dirty="0">
                <a:latin typeface="Times New Roman" pitchFamily="18" charset="0"/>
                <a:cs typeface="Times New Roman" pitchFamily="18" charset="0"/>
              </a:rPr>
              <a:t>: Can contain vector graphics, often used for documents with illustrations.</a:t>
            </a:r>
          </a:p>
          <a:p>
            <a:pPr>
              <a:buFont typeface="Wingdings" pitchFamily="2" charset="2"/>
              <a:buChar char="Ø"/>
            </a:pPr>
            <a:r>
              <a:rPr lang="en-US" sz="2400" b="1" dirty="0">
                <a:latin typeface="Times New Roman" pitchFamily="18" charset="0"/>
                <a:cs typeface="Times New Roman" pitchFamily="18" charset="0"/>
              </a:rPr>
              <a:t>AI (Adobe Illustrator)</a:t>
            </a:r>
            <a:r>
              <a:rPr lang="en-US" sz="2400" dirty="0">
                <a:latin typeface="Times New Roman" pitchFamily="18" charset="0"/>
                <a:cs typeface="Times New Roman" pitchFamily="18" charset="0"/>
              </a:rPr>
              <a:t>: A proprietary format used by Adobe Illustrator for vector-based designs.</a:t>
            </a:r>
          </a:p>
          <a:p>
            <a:pPr>
              <a:buFont typeface="Wingdings" pitchFamily="2" charset="2"/>
              <a:buChar char="Ø"/>
            </a:pPr>
            <a:r>
              <a:rPr lang="en-US" sz="2400" b="1" dirty="0">
                <a:latin typeface="Times New Roman" pitchFamily="18" charset="0"/>
                <a:cs typeface="Times New Roman" pitchFamily="18" charset="0"/>
              </a:rPr>
              <a:t>WMF (Windows Metafile)</a:t>
            </a:r>
            <a:r>
              <a:rPr lang="en-US" sz="2400" dirty="0">
                <a:latin typeface="Times New Roman" pitchFamily="18" charset="0"/>
                <a:cs typeface="Times New Roman" pitchFamily="18" charset="0"/>
              </a:rPr>
              <a:t>: A format used for vector graphics on Windows.</a:t>
            </a:r>
          </a:p>
          <a:p>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Understanding Metafile Graphics</a:t>
            </a:r>
          </a:p>
          <a:p>
            <a:r>
              <a:rPr lang="en-US" sz="2400" b="1" dirty="0">
                <a:latin typeface="Times New Roman" pitchFamily="18" charset="0"/>
                <a:cs typeface="Times New Roman" pitchFamily="18" charset="0"/>
              </a:rPr>
              <a:t>Metafile Graphics</a:t>
            </a:r>
            <a:r>
              <a:rPr lang="en-US" sz="2400" dirty="0">
                <a:latin typeface="Times New Roman" pitchFamily="18" charset="0"/>
                <a:cs typeface="Times New Roman" pitchFamily="18" charset="0"/>
              </a:rPr>
              <a:t>: A </a:t>
            </a:r>
            <a:r>
              <a:rPr lang="en-US" sz="2400" b="1" dirty="0">
                <a:latin typeface="Times New Roman" pitchFamily="18" charset="0"/>
                <a:cs typeface="Times New Roman" pitchFamily="18" charset="0"/>
              </a:rPr>
              <a:t>metafile</a:t>
            </a:r>
            <a:r>
              <a:rPr lang="en-US" sz="2400" dirty="0">
                <a:latin typeface="Times New Roman" pitchFamily="18" charset="0"/>
                <a:cs typeface="Times New Roman" pitchFamily="18" charset="0"/>
              </a:rPr>
              <a:t> is a file format that can store both vector graphics and raster images in a single file. It’s a hybrid format that can contain both types of image data.</a:t>
            </a:r>
          </a:p>
          <a:p>
            <a:pPr>
              <a:buNone/>
            </a:pPr>
            <a:r>
              <a:rPr lang="en-US" sz="2400" b="1" dirty="0">
                <a:latin typeface="Times New Roman" pitchFamily="18" charset="0"/>
                <a:cs typeface="Times New Roman" pitchFamily="18" charset="0"/>
              </a:rPr>
              <a:t>Characteristics</a:t>
            </a:r>
            <a:r>
              <a:rPr lang="en-US" sz="2400" dirty="0">
                <a:latin typeface="Times New Roman" pitchFamily="18" charset="0"/>
                <a:cs typeface="Times New Roman" pitchFamily="18" charset="0"/>
              </a:rPr>
              <a:t>:</a:t>
            </a:r>
          </a:p>
          <a:p>
            <a:pPr lvl="2">
              <a:buFont typeface="Wingdings" pitchFamily="2" charset="2"/>
              <a:buChar char="Ø"/>
            </a:pPr>
            <a:r>
              <a:rPr lang="en-US" b="1" dirty="0">
                <a:solidFill>
                  <a:schemeClr val="tx1"/>
                </a:solidFill>
                <a:latin typeface="Times New Roman" pitchFamily="18" charset="0"/>
                <a:cs typeface="Times New Roman" pitchFamily="18" charset="0"/>
              </a:rPr>
              <a:t>Cross-platform compatibility</a:t>
            </a:r>
            <a:r>
              <a:rPr lang="en-US" dirty="0">
                <a:solidFill>
                  <a:schemeClr val="tx1"/>
                </a:solidFill>
                <a:latin typeface="Times New Roman" pitchFamily="18" charset="0"/>
                <a:cs typeface="Times New Roman" pitchFamily="18" charset="0"/>
              </a:rPr>
              <a:t>: Some metafiles are designed to be compatible with multiple software environments.</a:t>
            </a:r>
          </a:p>
          <a:p>
            <a:pPr lvl="2">
              <a:buFont typeface="Wingdings" pitchFamily="2" charset="2"/>
              <a:buChar char="Ø"/>
            </a:pPr>
            <a:r>
              <a:rPr lang="en-US" b="1" dirty="0">
                <a:solidFill>
                  <a:schemeClr val="tx1"/>
                </a:solidFill>
                <a:latin typeface="Times New Roman" pitchFamily="18" charset="0"/>
                <a:cs typeface="Times New Roman" pitchFamily="18" charset="0"/>
              </a:rPr>
              <a:t>Smaller File Size</a:t>
            </a:r>
            <a:r>
              <a:rPr lang="en-US" dirty="0">
                <a:solidFill>
                  <a:schemeClr val="tx1"/>
                </a:solidFill>
                <a:latin typeface="Times New Roman" pitchFamily="18" charset="0"/>
                <a:cs typeface="Times New Roman" pitchFamily="18" charset="0"/>
              </a:rPr>
              <a:t>: Because they store both raster and vector data, they are often more compact than separate raster and vector files.</a:t>
            </a:r>
          </a:p>
          <a:p>
            <a:endParaRPr lang="en-US" sz="2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rmAutofit/>
          </a:bodyPr>
          <a:lstStyle/>
          <a:p>
            <a:r>
              <a:rPr lang="en-US" sz="2400" b="1" dirty="0">
                <a:latin typeface="Times New Roman" pitchFamily="18" charset="0"/>
                <a:cs typeface="Times New Roman" pitchFamily="18" charset="0"/>
              </a:rPr>
              <a:t>Common Formats</a:t>
            </a:r>
            <a:r>
              <a:rPr lang="en-US" sz="2400" dirty="0">
                <a:latin typeface="Times New Roman" pitchFamily="18" charset="0"/>
                <a:cs typeface="Times New Roman" pitchFamily="18" charset="0"/>
              </a:rPr>
              <a:t>:</a:t>
            </a:r>
          </a:p>
          <a:p>
            <a:pPr>
              <a:buNone/>
            </a:pPr>
            <a:r>
              <a:rPr lang="en-US" sz="2400" b="1" dirty="0">
                <a:latin typeface="Times New Roman" pitchFamily="18" charset="0"/>
                <a:cs typeface="Times New Roman" pitchFamily="18" charset="0"/>
              </a:rPr>
              <a:t>WMF (Windows Metafile)</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Common for Windows environments, supports both raster and vector data.</a:t>
            </a:r>
          </a:p>
          <a:p>
            <a:pPr>
              <a:buNone/>
            </a:pPr>
            <a:r>
              <a:rPr lang="en-US" sz="2400" b="1" dirty="0">
                <a:latin typeface="Times New Roman" pitchFamily="18" charset="0"/>
                <a:cs typeface="Times New Roman" pitchFamily="18" charset="0"/>
              </a:rPr>
              <a:t>EMF (Enhanced Metafile)</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An improved version of WMF, it supports more colors and better graphics rendering.</a:t>
            </a:r>
          </a:p>
          <a:p>
            <a:endParaRPr lang="en-US"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rmAutofit/>
          </a:bodyPr>
          <a:lstStyle/>
          <a:p>
            <a:pPr>
              <a:buNone/>
            </a:pPr>
            <a:r>
              <a:rPr lang="en-US" sz="2400" b="1" dirty="0">
                <a:latin typeface="Times New Roman" pitchFamily="18" charset="0"/>
                <a:cs typeface="Times New Roman" pitchFamily="18" charset="0"/>
              </a:rPr>
              <a:t>Understanding Graphics File Formats</a:t>
            </a:r>
          </a:p>
          <a:p>
            <a:r>
              <a:rPr lang="en-US" sz="2400" b="1" dirty="0">
                <a:latin typeface="Times New Roman" pitchFamily="18" charset="0"/>
                <a:cs typeface="Times New Roman" pitchFamily="18" charset="0"/>
              </a:rPr>
              <a:t>Graphics File Formats</a:t>
            </a:r>
            <a:r>
              <a:rPr lang="en-US" sz="2400" dirty="0">
                <a:latin typeface="Times New Roman" pitchFamily="18" charset="0"/>
                <a:cs typeface="Times New Roman" pitchFamily="18" charset="0"/>
              </a:rPr>
              <a:t>: These are specific types of files used to store images, and they vary based on the content and the method of compression. There are two main types: raster (bitmap) and vector graphics.</a:t>
            </a:r>
          </a:p>
          <a:p>
            <a:pPr lvl="1"/>
            <a:r>
              <a:rPr lang="en-US" sz="2400" b="1" dirty="0" err="1">
                <a:solidFill>
                  <a:schemeClr val="tx1"/>
                </a:solidFill>
                <a:latin typeface="Times New Roman" pitchFamily="18" charset="0"/>
                <a:cs typeface="Times New Roman" pitchFamily="18" charset="0"/>
              </a:rPr>
              <a:t>Lossy</a:t>
            </a:r>
            <a:r>
              <a:rPr lang="en-US" sz="2400" b="1" dirty="0">
                <a:solidFill>
                  <a:schemeClr val="tx1"/>
                </a:solidFill>
                <a:latin typeface="Times New Roman" pitchFamily="18" charset="0"/>
                <a:cs typeface="Times New Roman" pitchFamily="18" charset="0"/>
              </a:rPr>
              <a:t> </a:t>
            </a:r>
            <a:r>
              <a:rPr lang="en-US" sz="2400" b="1" dirty="0" err="1">
                <a:solidFill>
                  <a:schemeClr val="tx1"/>
                </a:solidFill>
                <a:latin typeface="Times New Roman" pitchFamily="18" charset="0"/>
                <a:cs typeface="Times New Roman" pitchFamily="18" charset="0"/>
              </a:rPr>
              <a:t>vs</a:t>
            </a:r>
            <a:r>
              <a:rPr lang="en-US" sz="2400" b="1" dirty="0">
                <a:solidFill>
                  <a:schemeClr val="tx1"/>
                </a:solidFill>
                <a:latin typeface="Times New Roman" pitchFamily="18" charset="0"/>
                <a:cs typeface="Times New Roman" pitchFamily="18" charset="0"/>
              </a:rPr>
              <a:t> Lossless</a:t>
            </a:r>
            <a:r>
              <a:rPr lang="en-US" sz="2400" dirty="0">
                <a:solidFill>
                  <a:schemeClr val="tx1"/>
                </a:solidFill>
                <a:latin typeface="Times New Roman" pitchFamily="18" charset="0"/>
                <a:cs typeface="Times New Roman" pitchFamily="18" charset="0"/>
              </a:rPr>
              <a:t>:</a:t>
            </a:r>
          </a:p>
          <a:p>
            <a:pPr lvl="2"/>
            <a:r>
              <a:rPr lang="en-US" b="1" dirty="0" err="1">
                <a:solidFill>
                  <a:schemeClr val="tx1"/>
                </a:solidFill>
                <a:latin typeface="Times New Roman" pitchFamily="18" charset="0"/>
                <a:cs typeface="Times New Roman" pitchFamily="18" charset="0"/>
              </a:rPr>
              <a:t>Lossy</a:t>
            </a:r>
            <a:r>
              <a:rPr lang="en-US" b="1" dirty="0">
                <a:solidFill>
                  <a:schemeClr val="tx1"/>
                </a:solidFill>
                <a:latin typeface="Times New Roman" pitchFamily="18" charset="0"/>
                <a:cs typeface="Times New Roman" pitchFamily="18" charset="0"/>
              </a:rPr>
              <a:t> Compression</a:t>
            </a:r>
            <a:r>
              <a:rPr lang="en-US" dirty="0">
                <a:solidFill>
                  <a:schemeClr val="tx1"/>
                </a:solidFill>
                <a:latin typeface="Times New Roman" pitchFamily="18" charset="0"/>
                <a:cs typeface="Times New Roman" pitchFamily="18" charset="0"/>
              </a:rPr>
              <a:t>: Reduces file size by discarding some image data, often reducing quality (e.g., JPEG).</a:t>
            </a:r>
          </a:p>
          <a:p>
            <a:pPr lvl="2"/>
            <a:r>
              <a:rPr lang="en-US" b="1" dirty="0">
                <a:solidFill>
                  <a:schemeClr val="tx1"/>
                </a:solidFill>
                <a:latin typeface="Times New Roman" pitchFamily="18" charset="0"/>
                <a:cs typeface="Times New Roman" pitchFamily="18" charset="0"/>
              </a:rPr>
              <a:t>Lossless Compression</a:t>
            </a:r>
            <a:r>
              <a:rPr lang="en-US" dirty="0">
                <a:solidFill>
                  <a:schemeClr val="tx1"/>
                </a:solidFill>
                <a:latin typeface="Times New Roman" pitchFamily="18" charset="0"/>
                <a:cs typeface="Times New Roman" pitchFamily="18" charset="0"/>
              </a:rPr>
              <a:t>: Preserves all image data, ensuring no loss of quality (e.g., PNG, TIFF).</a:t>
            </a:r>
          </a:p>
          <a:p>
            <a:endParaRPr lang="en-US"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Autofit/>
          </a:bodyPr>
          <a:lstStyle/>
          <a:p>
            <a:pPr lvl="1">
              <a:buNone/>
            </a:pPr>
            <a:r>
              <a:rPr lang="en-US" sz="2400" b="1" dirty="0">
                <a:solidFill>
                  <a:schemeClr val="tx1"/>
                </a:solidFill>
                <a:latin typeface="Times New Roman" pitchFamily="18" charset="0"/>
                <a:cs typeface="Times New Roman" pitchFamily="18" charset="0"/>
              </a:rPr>
              <a:t>File Formats</a:t>
            </a:r>
            <a:r>
              <a:rPr lang="en-US" sz="2400" dirty="0">
                <a:solidFill>
                  <a:schemeClr val="tx1"/>
                </a:solidFill>
                <a:latin typeface="Times New Roman" pitchFamily="18" charset="0"/>
                <a:cs typeface="Times New Roman" pitchFamily="18" charset="0"/>
              </a:rPr>
              <a:t>:</a:t>
            </a:r>
          </a:p>
          <a:p>
            <a:pPr lvl="2">
              <a:buFont typeface="Wingdings" pitchFamily="2" charset="2"/>
              <a:buChar char="Ø"/>
            </a:pPr>
            <a:r>
              <a:rPr lang="en-US" b="1" dirty="0">
                <a:solidFill>
                  <a:schemeClr val="tx1"/>
                </a:solidFill>
                <a:latin typeface="Times New Roman" pitchFamily="18" charset="0"/>
                <a:cs typeface="Times New Roman" pitchFamily="18" charset="0"/>
              </a:rPr>
              <a:t>JPEG</a:t>
            </a:r>
            <a:r>
              <a:rPr lang="en-US" dirty="0">
                <a:solidFill>
                  <a:schemeClr val="tx1"/>
                </a:solidFill>
                <a:latin typeface="Times New Roman" pitchFamily="18" charset="0"/>
                <a:cs typeface="Times New Roman" pitchFamily="18" charset="0"/>
              </a:rPr>
              <a:t>: Common for photographs, </a:t>
            </a:r>
            <a:r>
              <a:rPr lang="en-US" dirty="0" err="1">
                <a:solidFill>
                  <a:schemeClr val="tx1"/>
                </a:solidFill>
                <a:latin typeface="Times New Roman" pitchFamily="18" charset="0"/>
                <a:cs typeface="Times New Roman" pitchFamily="18" charset="0"/>
              </a:rPr>
              <a:t>lossy</a:t>
            </a:r>
            <a:r>
              <a:rPr lang="en-US" dirty="0">
                <a:solidFill>
                  <a:schemeClr val="tx1"/>
                </a:solidFill>
                <a:latin typeface="Times New Roman" pitchFamily="18" charset="0"/>
                <a:cs typeface="Times New Roman" pitchFamily="18" charset="0"/>
              </a:rPr>
              <a:t> compression.</a:t>
            </a:r>
          </a:p>
          <a:p>
            <a:pPr lvl="2">
              <a:buFont typeface="Wingdings" pitchFamily="2" charset="2"/>
              <a:buChar char="Ø"/>
            </a:pPr>
            <a:r>
              <a:rPr lang="en-US" b="1" dirty="0">
                <a:solidFill>
                  <a:schemeClr val="tx1"/>
                </a:solidFill>
                <a:latin typeface="Times New Roman" pitchFamily="18" charset="0"/>
                <a:cs typeface="Times New Roman" pitchFamily="18" charset="0"/>
              </a:rPr>
              <a:t>PNG</a:t>
            </a:r>
            <a:r>
              <a:rPr lang="en-US" dirty="0">
                <a:solidFill>
                  <a:schemeClr val="tx1"/>
                </a:solidFill>
                <a:latin typeface="Times New Roman" pitchFamily="18" charset="0"/>
                <a:cs typeface="Times New Roman" pitchFamily="18" charset="0"/>
              </a:rPr>
              <a:t>: Supports transparency, lossless compression.</a:t>
            </a:r>
          </a:p>
          <a:p>
            <a:pPr lvl="2">
              <a:buFont typeface="Wingdings" pitchFamily="2" charset="2"/>
              <a:buChar char="Ø"/>
            </a:pPr>
            <a:r>
              <a:rPr lang="en-US" b="1" dirty="0">
                <a:solidFill>
                  <a:schemeClr val="tx1"/>
                </a:solidFill>
                <a:latin typeface="Times New Roman" pitchFamily="18" charset="0"/>
                <a:cs typeface="Times New Roman" pitchFamily="18" charset="0"/>
              </a:rPr>
              <a:t>GIF</a:t>
            </a:r>
            <a:r>
              <a:rPr lang="en-US" dirty="0">
                <a:solidFill>
                  <a:schemeClr val="tx1"/>
                </a:solidFill>
                <a:latin typeface="Times New Roman" pitchFamily="18" charset="0"/>
                <a:cs typeface="Times New Roman" pitchFamily="18" charset="0"/>
              </a:rPr>
              <a:t>: Limited to 256 colors, lossless, often used for web animations.</a:t>
            </a:r>
          </a:p>
          <a:p>
            <a:pPr lvl="2">
              <a:buFont typeface="Wingdings" pitchFamily="2" charset="2"/>
              <a:buChar char="Ø"/>
            </a:pPr>
            <a:r>
              <a:rPr lang="en-US" b="1" dirty="0">
                <a:solidFill>
                  <a:schemeClr val="tx1"/>
                </a:solidFill>
                <a:latin typeface="Times New Roman" pitchFamily="18" charset="0"/>
                <a:cs typeface="Times New Roman" pitchFamily="18" charset="0"/>
              </a:rPr>
              <a:t>TIFF</a:t>
            </a:r>
            <a:r>
              <a:rPr lang="en-US" dirty="0">
                <a:solidFill>
                  <a:schemeClr val="tx1"/>
                </a:solidFill>
                <a:latin typeface="Times New Roman" pitchFamily="18" charset="0"/>
                <a:cs typeface="Times New Roman" pitchFamily="18" charset="0"/>
              </a:rPr>
              <a:t>: High-quality, lossless compression, used in printing.</a:t>
            </a:r>
          </a:p>
          <a:p>
            <a:pPr lvl="2">
              <a:buFont typeface="Wingdings" pitchFamily="2" charset="2"/>
              <a:buChar char="Ø"/>
            </a:pPr>
            <a:r>
              <a:rPr lang="en-US" b="1" dirty="0">
                <a:solidFill>
                  <a:schemeClr val="tx1"/>
                </a:solidFill>
                <a:latin typeface="Times New Roman" pitchFamily="18" charset="0"/>
                <a:cs typeface="Times New Roman" pitchFamily="18" charset="0"/>
              </a:rPr>
              <a:t>SVG</a:t>
            </a:r>
            <a:r>
              <a:rPr lang="en-US" dirty="0">
                <a:solidFill>
                  <a:schemeClr val="tx1"/>
                </a:solidFill>
                <a:latin typeface="Times New Roman" pitchFamily="18" charset="0"/>
                <a:cs typeface="Times New Roman" pitchFamily="18" charset="0"/>
              </a:rPr>
              <a:t>: Vector format, scalable without quality loss.</a:t>
            </a:r>
          </a:p>
          <a:p>
            <a:pPr lvl="2">
              <a:buFont typeface="Wingdings" pitchFamily="2" charset="2"/>
              <a:buChar char="Ø"/>
            </a:pPr>
            <a:r>
              <a:rPr lang="en-US" b="1" dirty="0">
                <a:solidFill>
                  <a:schemeClr val="tx1"/>
                </a:solidFill>
                <a:latin typeface="Times New Roman" pitchFamily="18" charset="0"/>
                <a:cs typeface="Times New Roman" pitchFamily="18" charset="0"/>
              </a:rPr>
              <a:t>BMP</a:t>
            </a:r>
            <a:r>
              <a:rPr lang="en-US" dirty="0">
                <a:solidFill>
                  <a:schemeClr val="tx1"/>
                </a:solidFill>
                <a:latin typeface="Times New Roman" pitchFamily="18" charset="0"/>
                <a:cs typeface="Times New Roman" pitchFamily="18" charset="0"/>
              </a:rPr>
              <a:t>: Bitmap format, uncompressed, high-quality but large files.</a:t>
            </a:r>
          </a:p>
          <a:p>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Understanding Digital Photograph File Formats</a:t>
            </a:r>
          </a:p>
          <a:p>
            <a:r>
              <a:rPr lang="en-US" sz="2400" b="1" dirty="0">
                <a:latin typeface="Times New Roman" pitchFamily="18" charset="0"/>
                <a:cs typeface="Times New Roman" pitchFamily="18" charset="0"/>
              </a:rPr>
              <a:t>Digital Photograph File Formats</a:t>
            </a:r>
            <a:r>
              <a:rPr lang="en-US" sz="2400" dirty="0">
                <a:latin typeface="Times New Roman" pitchFamily="18" charset="0"/>
                <a:cs typeface="Times New Roman" pitchFamily="18" charset="0"/>
              </a:rPr>
              <a:t>: These formats are tailored for storing photographs and images captured by digital cameras or scanners. The choice of format can depend on the need for quality, editing flexibility, and file size.</a:t>
            </a:r>
          </a:p>
          <a:p>
            <a:pPr lvl="1"/>
            <a:r>
              <a:rPr lang="en-US" sz="2400" b="1" dirty="0">
                <a:solidFill>
                  <a:schemeClr val="tx1"/>
                </a:solidFill>
                <a:latin typeface="Times New Roman" pitchFamily="18" charset="0"/>
                <a:cs typeface="Times New Roman" pitchFamily="18" charset="0"/>
              </a:rPr>
              <a:t>Raw Image Formats</a:t>
            </a:r>
            <a:r>
              <a:rPr lang="en-US" sz="2400" dirty="0">
                <a:solidFill>
                  <a:schemeClr val="tx1"/>
                </a:solidFill>
                <a:latin typeface="Times New Roman" pitchFamily="18" charset="0"/>
                <a:cs typeface="Times New Roman" pitchFamily="18" charset="0"/>
              </a:rPr>
              <a:t>:</a:t>
            </a:r>
          </a:p>
          <a:p>
            <a:pPr lvl="2"/>
            <a:r>
              <a:rPr lang="en-US" b="1" dirty="0">
                <a:solidFill>
                  <a:schemeClr val="tx1"/>
                </a:solidFill>
                <a:latin typeface="Times New Roman" pitchFamily="18" charset="0"/>
                <a:cs typeface="Times New Roman" pitchFamily="18" charset="0"/>
              </a:rPr>
              <a:t>RAW</a:t>
            </a:r>
            <a:r>
              <a:rPr lang="en-US" dirty="0">
                <a:solidFill>
                  <a:schemeClr val="tx1"/>
                </a:solidFill>
                <a:latin typeface="Times New Roman" pitchFamily="18" charset="0"/>
                <a:cs typeface="Times New Roman" pitchFamily="18" charset="0"/>
              </a:rPr>
              <a:t>: Each camera manufacturer has its proprietary raw format (e.g., </a:t>
            </a:r>
            <a:r>
              <a:rPr lang="en-US" b="1" dirty="0">
                <a:solidFill>
                  <a:schemeClr val="tx1"/>
                </a:solidFill>
                <a:latin typeface="Times New Roman" pitchFamily="18" charset="0"/>
                <a:cs typeface="Times New Roman" pitchFamily="18" charset="0"/>
              </a:rPr>
              <a:t>CR2</a:t>
            </a:r>
            <a:r>
              <a:rPr lang="en-US" dirty="0">
                <a:solidFill>
                  <a:schemeClr val="tx1"/>
                </a:solidFill>
                <a:latin typeface="Times New Roman" pitchFamily="18" charset="0"/>
                <a:cs typeface="Times New Roman" pitchFamily="18" charset="0"/>
              </a:rPr>
              <a:t> for Canon, </a:t>
            </a:r>
            <a:r>
              <a:rPr lang="en-US" b="1" dirty="0">
                <a:solidFill>
                  <a:schemeClr val="tx1"/>
                </a:solidFill>
                <a:latin typeface="Times New Roman" pitchFamily="18" charset="0"/>
                <a:cs typeface="Times New Roman" pitchFamily="18" charset="0"/>
              </a:rPr>
              <a:t>NEF</a:t>
            </a:r>
            <a:r>
              <a:rPr lang="en-US" dirty="0">
                <a:solidFill>
                  <a:schemeClr val="tx1"/>
                </a:solidFill>
                <a:latin typeface="Times New Roman" pitchFamily="18" charset="0"/>
                <a:cs typeface="Times New Roman" pitchFamily="18" charset="0"/>
              </a:rPr>
              <a:t> for Nikon). These files contain unprocessed data directly from the camera’s sensor, offering maximum flexibility in post-processing.</a:t>
            </a:r>
          </a:p>
          <a:p>
            <a:endParaRPr lang="en-US" sz="24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lgerian" pitchFamily="82" charset="0"/>
              </a:rPr>
              <a:t>Multimedia Forensics</a:t>
            </a:r>
            <a:endParaRPr lang="en-US" dirty="0"/>
          </a:p>
        </p:txBody>
      </p:sp>
      <p:sp>
        <p:nvSpPr>
          <p:cNvPr id="3" name="Content Placeholder 2"/>
          <p:cNvSpPr>
            <a:spLocks noGrp="1"/>
          </p:cNvSpPr>
          <p:nvPr>
            <p:ph idx="1"/>
          </p:nvPr>
        </p:nvSpPr>
        <p:spPr/>
        <p:txBody>
          <a:bodyPr>
            <a:normAutofit/>
          </a:bodyPr>
          <a:lstStyle/>
          <a:p>
            <a:pPr lvl="1">
              <a:buNone/>
            </a:pPr>
            <a:r>
              <a:rPr lang="en-US" sz="2400" b="1" dirty="0">
                <a:solidFill>
                  <a:schemeClr val="tx1"/>
                </a:solidFill>
                <a:latin typeface="Times New Roman" pitchFamily="18" charset="0"/>
                <a:cs typeface="Times New Roman" pitchFamily="18" charset="0"/>
              </a:rPr>
              <a:t>Processed Image Formats</a:t>
            </a:r>
            <a:r>
              <a:rPr lang="en-US" sz="2400" dirty="0">
                <a:solidFill>
                  <a:schemeClr val="tx1"/>
                </a:solidFill>
                <a:latin typeface="Times New Roman" pitchFamily="18" charset="0"/>
                <a:cs typeface="Times New Roman" pitchFamily="18" charset="0"/>
              </a:rPr>
              <a:t>:</a:t>
            </a:r>
          </a:p>
          <a:p>
            <a:pPr lvl="2">
              <a:buFont typeface="Wingdings" pitchFamily="2" charset="2"/>
              <a:buChar char="Ø"/>
            </a:pPr>
            <a:r>
              <a:rPr lang="en-US" b="1" dirty="0">
                <a:solidFill>
                  <a:schemeClr val="tx1"/>
                </a:solidFill>
                <a:latin typeface="Times New Roman" pitchFamily="18" charset="0"/>
                <a:cs typeface="Times New Roman" pitchFamily="18" charset="0"/>
              </a:rPr>
              <a:t>JPEG</a:t>
            </a:r>
            <a:r>
              <a:rPr lang="en-US" dirty="0">
                <a:solidFill>
                  <a:schemeClr val="tx1"/>
                </a:solidFill>
                <a:latin typeface="Times New Roman" pitchFamily="18" charset="0"/>
                <a:cs typeface="Times New Roman" pitchFamily="18" charset="0"/>
              </a:rPr>
              <a:t>: The most common format for photos, offering a balance between file size and image quality due to </a:t>
            </a:r>
            <a:r>
              <a:rPr lang="en-US" dirty="0" err="1">
                <a:solidFill>
                  <a:schemeClr val="tx1"/>
                </a:solidFill>
                <a:latin typeface="Times New Roman" pitchFamily="18" charset="0"/>
                <a:cs typeface="Times New Roman" pitchFamily="18" charset="0"/>
              </a:rPr>
              <a:t>lossy</a:t>
            </a:r>
            <a:r>
              <a:rPr lang="en-US" dirty="0">
                <a:solidFill>
                  <a:schemeClr val="tx1"/>
                </a:solidFill>
                <a:latin typeface="Times New Roman" pitchFamily="18" charset="0"/>
                <a:cs typeface="Times New Roman" pitchFamily="18" charset="0"/>
              </a:rPr>
              <a:t> compression.</a:t>
            </a:r>
          </a:p>
          <a:p>
            <a:pPr lvl="2">
              <a:buFont typeface="Wingdings" pitchFamily="2" charset="2"/>
              <a:buChar char="Ø"/>
            </a:pPr>
            <a:r>
              <a:rPr lang="en-US" b="1" dirty="0">
                <a:solidFill>
                  <a:schemeClr val="tx1"/>
                </a:solidFill>
                <a:latin typeface="Times New Roman" pitchFamily="18" charset="0"/>
                <a:cs typeface="Times New Roman" pitchFamily="18" charset="0"/>
              </a:rPr>
              <a:t>TIFF</a:t>
            </a:r>
            <a:r>
              <a:rPr lang="en-US" dirty="0">
                <a:solidFill>
                  <a:schemeClr val="tx1"/>
                </a:solidFill>
                <a:latin typeface="Times New Roman" pitchFamily="18" charset="0"/>
                <a:cs typeface="Times New Roman" pitchFamily="18" charset="0"/>
              </a:rPr>
              <a:t>: Often used in professional photography due to its ability to store high-quality images without losing data (lossless compression).</a:t>
            </a:r>
          </a:p>
          <a:p>
            <a:pPr lvl="2">
              <a:buFont typeface="Wingdings" pitchFamily="2" charset="2"/>
              <a:buChar char="Ø"/>
            </a:pPr>
            <a:r>
              <a:rPr lang="en-US" b="1" dirty="0">
                <a:solidFill>
                  <a:schemeClr val="tx1"/>
                </a:solidFill>
                <a:latin typeface="Times New Roman" pitchFamily="18" charset="0"/>
                <a:cs typeface="Times New Roman" pitchFamily="18" charset="0"/>
              </a:rPr>
              <a:t>PNG</a:t>
            </a:r>
            <a:r>
              <a:rPr lang="en-US" dirty="0">
                <a:solidFill>
                  <a:schemeClr val="tx1"/>
                </a:solidFill>
                <a:latin typeface="Times New Roman" pitchFamily="18" charset="0"/>
                <a:cs typeface="Times New Roman" pitchFamily="18" charset="0"/>
              </a:rPr>
              <a:t>: While typically used for graphics, PNG can also be used for photographs, especially when transparency is needed, but it is not widely used for photographs due to its larger file sizes compared to JPEG.</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cs typeface="Times New Roman" pitchFamily="18" charset="0"/>
              </a:rPr>
              <a:t>Understanding Data Compression</a:t>
            </a:r>
            <a:br>
              <a:rPr lang="en-US" dirty="0">
                <a:latin typeface="Algerian" pitchFamily="82" charset="0"/>
                <a:cs typeface="Times New Roman" pitchFamily="18" charset="0"/>
              </a:rPr>
            </a:br>
            <a:endParaRPr lang="en-US" dirty="0">
              <a:latin typeface="Algerian" pitchFamily="82" charset="0"/>
            </a:endParaRPr>
          </a:p>
        </p:txBody>
      </p:sp>
      <p:sp>
        <p:nvSpPr>
          <p:cNvPr id="3" name="Content Placeholder 2"/>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Understanding Data Compression</a:t>
            </a:r>
          </a:p>
          <a:p>
            <a:pPr>
              <a:buFont typeface="Wingdings" pitchFamily="2" charset="2"/>
              <a:buChar char="Ø"/>
            </a:pPr>
            <a:r>
              <a:rPr lang="en-US" sz="2400" dirty="0">
                <a:latin typeface="Times New Roman" pitchFamily="18" charset="0"/>
                <a:cs typeface="Times New Roman" pitchFamily="18" charset="0"/>
              </a:rPr>
              <a:t> 3.2.1 Lossless and </a:t>
            </a:r>
            <a:r>
              <a:rPr lang="en-US" sz="2400" dirty="0" err="1">
                <a:latin typeface="Times New Roman" pitchFamily="18" charset="0"/>
                <a:cs typeface="Times New Roman" pitchFamily="18" charset="0"/>
              </a:rPr>
              <a:t>Lossy</a:t>
            </a:r>
            <a:r>
              <a:rPr lang="en-US" sz="2400" dirty="0">
                <a:latin typeface="Times New Roman" pitchFamily="18" charset="0"/>
                <a:cs typeface="Times New Roman" pitchFamily="18" charset="0"/>
              </a:rPr>
              <a:t> Compression </a:t>
            </a:r>
          </a:p>
          <a:p>
            <a:pPr>
              <a:buFont typeface="Wingdings" pitchFamily="2" charset="2"/>
              <a:buChar char="Ø"/>
            </a:pPr>
            <a:r>
              <a:rPr lang="en-US" sz="2400" dirty="0">
                <a:latin typeface="Times New Roman" pitchFamily="18" charset="0"/>
                <a:cs typeface="Times New Roman" pitchFamily="18" charset="0"/>
              </a:rPr>
              <a:t>3.2.2 Locating and Recovering Graphics Files </a:t>
            </a:r>
          </a:p>
          <a:p>
            <a:pPr>
              <a:buFont typeface="Wingdings" pitchFamily="2" charset="2"/>
              <a:buChar char="Ø"/>
            </a:pPr>
            <a:r>
              <a:rPr lang="en-US" sz="2400" dirty="0">
                <a:latin typeface="Times New Roman" pitchFamily="18" charset="0"/>
                <a:cs typeface="Times New Roman" pitchFamily="18" charset="0"/>
              </a:rPr>
              <a:t>3.2.3 Identifying Graphics File Fragments </a:t>
            </a:r>
          </a:p>
          <a:p>
            <a:pPr>
              <a:buFont typeface="Wingdings" pitchFamily="2" charset="2"/>
              <a:buChar char="Ø"/>
            </a:pPr>
            <a:r>
              <a:rPr lang="en-US" sz="2400" dirty="0">
                <a:latin typeface="Times New Roman" pitchFamily="18" charset="0"/>
                <a:cs typeface="Times New Roman" pitchFamily="18" charset="0"/>
              </a:rPr>
              <a:t>3.2.4 Repairing Damaged Headers </a:t>
            </a:r>
          </a:p>
          <a:p>
            <a:pPr>
              <a:buFont typeface="Wingdings" pitchFamily="2" charset="2"/>
              <a:buChar char="Ø"/>
            </a:pPr>
            <a:r>
              <a:rPr lang="en-US" sz="2400" dirty="0">
                <a:latin typeface="Times New Roman" pitchFamily="18" charset="0"/>
                <a:cs typeface="Times New Roman" pitchFamily="18" charset="0"/>
              </a:rPr>
              <a:t>3.2.5 Searching for and Carving Data from Unallocated Space 3.2.6 Rebuilding File Headers</a:t>
            </a:r>
          </a:p>
          <a:p>
            <a:pPr>
              <a:buFont typeface="Wingdings" pitchFamily="2" charset="2"/>
              <a:buChar char="Ø"/>
            </a:pPr>
            <a:r>
              <a:rPr lang="en-US" sz="2400" dirty="0">
                <a:latin typeface="Times New Roman" pitchFamily="18" charset="0"/>
                <a:cs typeface="Times New Roman" pitchFamily="18" charset="0"/>
              </a:rPr>
              <a:t> 3.2.7 Reconstructing File Fragments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p>
        </p:txBody>
      </p:sp>
      <p:sp>
        <p:nvSpPr>
          <p:cNvPr id="3" name="Content Placeholder 2"/>
          <p:cNvSpPr>
            <a:spLocks noGrp="1"/>
          </p:cNvSpPr>
          <p:nvPr>
            <p:ph idx="1"/>
          </p:nvPr>
        </p:nvSpPr>
        <p:spPr/>
        <p:txBody>
          <a:bodyPr>
            <a:normAutofit/>
          </a:bodyPr>
          <a:lstStyle/>
          <a:p>
            <a:r>
              <a:rPr lang="en-US" sz="2400" dirty="0">
                <a:latin typeface="Times New Roman" pitchFamily="18" charset="0"/>
                <a:cs typeface="Times New Roman" pitchFamily="18" charset="0"/>
              </a:rPr>
              <a:t>Data compression is the process of reducing the size of data files to save storage space or to transmit data more efficiently over networks.</a:t>
            </a:r>
          </a:p>
          <a:p>
            <a:r>
              <a:rPr lang="en-US" sz="2400" dirty="0">
                <a:latin typeface="Times New Roman" pitchFamily="18" charset="0"/>
                <a:cs typeface="Times New Roman" pitchFamily="18" charset="0"/>
              </a:rPr>
              <a:t> It’s especially relevant for graphic files as they tend to be large and need compression to minimize storage requirements and bandwidth usage.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Lossless and </a:t>
            </a:r>
            <a:r>
              <a:rPr lang="en-US" sz="2400" b="1" dirty="0" err="1">
                <a:latin typeface="Times New Roman" pitchFamily="18" charset="0"/>
                <a:cs typeface="Times New Roman" pitchFamily="18" charset="0"/>
              </a:rPr>
              <a:t>Lossy</a:t>
            </a:r>
            <a:r>
              <a:rPr lang="en-US" sz="2400" b="1" dirty="0">
                <a:latin typeface="Times New Roman" pitchFamily="18" charset="0"/>
                <a:cs typeface="Times New Roman" pitchFamily="18" charset="0"/>
              </a:rPr>
              <a:t> Compression</a:t>
            </a:r>
          </a:p>
          <a:p>
            <a:r>
              <a:rPr lang="en-US" sz="2400" b="1" dirty="0">
                <a:latin typeface="Times New Roman" pitchFamily="18" charset="0"/>
                <a:cs typeface="Times New Roman" pitchFamily="18" charset="0"/>
              </a:rPr>
              <a:t>Lossless Compression</a:t>
            </a:r>
            <a:r>
              <a:rPr lang="en-US" sz="2400" dirty="0">
                <a:latin typeface="Times New Roman" pitchFamily="18" charset="0"/>
                <a:cs typeface="Times New Roman" pitchFamily="18" charset="0"/>
              </a:rPr>
              <a:t>:</a:t>
            </a:r>
          </a:p>
          <a:p>
            <a:pPr lvl="1">
              <a:buNone/>
            </a:pPr>
            <a:r>
              <a:rPr lang="en-US" sz="2400" dirty="0">
                <a:solidFill>
                  <a:schemeClr val="tx1"/>
                </a:solidFill>
                <a:latin typeface="Times New Roman" pitchFamily="18" charset="0"/>
                <a:cs typeface="Times New Roman" pitchFamily="18" charset="0"/>
              </a:rPr>
              <a:t>In </a:t>
            </a:r>
            <a:r>
              <a:rPr lang="en-US" sz="2400" b="1" dirty="0">
                <a:solidFill>
                  <a:schemeClr val="tx1"/>
                </a:solidFill>
                <a:latin typeface="Times New Roman" pitchFamily="18" charset="0"/>
                <a:cs typeface="Times New Roman" pitchFamily="18" charset="0"/>
              </a:rPr>
              <a:t>lossless compression</a:t>
            </a:r>
            <a:r>
              <a:rPr lang="en-US" sz="2400" dirty="0">
                <a:solidFill>
                  <a:schemeClr val="tx1"/>
                </a:solidFill>
                <a:latin typeface="Times New Roman" pitchFamily="18" charset="0"/>
                <a:cs typeface="Times New Roman" pitchFamily="18" charset="0"/>
              </a:rPr>
              <a:t>, all original data is preserved during the compression process. No information is lost, and the image can be perfectly restored to its original state when decompressed.</a:t>
            </a:r>
          </a:p>
          <a:p>
            <a:pPr lvl="1">
              <a:buNone/>
            </a:pPr>
            <a:r>
              <a:rPr lang="en-US" sz="2400" b="1" dirty="0">
                <a:solidFill>
                  <a:schemeClr val="tx1"/>
                </a:solidFill>
                <a:latin typeface="Times New Roman" pitchFamily="18" charset="0"/>
                <a:cs typeface="Times New Roman" pitchFamily="18" charset="0"/>
              </a:rPr>
              <a:t>Common Lossless Formats</a:t>
            </a:r>
            <a:r>
              <a:rPr lang="en-US" sz="2400" dirty="0">
                <a:solidFill>
                  <a:schemeClr val="tx1"/>
                </a:solidFill>
                <a:latin typeface="Times New Roman" pitchFamily="18" charset="0"/>
                <a:cs typeface="Times New Roman" pitchFamily="18" charset="0"/>
              </a:rPr>
              <a:t>:</a:t>
            </a:r>
          </a:p>
          <a:p>
            <a:pPr lvl="2"/>
            <a:r>
              <a:rPr lang="en-US" b="1" dirty="0">
                <a:solidFill>
                  <a:schemeClr val="tx1"/>
                </a:solidFill>
                <a:latin typeface="Times New Roman" pitchFamily="18" charset="0"/>
                <a:cs typeface="Times New Roman" pitchFamily="18" charset="0"/>
              </a:rPr>
              <a:t>PNG</a:t>
            </a:r>
            <a:r>
              <a:rPr lang="en-US" dirty="0">
                <a:solidFill>
                  <a:schemeClr val="tx1"/>
                </a:solidFill>
                <a:latin typeface="Times New Roman" pitchFamily="18" charset="0"/>
                <a:cs typeface="Times New Roman" pitchFamily="18" charset="0"/>
              </a:rPr>
              <a:t> (Portable Network Graphics)</a:t>
            </a:r>
          </a:p>
          <a:p>
            <a:pPr lvl="2"/>
            <a:r>
              <a:rPr lang="en-US" b="1" dirty="0">
                <a:solidFill>
                  <a:schemeClr val="tx1"/>
                </a:solidFill>
                <a:latin typeface="Times New Roman" pitchFamily="18" charset="0"/>
                <a:cs typeface="Times New Roman" pitchFamily="18" charset="0"/>
              </a:rPr>
              <a:t>TIFF</a:t>
            </a:r>
            <a:r>
              <a:rPr lang="en-US" dirty="0">
                <a:solidFill>
                  <a:schemeClr val="tx1"/>
                </a:solidFill>
                <a:latin typeface="Times New Roman" pitchFamily="18" charset="0"/>
                <a:cs typeface="Times New Roman" pitchFamily="18" charset="0"/>
              </a:rPr>
              <a:t> (Tagged Image File Format)</a:t>
            </a:r>
          </a:p>
          <a:p>
            <a:pPr lvl="2"/>
            <a:r>
              <a:rPr lang="en-US" b="1" dirty="0">
                <a:solidFill>
                  <a:schemeClr val="tx1"/>
                </a:solidFill>
                <a:latin typeface="Times New Roman" pitchFamily="18" charset="0"/>
                <a:cs typeface="Times New Roman" pitchFamily="18" charset="0"/>
              </a:rPr>
              <a:t>GIF</a:t>
            </a:r>
            <a:r>
              <a:rPr lang="en-US" dirty="0">
                <a:solidFill>
                  <a:schemeClr val="tx1"/>
                </a:solidFill>
                <a:latin typeface="Times New Roman" pitchFamily="18" charset="0"/>
                <a:cs typeface="Times New Roman" pitchFamily="18" charset="0"/>
              </a:rPr>
              <a:t> (Graphics Interchange Format)</a:t>
            </a:r>
          </a:p>
          <a:p>
            <a:pPr lvl="2"/>
            <a:r>
              <a:rPr lang="en-US" b="1" dirty="0">
                <a:solidFill>
                  <a:schemeClr val="tx1"/>
                </a:solidFill>
                <a:latin typeface="Times New Roman" pitchFamily="18" charset="0"/>
                <a:cs typeface="Times New Roman" pitchFamily="18" charset="0"/>
              </a:rPr>
              <a:t>RAW</a:t>
            </a:r>
            <a:r>
              <a:rPr lang="en-US" dirty="0">
                <a:solidFill>
                  <a:schemeClr val="tx1"/>
                </a:solidFill>
                <a:latin typeface="Times New Roman" pitchFamily="18" charset="0"/>
                <a:cs typeface="Times New Roman" pitchFamily="18" charset="0"/>
              </a:rPr>
              <a:t> (proprietary camera raw formats)</a:t>
            </a:r>
          </a:p>
          <a:p>
            <a:endParaRPr lang="en-US"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rmAutofit/>
          </a:bodyPr>
          <a:lstStyle/>
          <a:p>
            <a:pPr>
              <a:buNone/>
            </a:pPr>
            <a:r>
              <a:rPr lang="en-US" sz="2400" b="1" dirty="0" err="1">
                <a:latin typeface="Times New Roman" pitchFamily="18" charset="0"/>
                <a:cs typeface="Times New Roman" pitchFamily="18" charset="0"/>
              </a:rPr>
              <a:t>Lossy</a:t>
            </a:r>
            <a:r>
              <a:rPr lang="en-US" sz="2400" b="1" dirty="0">
                <a:latin typeface="Times New Roman" pitchFamily="18" charset="0"/>
                <a:cs typeface="Times New Roman" pitchFamily="18" charset="0"/>
              </a:rPr>
              <a:t> Compression</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In </a:t>
            </a:r>
            <a:r>
              <a:rPr lang="en-US" sz="2400" b="1" dirty="0" err="1">
                <a:latin typeface="Times New Roman" pitchFamily="18" charset="0"/>
                <a:cs typeface="Times New Roman" pitchFamily="18" charset="0"/>
              </a:rPr>
              <a:t>lossy</a:t>
            </a:r>
            <a:r>
              <a:rPr lang="en-US" sz="2400" b="1" dirty="0">
                <a:latin typeface="Times New Roman" pitchFamily="18" charset="0"/>
                <a:cs typeface="Times New Roman" pitchFamily="18" charset="0"/>
              </a:rPr>
              <a:t> compression</a:t>
            </a:r>
            <a:r>
              <a:rPr lang="en-US" sz="2400" dirty="0">
                <a:latin typeface="Times New Roman" pitchFamily="18" charset="0"/>
                <a:cs typeface="Times New Roman" pitchFamily="18" charset="0"/>
              </a:rPr>
              <a:t>, some data is discarded in order to reduce file size. The compression algorithm sacrifices some image quality in exchange for reduced storage needs. Once compressed, the image cannot be perfectly restored.</a:t>
            </a:r>
          </a:p>
          <a:p>
            <a:r>
              <a:rPr lang="en-US" sz="2400" b="1" dirty="0">
                <a:latin typeface="Times New Roman" pitchFamily="18" charset="0"/>
                <a:cs typeface="Times New Roman" pitchFamily="18" charset="0"/>
              </a:rPr>
              <a:t>Common </a:t>
            </a:r>
            <a:r>
              <a:rPr lang="en-US" sz="2400" b="1" dirty="0" err="1">
                <a:latin typeface="Times New Roman" pitchFamily="18" charset="0"/>
                <a:cs typeface="Times New Roman" pitchFamily="18" charset="0"/>
              </a:rPr>
              <a:t>Lossy</a:t>
            </a:r>
            <a:r>
              <a:rPr lang="en-US" sz="2400" b="1" dirty="0">
                <a:latin typeface="Times New Roman" pitchFamily="18" charset="0"/>
                <a:cs typeface="Times New Roman" pitchFamily="18" charset="0"/>
              </a:rPr>
              <a:t> Formats</a:t>
            </a:r>
            <a:r>
              <a:rPr lang="en-US" sz="2400" dirty="0">
                <a:latin typeface="Times New Roman" pitchFamily="18" charset="0"/>
                <a:cs typeface="Times New Roman" pitchFamily="18" charset="0"/>
              </a:rPr>
              <a:t>:</a:t>
            </a:r>
          </a:p>
          <a:p>
            <a:pPr lvl="1">
              <a:buFont typeface="Wingdings" pitchFamily="2" charset="2"/>
              <a:buChar char="Ø"/>
            </a:pPr>
            <a:r>
              <a:rPr lang="en-US" sz="2400" b="1" dirty="0">
                <a:solidFill>
                  <a:schemeClr val="tx1"/>
                </a:solidFill>
                <a:latin typeface="Times New Roman" pitchFamily="18" charset="0"/>
                <a:cs typeface="Times New Roman" pitchFamily="18" charset="0"/>
              </a:rPr>
              <a:t>JPEG</a:t>
            </a:r>
            <a:r>
              <a:rPr lang="en-US" sz="2400" dirty="0">
                <a:solidFill>
                  <a:schemeClr val="tx1"/>
                </a:solidFill>
                <a:latin typeface="Times New Roman" pitchFamily="18" charset="0"/>
                <a:cs typeface="Times New Roman" pitchFamily="18" charset="0"/>
              </a:rPr>
              <a:t> (Joint Photographic Experts Group)</a:t>
            </a:r>
          </a:p>
          <a:p>
            <a:pPr lvl="1">
              <a:buFont typeface="Wingdings" pitchFamily="2" charset="2"/>
              <a:buChar char="Ø"/>
            </a:pPr>
            <a:r>
              <a:rPr lang="en-US" sz="2400" b="1" dirty="0">
                <a:solidFill>
                  <a:schemeClr val="tx1"/>
                </a:solidFill>
                <a:latin typeface="Times New Roman" pitchFamily="18" charset="0"/>
                <a:cs typeface="Times New Roman" pitchFamily="18" charset="0"/>
              </a:rPr>
              <a:t>MP3</a:t>
            </a:r>
            <a:r>
              <a:rPr lang="en-US" sz="2400" dirty="0">
                <a:solidFill>
                  <a:schemeClr val="tx1"/>
                </a:solidFill>
                <a:latin typeface="Times New Roman" pitchFamily="18" charset="0"/>
                <a:cs typeface="Times New Roman" pitchFamily="18" charset="0"/>
              </a:rPr>
              <a:t> (for audio)</a:t>
            </a:r>
          </a:p>
          <a:p>
            <a:pPr lvl="1">
              <a:buFont typeface="Wingdings" pitchFamily="2" charset="2"/>
              <a:buChar char="Ø"/>
            </a:pPr>
            <a:r>
              <a:rPr lang="en-US" sz="2400" b="1" dirty="0">
                <a:solidFill>
                  <a:schemeClr val="tx1"/>
                </a:solidFill>
                <a:latin typeface="Times New Roman" pitchFamily="18" charset="0"/>
                <a:cs typeface="Times New Roman" pitchFamily="18" charset="0"/>
              </a:rPr>
              <a:t>MPEG</a:t>
            </a:r>
            <a:r>
              <a:rPr lang="en-US" sz="2400" dirty="0">
                <a:solidFill>
                  <a:schemeClr val="tx1"/>
                </a:solidFill>
                <a:latin typeface="Times New Roman" pitchFamily="18" charset="0"/>
                <a:cs typeface="Times New Roman" pitchFamily="18" charset="0"/>
              </a:rPr>
              <a:t> (for video)</a:t>
            </a:r>
          </a:p>
          <a:p>
            <a:endParaRPr lang="en-US" sz="24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rmAutofit lnSpcReduction="10000"/>
          </a:bodyPr>
          <a:lstStyle/>
          <a:p>
            <a:pPr>
              <a:buNone/>
            </a:pPr>
            <a:r>
              <a:rPr lang="en-US" sz="2400" b="1" dirty="0">
                <a:latin typeface="Times New Roman" pitchFamily="18" charset="0"/>
                <a:cs typeface="Times New Roman" pitchFamily="18" charset="0"/>
              </a:rPr>
              <a:t>Locating and Recovering Graphics Files</a:t>
            </a:r>
          </a:p>
          <a:p>
            <a:r>
              <a:rPr lang="en-US" sz="2400" b="1" dirty="0">
                <a:latin typeface="Times New Roman" pitchFamily="18" charset="0"/>
                <a:cs typeface="Times New Roman" pitchFamily="18" charset="0"/>
              </a:rPr>
              <a:t>Locating Graphics Files</a:t>
            </a:r>
            <a:r>
              <a:rPr lang="en-US" sz="2400" dirty="0">
                <a:latin typeface="Times New Roman" pitchFamily="18" charset="0"/>
                <a:cs typeface="Times New Roman" pitchFamily="18" charset="0"/>
              </a:rPr>
              <a:t>:</a:t>
            </a:r>
          </a:p>
          <a:p>
            <a:pPr lvl="1">
              <a:buFont typeface="Wingdings" pitchFamily="2" charset="2"/>
              <a:buChar char="Ø"/>
            </a:pPr>
            <a:r>
              <a:rPr lang="en-US" sz="2400" b="1" dirty="0">
                <a:solidFill>
                  <a:schemeClr val="tx1"/>
                </a:solidFill>
                <a:latin typeface="Times New Roman" pitchFamily="18" charset="0"/>
                <a:cs typeface="Times New Roman" pitchFamily="18" charset="0"/>
              </a:rPr>
              <a:t>File Path</a:t>
            </a:r>
            <a:r>
              <a:rPr lang="en-US" sz="2400" dirty="0">
                <a:solidFill>
                  <a:schemeClr val="tx1"/>
                </a:solidFill>
                <a:latin typeface="Times New Roman" pitchFamily="18" charset="0"/>
                <a:cs typeface="Times New Roman" pitchFamily="18" charset="0"/>
              </a:rPr>
              <a:t>: Graphics files are typically stored on hard drives or cloud storage systems. They can be located through the operating system’s file explorer or using file search utilities.</a:t>
            </a:r>
          </a:p>
          <a:p>
            <a:pPr lvl="1">
              <a:buNone/>
            </a:pPr>
            <a:endParaRPr lang="en-US" sz="2400" dirty="0">
              <a:solidFill>
                <a:schemeClr val="tx1"/>
              </a:solidFill>
              <a:latin typeface="Times New Roman" pitchFamily="18" charset="0"/>
              <a:cs typeface="Times New Roman" pitchFamily="18" charset="0"/>
            </a:endParaRPr>
          </a:p>
          <a:p>
            <a:pPr lvl="1">
              <a:buFont typeface="Wingdings" pitchFamily="2" charset="2"/>
              <a:buChar char="Ø"/>
            </a:pPr>
            <a:r>
              <a:rPr lang="en-US" sz="2400" b="1" dirty="0">
                <a:solidFill>
                  <a:schemeClr val="tx1"/>
                </a:solidFill>
                <a:latin typeface="Times New Roman" pitchFamily="18" charset="0"/>
                <a:cs typeface="Times New Roman" pitchFamily="18" charset="0"/>
              </a:rPr>
              <a:t>Digital Forensics</a:t>
            </a:r>
            <a:r>
              <a:rPr lang="en-US" sz="2400" dirty="0">
                <a:solidFill>
                  <a:schemeClr val="tx1"/>
                </a:solidFill>
                <a:latin typeface="Times New Roman" pitchFamily="18" charset="0"/>
                <a:cs typeface="Times New Roman" pitchFamily="18" charset="0"/>
              </a:rPr>
              <a:t>: In a digital forensics context, locating graphic files might involve searching through disk images or raw storage media. Specialized tools like </a:t>
            </a:r>
            <a:r>
              <a:rPr lang="en-US" sz="2400" b="1" dirty="0" err="1">
                <a:solidFill>
                  <a:schemeClr val="tx1"/>
                </a:solidFill>
                <a:latin typeface="Times New Roman" pitchFamily="18" charset="0"/>
                <a:cs typeface="Times New Roman" pitchFamily="18" charset="0"/>
              </a:rPr>
              <a:t>EnCase</a:t>
            </a:r>
            <a:r>
              <a:rPr lang="en-US" sz="2400" dirty="0">
                <a:solidFill>
                  <a:schemeClr val="tx1"/>
                </a:solidFill>
                <a:latin typeface="Times New Roman" pitchFamily="18" charset="0"/>
                <a:cs typeface="Times New Roman" pitchFamily="18" charset="0"/>
              </a:rPr>
              <a:t>, </a:t>
            </a:r>
            <a:r>
              <a:rPr lang="en-US" sz="2400" b="1" dirty="0">
                <a:solidFill>
                  <a:schemeClr val="tx1"/>
                </a:solidFill>
                <a:latin typeface="Times New Roman" pitchFamily="18" charset="0"/>
                <a:cs typeface="Times New Roman" pitchFamily="18" charset="0"/>
              </a:rPr>
              <a:t>FTK</a:t>
            </a:r>
            <a:r>
              <a:rPr lang="en-US" sz="2400" dirty="0">
                <a:solidFill>
                  <a:schemeClr val="tx1"/>
                </a:solidFill>
                <a:latin typeface="Times New Roman" pitchFamily="18" charset="0"/>
                <a:cs typeface="Times New Roman" pitchFamily="18" charset="0"/>
              </a:rPr>
              <a:t>, or </a:t>
            </a:r>
            <a:r>
              <a:rPr lang="en-US" sz="2400" b="1" dirty="0">
                <a:solidFill>
                  <a:schemeClr val="tx1"/>
                </a:solidFill>
                <a:latin typeface="Times New Roman" pitchFamily="18" charset="0"/>
                <a:cs typeface="Times New Roman" pitchFamily="18" charset="0"/>
              </a:rPr>
              <a:t>X1 Search</a:t>
            </a:r>
            <a:r>
              <a:rPr lang="en-US" sz="2400" dirty="0">
                <a:solidFill>
                  <a:schemeClr val="tx1"/>
                </a:solidFill>
                <a:latin typeface="Times New Roman" pitchFamily="18" charset="0"/>
                <a:cs typeface="Times New Roman" pitchFamily="18" charset="0"/>
              </a:rPr>
              <a:t> help recover files from raw data.</a:t>
            </a:r>
          </a:p>
          <a:p>
            <a:endParaRPr lang="en-US" sz="24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rmAutofit/>
          </a:bodyPr>
          <a:lstStyle/>
          <a:p>
            <a:pPr>
              <a:buNone/>
            </a:pPr>
            <a:r>
              <a:rPr lang="en-US" sz="2400" b="1" dirty="0">
                <a:latin typeface="Times New Roman" pitchFamily="18" charset="0"/>
                <a:cs typeface="Times New Roman" pitchFamily="18" charset="0"/>
              </a:rPr>
              <a:t>Recovering Graphics Files</a:t>
            </a:r>
            <a:r>
              <a:rPr lang="en-US" sz="2400" dirty="0">
                <a:latin typeface="Times New Roman" pitchFamily="18" charset="0"/>
                <a:cs typeface="Times New Roman" pitchFamily="18" charset="0"/>
              </a:rPr>
              <a:t>:</a:t>
            </a:r>
          </a:p>
          <a:p>
            <a:pPr>
              <a:buNone/>
            </a:pP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Undelete Tools</a:t>
            </a:r>
            <a:r>
              <a:rPr lang="en-US" sz="2400" dirty="0">
                <a:latin typeface="Times New Roman" pitchFamily="18" charset="0"/>
                <a:cs typeface="Times New Roman" pitchFamily="18" charset="0"/>
              </a:rPr>
              <a:t>: Utilities like </a:t>
            </a:r>
            <a:r>
              <a:rPr lang="en-US" sz="2400" b="1" dirty="0" err="1">
                <a:latin typeface="Times New Roman" pitchFamily="18" charset="0"/>
                <a:cs typeface="Times New Roman" pitchFamily="18" charset="0"/>
              </a:rPr>
              <a:t>Recuva</a:t>
            </a:r>
            <a:r>
              <a:rPr lang="en-US" sz="2400" dirty="0">
                <a:latin typeface="Times New Roman" pitchFamily="18" charset="0"/>
                <a:cs typeface="Times New Roman" pitchFamily="18" charset="0"/>
              </a:rPr>
              <a:t> or </a:t>
            </a:r>
            <a:r>
              <a:rPr lang="en-US" sz="2400" b="1" dirty="0" err="1">
                <a:latin typeface="Times New Roman" pitchFamily="18" charset="0"/>
                <a:cs typeface="Times New Roman" pitchFamily="18" charset="0"/>
              </a:rPr>
              <a:t>PhotoRec</a:t>
            </a:r>
            <a:r>
              <a:rPr lang="en-US" sz="2400" dirty="0">
                <a:latin typeface="Times New Roman" pitchFamily="18" charset="0"/>
                <a:cs typeface="Times New Roman" pitchFamily="18" charset="0"/>
              </a:rPr>
              <a:t> can recover deleted graphics files by scanning unallocated space on the disk for file fragments.</a:t>
            </a:r>
          </a:p>
          <a:p>
            <a:pPr>
              <a:buNone/>
            </a:pPr>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Data Recovery Software</a:t>
            </a:r>
            <a:r>
              <a:rPr lang="en-US" sz="2400" dirty="0">
                <a:latin typeface="Times New Roman" pitchFamily="18" charset="0"/>
                <a:cs typeface="Times New Roman" pitchFamily="18" charset="0"/>
              </a:rPr>
              <a:t>: These tools analyze the disk sectors and attempt to recover data that has been deleted or damaged.</a:t>
            </a:r>
          </a:p>
          <a:p>
            <a:endParaRPr lang="en-US"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Repairing Damaged Headers</a:t>
            </a:r>
          </a:p>
          <a:p>
            <a:r>
              <a:rPr lang="en-US" sz="2400" b="1" dirty="0">
                <a:latin typeface="Times New Roman" pitchFamily="18" charset="0"/>
                <a:cs typeface="Times New Roman" pitchFamily="18" charset="0"/>
              </a:rPr>
              <a:t>File Header</a:t>
            </a:r>
            <a:r>
              <a:rPr lang="en-US" sz="2400" dirty="0">
                <a:latin typeface="Times New Roman" pitchFamily="18" charset="0"/>
                <a:cs typeface="Times New Roman" pitchFamily="18" charset="0"/>
              </a:rPr>
              <a:t>:</a:t>
            </a:r>
          </a:p>
          <a:p>
            <a:pPr lvl="1"/>
            <a:r>
              <a:rPr lang="en-US" sz="2400" dirty="0">
                <a:solidFill>
                  <a:schemeClr val="tx1"/>
                </a:solidFill>
                <a:latin typeface="Times New Roman" pitchFamily="18" charset="0"/>
                <a:cs typeface="Times New Roman" pitchFamily="18" charset="0"/>
              </a:rPr>
              <a:t>Every graphics file begins with a header, which contains important metadata such as the file format, version, size, and image properties. If the header is damaged or missing, the file may become unreadable.</a:t>
            </a:r>
          </a:p>
          <a:p>
            <a:r>
              <a:rPr lang="en-US" sz="2400" b="1" dirty="0">
                <a:latin typeface="Times New Roman" pitchFamily="18" charset="0"/>
                <a:cs typeface="Times New Roman" pitchFamily="18" charset="0"/>
              </a:rPr>
              <a:t>Repairing Damaged Headers</a:t>
            </a:r>
            <a:r>
              <a:rPr lang="en-US" sz="2400" dirty="0">
                <a:latin typeface="Times New Roman" pitchFamily="18" charset="0"/>
                <a:cs typeface="Times New Roman" pitchFamily="18" charset="0"/>
              </a:rPr>
              <a:t>:</a:t>
            </a:r>
          </a:p>
          <a:p>
            <a:pPr lvl="1"/>
            <a:r>
              <a:rPr lang="en-US" sz="2400" b="1" dirty="0">
                <a:solidFill>
                  <a:schemeClr val="tx1"/>
                </a:solidFill>
                <a:latin typeface="Times New Roman" pitchFamily="18" charset="0"/>
                <a:cs typeface="Times New Roman" pitchFamily="18" charset="0"/>
              </a:rPr>
              <a:t>Hex Editor</a:t>
            </a:r>
            <a:r>
              <a:rPr lang="en-US" sz="2400" dirty="0">
                <a:solidFill>
                  <a:schemeClr val="tx1"/>
                </a:solidFill>
                <a:latin typeface="Times New Roman" pitchFamily="18" charset="0"/>
                <a:cs typeface="Times New Roman" pitchFamily="18" charset="0"/>
              </a:rPr>
              <a:t>: Use a hex editor (e.g., </a:t>
            </a:r>
            <a:r>
              <a:rPr lang="en-US" sz="2400" b="1" dirty="0" err="1">
                <a:solidFill>
                  <a:schemeClr val="tx1"/>
                </a:solidFill>
                <a:latin typeface="Times New Roman" pitchFamily="18" charset="0"/>
                <a:cs typeface="Times New Roman" pitchFamily="18" charset="0"/>
              </a:rPr>
              <a:t>HxD</a:t>
            </a:r>
            <a:r>
              <a:rPr lang="en-US" sz="2400" dirty="0">
                <a:solidFill>
                  <a:schemeClr val="tx1"/>
                </a:solidFill>
                <a:latin typeface="Times New Roman" pitchFamily="18" charset="0"/>
                <a:cs typeface="Times New Roman" pitchFamily="18" charset="0"/>
              </a:rPr>
              <a:t> or </a:t>
            </a:r>
            <a:r>
              <a:rPr lang="en-US" sz="2400" b="1" dirty="0">
                <a:solidFill>
                  <a:schemeClr val="tx1"/>
                </a:solidFill>
                <a:latin typeface="Times New Roman" pitchFamily="18" charset="0"/>
                <a:cs typeface="Times New Roman" pitchFamily="18" charset="0"/>
              </a:rPr>
              <a:t>Hex Fiend</a:t>
            </a:r>
            <a:r>
              <a:rPr lang="en-US" sz="2400" dirty="0">
                <a:solidFill>
                  <a:schemeClr val="tx1"/>
                </a:solidFill>
                <a:latin typeface="Times New Roman" pitchFamily="18" charset="0"/>
                <a:cs typeface="Times New Roman" pitchFamily="18" charset="0"/>
              </a:rPr>
              <a:t>) to inspect and modify the raw data in a file. You can try to repair the file header by restoring known signatures for common file types (e.g., JPEG, PNG).</a:t>
            </a:r>
          </a:p>
          <a:p>
            <a:endParaRPr lang="en-US"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rmAutofit/>
          </a:bodyPr>
          <a:lstStyle/>
          <a:p>
            <a:pPr lvl="1"/>
            <a:r>
              <a:rPr lang="en-US" sz="2400" b="1" dirty="0">
                <a:solidFill>
                  <a:schemeClr val="tx1"/>
                </a:solidFill>
                <a:latin typeface="Times New Roman" pitchFamily="18" charset="0"/>
                <a:cs typeface="Times New Roman" pitchFamily="18" charset="0"/>
              </a:rPr>
              <a:t>Forensic Software</a:t>
            </a:r>
            <a:r>
              <a:rPr lang="en-US" sz="2400" dirty="0">
                <a:solidFill>
                  <a:schemeClr val="tx1"/>
                </a:solidFill>
                <a:latin typeface="Times New Roman" pitchFamily="18" charset="0"/>
                <a:cs typeface="Times New Roman" pitchFamily="18" charset="0"/>
              </a:rPr>
              <a:t>: Digital forensics tools often have built-in utilities to automatically repair damaged file headers by matching them to known file signatures.</a:t>
            </a:r>
          </a:p>
          <a:p>
            <a:r>
              <a:rPr lang="en-US" sz="2400" b="1" dirty="0">
                <a:latin typeface="Times New Roman" pitchFamily="18" charset="0"/>
                <a:cs typeface="Times New Roman" pitchFamily="18" charset="0"/>
              </a:rPr>
              <a:t>Steps</a:t>
            </a:r>
            <a:r>
              <a:rPr lang="en-US" sz="2400" dirty="0">
                <a:latin typeface="Times New Roman" pitchFamily="18" charset="0"/>
                <a:cs typeface="Times New Roman" pitchFamily="18" charset="0"/>
              </a:rPr>
              <a:t>:</a:t>
            </a:r>
          </a:p>
          <a:p>
            <a:pPr lvl="1">
              <a:buFont typeface="Wingdings" pitchFamily="2" charset="2"/>
              <a:buChar char="Ø"/>
            </a:pPr>
            <a:r>
              <a:rPr lang="en-US" sz="2400" dirty="0">
                <a:solidFill>
                  <a:schemeClr val="tx1"/>
                </a:solidFill>
                <a:latin typeface="Times New Roman" pitchFamily="18" charset="0"/>
                <a:cs typeface="Times New Roman" pitchFamily="18" charset="0"/>
              </a:rPr>
              <a:t>Open the damaged file in a hex editor.</a:t>
            </a:r>
          </a:p>
          <a:p>
            <a:pPr lvl="1">
              <a:buFont typeface="Wingdings" pitchFamily="2" charset="2"/>
              <a:buChar char="Ø"/>
            </a:pPr>
            <a:r>
              <a:rPr lang="en-US" sz="2400" dirty="0">
                <a:solidFill>
                  <a:schemeClr val="tx1"/>
                </a:solidFill>
                <a:latin typeface="Times New Roman" pitchFamily="18" charset="0"/>
                <a:cs typeface="Times New Roman" pitchFamily="18" charset="0"/>
              </a:rPr>
              <a:t>Compare the damaged header with the known header of the file format.</a:t>
            </a:r>
          </a:p>
          <a:p>
            <a:pPr lvl="1">
              <a:buFont typeface="Wingdings" pitchFamily="2" charset="2"/>
              <a:buChar char="Ø"/>
            </a:pPr>
            <a:r>
              <a:rPr lang="en-US" sz="2400" dirty="0">
                <a:solidFill>
                  <a:schemeClr val="tx1"/>
                </a:solidFill>
                <a:latin typeface="Times New Roman" pitchFamily="18" charset="0"/>
                <a:cs typeface="Times New Roman" pitchFamily="18" charset="0"/>
              </a:rPr>
              <a:t>Manually replace the damaged part with a correct file signature if possible.</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Searching for and Carving Data from Unallocated Space</a:t>
            </a:r>
          </a:p>
          <a:p>
            <a:r>
              <a:rPr lang="en-US" sz="2400" b="1" dirty="0">
                <a:latin typeface="Times New Roman" pitchFamily="18" charset="0"/>
                <a:cs typeface="Times New Roman" pitchFamily="18" charset="0"/>
              </a:rPr>
              <a:t>Unallocated Space</a:t>
            </a:r>
            <a:r>
              <a:rPr lang="en-US" sz="2400" dirty="0">
                <a:latin typeface="Times New Roman" pitchFamily="18" charset="0"/>
                <a:cs typeface="Times New Roman" pitchFamily="18" charset="0"/>
              </a:rPr>
              <a:t>:</a:t>
            </a:r>
          </a:p>
          <a:p>
            <a:pPr lvl="1"/>
            <a:r>
              <a:rPr lang="en-US" sz="2400" dirty="0">
                <a:solidFill>
                  <a:schemeClr val="tx1"/>
                </a:solidFill>
                <a:latin typeface="Times New Roman" pitchFamily="18" charset="0"/>
                <a:cs typeface="Times New Roman" pitchFamily="18" charset="0"/>
              </a:rPr>
              <a:t>This refers to areas of a disk that are not assigned to any file and might contain remnants of deleted files. Even if files are deleted, their data might still exist in unallocated space until it’s overwritten.</a:t>
            </a:r>
          </a:p>
          <a:p>
            <a:r>
              <a:rPr lang="en-US" sz="2400" b="1" dirty="0">
                <a:latin typeface="Times New Roman" pitchFamily="18" charset="0"/>
                <a:cs typeface="Times New Roman" pitchFamily="18" charset="0"/>
              </a:rPr>
              <a:t>File Carving</a:t>
            </a:r>
            <a:r>
              <a:rPr lang="en-US" sz="2400" dirty="0">
                <a:latin typeface="Times New Roman" pitchFamily="18" charset="0"/>
                <a:cs typeface="Times New Roman" pitchFamily="18" charset="0"/>
              </a:rPr>
              <a:t>:</a:t>
            </a:r>
          </a:p>
          <a:p>
            <a:pPr lvl="1"/>
            <a:r>
              <a:rPr lang="en-US" sz="2400" b="1" dirty="0">
                <a:solidFill>
                  <a:schemeClr val="tx1"/>
                </a:solidFill>
                <a:latin typeface="Times New Roman" pitchFamily="18" charset="0"/>
                <a:cs typeface="Times New Roman" pitchFamily="18" charset="0"/>
              </a:rPr>
              <a:t>File carving</a:t>
            </a:r>
            <a:r>
              <a:rPr lang="en-US" sz="2400" dirty="0">
                <a:solidFill>
                  <a:schemeClr val="tx1"/>
                </a:solidFill>
                <a:latin typeface="Times New Roman" pitchFamily="18" charset="0"/>
                <a:cs typeface="Times New Roman" pitchFamily="18" charset="0"/>
              </a:rPr>
              <a:t> is the process of recovering files from unallocated space based on file signatures or known data structures. Even if the file system is corrupted or the files are deleted, carving can locate parts of the files.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lstStyle/>
          <a:p>
            <a:pPr lvl="1">
              <a:buNone/>
            </a:pPr>
            <a:r>
              <a:rPr lang="en-US" sz="2400" b="1" dirty="0">
                <a:solidFill>
                  <a:schemeClr val="tx1"/>
                </a:solidFill>
                <a:latin typeface="Times New Roman" pitchFamily="18" charset="0"/>
                <a:cs typeface="Times New Roman" pitchFamily="18" charset="0"/>
              </a:rPr>
              <a:t>Tools</a:t>
            </a:r>
            <a:r>
              <a:rPr lang="en-US" sz="2400" dirty="0">
                <a:solidFill>
                  <a:schemeClr val="tx1"/>
                </a:solidFill>
                <a:latin typeface="Times New Roman" pitchFamily="18" charset="0"/>
                <a:cs typeface="Times New Roman" pitchFamily="18" charset="0"/>
              </a:rPr>
              <a:t>:</a:t>
            </a:r>
          </a:p>
          <a:p>
            <a:pPr lvl="2"/>
            <a:r>
              <a:rPr lang="en-US" b="1" dirty="0" err="1">
                <a:solidFill>
                  <a:schemeClr val="tx1"/>
                </a:solidFill>
                <a:latin typeface="Times New Roman" pitchFamily="18" charset="0"/>
                <a:cs typeface="Times New Roman" pitchFamily="18" charset="0"/>
              </a:rPr>
              <a:t>PhotoRec</a:t>
            </a:r>
            <a:r>
              <a:rPr lang="en-US" dirty="0">
                <a:solidFill>
                  <a:schemeClr val="tx1"/>
                </a:solidFill>
                <a:latin typeface="Times New Roman" pitchFamily="18" charset="0"/>
                <a:cs typeface="Times New Roman" pitchFamily="18" charset="0"/>
              </a:rPr>
              <a:t> and </a:t>
            </a:r>
            <a:r>
              <a:rPr lang="en-US" b="1" dirty="0">
                <a:solidFill>
                  <a:schemeClr val="tx1"/>
                </a:solidFill>
                <a:latin typeface="Times New Roman" pitchFamily="18" charset="0"/>
                <a:cs typeface="Times New Roman" pitchFamily="18" charset="0"/>
              </a:rPr>
              <a:t>Scalpel</a:t>
            </a:r>
            <a:r>
              <a:rPr lang="en-US" dirty="0">
                <a:solidFill>
                  <a:schemeClr val="tx1"/>
                </a:solidFill>
                <a:latin typeface="Times New Roman" pitchFamily="18" charset="0"/>
                <a:cs typeface="Times New Roman" pitchFamily="18" charset="0"/>
              </a:rPr>
              <a:t> are examples of tools designed for file carving. These tools search for file signatures in unallocated space and attempt to reconstruct files.</a:t>
            </a:r>
          </a:p>
          <a:p>
            <a:pPr lvl="2">
              <a:buNone/>
            </a:pPr>
            <a:r>
              <a:rPr lang="en-US" sz="2400" b="1" dirty="0">
                <a:solidFill>
                  <a:schemeClr val="tx1"/>
                </a:solidFill>
                <a:latin typeface="Times New Roman" pitchFamily="18" charset="0"/>
                <a:cs typeface="Times New Roman" pitchFamily="18" charset="0"/>
              </a:rPr>
              <a:t>Searching for Fragments</a:t>
            </a:r>
            <a:r>
              <a:rPr lang="en-US" sz="2400" dirty="0">
                <a:solidFill>
                  <a:schemeClr val="tx1"/>
                </a:solidFill>
                <a:latin typeface="Times New Roman" pitchFamily="18" charset="0"/>
                <a:cs typeface="Times New Roman" pitchFamily="18" charset="0"/>
              </a:rPr>
              <a:t>: Tools like </a:t>
            </a:r>
            <a:r>
              <a:rPr lang="en-US" sz="2400" b="1" dirty="0">
                <a:solidFill>
                  <a:schemeClr val="tx1"/>
                </a:solidFill>
                <a:latin typeface="Times New Roman" pitchFamily="18" charset="0"/>
                <a:cs typeface="Times New Roman" pitchFamily="18" charset="0"/>
              </a:rPr>
              <a:t>Autopsy</a:t>
            </a:r>
            <a:r>
              <a:rPr lang="en-US" sz="2400" dirty="0">
                <a:solidFill>
                  <a:schemeClr val="tx1"/>
                </a:solidFill>
                <a:latin typeface="Times New Roman" pitchFamily="18" charset="0"/>
                <a:cs typeface="Times New Roman" pitchFamily="18" charset="0"/>
              </a:rPr>
              <a:t> or </a:t>
            </a:r>
            <a:r>
              <a:rPr lang="en-US" sz="2400" b="1" dirty="0">
                <a:solidFill>
                  <a:schemeClr val="tx1"/>
                </a:solidFill>
                <a:latin typeface="Times New Roman" pitchFamily="18" charset="0"/>
                <a:cs typeface="Times New Roman" pitchFamily="18" charset="0"/>
              </a:rPr>
              <a:t>FTK Imager</a:t>
            </a:r>
            <a:r>
              <a:rPr lang="en-US" sz="2400" dirty="0">
                <a:solidFill>
                  <a:schemeClr val="tx1"/>
                </a:solidFill>
                <a:latin typeface="Times New Roman" pitchFamily="18" charset="0"/>
                <a:cs typeface="Times New Roman" pitchFamily="18" charset="0"/>
              </a:rPr>
              <a:t> can help identify deleted or fragmented files that may still exist in unallocated space.</a:t>
            </a:r>
          </a:p>
          <a:p>
            <a:endParaRPr lang="en-US" sz="2400" dirty="0">
              <a:latin typeface="Times New Roman" pitchFamily="18" charset="0"/>
              <a:cs typeface="Times New Roman" pitchFamily="18" charset="0"/>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Autofit/>
          </a:bodyPr>
          <a:lstStyle/>
          <a:p>
            <a:r>
              <a:rPr lang="en-US" sz="2400" b="1" dirty="0">
                <a:latin typeface="Times New Roman" pitchFamily="18" charset="0"/>
                <a:cs typeface="Times New Roman" pitchFamily="18" charset="0"/>
              </a:rPr>
              <a:t>Rebuilding File Headers</a:t>
            </a:r>
            <a:r>
              <a:rPr lang="en-US" sz="2400" dirty="0">
                <a:latin typeface="Times New Roman" pitchFamily="18" charset="0"/>
                <a:cs typeface="Times New Roman" pitchFamily="18" charset="0"/>
              </a:rPr>
              <a:t>:</a:t>
            </a:r>
          </a:p>
          <a:p>
            <a:pPr lvl="1"/>
            <a:r>
              <a:rPr lang="en-US" sz="2400" dirty="0">
                <a:solidFill>
                  <a:schemeClr val="tx1"/>
                </a:solidFill>
                <a:latin typeface="Times New Roman" pitchFamily="18" charset="0"/>
                <a:cs typeface="Times New Roman" pitchFamily="18" charset="0"/>
              </a:rPr>
              <a:t>Rebuilding a file header involves reconstructing or replacing a damaged or missing file header, which is crucial for accessing the data of the file.</a:t>
            </a:r>
          </a:p>
          <a:p>
            <a:pPr lvl="1"/>
            <a:r>
              <a:rPr lang="en-US" sz="2400" b="1" dirty="0">
                <a:solidFill>
                  <a:schemeClr val="tx1"/>
                </a:solidFill>
                <a:latin typeface="Times New Roman" pitchFamily="18" charset="0"/>
                <a:cs typeface="Times New Roman" pitchFamily="18" charset="0"/>
              </a:rPr>
              <a:t>Steps</a:t>
            </a:r>
            <a:r>
              <a:rPr lang="en-US" sz="2400" dirty="0">
                <a:solidFill>
                  <a:schemeClr val="tx1"/>
                </a:solidFill>
                <a:latin typeface="Times New Roman" pitchFamily="18" charset="0"/>
                <a:cs typeface="Times New Roman" pitchFamily="18" charset="0"/>
              </a:rPr>
              <a:t>:</a:t>
            </a:r>
          </a:p>
          <a:p>
            <a:pPr lvl="2"/>
            <a:r>
              <a:rPr lang="en-US" b="1" dirty="0">
                <a:solidFill>
                  <a:schemeClr val="tx1"/>
                </a:solidFill>
                <a:latin typeface="Times New Roman" pitchFamily="18" charset="0"/>
                <a:cs typeface="Times New Roman" pitchFamily="18" charset="0"/>
              </a:rPr>
              <a:t>Identify the File Type</a:t>
            </a:r>
            <a:r>
              <a:rPr lang="en-US" dirty="0">
                <a:solidFill>
                  <a:schemeClr val="tx1"/>
                </a:solidFill>
                <a:latin typeface="Times New Roman" pitchFamily="18" charset="0"/>
                <a:cs typeface="Times New Roman" pitchFamily="18" charset="0"/>
              </a:rPr>
              <a:t>: Determine the graphics file format (JPEG, PNG, TIFF, etc.) based on its content or extension.</a:t>
            </a:r>
          </a:p>
          <a:p>
            <a:pPr lvl="2"/>
            <a:r>
              <a:rPr lang="en-US" b="1" dirty="0">
                <a:solidFill>
                  <a:schemeClr val="tx1"/>
                </a:solidFill>
                <a:latin typeface="Times New Roman" pitchFamily="18" charset="0"/>
                <a:cs typeface="Times New Roman" pitchFamily="18" charset="0"/>
              </a:rPr>
              <a:t>Extract a Known Header</a:t>
            </a:r>
            <a:r>
              <a:rPr lang="en-US" dirty="0">
                <a:solidFill>
                  <a:schemeClr val="tx1"/>
                </a:solidFill>
                <a:latin typeface="Times New Roman" pitchFamily="18" charset="0"/>
                <a:cs typeface="Times New Roman" pitchFamily="18" charset="0"/>
              </a:rPr>
              <a:t>: If you have a similar file of the same type, extract its correct header.</a:t>
            </a:r>
          </a:p>
          <a:p>
            <a:endParaRPr lang="en-US"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lstStyle/>
          <a:p>
            <a:pPr lvl="2">
              <a:buNone/>
            </a:pPr>
            <a:r>
              <a:rPr lang="en-US" b="1" dirty="0">
                <a:solidFill>
                  <a:schemeClr val="tx1"/>
                </a:solidFill>
                <a:latin typeface="Times New Roman" pitchFamily="18" charset="0"/>
                <a:cs typeface="Times New Roman" pitchFamily="18" charset="0"/>
              </a:rPr>
              <a:t>Replace the Header</a:t>
            </a:r>
            <a:r>
              <a:rPr lang="en-US" dirty="0">
                <a:solidFill>
                  <a:schemeClr val="tx1"/>
                </a:solidFill>
                <a:latin typeface="Times New Roman" pitchFamily="18" charset="0"/>
                <a:cs typeface="Times New Roman" pitchFamily="18" charset="0"/>
              </a:rPr>
              <a:t>: Using a hex editor, replace the corrupted header with the correct one.</a:t>
            </a:r>
          </a:p>
          <a:p>
            <a:pPr lvl="2">
              <a:buNone/>
            </a:pPr>
            <a:r>
              <a:rPr lang="en-US" b="1" dirty="0">
                <a:solidFill>
                  <a:schemeClr val="tx1"/>
                </a:solidFill>
                <a:latin typeface="Times New Roman" pitchFamily="18" charset="0"/>
                <a:cs typeface="Times New Roman" pitchFamily="18" charset="0"/>
              </a:rPr>
              <a:t>Restore File Integrity</a:t>
            </a:r>
            <a:r>
              <a:rPr lang="en-US" dirty="0">
                <a:solidFill>
                  <a:schemeClr val="tx1"/>
                </a:solidFill>
                <a:latin typeface="Times New Roman" pitchFamily="18" charset="0"/>
                <a:cs typeface="Times New Roman" pitchFamily="18" charset="0"/>
              </a:rPr>
              <a:t>: Once the header is replaced, attempt to open the file. If successful, the file is restored.</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Autofit/>
          </a:bodyPr>
          <a:lstStyle/>
          <a:p>
            <a:r>
              <a:rPr lang="en-US" sz="2400" b="1" dirty="0">
                <a:latin typeface="Times New Roman" pitchFamily="18" charset="0"/>
                <a:cs typeface="Times New Roman" pitchFamily="18" charset="0"/>
              </a:rPr>
              <a:t>Reconstructing File Fragments</a:t>
            </a:r>
            <a:endParaRPr lang="en-US" sz="2400" dirty="0">
              <a:latin typeface="Times New Roman" pitchFamily="18" charset="0"/>
              <a:cs typeface="Times New Roman" pitchFamily="18" charset="0"/>
            </a:endParaRPr>
          </a:p>
          <a:p>
            <a:pPr lvl="1"/>
            <a:r>
              <a:rPr lang="en-US" sz="2400" b="1" dirty="0">
                <a:solidFill>
                  <a:schemeClr val="tx1"/>
                </a:solidFill>
                <a:latin typeface="Times New Roman" pitchFamily="18" charset="0"/>
                <a:cs typeface="Times New Roman" pitchFamily="18" charset="0"/>
              </a:rPr>
              <a:t>File Fragments</a:t>
            </a:r>
            <a:r>
              <a:rPr lang="en-US" sz="2400" dirty="0">
                <a:solidFill>
                  <a:schemeClr val="tx1"/>
                </a:solidFill>
                <a:latin typeface="Times New Roman" pitchFamily="18" charset="0"/>
                <a:cs typeface="Times New Roman" pitchFamily="18" charset="0"/>
              </a:rPr>
              <a:t> are pieces of a file that may be scattered across disk sectors due to fragmentation. Reconstructing these fragments involves piecing together the fragments in the correct order.</a:t>
            </a:r>
          </a:p>
          <a:p>
            <a:r>
              <a:rPr lang="en-US" sz="2400" b="1" dirty="0">
                <a:latin typeface="Times New Roman" pitchFamily="18" charset="0"/>
                <a:cs typeface="Times New Roman" pitchFamily="18" charset="0"/>
              </a:rPr>
              <a:t>Steps for Reconstructing Fragments</a:t>
            </a:r>
            <a:r>
              <a:rPr lang="en-US" sz="2400" dirty="0">
                <a:latin typeface="Times New Roman" pitchFamily="18" charset="0"/>
                <a:cs typeface="Times New Roman" pitchFamily="18" charset="0"/>
              </a:rPr>
              <a:t>:</a:t>
            </a:r>
          </a:p>
          <a:p>
            <a:pPr lvl="1"/>
            <a:r>
              <a:rPr lang="en-US" sz="2400" b="1" dirty="0">
                <a:solidFill>
                  <a:schemeClr val="tx1"/>
                </a:solidFill>
                <a:latin typeface="Times New Roman" pitchFamily="18" charset="0"/>
                <a:cs typeface="Times New Roman" pitchFamily="18" charset="0"/>
              </a:rPr>
              <a:t>Locate File Fragments</a:t>
            </a:r>
            <a:r>
              <a:rPr lang="en-US" sz="2400" dirty="0">
                <a:solidFill>
                  <a:schemeClr val="tx1"/>
                </a:solidFill>
                <a:latin typeface="Times New Roman" pitchFamily="18" charset="0"/>
                <a:cs typeface="Times New Roman" pitchFamily="18" charset="0"/>
              </a:rPr>
              <a:t>: Use file carving techniques to identify and locate fragments scattered across unallocated space or damaged sections of the file system.</a:t>
            </a:r>
          </a:p>
          <a:p>
            <a:endParaRPr lang="en-US" sz="24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rPr>
              <a:t>Understanding Data Compression</a:t>
            </a:r>
            <a:endParaRPr lang="en-US" dirty="0"/>
          </a:p>
        </p:txBody>
      </p:sp>
      <p:sp>
        <p:nvSpPr>
          <p:cNvPr id="3" name="Content Placeholder 2"/>
          <p:cNvSpPr>
            <a:spLocks noGrp="1"/>
          </p:cNvSpPr>
          <p:nvPr>
            <p:ph idx="1"/>
          </p:nvPr>
        </p:nvSpPr>
        <p:spPr/>
        <p:txBody>
          <a:bodyPr>
            <a:normAutofit/>
          </a:bodyPr>
          <a:lstStyle/>
          <a:p>
            <a:pPr lvl="1">
              <a:buFont typeface="Wingdings" pitchFamily="2" charset="2"/>
              <a:buChar char="Ø"/>
            </a:pPr>
            <a:r>
              <a:rPr lang="en-US" sz="2400" b="1" dirty="0">
                <a:solidFill>
                  <a:schemeClr val="tx1"/>
                </a:solidFill>
                <a:latin typeface="Times New Roman" pitchFamily="18" charset="0"/>
                <a:cs typeface="Times New Roman" pitchFamily="18" charset="0"/>
              </a:rPr>
              <a:t>Analyze Fragment Structure</a:t>
            </a:r>
            <a:r>
              <a:rPr lang="en-US" sz="2400" dirty="0">
                <a:solidFill>
                  <a:schemeClr val="tx1"/>
                </a:solidFill>
                <a:latin typeface="Times New Roman" pitchFamily="18" charset="0"/>
                <a:cs typeface="Times New Roman" pitchFamily="18" charset="0"/>
              </a:rPr>
              <a:t>: Some file formats have easily identifiable structures (e.g., JPEG starts with FF D8 and ends with FF D9), which can help in identifying the beginning and end of file fragments.</a:t>
            </a:r>
          </a:p>
          <a:p>
            <a:pPr lvl="1">
              <a:buFont typeface="Wingdings" pitchFamily="2" charset="2"/>
              <a:buChar char="Ø"/>
            </a:pPr>
            <a:r>
              <a:rPr lang="en-US" sz="2400" b="1" dirty="0">
                <a:solidFill>
                  <a:schemeClr val="tx1"/>
                </a:solidFill>
                <a:latin typeface="Times New Roman" pitchFamily="18" charset="0"/>
                <a:cs typeface="Times New Roman" pitchFamily="18" charset="0"/>
              </a:rPr>
              <a:t>Reassemble Fragments</a:t>
            </a:r>
            <a:r>
              <a:rPr lang="en-US" sz="2400" dirty="0">
                <a:solidFill>
                  <a:schemeClr val="tx1"/>
                </a:solidFill>
                <a:latin typeface="Times New Roman" pitchFamily="18" charset="0"/>
                <a:cs typeface="Times New Roman" pitchFamily="18" charset="0"/>
              </a:rPr>
              <a:t>: Use forensic software like </a:t>
            </a:r>
            <a:r>
              <a:rPr lang="en-US" sz="2400" b="1" dirty="0">
                <a:solidFill>
                  <a:schemeClr val="tx1"/>
                </a:solidFill>
                <a:latin typeface="Times New Roman" pitchFamily="18" charset="0"/>
                <a:cs typeface="Times New Roman" pitchFamily="18" charset="0"/>
              </a:rPr>
              <a:t>R-Studio</a:t>
            </a:r>
            <a:r>
              <a:rPr lang="en-US" sz="2400" dirty="0">
                <a:solidFill>
                  <a:schemeClr val="tx1"/>
                </a:solidFill>
                <a:latin typeface="Times New Roman" pitchFamily="18" charset="0"/>
                <a:cs typeface="Times New Roman" pitchFamily="18" charset="0"/>
              </a:rPr>
              <a:t> or </a:t>
            </a:r>
            <a:r>
              <a:rPr lang="en-US" sz="2400" b="1" dirty="0" err="1">
                <a:solidFill>
                  <a:schemeClr val="tx1"/>
                </a:solidFill>
                <a:latin typeface="Times New Roman" pitchFamily="18" charset="0"/>
                <a:cs typeface="Times New Roman" pitchFamily="18" charset="0"/>
              </a:rPr>
              <a:t>Photorec</a:t>
            </a:r>
            <a:r>
              <a:rPr lang="en-US" sz="2400" dirty="0">
                <a:solidFill>
                  <a:schemeClr val="tx1"/>
                </a:solidFill>
                <a:latin typeface="Times New Roman" pitchFamily="18" charset="0"/>
                <a:cs typeface="Times New Roman" pitchFamily="18" charset="0"/>
              </a:rPr>
              <a:t> to attempt to reconstruct the file. Some software can automatically assemble fragmented pieces, while others may require manual intervention.</a:t>
            </a:r>
          </a:p>
          <a:p>
            <a:pPr lvl="1">
              <a:buFont typeface="Wingdings" pitchFamily="2" charset="2"/>
              <a:buChar char="Ø"/>
            </a:pPr>
            <a:r>
              <a:rPr lang="en-US" sz="2400" b="1" dirty="0">
                <a:solidFill>
                  <a:schemeClr val="tx1"/>
                </a:solidFill>
                <a:latin typeface="Times New Roman" pitchFamily="18" charset="0"/>
                <a:cs typeface="Times New Roman" pitchFamily="18" charset="0"/>
              </a:rPr>
              <a:t>Verify Integrity</a:t>
            </a:r>
            <a:r>
              <a:rPr lang="en-US" sz="2400" dirty="0">
                <a:solidFill>
                  <a:schemeClr val="tx1"/>
                </a:solidFill>
                <a:latin typeface="Times New Roman" pitchFamily="18" charset="0"/>
                <a:cs typeface="Times New Roman" pitchFamily="18" charset="0"/>
              </a:rPr>
              <a:t>: After reconstruction, check the integrity of the file by attempting to open it in an appropriate application (e.g., an image viewer or editor).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lgerian" pitchFamily="82" charset="0"/>
                <a:cs typeface="Times New Roman" pitchFamily="18" charset="0"/>
              </a:rPr>
              <a:t>Identifying Unknown File Formats</a:t>
            </a:r>
            <a:endParaRPr lang="en-US" dirty="0">
              <a:latin typeface="Algerian" pitchFamily="82" charset="0"/>
            </a:endParaRPr>
          </a:p>
        </p:txBody>
      </p:sp>
      <p:sp>
        <p:nvSpPr>
          <p:cNvPr id="3" name="Content Placeholder 2"/>
          <p:cNvSpPr>
            <a:spLocks noGrp="1"/>
          </p:cNvSpPr>
          <p:nvPr>
            <p:ph idx="1"/>
          </p:nvPr>
        </p:nvSpPr>
        <p:spPr/>
        <p:txBody>
          <a:bodyPr/>
          <a:lstStyle/>
          <a:p>
            <a:pPr>
              <a:buNone/>
            </a:pPr>
            <a:r>
              <a:rPr lang="en-US" dirty="0">
                <a:latin typeface="Times New Roman" pitchFamily="18" charset="0"/>
                <a:cs typeface="Times New Roman" pitchFamily="18" charset="0"/>
              </a:rPr>
              <a:t>3.13 Identifying Unknown File Formats </a:t>
            </a:r>
          </a:p>
          <a:p>
            <a:pPr>
              <a:buNone/>
            </a:pPr>
            <a:r>
              <a:rPr lang="en-US" dirty="0">
                <a:latin typeface="Times New Roman" pitchFamily="18" charset="0"/>
                <a:cs typeface="Times New Roman" pitchFamily="18" charset="0"/>
              </a:rPr>
              <a:t>3.3.1 Analyzing Graphics File Headers</a:t>
            </a:r>
          </a:p>
          <a:p>
            <a:pPr>
              <a:buNone/>
            </a:pPr>
            <a:r>
              <a:rPr lang="en-US" dirty="0">
                <a:latin typeface="Times New Roman" pitchFamily="18" charset="0"/>
                <a:cs typeface="Times New Roman" pitchFamily="18" charset="0"/>
              </a:rPr>
              <a:t>3.3.2 Tools for Viewing Images</a:t>
            </a:r>
          </a:p>
          <a:p>
            <a:pPr>
              <a:buNone/>
            </a:pPr>
            <a:r>
              <a:rPr lang="en-US" dirty="0">
                <a:latin typeface="Times New Roman" pitchFamily="18" charset="0"/>
                <a:cs typeface="Times New Roman" pitchFamily="18" charset="0"/>
              </a:rPr>
              <a:t>3.14 Understanding </a:t>
            </a:r>
            <a:r>
              <a:rPr lang="en-US" dirty="0" err="1">
                <a:latin typeface="Times New Roman" pitchFamily="18" charset="0"/>
                <a:cs typeface="Times New Roman" pitchFamily="18" charset="0"/>
              </a:rPr>
              <a:t>Steganography</a:t>
            </a:r>
            <a:r>
              <a:rPr lang="en-US" dirty="0">
                <a:latin typeface="Times New Roman" pitchFamily="18" charset="0"/>
                <a:cs typeface="Times New Roman" pitchFamily="18" charset="0"/>
              </a:rPr>
              <a:t> in Graphics Files</a:t>
            </a:r>
          </a:p>
          <a:p>
            <a:pPr>
              <a:buNone/>
            </a:pPr>
            <a:r>
              <a:rPr lang="en-US" dirty="0">
                <a:latin typeface="Times New Roman" pitchFamily="18" charset="0"/>
                <a:cs typeface="Times New Roman" pitchFamily="18" charset="0"/>
              </a:rPr>
              <a:t>3.4.1 Using </a:t>
            </a:r>
            <a:r>
              <a:rPr lang="en-US" dirty="0" err="1">
                <a:latin typeface="Times New Roman" pitchFamily="18" charset="0"/>
                <a:cs typeface="Times New Roman" pitchFamily="18" charset="0"/>
              </a:rPr>
              <a:t>Steganalysis</a:t>
            </a:r>
            <a:r>
              <a:rPr lang="en-US" dirty="0">
                <a:latin typeface="Times New Roman" pitchFamily="18" charset="0"/>
                <a:cs typeface="Times New Roman" pitchFamily="18" charset="0"/>
              </a:rPr>
              <a:t> Tools </a:t>
            </a:r>
          </a:p>
          <a:p>
            <a:pPr>
              <a:buNone/>
            </a:pPr>
            <a:r>
              <a:rPr lang="en-US" dirty="0">
                <a:latin typeface="Times New Roman" pitchFamily="18" charset="0"/>
                <a:cs typeface="Times New Roman" pitchFamily="18" charset="0"/>
              </a:rPr>
              <a:t>3.15 Understanding Copyright Issues with Graphics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cs typeface="Times New Roman" pitchFamily="18" charset="0"/>
              </a:rPr>
              <a:t>Analyzing Graphics File Headers</a:t>
            </a:r>
            <a:br>
              <a:rPr lang="en-US" dirty="0">
                <a:latin typeface="Algerian" pitchFamily="82" charset="0"/>
                <a:cs typeface="Times New Roman" pitchFamily="18" charset="0"/>
              </a:rPr>
            </a:br>
            <a:endParaRPr lang="en-US" dirty="0">
              <a:latin typeface="Algerian" pitchFamily="82" charset="0"/>
            </a:endParaRPr>
          </a:p>
        </p:txBody>
      </p:sp>
      <p:sp>
        <p:nvSpPr>
          <p:cNvPr id="3" name="Content Placeholder 2"/>
          <p:cNvSpPr>
            <a:spLocks noGrp="1"/>
          </p:cNvSpPr>
          <p:nvPr>
            <p:ph idx="1"/>
          </p:nvPr>
        </p:nvSpPr>
        <p:spPr/>
        <p:txBody>
          <a:bodyPr>
            <a:noAutofit/>
          </a:bodyPr>
          <a:lstStyle/>
          <a:p>
            <a:r>
              <a:rPr lang="en-US" sz="2400" dirty="0">
                <a:latin typeface="Times New Roman" pitchFamily="18" charset="0"/>
                <a:cs typeface="Times New Roman" pitchFamily="18" charset="0"/>
              </a:rPr>
              <a:t>The header of a graphics file contains important metadata about the image, such as its format, dimensions, color depth, compression type, and more. By analyzing this data, one can identify the type of graphics file (JPEG, PNG, GIF, etc.) and also potentially uncover hidden or non-standard data. Common file header markers include:</a:t>
            </a:r>
          </a:p>
          <a:p>
            <a:pPr>
              <a:buNone/>
            </a:pPr>
            <a:endParaRPr lang="en-US" sz="2400" dirty="0">
              <a:latin typeface="Times New Roman" pitchFamily="18" charset="0"/>
              <a:cs typeface="Times New Roman" pitchFamily="18" charset="0"/>
            </a:endParaRPr>
          </a:p>
          <a:p>
            <a:pPr>
              <a:buFont typeface="Wingdings" pitchFamily="2" charset="2"/>
              <a:buChar char="Ø"/>
            </a:pPr>
            <a:r>
              <a:rPr lang="en-US" sz="2400" b="1" dirty="0">
                <a:latin typeface="Times New Roman" pitchFamily="18" charset="0"/>
                <a:cs typeface="Times New Roman" pitchFamily="18" charset="0"/>
              </a:rPr>
              <a:t>JPEG</a:t>
            </a:r>
            <a:r>
              <a:rPr lang="en-US" sz="2400" dirty="0">
                <a:latin typeface="Times New Roman" pitchFamily="18" charset="0"/>
                <a:cs typeface="Times New Roman" pitchFamily="18" charset="0"/>
              </a:rPr>
              <a:t>: Starts with FF D8 FF E0 (in hexadecimal).</a:t>
            </a:r>
          </a:p>
          <a:p>
            <a:pPr>
              <a:buFont typeface="Wingdings" pitchFamily="2" charset="2"/>
              <a:buChar char="Ø"/>
            </a:pPr>
            <a:r>
              <a:rPr lang="en-US" sz="2400" b="1" dirty="0">
                <a:latin typeface="Times New Roman" pitchFamily="18" charset="0"/>
                <a:cs typeface="Times New Roman" pitchFamily="18" charset="0"/>
              </a:rPr>
              <a:t>PNG</a:t>
            </a:r>
            <a:r>
              <a:rPr lang="en-US" sz="2400" dirty="0">
                <a:latin typeface="Times New Roman" pitchFamily="18" charset="0"/>
                <a:cs typeface="Times New Roman" pitchFamily="18" charset="0"/>
              </a:rPr>
              <a:t>: Begins with 89 50 4E 47 (in hexadecimal).</a:t>
            </a:r>
          </a:p>
          <a:p>
            <a:pPr>
              <a:buFont typeface="Wingdings" pitchFamily="2" charset="2"/>
              <a:buChar char="Ø"/>
            </a:pPr>
            <a:r>
              <a:rPr lang="en-US" sz="2400" b="1" dirty="0">
                <a:latin typeface="Times New Roman" pitchFamily="18" charset="0"/>
                <a:cs typeface="Times New Roman" pitchFamily="18" charset="0"/>
              </a:rPr>
              <a:t>GIF</a:t>
            </a:r>
            <a:r>
              <a:rPr lang="en-US" sz="2400" dirty="0">
                <a:latin typeface="Times New Roman" pitchFamily="18" charset="0"/>
                <a:cs typeface="Times New Roman" pitchFamily="18" charset="0"/>
              </a:rPr>
              <a:t>: Typically begins with 47 49 46 38 (in hexadecimal).</a:t>
            </a: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cs typeface="Times New Roman" pitchFamily="18" charset="0"/>
              </a:rPr>
              <a:t>Analyzing Graphics File Headers</a:t>
            </a:r>
            <a:br>
              <a:rPr lang="en-US" dirty="0">
                <a:latin typeface="Algerian" pitchFamily="82" charset="0"/>
                <a:cs typeface="Times New Roman" pitchFamily="18" charset="0"/>
              </a:rPr>
            </a:br>
            <a:endParaRPr lang="en-US" dirty="0"/>
          </a:p>
        </p:txBody>
      </p:sp>
      <p:sp>
        <p:nvSpPr>
          <p:cNvPr id="3" name="Content Placeholder 2"/>
          <p:cNvSpPr>
            <a:spLocks noGrp="1"/>
          </p:cNvSpPr>
          <p:nvPr>
            <p:ph idx="1"/>
          </p:nvPr>
        </p:nvSpPr>
        <p:spPr/>
        <p:txBody>
          <a:bodyPr>
            <a:noAutofit/>
          </a:bodyPr>
          <a:lstStyle/>
          <a:p>
            <a:pPr>
              <a:buNone/>
            </a:pPr>
            <a:r>
              <a:rPr lang="en-US" sz="2400" b="1" dirty="0">
                <a:latin typeface="Times New Roman" pitchFamily="18" charset="0"/>
                <a:cs typeface="Times New Roman" pitchFamily="18" charset="0"/>
              </a:rPr>
              <a:t>Tools for Viewing Images</a:t>
            </a:r>
          </a:p>
          <a:p>
            <a:pPr>
              <a:buNone/>
            </a:pPr>
            <a:r>
              <a:rPr lang="en-US" sz="2400" dirty="0">
                <a:latin typeface="Times New Roman" pitchFamily="18" charset="0"/>
                <a:cs typeface="Times New Roman" pitchFamily="18" charset="0"/>
              </a:rPr>
              <a:t>	To view and analyze images in various formats, there are many tools available:</a:t>
            </a:r>
          </a:p>
          <a:p>
            <a:r>
              <a:rPr lang="en-US" sz="2400" b="1" dirty="0">
                <a:latin typeface="Times New Roman" pitchFamily="18" charset="0"/>
                <a:cs typeface="Times New Roman" pitchFamily="18" charset="0"/>
              </a:rPr>
              <a:t>Image Viewers</a:t>
            </a:r>
            <a:r>
              <a:rPr lang="en-US" sz="2400" dirty="0">
                <a:latin typeface="Times New Roman" pitchFamily="18" charset="0"/>
                <a:cs typeface="Times New Roman" pitchFamily="18" charset="0"/>
              </a:rPr>
              <a:t>: Programs like Windows Photo Viewer, Preview (on Mac), or third-party options like </a:t>
            </a:r>
            <a:r>
              <a:rPr lang="en-US" sz="2400" dirty="0" err="1">
                <a:latin typeface="Times New Roman" pitchFamily="18" charset="0"/>
                <a:cs typeface="Times New Roman" pitchFamily="18" charset="0"/>
              </a:rPr>
              <a:t>IrfanView</a:t>
            </a:r>
            <a:r>
              <a:rPr lang="en-US" sz="2400" dirty="0">
                <a:latin typeface="Times New Roman" pitchFamily="18" charset="0"/>
                <a:cs typeface="Times New Roman" pitchFamily="18" charset="0"/>
              </a:rPr>
              <a:t> can open a variety of graphics formats.</a:t>
            </a:r>
          </a:p>
          <a:p>
            <a:r>
              <a:rPr lang="en-US" sz="2400" b="1" dirty="0">
                <a:latin typeface="Times New Roman" pitchFamily="18" charset="0"/>
                <a:cs typeface="Times New Roman" pitchFamily="18" charset="0"/>
              </a:rPr>
              <a:t>Editing Software</a:t>
            </a:r>
            <a:r>
              <a:rPr lang="en-US" sz="2400" dirty="0">
                <a:latin typeface="Times New Roman" pitchFamily="18" charset="0"/>
                <a:cs typeface="Times New Roman" pitchFamily="18" charset="0"/>
              </a:rPr>
              <a:t>: More advanced tools such as Adobe Photoshop, GIMP, or Paint.NET allow for image manipulation and detailed inspection of metadata.</a:t>
            </a:r>
          </a:p>
          <a:p>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cs typeface="Times New Roman" pitchFamily="18" charset="0"/>
              </a:rPr>
              <a:t>Analyzing Graphics File Headers</a:t>
            </a:r>
            <a:br>
              <a:rPr lang="en-US" dirty="0">
                <a:latin typeface="Algerian" pitchFamily="82"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r>
              <a:rPr lang="en-US" sz="2400" b="1" dirty="0">
                <a:latin typeface="Times New Roman" pitchFamily="18" charset="0"/>
                <a:cs typeface="Times New Roman" pitchFamily="18" charset="0"/>
              </a:rPr>
              <a:t>Hex Editors</a:t>
            </a:r>
            <a:r>
              <a:rPr lang="en-US" sz="2400" dirty="0">
                <a:latin typeface="Times New Roman" pitchFamily="18" charset="0"/>
                <a:cs typeface="Times New Roman" pitchFamily="18" charset="0"/>
              </a:rPr>
              <a:t>: Tools like </a:t>
            </a:r>
            <a:r>
              <a:rPr lang="en-US" sz="2400" dirty="0" err="1">
                <a:latin typeface="Times New Roman" pitchFamily="18" charset="0"/>
                <a:cs typeface="Times New Roman" pitchFamily="18" charset="0"/>
              </a:rPr>
              <a:t>HxD</a:t>
            </a:r>
            <a:r>
              <a:rPr lang="en-US" sz="2400" dirty="0">
                <a:latin typeface="Times New Roman" pitchFamily="18" charset="0"/>
                <a:cs typeface="Times New Roman" pitchFamily="18" charset="0"/>
              </a:rPr>
              <a:t> or Hex Fiend can open image files in raw format, allowing you to analyze file headers and look for non-visible data or alterations.</a:t>
            </a:r>
          </a:p>
          <a:p>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Understanding </a:t>
            </a:r>
            <a:r>
              <a:rPr lang="en-US" dirty="0" err="1">
                <a:latin typeface="Algerian" pitchFamily="82" charset="0"/>
              </a:rPr>
              <a:t>Steganography</a:t>
            </a:r>
            <a:r>
              <a:rPr lang="en-US" dirty="0">
                <a:latin typeface="Algerian" pitchFamily="82" charset="0"/>
              </a:rPr>
              <a:t> in Graphics Files</a:t>
            </a:r>
          </a:p>
        </p:txBody>
      </p:sp>
      <p:sp>
        <p:nvSpPr>
          <p:cNvPr id="3" name="Content Placeholder 2"/>
          <p:cNvSpPr>
            <a:spLocks noGrp="1"/>
          </p:cNvSpPr>
          <p:nvPr>
            <p:ph idx="1"/>
          </p:nvPr>
        </p:nvSpPr>
        <p:spPr/>
        <p:txBody>
          <a:bodyPr>
            <a:normAutofit lnSpcReduction="10000"/>
          </a:bodyPr>
          <a:lstStyle/>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Steganography</a:t>
            </a:r>
            <a:r>
              <a:rPr lang="en-US" dirty="0">
                <a:latin typeface="Times New Roman" pitchFamily="18" charset="0"/>
                <a:cs typeface="Times New Roman" pitchFamily="18" charset="0"/>
              </a:rPr>
              <a:t> involves hiding data within a graphic file in such a way that it is not visible to the naked eye. </a:t>
            </a:r>
          </a:p>
          <a:p>
            <a:pPr>
              <a:buNone/>
            </a:pPr>
            <a:r>
              <a:rPr lang="en-US" dirty="0">
                <a:latin typeface="Times New Roman" pitchFamily="18" charset="0"/>
                <a:cs typeface="Times New Roman" pitchFamily="18" charset="0"/>
              </a:rPr>
              <a:t>Common techniques include:</a:t>
            </a:r>
          </a:p>
          <a:p>
            <a:pPr>
              <a:buFont typeface="Wingdings" pitchFamily="2" charset="2"/>
              <a:buChar char="Ø"/>
            </a:pPr>
            <a:r>
              <a:rPr lang="en-US" b="1" dirty="0">
                <a:latin typeface="Times New Roman" pitchFamily="18" charset="0"/>
                <a:cs typeface="Times New Roman" pitchFamily="18" charset="0"/>
              </a:rPr>
              <a:t>Least Significant Bit (LSB) method</a:t>
            </a:r>
            <a:r>
              <a:rPr lang="en-US" dirty="0">
                <a:latin typeface="Times New Roman" pitchFamily="18" charset="0"/>
                <a:cs typeface="Times New Roman" pitchFamily="18" charset="0"/>
              </a:rPr>
              <a:t>: This involves altering the least significant bit of pixel color values, which is often undetectable by human perception.</a:t>
            </a:r>
          </a:p>
          <a:p>
            <a:pPr>
              <a:buFont typeface="Wingdings" pitchFamily="2" charset="2"/>
              <a:buChar char="Ø"/>
            </a:pPr>
            <a:r>
              <a:rPr lang="en-US" b="1" dirty="0">
                <a:latin typeface="Times New Roman" pitchFamily="18" charset="0"/>
                <a:cs typeface="Times New Roman" pitchFamily="18" charset="0"/>
              </a:rPr>
              <a:t>Color Channel Manipulation</a:t>
            </a:r>
            <a:r>
              <a:rPr lang="en-US" dirty="0">
                <a:latin typeface="Times New Roman" pitchFamily="18" charset="0"/>
                <a:cs typeface="Times New Roman" pitchFamily="18" charset="0"/>
              </a:rPr>
              <a:t>: Data can also be embedded into specific color channels (Red, Green, or Blue) without visibly changing the image.</a:t>
            </a:r>
          </a:p>
          <a:p>
            <a:pPr>
              <a:buFont typeface="Wingdings" pitchFamily="2" charset="2"/>
              <a:buChar char="Ø"/>
            </a:pPr>
            <a:r>
              <a:rPr lang="en-US" b="1" dirty="0">
                <a:latin typeface="Times New Roman" pitchFamily="18" charset="0"/>
                <a:cs typeface="Times New Roman" pitchFamily="18" charset="0"/>
              </a:rPr>
              <a:t>File Structure Modification</a:t>
            </a:r>
            <a:r>
              <a:rPr lang="en-US" dirty="0">
                <a:latin typeface="Times New Roman" pitchFamily="18" charset="0"/>
                <a:cs typeface="Times New Roman" pitchFamily="18" charset="0"/>
              </a:rPr>
              <a:t>: Sometimes, hidden data can be embedded in unused sections of an image’s file format (e.g., after the actual image data or within metadata).</a:t>
            </a:r>
          </a:p>
          <a:p>
            <a:endParaRPr lang="en-US"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Understanding </a:t>
            </a:r>
            <a:r>
              <a:rPr lang="en-US" dirty="0" err="1">
                <a:latin typeface="Algerian" pitchFamily="82" charset="0"/>
              </a:rPr>
              <a:t>Steganography</a:t>
            </a:r>
            <a:r>
              <a:rPr lang="en-US" dirty="0">
                <a:latin typeface="Algerian" pitchFamily="82" charset="0"/>
              </a:rPr>
              <a:t> in Graphics Files</a:t>
            </a:r>
            <a:endParaRPr lang="en-US" dirty="0"/>
          </a:p>
        </p:txBody>
      </p:sp>
      <p:sp>
        <p:nvSpPr>
          <p:cNvPr id="3" name="Content Placeholder 2"/>
          <p:cNvSpPr>
            <a:spLocks noGrp="1"/>
          </p:cNvSpPr>
          <p:nvPr>
            <p:ph idx="1"/>
          </p:nvPr>
        </p:nvSpPr>
        <p:spPr/>
        <p:txBody>
          <a:bodyPr>
            <a:normAutofit/>
          </a:bodyPr>
          <a:lstStyle/>
          <a:p>
            <a:pPr>
              <a:buNone/>
            </a:pPr>
            <a:r>
              <a:rPr lang="en-US" b="1" dirty="0" err="1">
                <a:latin typeface="Times New Roman" pitchFamily="18" charset="0"/>
                <a:cs typeface="Times New Roman" pitchFamily="18" charset="0"/>
              </a:rPr>
              <a:t>Steganalysis</a:t>
            </a:r>
            <a:r>
              <a:rPr lang="en-US" b="1" dirty="0">
                <a:latin typeface="Times New Roman" pitchFamily="18" charset="0"/>
                <a:cs typeface="Times New Roman" pitchFamily="18" charset="0"/>
              </a:rPr>
              <a:t> Tools</a:t>
            </a:r>
          </a:p>
          <a:p>
            <a:pPr>
              <a:buNone/>
            </a:pPr>
            <a:r>
              <a:rPr lang="en-US" dirty="0" err="1">
                <a:latin typeface="Times New Roman" pitchFamily="18" charset="0"/>
                <a:cs typeface="Times New Roman" pitchFamily="18" charset="0"/>
              </a:rPr>
              <a:t>Steganalysis</a:t>
            </a:r>
            <a:r>
              <a:rPr lang="en-US" dirty="0">
                <a:latin typeface="Times New Roman" pitchFamily="18" charset="0"/>
                <a:cs typeface="Times New Roman" pitchFamily="18" charset="0"/>
              </a:rPr>
              <a:t> is the process of detecting and extracting hidden data from files. Tools for </a:t>
            </a:r>
            <a:r>
              <a:rPr lang="en-US" dirty="0" err="1">
                <a:latin typeface="Times New Roman" pitchFamily="18" charset="0"/>
                <a:cs typeface="Times New Roman" pitchFamily="18" charset="0"/>
              </a:rPr>
              <a:t>steganalysis</a:t>
            </a:r>
            <a:r>
              <a:rPr lang="en-US" dirty="0">
                <a:latin typeface="Times New Roman" pitchFamily="18" charset="0"/>
                <a:cs typeface="Times New Roman" pitchFamily="18" charset="0"/>
              </a:rPr>
              <a:t> include:</a:t>
            </a:r>
          </a:p>
          <a:p>
            <a:pPr>
              <a:buFont typeface="Wingdings" pitchFamily="2" charset="2"/>
              <a:buChar char="Ø"/>
            </a:pPr>
            <a:r>
              <a:rPr lang="en-US" b="1" dirty="0" err="1">
                <a:latin typeface="Times New Roman" pitchFamily="18" charset="0"/>
                <a:cs typeface="Times New Roman" pitchFamily="18" charset="0"/>
              </a:rPr>
              <a:t>StegExpose</a:t>
            </a:r>
            <a:r>
              <a:rPr lang="en-US" dirty="0">
                <a:latin typeface="Times New Roman" pitchFamily="18" charset="0"/>
                <a:cs typeface="Times New Roman" pitchFamily="18" charset="0"/>
              </a:rPr>
              <a:t>: A popular tool used to detect </a:t>
            </a:r>
            <a:r>
              <a:rPr lang="en-US" dirty="0" err="1">
                <a:latin typeface="Times New Roman" pitchFamily="18" charset="0"/>
                <a:cs typeface="Times New Roman" pitchFamily="18" charset="0"/>
              </a:rPr>
              <a:t>steganography</a:t>
            </a:r>
            <a:r>
              <a:rPr lang="en-US" dirty="0">
                <a:latin typeface="Times New Roman" pitchFamily="18" charset="0"/>
                <a:cs typeface="Times New Roman" pitchFamily="18" charset="0"/>
              </a:rPr>
              <a:t> in images by analyzing the statistical properties of the image.</a:t>
            </a:r>
          </a:p>
          <a:p>
            <a:pPr>
              <a:buFont typeface="Wingdings" pitchFamily="2" charset="2"/>
              <a:buChar char="Ø"/>
            </a:pPr>
            <a:r>
              <a:rPr lang="en-US" b="1" dirty="0" err="1">
                <a:latin typeface="Times New Roman" pitchFamily="18" charset="0"/>
                <a:cs typeface="Times New Roman" pitchFamily="18" charset="0"/>
              </a:rPr>
              <a:t>OpenStego</a:t>
            </a:r>
            <a:r>
              <a:rPr lang="en-US" dirty="0">
                <a:latin typeface="Times New Roman" pitchFamily="18" charset="0"/>
                <a:cs typeface="Times New Roman" pitchFamily="18" charset="0"/>
              </a:rPr>
              <a:t>: Allows both embedding and extraction of hidden data from image files.</a:t>
            </a:r>
          </a:p>
          <a:p>
            <a:pPr>
              <a:buFont typeface="Wingdings" pitchFamily="2" charset="2"/>
              <a:buChar char="Ø"/>
            </a:pPr>
            <a:r>
              <a:rPr lang="en-US" b="1" dirty="0" err="1">
                <a:latin typeface="Times New Roman" pitchFamily="18" charset="0"/>
                <a:cs typeface="Times New Roman" pitchFamily="18" charset="0"/>
              </a:rPr>
              <a:t>zsteg</a:t>
            </a:r>
            <a:r>
              <a:rPr lang="en-US" dirty="0">
                <a:latin typeface="Times New Roman" pitchFamily="18" charset="0"/>
                <a:cs typeface="Times New Roman" pitchFamily="18" charset="0"/>
              </a:rPr>
              <a:t>: A tool for detecting LSB </a:t>
            </a:r>
            <a:r>
              <a:rPr lang="en-US" dirty="0" err="1">
                <a:latin typeface="Times New Roman" pitchFamily="18" charset="0"/>
                <a:cs typeface="Times New Roman" pitchFamily="18" charset="0"/>
              </a:rPr>
              <a:t>steganography</a:t>
            </a:r>
            <a:r>
              <a:rPr lang="en-US" dirty="0">
                <a:latin typeface="Times New Roman" pitchFamily="18" charset="0"/>
                <a:cs typeface="Times New Roman" pitchFamily="18" charset="0"/>
              </a:rPr>
              <a:t> in PNG files specifically.</a:t>
            </a:r>
          </a:p>
          <a:p>
            <a:pPr>
              <a:buFont typeface="Wingdings" pitchFamily="2" charset="2"/>
              <a:buChar char="Ø"/>
            </a:pPr>
            <a:r>
              <a:rPr lang="en-US" b="1" dirty="0" err="1">
                <a:latin typeface="Times New Roman" pitchFamily="18" charset="0"/>
                <a:cs typeface="Times New Roman" pitchFamily="18" charset="0"/>
              </a:rPr>
              <a:t>StegSecret</a:t>
            </a:r>
            <a:r>
              <a:rPr lang="en-US" dirty="0">
                <a:latin typeface="Times New Roman" pitchFamily="18" charset="0"/>
                <a:cs typeface="Times New Roman" pitchFamily="18" charset="0"/>
              </a:rPr>
              <a:t>: Detects hidden messages within various types of files, including images.</a:t>
            </a:r>
          </a:p>
          <a:p>
            <a:endParaRPr lang="en-US"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lgerian" pitchFamily="82" charset="0"/>
              </a:rPr>
              <a:t>Understanding Copyright Issues with Graphics</a:t>
            </a:r>
          </a:p>
        </p:txBody>
      </p:sp>
      <p:sp>
        <p:nvSpPr>
          <p:cNvPr id="3" name="Content Placeholder 2"/>
          <p:cNvSpPr>
            <a:spLocks noGrp="1"/>
          </p:cNvSpPr>
          <p:nvPr>
            <p:ph idx="1"/>
          </p:nvPr>
        </p:nvSpPr>
        <p:spPr>
          <a:xfrm>
            <a:off x="457200" y="2286000"/>
            <a:ext cx="8229600" cy="4325112"/>
          </a:xfrm>
        </p:spPr>
        <p:txBody>
          <a:bodyPr>
            <a:noAutofit/>
          </a:bodyPr>
          <a:lstStyle/>
          <a:p>
            <a:pPr>
              <a:buNone/>
            </a:pPr>
            <a:r>
              <a:rPr lang="en-US" sz="2400" dirty="0">
                <a:latin typeface="Times New Roman" pitchFamily="18" charset="0"/>
                <a:cs typeface="Times New Roman" pitchFamily="18" charset="0"/>
              </a:rPr>
              <a:t>	Copyright issues surrounding graphics are significant, as images can be copyrighted materials. When using, modifying, or sharing images, it's important to consider the following:</a:t>
            </a:r>
          </a:p>
          <a:p>
            <a:pPr>
              <a:buFont typeface="Wingdings" pitchFamily="2" charset="2"/>
              <a:buChar char="Ø"/>
            </a:pPr>
            <a:r>
              <a:rPr lang="en-US" sz="2400" b="1" dirty="0">
                <a:latin typeface="Times New Roman" pitchFamily="18" charset="0"/>
                <a:cs typeface="Times New Roman" pitchFamily="18" charset="0"/>
              </a:rPr>
              <a:t>Ownership</a:t>
            </a:r>
            <a:r>
              <a:rPr lang="en-US" sz="2400" dirty="0">
                <a:latin typeface="Times New Roman" pitchFamily="18" charset="0"/>
                <a:cs typeface="Times New Roman" pitchFamily="18" charset="0"/>
              </a:rPr>
              <a:t>: Images may be owned by the creator, a company, or may be public domain, with specific usage rights.</a:t>
            </a:r>
          </a:p>
          <a:p>
            <a:pPr>
              <a:buFont typeface="Wingdings" pitchFamily="2" charset="2"/>
              <a:buChar char="Ø"/>
            </a:pPr>
            <a:r>
              <a:rPr lang="en-US" sz="2400" b="1" dirty="0">
                <a:latin typeface="Times New Roman" pitchFamily="18" charset="0"/>
                <a:cs typeface="Times New Roman" pitchFamily="18" charset="0"/>
              </a:rPr>
              <a:t>Licensing</a:t>
            </a:r>
            <a:r>
              <a:rPr lang="en-US" sz="2400" dirty="0">
                <a:latin typeface="Times New Roman" pitchFamily="18" charset="0"/>
                <a:cs typeface="Times New Roman" pitchFamily="18" charset="0"/>
              </a:rPr>
              <a:t>: Always check the licensing terms (e.g., Creative Commons) to understand what is permissible in terms of use, modification, and distribution.</a:t>
            </a:r>
          </a:p>
          <a:p>
            <a:pPr>
              <a:buFont typeface="Wingdings" pitchFamily="2" charset="2"/>
              <a:buChar char="Ø"/>
            </a:pPr>
            <a:r>
              <a:rPr lang="en-US" sz="2400" b="1" dirty="0">
                <a:latin typeface="Times New Roman" pitchFamily="18" charset="0"/>
                <a:cs typeface="Times New Roman" pitchFamily="18" charset="0"/>
              </a:rPr>
              <a:t>Fair Use</a:t>
            </a:r>
            <a:r>
              <a:rPr lang="en-US" sz="2400" dirty="0">
                <a:latin typeface="Times New Roman" pitchFamily="18" charset="0"/>
                <a:cs typeface="Times New Roman" pitchFamily="18" charset="0"/>
              </a:rPr>
              <a:t>: In some cases, the use of copyrighted images may fall under fair use (e.g., for commentary, education, or criticism), but this is subject to legal interpretation.</a:t>
            </a:r>
          </a:p>
          <a:p>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27</TotalTime>
  <Words>2441</Words>
  <Application>Microsoft Office PowerPoint</Application>
  <PresentationFormat>On-screen Show (4:3)</PresentationFormat>
  <Paragraphs>189</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Algerian</vt:lpstr>
      <vt:lpstr>Calibri</vt:lpstr>
      <vt:lpstr>Calibri Light</vt:lpstr>
      <vt:lpstr>Times New Roman</vt:lpstr>
      <vt:lpstr>Wingdings</vt:lpstr>
      <vt:lpstr>Retrospect</vt:lpstr>
      <vt:lpstr>Multimedia Forensics</vt:lpstr>
      <vt:lpstr>Multimedia Forensics</vt:lpstr>
      <vt:lpstr>Multimedia Forensics</vt:lpstr>
      <vt:lpstr>Multimedia Forensics</vt:lpstr>
      <vt:lpstr>Multimedia Forensics</vt:lpstr>
      <vt:lpstr>Multimedia Forensics</vt:lpstr>
      <vt:lpstr>Multimedia Forensics</vt:lpstr>
      <vt:lpstr>Multimedia Forensics</vt:lpstr>
      <vt:lpstr>Multimedia Forensics</vt:lpstr>
      <vt:lpstr>Multimedia Forensics</vt:lpstr>
      <vt:lpstr>Multimedia Forensics</vt:lpstr>
      <vt:lpstr>Multimedia Forensics</vt:lpstr>
      <vt:lpstr>Understanding Data Compression </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Understanding Data Compression</vt:lpstr>
      <vt:lpstr>Identifying Unknown File Formats</vt:lpstr>
      <vt:lpstr>Analyzing Graphics File Headers </vt:lpstr>
      <vt:lpstr>Analyzing Graphics File Headers </vt:lpstr>
      <vt:lpstr>Analyzing Graphics File Headers </vt:lpstr>
      <vt:lpstr>Understanding Steganography in Graphics Files</vt:lpstr>
      <vt:lpstr>Understanding Steganography in Graphics Files</vt:lpstr>
      <vt:lpstr>Understanding Copyright Issues with 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Forensics</dc:title>
  <dc:creator>Admin</dc:creator>
  <cp:lastModifiedBy>Sammed</cp:lastModifiedBy>
  <cp:revision>10</cp:revision>
  <dcterms:created xsi:type="dcterms:W3CDTF">2025-02-07T08:57:48Z</dcterms:created>
  <dcterms:modified xsi:type="dcterms:W3CDTF">2026-02-05T08:31:12Z</dcterms:modified>
</cp:coreProperties>
</file>