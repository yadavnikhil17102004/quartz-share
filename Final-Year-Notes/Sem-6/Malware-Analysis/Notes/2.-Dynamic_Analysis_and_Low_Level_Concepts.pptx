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5" r:id="rId8"/>
    <p:sldId id="276" r:id="rId9"/>
    <p:sldId id="266" r:id="rId10"/>
    <p:sldId id="277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&amp; Network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Monitoring observes processes, registry, files, and memory.</a:t>
            </a:r>
          </a:p>
          <a:p>
            <a:endParaRPr/>
          </a:p>
          <a:p>
            <a:r>
              <a:t>Network Monitoring tracks traffic, connections, DNS, and protocols.</a:t>
            </a:r>
          </a:p>
          <a:p>
            <a:endParaRPr/>
          </a:p>
          <a:p>
            <a:r>
              <a:t>Helps identify real-time malware behavior.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Analysis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System Monitoring Tools:</a:t>
            </a:r>
          </a:p>
          <a:p>
            <a:r>
              <a:t>- Process Monitor</a:t>
            </a:r>
          </a:p>
          <a:p>
            <a:r>
              <a:t>- Process Explorer</a:t>
            </a:r>
          </a:p>
          <a:p>
            <a:r>
              <a:t>- Regshot</a:t>
            </a:r>
          </a:p>
          <a:p>
            <a:endParaRPr/>
          </a:p>
          <a:p>
            <a:r>
              <a:t>Network Monitoring Tools:</a:t>
            </a:r>
          </a:p>
          <a:p>
            <a:r>
              <a:t>- Wireshark</a:t>
            </a:r>
          </a:p>
          <a:p>
            <a:r>
              <a:t>- TCPView</a:t>
            </a:r>
          </a:p>
          <a:p>
            <a:r>
              <a:t>- FakeNet-NG</a:t>
            </a:r>
          </a:p>
          <a:p>
            <a:r>
              <a:t>- INetSim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Dynamic Analysis Workflow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Malware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Prepare Sandbox /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83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Monitoring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Execute Malware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2120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Observe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126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Collect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Analysis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Prepare isolated virtual machine.</a:t>
            </a:r>
          </a:p>
          <a:p>
            <a:r>
              <a:t>2. Take system snapshot.</a:t>
            </a:r>
          </a:p>
          <a:p>
            <a:r>
              <a:t>3. Start monitoring tools.</a:t>
            </a:r>
          </a:p>
          <a:p>
            <a:r>
              <a:t>4. Execute malware.</a:t>
            </a:r>
          </a:p>
          <a:p>
            <a:r>
              <a:t>5. Observe changes.</a:t>
            </a:r>
          </a:p>
          <a:p>
            <a:r>
              <a:t>6. Analyze network traffic.</a:t>
            </a:r>
          </a:p>
          <a:p>
            <a:r>
              <a:t>7. Restore VM.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a Malware Executable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 process creation and injection.</a:t>
            </a:r>
          </a:p>
          <a:p>
            <a:endParaRPr/>
          </a:p>
          <a:p>
            <a:r>
              <a:t>Monitor file system changes.</a:t>
            </a:r>
          </a:p>
          <a:p>
            <a:endParaRPr/>
          </a:p>
          <a:p>
            <a:r>
              <a:t>Analyze registry modifications.</a:t>
            </a:r>
          </a:p>
          <a:p>
            <a:endParaRPr/>
          </a:p>
          <a:p>
            <a:r>
              <a:t>Track network connections and C2 traffic.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Dynamic-Link Library (DLL)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DLL malware hides malicious code inside libraries.</a:t>
            </a:r>
          </a:p>
          <a:p>
            <a:endParaRPr/>
          </a:p>
          <a:p>
            <a:r>
              <a:t>Often injected into legitimate processes.</a:t>
            </a:r>
          </a:p>
          <a:p>
            <a:endParaRPr/>
          </a:p>
          <a:p>
            <a:r>
              <a:t>Analysis focuses on loaded DLLs, exports, and API calls.</a:t>
            </a:r>
          </a:p>
          <a:p>
            <a:endParaRPr/>
          </a:p>
          <a:p>
            <a:r>
              <a:t>Tools: Process Explorer, PE Explorer.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Computer consists of CPU, Memory, Storage, and I/O devices.</a:t>
            </a:r>
          </a:p>
          <a:p>
            <a:endParaRPr dirty="0"/>
          </a:p>
          <a:p>
            <a:r>
              <a:rPr dirty="0"/>
              <a:t>Malware directly interacts with CPU and memory.</a:t>
            </a:r>
          </a:p>
          <a:p>
            <a:endParaRPr dirty="0"/>
          </a:p>
          <a:p>
            <a:r>
              <a:rPr dirty="0"/>
              <a:t>Understanding internals helps reverse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1D12-C9EF-B985-A54C-C36EA516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Code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FB40AB-B7FB-6307-B144-E315D9F59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3677" y="1681108"/>
            <a:ext cx="489108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CPU fetches instruction from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CPU understands what to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CPU performs the action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089E3-1380-5CF0-542D-0D32FAC16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015627"/>
              </p:ext>
            </p:extLst>
          </p:nvPr>
        </p:nvGraphicFramePr>
        <p:xfrm>
          <a:off x="575188" y="3216940"/>
          <a:ext cx="8229600" cy="206119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92193678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26058860"/>
                    </a:ext>
                  </a:extLst>
                </a:gridCol>
              </a:tblGrid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High-Level (C,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Assembly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9451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Machine-friendly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742431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Hides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Controls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000214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to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to analyze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78439"/>
                  </a:ext>
                </a:extLst>
              </a:tr>
              <a:tr h="412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77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09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Registers are small, fast storage inside CPU.</a:t>
            </a:r>
          </a:p>
          <a:p>
            <a:endParaRPr/>
          </a:p>
          <a:p>
            <a:r>
              <a:t>Used to store data, addresses, and instructions.</a:t>
            </a:r>
          </a:p>
          <a:p>
            <a:endParaRPr/>
          </a:p>
          <a:p>
            <a:r>
              <a:t>Examples: RAX, RBX, RCX, RIP, RSP.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6543-83B6-0F34-AC8D-1B9715BC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D366-1288-E6A2-B6C8-1FB336278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General Purpose</a:t>
            </a:r>
          </a:p>
          <a:p>
            <a:r>
              <a:rPr lang="en-US" b="1" dirty="0"/>
              <a:t>EAX</a:t>
            </a:r>
            <a:r>
              <a:rPr lang="en-US" dirty="0"/>
              <a:t> – stores results of calculations</a:t>
            </a:r>
          </a:p>
          <a:p>
            <a:r>
              <a:rPr lang="en-US" b="1" dirty="0"/>
              <a:t>EBX</a:t>
            </a:r>
            <a:r>
              <a:rPr lang="en-US" dirty="0"/>
              <a:t> – base address holder</a:t>
            </a:r>
          </a:p>
          <a:p>
            <a:r>
              <a:rPr lang="en-US" b="1" dirty="0"/>
              <a:t>ECX</a:t>
            </a:r>
            <a:r>
              <a:rPr lang="en-US" dirty="0"/>
              <a:t> – counter (loops)</a:t>
            </a:r>
          </a:p>
          <a:p>
            <a:r>
              <a:rPr lang="en-US" b="1" dirty="0"/>
              <a:t>EDX</a:t>
            </a:r>
            <a:r>
              <a:rPr lang="en-US" dirty="0"/>
              <a:t> – extra data / multiplication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Control Registers</a:t>
            </a:r>
          </a:p>
          <a:p>
            <a:r>
              <a:rPr lang="en-US" b="1" dirty="0"/>
              <a:t>ESP</a:t>
            </a:r>
            <a:r>
              <a:rPr lang="en-US" dirty="0"/>
              <a:t> – points to top of stack</a:t>
            </a:r>
          </a:p>
          <a:p>
            <a:r>
              <a:rPr lang="en-US" b="1" dirty="0"/>
              <a:t>EBP</a:t>
            </a:r>
            <a:r>
              <a:rPr lang="en-US" dirty="0"/>
              <a:t> – base of current function</a:t>
            </a:r>
          </a:p>
          <a:p>
            <a:r>
              <a:rPr lang="en-US" b="1" dirty="0"/>
              <a:t>EIP</a:t>
            </a:r>
            <a:r>
              <a:rPr lang="en-US" dirty="0"/>
              <a:t> – next instruction to execute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6383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Transfer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move data between registers and memory.</a:t>
            </a:r>
          </a:p>
          <a:p>
            <a:endParaRPr/>
          </a:p>
          <a:p>
            <a:r>
              <a:t>Examples: MOV, PUSH, POP, LEA.</a:t>
            </a:r>
          </a:p>
          <a:p>
            <a:endParaRPr/>
          </a:p>
          <a:p>
            <a:r>
              <a:t>Critical in malware execution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mathematical calculations.</a:t>
            </a:r>
          </a:p>
          <a:p>
            <a:endParaRPr/>
          </a:p>
          <a:p>
            <a:r>
              <a:t>Examples: ADD, SUB, MUL, DIV.</a:t>
            </a:r>
          </a:p>
          <a:p>
            <a:endParaRPr/>
          </a:p>
          <a:p>
            <a:r>
              <a:t>Used in encryption and obfuscation.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Operate at bit level.</a:t>
            </a:r>
          </a:p>
          <a:p>
            <a:endParaRPr dirty="0"/>
          </a:p>
          <a:p>
            <a:r>
              <a:rPr dirty="0"/>
              <a:t>Examples: AND, OR, XOR, SHL, SHR.</a:t>
            </a:r>
          </a:p>
          <a:p>
            <a:endParaRPr dirty="0"/>
          </a:p>
          <a:p>
            <a:r>
              <a:rPr dirty="0"/>
              <a:t>Commonly used for obfuscation and encryption.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&amp; 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Control execution flow.</a:t>
            </a:r>
          </a:p>
          <a:p>
            <a:endParaRPr dirty="0"/>
          </a:p>
          <a:p>
            <a:r>
              <a:rPr dirty="0"/>
              <a:t>Examples: JMP, JE, JNE, JZ.</a:t>
            </a:r>
          </a:p>
          <a:p>
            <a:endParaRPr dirty="0"/>
          </a:p>
          <a:p>
            <a:r>
              <a:rPr dirty="0"/>
              <a:t>Used in anti-debugging techniques.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 instruction blocks.</a:t>
            </a:r>
          </a:p>
          <a:p>
            <a:endParaRPr/>
          </a:p>
          <a:p>
            <a:r>
              <a:t>Often used in brute-force or encryption routines.</a:t>
            </a:r>
          </a:p>
          <a:p>
            <a:endParaRPr/>
          </a:p>
          <a:p>
            <a:r>
              <a:t>Implemented using conditional jumps.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blocks of code.</a:t>
            </a:r>
          </a:p>
          <a:p>
            <a:endParaRPr/>
          </a:p>
          <a:p>
            <a:r>
              <a:t>Malware uses API calls and custom functions.</a:t>
            </a:r>
          </a:p>
          <a:p>
            <a:endParaRPr/>
          </a:p>
          <a:p>
            <a:r>
              <a:t>Understanding call stack is essential.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&amp;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multiple values.</a:t>
            </a:r>
          </a:p>
          <a:p>
            <a:endParaRPr/>
          </a:p>
          <a:p>
            <a:r>
              <a:t>Strings often reveal URLs, IPs, commands.</a:t>
            </a:r>
          </a:p>
          <a:p>
            <a:endParaRPr/>
          </a:p>
          <a:p>
            <a:r>
              <a:t>Important for IOC extraction.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different data types.</a:t>
            </a:r>
          </a:p>
          <a:p>
            <a:endParaRPr/>
          </a:p>
          <a:p>
            <a:r>
              <a:t>Used in Windows API and system calls.</a:t>
            </a:r>
          </a:p>
          <a:p>
            <a:endParaRPr/>
          </a:p>
          <a:p>
            <a:r>
              <a:t>Helps understand malware logic.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x64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64-bit architecture used in modern systems.</a:t>
            </a:r>
          </a:p>
          <a:p>
            <a:endParaRPr/>
          </a:p>
          <a:p>
            <a:r>
              <a:t>More registers and memory access.</a:t>
            </a:r>
          </a:p>
          <a:p>
            <a:endParaRPr/>
          </a:p>
          <a:p>
            <a:r>
              <a:t>Malware increasingly targets x64 systems.</a:t>
            </a:r>
          </a:p>
          <a:p>
            <a:endParaRPr/>
          </a:p>
          <a:p>
            <a:r>
              <a:t>Understanding x64 is essential for modern 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3328-C8B6-A7BC-AC34-5E3E0E14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B6FE14-042A-D6F1-2014-59B7C8AB06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61153"/>
              </p:ext>
            </p:extLst>
          </p:nvPr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1023981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104096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47257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x86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x64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143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33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60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2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87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1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568</Words>
  <Application>Microsoft Office PowerPoint</Application>
  <PresentationFormat>On-screen Show (4:3)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System &amp; Network Monitoring</vt:lpstr>
      <vt:lpstr>Dynamic Analysis Tools</vt:lpstr>
      <vt:lpstr>Dynamic Analysis Workflow</vt:lpstr>
      <vt:lpstr>Dynamic Analysis Steps</vt:lpstr>
      <vt:lpstr>Analyzing a Malware Executable</vt:lpstr>
      <vt:lpstr>Dynamic-Link Library (DLL) Analysis</vt:lpstr>
      <vt:lpstr>Computer Basics</vt:lpstr>
      <vt:lpstr>How a Computer Executes Code</vt:lpstr>
      <vt:lpstr>CPU Registers</vt:lpstr>
      <vt:lpstr>Cont.</vt:lpstr>
      <vt:lpstr>Data Transfer Instructions</vt:lpstr>
      <vt:lpstr>Arithmetic Operations</vt:lpstr>
      <vt:lpstr>Bitwise Operations</vt:lpstr>
      <vt:lpstr>Branching &amp; Conditionals</vt:lpstr>
      <vt:lpstr>Loops</vt:lpstr>
      <vt:lpstr>Functions</vt:lpstr>
      <vt:lpstr>Arrays &amp; Strings</vt:lpstr>
      <vt:lpstr>Structures</vt:lpstr>
      <vt:lpstr>x64 Architecture</vt:lpstr>
      <vt:lpstr>Cont.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girawale</cp:lastModifiedBy>
  <cp:revision>8</cp:revision>
  <dcterms:created xsi:type="dcterms:W3CDTF">2013-01-27T09:14:16Z</dcterms:created>
  <dcterms:modified xsi:type="dcterms:W3CDTF">2026-02-04T07:44:32Z</dcterms:modified>
  <cp:category/>
</cp:coreProperties>
</file>