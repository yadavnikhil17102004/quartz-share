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71" r:id="rId5"/>
    <p:sldId id="272" r:id="rId6"/>
    <p:sldId id="273" r:id="rId7"/>
    <p:sldId id="259" r:id="rId8"/>
    <p:sldId id="260" r:id="rId9"/>
    <p:sldId id="274" r:id="rId10"/>
    <p:sldId id="278" r:id="rId11"/>
    <p:sldId id="279" r:id="rId12"/>
    <p:sldId id="280" r:id="rId13"/>
    <p:sldId id="275" r:id="rId14"/>
    <p:sldId id="276" r:id="rId15"/>
    <p:sldId id="261" r:id="rId16"/>
    <p:sldId id="262" r:id="rId17"/>
    <p:sldId id="264" r:id="rId18"/>
    <p:sldId id="281" r:id="rId19"/>
    <p:sldId id="265" r:id="rId20"/>
    <p:sldId id="282" r:id="rId21"/>
    <p:sldId id="283" r:id="rId22"/>
    <p:sldId id="284" r:id="rId23"/>
    <p:sldId id="285" r:id="rId24"/>
    <p:sldId id="286" r:id="rId25"/>
    <p:sldId id="266" r:id="rId26"/>
    <p:sldId id="267" r:id="rId27"/>
    <p:sldId id="268" r:id="rId28"/>
    <p:sldId id="26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01302C-3555-4558-89FD-1870336B308F}" type="datetimeFigureOut">
              <a:rPr lang="en-US" smtClean="0"/>
              <a:t>2/26/2025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3CCFDE-5583-4654-8FD7-3EBFD341D56C}" type="slidenum">
              <a:rPr lang="en-US" smtClean="0"/>
              <a:t>‹#›</a:t>
            </a:fld>
            <a:endParaRPr lang="en-US"/>
          </a:p>
        </p:txBody>
      </p:sp>
    </p:spTree>
    <p:extLst>
      <p:ext uri="{BB962C8B-B14F-4D97-AF65-F5344CB8AC3E}">
        <p14:creationId xmlns:p14="http://schemas.microsoft.com/office/powerpoint/2010/main" val="114032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3CCFDE-5583-4654-8FD7-3EBFD341D56C}" type="slidenum">
              <a:rPr lang="en-US" smtClean="0"/>
              <a:t>9</a:t>
            </a:fld>
            <a:endParaRPr lang="en-US"/>
          </a:p>
        </p:txBody>
      </p:sp>
    </p:spTree>
    <p:extLst>
      <p:ext uri="{BB962C8B-B14F-4D97-AF65-F5344CB8AC3E}">
        <p14:creationId xmlns:p14="http://schemas.microsoft.com/office/powerpoint/2010/main" val="2758000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3CCFDE-5583-4654-8FD7-3EBFD341D56C}" type="slidenum">
              <a:rPr lang="en-US" smtClean="0"/>
              <a:t>10</a:t>
            </a:fld>
            <a:endParaRPr lang="en-US"/>
          </a:p>
        </p:txBody>
      </p:sp>
    </p:spTree>
    <p:extLst>
      <p:ext uri="{BB962C8B-B14F-4D97-AF65-F5344CB8AC3E}">
        <p14:creationId xmlns:p14="http://schemas.microsoft.com/office/powerpoint/2010/main" val="106347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3CCFDE-5583-4654-8FD7-3EBFD341D56C}" type="slidenum">
              <a:rPr lang="en-US" smtClean="0"/>
              <a:t>11</a:t>
            </a:fld>
            <a:endParaRPr lang="en-US"/>
          </a:p>
        </p:txBody>
      </p:sp>
    </p:spTree>
    <p:extLst>
      <p:ext uri="{BB962C8B-B14F-4D97-AF65-F5344CB8AC3E}">
        <p14:creationId xmlns:p14="http://schemas.microsoft.com/office/powerpoint/2010/main" val="2615035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33CCFDE-5583-4654-8FD7-3EBFD341D56C}" type="slidenum">
              <a:rPr lang="en-US" smtClean="0"/>
              <a:t>12</a:t>
            </a:fld>
            <a:endParaRPr lang="en-US"/>
          </a:p>
        </p:txBody>
      </p:sp>
    </p:spTree>
    <p:extLst>
      <p:ext uri="{BB962C8B-B14F-4D97-AF65-F5344CB8AC3E}">
        <p14:creationId xmlns:p14="http://schemas.microsoft.com/office/powerpoint/2010/main" val="1543222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933BC1B-8392-4E91-A1D2-E74AF55DCAD7}"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399975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33BC1B-8392-4E91-A1D2-E74AF55DCAD7}"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4201521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933BC1B-8392-4E91-A1D2-E74AF55DCAD7}"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295580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933BC1B-8392-4E91-A1D2-E74AF55DCAD7}" type="datetimeFigureOut">
              <a:rPr lang="en-US" smtClean="0"/>
              <a:t>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3318379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933BC1B-8392-4E91-A1D2-E74AF55DCAD7}" type="datetimeFigureOut">
              <a:rPr lang="en-US" smtClean="0"/>
              <a:t>2/26/2025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2622641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933BC1B-8392-4E91-A1D2-E74AF55DCAD7}" type="datetimeFigureOut">
              <a:rPr lang="en-US" smtClean="0"/>
              <a:t>2/26/2025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3925002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33BC1B-8392-4E91-A1D2-E74AF55DCAD7}" type="datetimeFigureOut">
              <a:rPr lang="en-US" smtClean="0"/>
              <a:t>2/26/2025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343517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33BC1B-8392-4E91-A1D2-E74AF55DCAD7}" type="datetimeFigureOut">
              <a:rPr lang="en-US" smtClean="0"/>
              <a:t>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159341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33BC1B-8392-4E91-A1D2-E74AF55DCAD7}" type="datetimeFigureOut">
              <a:rPr lang="en-US" smtClean="0"/>
              <a:t>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4159639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33BC1B-8392-4E91-A1D2-E74AF55DCAD7}"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1819782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33BC1B-8392-4E91-A1D2-E74AF55DCAD7}" type="datetimeFigureOut">
              <a:rPr lang="en-US" smtClean="0"/>
              <a:t>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86645-A6B0-4589-B105-531777521F15}" type="slidenum">
              <a:rPr lang="en-US" smtClean="0"/>
              <a:t>‹#›</a:t>
            </a:fld>
            <a:endParaRPr lang="en-US"/>
          </a:p>
        </p:txBody>
      </p:sp>
    </p:spTree>
    <p:extLst>
      <p:ext uri="{BB962C8B-B14F-4D97-AF65-F5344CB8AC3E}">
        <p14:creationId xmlns:p14="http://schemas.microsoft.com/office/powerpoint/2010/main" val="381312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33BC1B-8392-4E91-A1D2-E74AF55DCAD7}" type="datetimeFigureOut">
              <a:rPr lang="en-US" smtClean="0"/>
              <a:t>2/26/2025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F86645-A6B0-4589-B105-531777521F15}" type="slidenum">
              <a:rPr lang="en-US" smtClean="0"/>
              <a:t>‹#›</a:t>
            </a:fld>
            <a:endParaRPr lang="en-US"/>
          </a:p>
        </p:txBody>
      </p:sp>
    </p:spTree>
    <p:extLst>
      <p:ext uri="{BB962C8B-B14F-4D97-AF65-F5344CB8AC3E}">
        <p14:creationId xmlns:p14="http://schemas.microsoft.com/office/powerpoint/2010/main" val="3894328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html5-introducti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www.geeksforgeeks.org/html-fieldset-form-attribute/" TargetMode="External"/><Relationship Id="rId3" Type="http://schemas.openxmlformats.org/officeDocument/2006/relationships/hyperlink" Target="https://www.geeksforgeeks.org/html-label-tag/" TargetMode="External"/><Relationship Id="rId7" Type="http://schemas.openxmlformats.org/officeDocument/2006/relationships/hyperlink" Target="https://www.geeksforgeeks.org/html-textarea-name-attribut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geeksforgeeks.org/html-select-tag/" TargetMode="External"/><Relationship Id="rId5" Type="http://schemas.openxmlformats.org/officeDocument/2006/relationships/hyperlink" Target="https://www.geeksforgeeks.org/button-tag-vs-input-typebutton-attribute/" TargetMode="External"/><Relationship Id="rId4" Type="http://schemas.openxmlformats.org/officeDocument/2006/relationships/hyperlink" Target="https://www.geeksforgeeks.org/html-input-tag/" TargetMode="External"/><Relationship Id="rId9" Type="http://schemas.openxmlformats.org/officeDocument/2006/relationships/hyperlink" Target="https://www.geeksforgeeks.org/html-legend-tag/"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html-datalist-ta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geeksforgeeks.org/html-optgroup-tag/" TargetMode="External"/><Relationship Id="rId5" Type="http://schemas.openxmlformats.org/officeDocument/2006/relationships/hyperlink" Target="https://www.geeksforgeeks.org/html-option-tag/" TargetMode="External"/><Relationship Id="rId4" Type="http://schemas.openxmlformats.org/officeDocument/2006/relationships/hyperlink" Target="https://www.geeksforgeeks.org/html-output-tag/"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www.geeksforgeeks.org/html-input-typeemail/" TargetMode="External"/><Relationship Id="rId3" Type="http://schemas.openxmlformats.org/officeDocument/2006/relationships/hyperlink" Target="https://www.geeksforgeeks.org/html-input-typetext/" TargetMode="External"/><Relationship Id="rId7" Type="http://schemas.openxmlformats.org/officeDocument/2006/relationships/hyperlink" Target="https://www.geeksforgeeks.org/html-input-typeradio/"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www.geeksforgeeks.org/html-input-typereset/" TargetMode="External"/><Relationship Id="rId5" Type="http://schemas.openxmlformats.org/officeDocument/2006/relationships/hyperlink" Target="https://www.geeksforgeeks.org/html-input-typesubmit/" TargetMode="External"/><Relationship Id="rId4" Type="http://schemas.openxmlformats.org/officeDocument/2006/relationships/hyperlink" Target="https://www.geeksforgeeks.org/html-input-typepassword/" TargetMode="External"/><Relationship Id="rId9" Type="http://schemas.openxmlformats.org/officeDocument/2006/relationships/hyperlink" Target="https://www.geeksforgeeks.org/html-input-typenumber/"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html-input-typecheckbox/"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www.geeksforgeeks.org/html-input-typefile/" TargetMode="External"/><Relationship Id="rId5" Type="http://schemas.openxmlformats.org/officeDocument/2006/relationships/hyperlink" Target="https://www.geeksforgeeks.org/html-input-typetime/" TargetMode="External"/><Relationship Id="rId4" Type="http://schemas.openxmlformats.org/officeDocument/2006/relationships/hyperlink" Target="https://www.geeksforgeeks.org/html-input-typedat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geeksforgeeks.org/html-basic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w3schools.com/xml/dom_intro.asp"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HTML and XML</a:t>
            </a:r>
            <a:endParaRPr lang="en-US" dirty="0"/>
          </a:p>
        </p:txBody>
      </p:sp>
      <p:sp>
        <p:nvSpPr>
          <p:cNvPr id="3" name="Subtitle 2"/>
          <p:cNvSpPr>
            <a:spLocks noGrp="1"/>
          </p:cNvSpPr>
          <p:nvPr>
            <p:ph type="subTitle" idx="1"/>
          </p:nvPr>
        </p:nvSpPr>
        <p:spPr/>
        <p:txBody>
          <a:bodyPr/>
          <a:lstStyle/>
          <a:p>
            <a:r>
              <a:rPr lang="en-US" dirty="0" smtClean="0"/>
              <a:t>Chapter 4</a:t>
            </a:r>
            <a:endParaRPr lang="en-US" dirty="0"/>
          </a:p>
        </p:txBody>
      </p:sp>
    </p:spTree>
    <p:extLst>
      <p:ext uri="{BB962C8B-B14F-4D97-AF65-F5344CB8AC3E}">
        <p14:creationId xmlns:p14="http://schemas.microsoft.com/office/powerpoint/2010/main" val="3546590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a:t>
            </a:r>
            <a:r>
              <a:rPr lang="en-US" dirty="0"/>
              <a:t>d</a:t>
            </a:r>
            <a:r>
              <a:rPr lang="en-US" dirty="0" smtClean="0"/>
              <a:t>uction </a:t>
            </a:r>
            <a:r>
              <a:rPr lang="en-US" dirty="0"/>
              <a:t>to HTML</a:t>
            </a:r>
          </a:p>
        </p:txBody>
      </p:sp>
      <p:sp>
        <p:nvSpPr>
          <p:cNvPr id="3" name="Content Placeholder 2"/>
          <p:cNvSpPr>
            <a:spLocks noGrp="1"/>
          </p:cNvSpPr>
          <p:nvPr>
            <p:ph idx="1"/>
          </p:nvPr>
        </p:nvSpPr>
        <p:spPr>
          <a:xfrm>
            <a:off x="838200" y="1825624"/>
            <a:ext cx="10515600" cy="4820835"/>
          </a:xfrm>
        </p:spPr>
        <p:txBody>
          <a:bodyPr>
            <a:normAutofit fontScale="92500" lnSpcReduction="20000"/>
          </a:bodyPr>
          <a:lstStyle/>
          <a:p>
            <a:pPr fontAlgn="base"/>
            <a:r>
              <a:rPr lang="en-US" dirty="0"/>
              <a:t>Files that travel across the largest network in the world, the Internet, and carry information from a “server” to “client” that requested them are called “webpage”. </a:t>
            </a:r>
            <a:endParaRPr lang="en-US" dirty="0" smtClean="0"/>
          </a:p>
          <a:p>
            <a:pPr fontAlgn="base"/>
            <a:r>
              <a:rPr lang="en-US" dirty="0" smtClean="0"/>
              <a:t>The </a:t>
            </a:r>
            <a:r>
              <a:rPr lang="en-US" dirty="0"/>
              <a:t>language used to develop webpage is called Hyper Text Markup Language (HTML).</a:t>
            </a:r>
            <a:endParaRPr lang="en-US" b="1" dirty="0" smtClean="0"/>
          </a:p>
          <a:p>
            <a:pPr fontAlgn="base"/>
            <a:r>
              <a:rPr lang="en-US" b="1" dirty="0" smtClean="0"/>
              <a:t>HTML</a:t>
            </a:r>
            <a:r>
              <a:rPr lang="en-US" dirty="0"/>
              <a:t> stands for </a:t>
            </a:r>
            <a:r>
              <a:rPr lang="en-US" b="1" dirty="0" err="1"/>
              <a:t>HyperText</a:t>
            </a:r>
            <a:r>
              <a:rPr lang="en-US" b="1" dirty="0"/>
              <a:t> Markup Language</a:t>
            </a:r>
            <a:r>
              <a:rPr lang="en-US" dirty="0"/>
              <a:t>. </a:t>
            </a:r>
            <a:endParaRPr lang="en-US" dirty="0" smtClean="0"/>
          </a:p>
          <a:p>
            <a:pPr fontAlgn="base"/>
            <a:r>
              <a:rPr lang="en-US" dirty="0" smtClean="0"/>
              <a:t>It </a:t>
            </a:r>
            <a:r>
              <a:rPr lang="en-US" dirty="0"/>
              <a:t>is the standard language used to create and structure content on the web.</a:t>
            </a:r>
          </a:p>
          <a:p>
            <a:pPr fontAlgn="base"/>
            <a:r>
              <a:rPr lang="en-US" dirty="0"/>
              <a:t>HTML is a markup language, not a programming language, meaning it annotates text to define how it is structured and displayed by web browsers.</a:t>
            </a:r>
          </a:p>
          <a:p>
            <a:pPr fontAlgn="base"/>
            <a:r>
              <a:rPr lang="en-US" dirty="0"/>
              <a:t>It forms the building blocks of all websites and is complemented by CSS for style and JavaScript for interactivity.</a:t>
            </a:r>
          </a:p>
          <a:p>
            <a:endParaRPr lang="en-US" dirty="0"/>
          </a:p>
        </p:txBody>
      </p:sp>
    </p:spTree>
    <p:extLst>
      <p:ext uri="{BB962C8B-B14F-4D97-AF65-F5344CB8AC3E}">
        <p14:creationId xmlns:p14="http://schemas.microsoft.com/office/powerpoint/2010/main" val="3915301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HTML was created by Tim </a:t>
            </a:r>
            <a:r>
              <a:rPr lang="en-US" dirty="0" smtClean="0"/>
              <a:t>Berners Lee </a:t>
            </a:r>
            <a:r>
              <a:rPr lang="en-US" dirty="0"/>
              <a:t>at European Laboratory for Particle Physics (CERN) in late 1980’s. </a:t>
            </a:r>
          </a:p>
          <a:p>
            <a:r>
              <a:rPr lang="en-US" dirty="0" smtClean="0"/>
              <a:t>In </a:t>
            </a:r>
            <a:r>
              <a:rPr lang="en-US" dirty="0"/>
              <a:t>1992, Marc Anderson Created MOSAIC, first graphic interface for HTML documents at UIUC. (University of Illinois at </a:t>
            </a:r>
            <a:r>
              <a:rPr lang="en-US" dirty="0" smtClean="0"/>
              <a:t>Urbana Champaign</a:t>
            </a:r>
            <a:r>
              <a:rPr lang="en-US" dirty="0"/>
              <a:t>)</a:t>
            </a:r>
          </a:p>
        </p:txBody>
      </p:sp>
    </p:spTree>
    <p:extLst>
      <p:ext uri="{BB962C8B-B14F-4D97-AF65-F5344CB8AC3E}">
        <p14:creationId xmlns:p14="http://schemas.microsoft.com/office/powerpoint/2010/main" val="3614644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Features</a:t>
            </a:r>
          </a:p>
        </p:txBody>
      </p:sp>
      <p:sp>
        <p:nvSpPr>
          <p:cNvPr id="3" name="Content Placeholder 2"/>
          <p:cNvSpPr>
            <a:spLocks noGrp="1"/>
          </p:cNvSpPr>
          <p:nvPr>
            <p:ph idx="1"/>
          </p:nvPr>
        </p:nvSpPr>
        <p:spPr/>
        <p:txBody>
          <a:bodyPr/>
          <a:lstStyle/>
          <a:p>
            <a:r>
              <a:rPr lang="en-US" dirty="0"/>
              <a:t>It is simple </a:t>
            </a:r>
            <a:r>
              <a:rPr lang="en-US"/>
              <a:t>and </a:t>
            </a:r>
            <a:r>
              <a:rPr lang="en-US" smtClean="0"/>
              <a:t>an </a:t>
            </a:r>
            <a:r>
              <a:rPr lang="en-US" dirty="0"/>
              <a:t>open standard </a:t>
            </a:r>
            <a:endParaRPr lang="en-US" dirty="0" smtClean="0"/>
          </a:p>
          <a:p>
            <a:pPr marL="0" indent="0">
              <a:buNone/>
            </a:pPr>
            <a:r>
              <a:rPr lang="en-US" dirty="0" smtClean="0"/>
              <a:t>• </a:t>
            </a:r>
            <a:r>
              <a:rPr lang="en-US" dirty="0"/>
              <a:t>It is fairly easy to learn </a:t>
            </a:r>
            <a:endParaRPr lang="en-US" dirty="0" smtClean="0"/>
          </a:p>
          <a:p>
            <a:pPr marL="0" indent="0">
              <a:buNone/>
            </a:pPr>
            <a:r>
              <a:rPr lang="en-US" dirty="0" smtClean="0"/>
              <a:t>• </a:t>
            </a:r>
            <a:r>
              <a:rPr lang="en-US" dirty="0"/>
              <a:t>It is good at presenting text and graphic in a reasonably decent layout </a:t>
            </a:r>
            <a:endParaRPr lang="en-US" dirty="0" smtClean="0"/>
          </a:p>
          <a:p>
            <a:pPr marL="0" indent="0">
              <a:buNone/>
            </a:pPr>
            <a:r>
              <a:rPr lang="en-US" dirty="0" smtClean="0"/>
              <a:t>• </a:t>
            </a:r>
            <a:r>
              <a:rPr lang="en-US" dirty="0"/>
              <a:t>Its files are tiny. </a:t>
            </a:r>
            <a:endParaRPr lang="en-US" dirty="0" smtClean="0"/>
          </a:p>
          <a:p>
            <a:pPr marL="0" indent="0">
              <a:buNone/>
            </a:pPr>
            <a:r>
              <a:rPr lang="en-US" dirty="0" smtClean="0"/>
              <a:t>• It </a:t>
            </a:r>
            <a:r>
              <a:rPr lang="en-US" dirty="0"/>
              <a:t>allows the view of information online through the use of interactive </a:t>
            </a:r>
            <a:r>
              <a:rPr lang="en-US" dirty="0" smtClean="0"/>
              <a:t>form.</a:t>
            </a:r>
          </a:p>
          <a:p>
            <a:r>
              <a:rPr lang="en-US" dirty="0" smtClean="0"/>
              <a:t>Its </a:t>
            </a:r>
            <a:r>
              <a:rPr lang="en-US" dirty="0"/>
              <a:t>browsers are cheap or free, very powerful; with a combination of third party add-ins and </a:t>
            </a:r>
            <a:r>
              <a:rPr lang="en-US" dirty="0" smtClean="0"/>
              <a:t>server side </a:t>
            </a:r>
            <a:r>
              <a:rPr lang="en-US" dirty="0"/>
              <a:t>content support, a vast range of information is being delivered through HTML language</a:t>
            </a:r>
            <a:endParaRPr lang="en-US" dirty="0" smtClean="0"/>
          </a:p>
          <a:p>
            <a:pPr marL="0" indent="0">
              <a:buNone/>
            </a:pPr>
            <a:endParaRPr lang="en-US" dirty="0"/>
          </a:p>
        </p:txBody>
      </p:sp>
    </p:spTree>
    <p:extLst>
      <p:ext uri="{BB962C8B-B14F-4D97-AF65-F5344CB8AC3E}">
        <p14:creationId xmlns:p14="http://schemas.microsoft.com/office/powerpoint/2010/main" val="2877025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HTML document browser interfaces are easy to build into existing products because of the simplicity of </a:t>
            </a:r>
            <a:r>
              <a:rPr lang="en-US" dirty="0" smtClean="0"/>
              <a:t>HTML</a:t>
            </a:r>
          </a:p>
          <a:p>
            <a:pPr marL="0" indent="0">
              <a:buNone/>
            </a:pPr>
            <a:r>
              <a:rPr lang="en-US" dirty="0" smtClean="0"/>
              <a:t>• </a:t>
            </a:r>
            <a:r>
              <a:rPr lang="en-US" dirty="0"/>
              <a:t>HTML pages allow link to any other publicly accessible page simply by entering the address </a:t>
            </a:r>
            <a:endParaRPr lang="en-US" dirty="0" smtClean="0"/>
          </a:p>
          <a:p>
            <a:pPr marL="0" indent="0">
              <a:buNone/>
            </a:pPr>
            <a:r>
              <a:rPr lang="en-US" dirty="0" smtClean="0"/>
              <a:t>• </a:t>
            </a:r>
            <a:r>
              <a:rPr lang="en-US" dirty="0"/>
              <a:t>There are some specialized structures in HTML, but they are mostly used to effect a certain formatting look </a:t>
            </a:r>
            <a:endParaRPr lang="en-US" dirty="0" smtClean="0"/>
          </a:p>
          <a:p>
            <a:pPr marL="0" indent="0">
              <a:buNone/>
            </a:pPr>
            <a:r>
              <a:rPr lang="en-US" dirty="0" smtClean="0"/>
              <a:t>• </a:t>
            </a:r>
            <a:r>
              <a:rPr lang="en-US" dirty="0"/>
              <a:t>It permits a variety of other enhancement other than internal and external hyperlinks </a:t>
            </a:r>
            <a:endParaRPr lang="en-US" dirty="0" smtClean="0"/>
          </a:p>
          <a:p>
            <a:pPr marL="0" indent="0">
              <a:buNone/>
            </a:pPr>
            <a:r>
              <a:rPr lang="en-US" dirty="0" smtClean="0"/>
              <a:t>• </a:t>
            </a:r>
            <a:r>
              <a:rPr lang="en-US" dirty="0"/>
              <a:t>It is interactive</a:t>
            </a:r>
          </a:p>
        </p:txBody>
      </p:sp>
    </p:spTree>
    <p:extLst>
      <p:ext uri="{BB962C8B-B14F-4D97-AF65-F5344CB8AC3E}">
        <p14:creationId xmlns:p14="http://schemas.microsoft.com/office/powerpoint/2010/main" val="2040702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 and syntax</a:t>
            </a: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b="1" dirty="0"/>
              <a:t>&lt;!DOCTYPE HTML&gt;:</a:t>
            </a:r>
            <a:r>
              <a:rPr lang="en-US" dirty="0"/>
              <a:t> The &lt;!DOCTYPE html&gt; declaration is placed at the beginning of the document. It tells the browser that the document follows </a:t>
            </a:r>
            <a:r>
              <a:rPr lang="en-US" u="sng" dirty="0">
                <a:hlinkClick r:id="rId2"/>
              </a:rPr>
              <a:t>HTML5 standards</a:t>
            </a:r>
            <a:r>
              <a:rPr lang="en-US" dirty="0"/>
              <a:t>, ensuring consistent rendering across browsers.</a:t>
            </a:r>
          </a:p>
          <a:p>
            <a:pPr fontAlgn="base"/>
            <a:r>
              <a:rPr lang="en-US" b="1" dirty="0"/>
              <a:t>&lt;html&gt; Tag: </a:t>
            </a:r>
            <a:r>
              <a:rPr lang="en-US" dirty="0"/>
              <a:t>The &lt;html&gt; tag wraps the entire document, serving as the root element of an HTML page. It typically includes the </a:t>
            </a:r>
            <a:r>
              <a:rPr lang="en-US" b="1" dirty="0" err="1"/>
              <a:t>lang</a:t>
            </a:r>
            <a:r>
              <a:rPr lang="en-US" b="1" dirty="0"/>
              <a:t> attribute</a:t>
            </a:r>
            <a:r>
              <a:rPr lang="en-US" dirty="0"/>
              <a:t> to specify the language of the content.</a:t>
            </a:r>
          </a:p>
          <a:p>
            <a:pPr fontAlgn="base"/>
            <a:r>
              <a:rPr lang="en-US" b="1" dirty="0"/>
              <a:t>&lt;head&gt; Section: </a:t>
            </a:r>
            <a:r>
              <a:rPr lang="en-US" dirty="0"/>
              <a:t>The &lt;head&gt; section contains metadata, scripts, styles, and other information not displayed directly on the page but essential for functionality and SEO.</a:t>
            </a:r>
          </a:p>
          <a:p>
            <a:pPr fontAlgn="base"/>
            <a:r>
              <a:rPr lang="en-US" b="1" dirty="0"/>
              <a:t>&lt;body&gt; Section:</a:t>
            </a:r>
            <a:r>
              <a:rPr lang="en-US" dirty="0"/>
              <a:t> The &lt;body&gt; section contains all the visible content of the web page, including text, images, videos, links, and more. This is where you’ll add the main elements to display on the page.</a:t>
            </a:r>
          </a:p>
          <a:p>
            <a:pPr marL="0" indent="0">
              <a:buNone/>
            </a:pPr>
            <a:endParaRPr lang="en-US" dirty="0"/>
          </a:p>
        </p:txBody>
      </p:sp>
    </p:spTree>
    <p:extLst>
      <p:ext uri="{BB962C8B-B14F-4D97-AF65-F5344CB8AC3E}">
        <p14:creationId xmlns:p14="http://schemas.microsoft.com/office/powerpoint/2010/main" val="754498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forms</a:t>
            </a:r>
          </a:p>
        </p:txBody>
      </p:sp>
      <p:sp>
        <p:nvSpPr>
          <p:cNvPr id="3" name="Content Placeholder 2"/>
          <p:cNvSpPr>
            <a:spLocks noGrp="1"/>
          </p:cNvSpPr>
          <p:nvPr>
            <p:ph idx="1"/>
          </p:nvPr>
        </p:nvSpPr>
        <p:spPr/>
        <p:txBody>
          <a:bodyPr/>
          <a:lstStyle/>
          <a:p>
            <a:r>
              <a:rPr lang="en-US" dirty="0"/>
              <a:t>HTML Forms use the &lt;form&gt; tag to collect user input through various interactive controls. </a:t>
            </a:r>
            <a:endParaRPr lang="en-US" dirty="0" smtClean="0"/>
          </a:p>
          <a:p>
            <a:r>
              <a:rPr lang="en-US" dirty="0" smtClean="0"/>
              <a:t>These </a:t>
            </a:r>
            <a:r>
              <a:rPr lang="en-US" dirty="0"/>
              <a:t>controls range from text fields, numeric inputs, and email fields </a:t>
            </a:r>
            <a:r>
              <a:rPr lang="en-US" dirty="0" smtClean="0"/>
              <a:t>to </a:t>
            </a:r>
            <a:r>
              <a:rPr lang="en-US" dirty="0"/>
              <a:t>password fields, checkboxes, radio buttons, and submit buttons</a:t>
            </a:r>
            <a:r>
              <a:rPr lang="en-US" dirty="0" smtClean="0"/>
              <a:t>.</a:t>
            </a:r>
          </a:p>
          <a:p>
            <a:endParaRPr lang="en-US" dirty="0"/>
          </a:p>
          <a:p>
            <a:r>
              <a:rPr lang="nn-NO" dirty="0"/>
              <a:t>Syntax:</a:t>
            </a:r>
          </a:p>
          <a:p>
            <a:r>
              <a:rPr lang="nn-NO" dirty="0"/>
              <a:t>&lt;form&gt;</a:t>
            </a:r>
          </a:p>
          <a:p>
            <a:r>
              <a:rPr lang="nn-NO" dirty="0"/>
              <a:t>      &lt;!--form elements--&gt;</a:t>
            </a:r>
          </a:p>
          <a:p>
            <a:r>
              <a:rPr lang="nn-NO" dirty="0"/>
              <a:t>&lt;/form&gt;</a:t>
            </a:r>
            <a:endParaRPr lang="en-US" dirty="0"/>
          </a:p>
        </p:txBody>
      </p:sp>
    </p:spTree>
    <p:extLst>
      <p:ext uri="{BB962C8B-B14F-4D97-AF65-F5344CB8AC3E}">
        <p14:creationId xmlns:p14="http://schemas.microsoft.com/office/powerpoint/2010/main" val="902963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r>
              <a:rPr lang="en-US" b="1" dirty="0"/>
              <a:t>Form Elements</a:t>
            </a:r>
          </a:p>
          <a:p>
            <a:pPr fontAlgn="base"/>
            <a:r>
              <a:rPr lang="en-US" dirty="0"/>
              <a:t>The HTML &lt;form&gt; comprises several elements, each serving a unique purpose</a:t>
            </a:r>
            <a:r>
              <a:rPr lang="en-US" dirty="0" smtClean="0"/>
              <a:t>.</a:t>
            </a:r>
          </a:p>
          <a:p>
            <a:pPr fontAlgn="base"/>
            <a:r>
              <a:rPr lang="en-US" dirty="0" smtClean="0"/>
              <a:t> </a:t>
            </a:r>
            <a:r>
              <a:rPr lang="en-US" dirty="0"/>
              <a:t>For instance, the &lt;label&gt; element defines labels for other &lt;form&gt; elements. </a:t>
            </a:r>
            <a:endParaRPr lang="en-US" dirty="0" smtClean="0"/>
          </a:p>
          <a:p>
            <a:pPr fontAlgn="base"/>
            <a:r>
              <a:rPr lang="en-US" dirty="0" smtClean="0"/>
              <a:t>On </a:t>
            </a:r>
            <a:r>
              <a:rPr lang="en-US" dirty="0"/>
              <a:t>the other hand, the &lt;input&gt; element is versatile and can be used to capture various types of input data such as text, password, email, and more simply by altering its type attribute.</a:t>
            </a:r>
          </a:p>
          <a:p>
            <a:endParaRPr lang="en-US" dirty="0"/>
          </a:p>
        </p:txBody>
      </p:sp>
    </p:spTree>
    <p:extLst>
      <p:ext uri="{BB962C8B-B14F-4D97-AF65-F5344CB8AC3E}">
        <p14:creationId xmlns:p14="http://schemas.microsoft.com/office/powerpoint/2010/main" val="2376729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7894856"/>
              </p:ext>
            </p:extLst>
          </p:nvPr>
        </p:nvGraphicFramePr>
        <p:xfrm>
          <a:off x="838200" y="1825625"/>
          <a:ext cx="10515600" cy="4556760"/>
        </p:xfrm>
        <a:graphic>
          <a:graphicData uri="http://schemas.openxmlformats.org/drawingml/2006/table">
            <a:tbl>
              <a:tblPr firstRow="1" bandRow="1">
                <a:tableStyleId>{5C22544A-7EE6-4342-B048-85BDC9FD1C3A}</a:tableStyleId>
              </a:tblPr>
              <a:tblGrid>
                <a:gridCol w="1809466"/>
                <a:gridCol w="8706134"/>
              </a:tblGrid>
              <a:tr h="370840">
                <a:tc>
                  <a:txBody>
                    <a:bodyPr/>
                    <a:lstStyle/>
                    <a:p>
                      <a:pPr algn="ctr" rtl="0" fontAlgn="base"/>
                      <a:r>
                        <a:rPr lang="en-US" sz="2000" b="1" dirty="0">
                          <a:effectLst/>
                        </a:rPr>
                        <a:t>Elements</a:t>
                      </a:r>
                    </a:p>
                  </a:txBody>
                  <a:tcPr marL="38100" marR="38100" marT="95250" marB="95250" anchor="ctr"/>
                </a:tc>
                <a:tc>
                  <a:txBody>
                    <a:bodyPr/>
                    <a:lstStyle/>
                    <a:p>
                      <a:pPr algn="ctr" rtl="0" fontAlgn="base"/>
                      <a:r>
                        <a:rPr lang="en-US" sz="2000" b="1">
                          <a:effectLst/>
                        </a:rPr>
                        <a:t>Descriptions</a:t>
                      </a:r>
                    </a:p>
                  </a:txBody>
                  <a:tcPr marL="95250" marR="95250" marT="95250" marB="95250" anchor="ctr"/>
                </a:tc>
              </a:tr>
              <a:tr h="370840">
                <a:tc>
                  <a:txBody>
                    <a:bodyPr/>
                    <a:lstStyle/>
                    <a:p>
                      <a:pPr algn="l" fontAlgn="ctr"/>
                      <a:r>
                        <a:rPr lang="en-US" sz="1800" b="0" u="sng" dirty="0">
                          <a:effectLst/>
                          <a:hlinkClick r:id="rId3"/>
                        </a:rPr>
                        <a:t>&lt;label&gt;</a:t>
                      </a:r>
                      <a:endParaRPr lang="en-US" sz="1800" b="0" dirty="0">
                        <a:effectLst/>
                      </a:endParaRPr>
                    </a:p>
                  </a:txBody>
                  <a:tcPr marL="95250" marR="95250" marT="133350" marB="133350" anchor="ctr"/>
                </a:tc>
                <a:tc>
                  <a:txBody>
                    <a:bodyPr/>
                    <a:lstStyle/>
                    <a:p>
                      <a:pPr algn="l" fontAlgn="ctr"/>
                      <a:r>
                        <a:rPr lang="en-US" sz="1800" b="0">
                          <a:effectLst/>
                        </a:rPr>
                        <a:t>It defines labels for &lt;form&gt; elements.</a:t>
                      </a:r>
                    </a:p>
                  </a:txBody>
                  <a:tcPr marL="95250" marR="95250" marT="133350" marB="133350" anchor="ctr"/>
                </a:tc>
              </a:tr>
              <a:tr h="370840">
                <a:tc>
                  <a:txBody>
                    <a:bodyPr/>
                    <a:lstStyle/>
                    <a:p>
                      <a:pPr algn="l" fontAlgn="ctr"/>
                      <a:r>
                        <a:rPr lang="en-US" sz="1800" b="0" u="sng" dirty="0">
                          <a:effectLst/>
                          <a:hlinkClick r:id="rId4"/>
                        </a:rPr>
                        <a:t>&lt;input&gt;</a:t>
                      </a:r>
                      <a:endParaRPr lang="en-US" sz="1800" b="0" dirty="0">
                        <a:effectLst/>
                      </a:endParaRPr>
                    </a:p>
                  </a:txBody>
                  <a:tcPr marL="95250" marR="95250" marT="133350" marB="133350" anchor="ctr"/>
                </a:tc>
                <a:tc>
                  <a:txBody>
                    <a:bodyPr/>
                    <a:lstStyle/>
                    <a:p>
                      <a:pPr algn="l" fontAlgn="ctr"/>
                      <a:r>
                        <a:rPr lang="en-US" sz="1800" b="0" dirty="0">
                          <a:effectLst/>
                        </a:rPr>
                        <a:t>It is used to get input data from the form in various types such as text, password, email, </a:t>
                      </a:r>
                      <a:r>
                        <a:rPr lang="en-US" sz="1800" b="0" dirty="0" err="1">
                          <a:effectLst/>
                        </a:rPr>
                        <a:t>etc</a:t>
                      </a:r>
                      <a:r>
                        <a:rPr lang="en-US" sz="1800" b="0" dirty="0">
                          <a:effectLst/>
                        </a:rPr>
                        <a:t> by changing its type.</a:t>
                      </a:r>
                    </a:p>
                  </a:txBody>
                  <a:tcPr marL="95250" marR="95250" marT="133350" marB="133350" anchor="ctr"/>
                </a:tc>
              </a:tr>
              <a:tr h="370840">
                <a:tc>
                  <a:txBody>
                    <a:bodyPr/>
                    <a:lstStyle/>
                    <a:p>
                      <a:pPr algn="l" fontAlgn="ctr"/>
                      <a:r>
                        <a:rPr lang="en-US" sz="1800" b="0" u="sng" dirty="0">
                          <a:effectLst/>
                          <a:hlinkClick r:id="rId5"/>
                        </a:rPr>
                        <a:t>&lt;button&gt;</a:t>
                      </a:r>
                      <a:endParaRPr lang="en-US" sz="1800" b="0" dirty="0">
                        <a:effectLst/>
                      </a:endParaRPr>
                    </a:p>
                  </a:txBody>
                  <a:tcPr marL="95250" marR="95250" marT="133350" marB="133350" anchor="ctr"/>
                </a:tc>
                <a:tc>
                  <a:txBody>
                    <a:bodyPr/>
                    <a:lstStyle/>
                    <a:p>
                      <a:pPr algn="l" fontAlgn="ctr"/>
                      <a:r>
                        <a:rPr lang="en-US" sz="1800" b="0">
                          <a:effectLst/>
                        </a:rPr>
                        <a:t>It defines a clickable button to control other elements or execute a functionality.</a:t>
                      </a:r>
                    </a:p>
                  </a:txBody>
                  <a:tcPr marL="95250" marR="95250" marT="133350" marB="133350" anchor="ctr"/>
                </a:tc>
              </a:tr>
              <a:tr h="370840">
                <a:tc>
                  <a:txBody>
                    <a:bodyPr/>
                    <a:lstStyle/>
                    <a:p>
                      <a:pPr algn="l" fontAlgn="ctr"/>
                      <a:r>
                        <a:rPr lang="en-US" sz="1800" b="0" u="sng" dirty="0">
                          <a:effectLst/>
                          <a:hlinkClick r:id="rId6"/>
                        </a:rPr>
                        <a:t>&lt;select&gt;</a:t>
                      </a:r>
                      <a:endParaRPr lang="en-US" sz="1800" b="0" dirty="0">
                        <a:effectLst/>
                      </a:endParaRPr>
                    </a:p>
                  </a:txBody>
                  <a:tcPr marL="95250" marR="95250" marT="133350" marB="133350" anchor="ctr"/>
                </a:tc>
                <a:tc>
                  <a:txBody>
                    <a:bodyPr/>
                    <a:lstStyle/>
                    <a:p>
                      <a:pPr algn="l" fontAlgn="ctr"/>
                      <a:r>
                        <a:rPr lang="en-US" sz="1800" b="0" dirty="0">
                          <a:effectLst/>
                        </a:rPr>
                        <a:t>It is used to create a drop-down list.</a:t>
                      </a:r>
                    </a:p>
                  </a:txBody>
                  <a:tcPr marL="95250" marR="95250" marT="133350" marB="133350" anchor="ctr"/>
                </a:tc>
              </a:tr>
              <a:tr h="370840">
                <a:tc>
                  <a:txBody>
                    <a:bodyPr/>
                    <a:lstStyle/>
                    <a:p>
                      <a:pPr algn="l" fontAlgn="ctr"/>
                      <a:r>
                        <a:rPr lang="en-US" sz="1800" b="0" u="sng" dirty="0">
                          <a:effectLst/>
                          <a:hlinkClick r:id="rId7"/>
                        </a:rPr>
                        <a:t>&lt;</a:t>
                      </a:r>
                      <a:r>
                        <a:rPr lang="en-US" sz="1800" b="0" u="sng" dirty="0" err="1">
                          <a:effectLst/>
                          <a:hlinkClick r:id="rId7"/>
                        </a:rPr>
                        <a:t>textarea</a:t>
                      </a:r>
                      <a:r>
                        <a:rPr lang="en-US" sz="1800" b="0" u="sng" dirty="0">
                          <a:effectLst/>
                          <a:hlinkClick r:id="rId7"/>
                        </a:rPr>
                        <a:t>&gt;</a:t>
                      </a:r>
                      <a:endParaRPr lang="en-US" sz="1800" b="0" dirty="0">
                        <a:effectLst/>
                      </a:endParaRPr>
                    </a:p>
                  </a:txBody>
                  <a:tcPr marL="95250" marR="95250" marT="133350" marB="133350" anchor="ctr"/>
                </a:tc>
                <a:tc>
                  <a:txBody>
                    <a:bodyPr/>
                    <a:lstStyle/>
                    <a:p>
                      <a:pPr algn="l" fontAlgn="ctr"/>
                      <a:r>
                        <a:rPr lang="en-US" sz="1800" b="0">
                          <a:effectLst/>
                        </a:rPr>
                        <a:t>It is used to get input long text content.</a:t>
                      </a:r>
                    </a:p>
                  </a:txBody>
                  <a:tcPr marL="95250" marR="95250" marT="133350" marB="133350" anchor="ctr"/>
                </a:tc>
              </a:tr>
              <a:tr h="370840">
                <a:tc>
                  <a:txBody>
                    <a:bodyPr/>
                    <a:lstStyle/>
                    <a:p>
                      <a:pPr algn="l" fontAlgn="ctr"/>
                      <a:r>
                        <a:rPr lang="en-US" sz="1800" b="0" u="sng" dirty="0">
                          <a:effectLst/>
                          <a:hlinkClick r:id="rId8"/>
                        </a:rPr>
                        <a:t>&lt;</a:t>
                      </a:r>
                      <a:r>
                        <a:rPr lang="en-US" sz="1800" b="0" u="sng" dirty="0" err="1">
                          <a:effectLst/>
                          <a:hlinkClick r:id="rId8"/>
                        </a:rPr>
                        <a:t>fieldset</a:t>
                      </a:r>
                      <a:r>
                        <a:rPr lang="en-US" sz="1800" b="0" u="sng" dirty="0">
                          <a:effectLst/>
                          <a:hlinkClick r:id="rId8"/>
                        </a:rPr>
                        <a:t>&gt;</a:t>
                      </a:r>
                      <a:endParaRPr lang="en-US" sz="1800" b="0" dirty="0">
                        <a:effectLst/>
                      </a:endParaRPr>
                    </a:p>
                  </a:txBody>
                  <a:tcPr marL="95250" marR="95250" marT="133350" marB="133350" anchor="ctr"/>
                </a:tc>
                <a:tc>
                  <a:txBody>
                    <a:bodyPr/>
                    <a:lstStyle/>
                    <a:p>
                      <a:pPr algn="l" fontAlgn="ctr"/>
                      <a:r>
                        <a:rPr lang="en-US" sz="1800" b="0" dirty="0">
                          <a:effectLst/>
                        </a:rPr>
                        <a:t>It is used to draw a box around other form elements and group the related data.</a:t>
                      </a:r>
                    </a:p>
                  </a:txBody>
                  <a:tcPr marL="95250" marR="95250" marT="133350" marB="133350" anchor="ctr"/>
                </a:tc>
              </a:tr>
              <a:tr h="370840">
                <a:tc>
                  <a:txBody>
                    <a:bodyPr/>
                    <a:lstStyle/>
                    <a:p>
                      <a:pPr algn="l" fontAlgn="ctr"/>
                      <a:r>
                        <a:rPr lang="en-US" sz="1800" b="0" u="sng" dirty="0">
                          <a:effectLst/>
                          <a:hlinkClick r:id="rId9"/>
                        </a:rPr>
                        <a:t>&lt;legend&gt;</a:t>
                      </a:r>
                      <a:endParaRPr lang="en-US" sz="1800" b="0" dirty="0">
                        <a:effectLst/>
                      </a:endParaRPr>
                    </a:p>
                  </a:txBody>
                  <a:tcPr marL="95250" marR="95250" marT="133350" marB="133350" anchor="ctr"/>
                </a:tc>
                <a:tc>
                  <a:txBody>
                    <a:bodyPr/>
                    <a:lstStyle/>
                    <a:p>
                      <a:pPr algn="l" fontAlgn="ctr"/>
                      <a:r>
                        <a:rPr lang="en-US" sz="1800" b="0" dirty="0">
                          <a:effectLst/>
                        </a:rPr>
                        <a:t>It defines a caption for </a:t>
                      </a:r>
                      <a:r>
                        <a:rPr lang="en-US" sz="1800" b="0" dirty="0" err="1">
                          <a:effectLst/>
                        </a:rPr>
                        <a:t>fieldset</a:t>
                      </a:r>
                      <a:r>
                        <a:rPr lang="en-US" sz="1800" b="0" dirty="0">
                          <a:effectLst/>
                        </a:rPr>
                        <a:t> elements</a:t>
                      </a:r>
                    </a:p>
                  </a:txBody>
                  <a:tcPr marL="95250" marR="95250" marT="133350" marB="133350" anchor="ctr"/>
                </a:tc>
              </a:tr>
            </a:tbl>
          </a:graphicData>
        </a:graphic>
      </p:graphicFrame>
    </p:spTree>
    <p:extLst>
      <p:ext uri="{BB962C8B-B14F-4D97-AF65-F5344CB8AC3E}">
        <p14:creationId xmlns:p14="http://schemas.microsoft.com/office/powerpoint/2010/main" val="3105301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42688233"/>
              </p:ext>
            </p:extLst>
          </p:nvPr>
        </p:nvGraphicFramePr>
        <p:xfrm>
          <a:off x="838200" y="1825625"/>
          <a:ext cx="10515600" cy="2659380"/>
        </p:xfrm>
        <a:graphic>
          <a:graphicData uri="http://schemas.openxmlformats.org/drawingml/2006/table">
            <a:tbl>
              <a:tblPr firstRow="1" bandRow="1">
                <a:tableStyleId>{5C22544A-7EE6-4342-B048-85BDC9FD1C3A}</a:tableStyleId>
              </a:tblPr>
              <a:tblGrid>
                <a:gridCol w="1809466"/>
                <a:gridCol w="8706134"/>
              </a:tblGrid>
              <a:tr h="370840">
                <a:tc>
                  <a:txBody>
                    <a:bodyPr/>
                    <a:lstStyle/>
                    <a:p>
                      <a:pPr algn="ctr" rtl="0" fontAlgn="base"/>
                      <a:r>
                        <a:rPr lang="en-US" sz="2000" b="1" dirty="0">
                          <a:effectLst/>
                        </a:rPr>
                        <a:t>Elements</a:t>
                      </a:r>
                    </a:p>
                  </a:txBody>
                  <a:tcPr marL="38100" marR="38100" marT="95250" marB="95250" anchor="ctr"/>
                </a:tc>
                <a:tc>
                  <a:txBody>
                    <a:bodyPr/>
                    <a:lstStyle/>
                    <a:p>
                      <a:pPr algn="ctr" rtl="0" fontAlgn="base"/>
                      <a:r>
                        <a:rPr lang="en-US" sz="2000" b="1" dirty="0">
                          <a:effectLst/>
                        </a:rPr>
                        <a:t>Descriptions</a:t>
                      </a:r>
                    </a:p>
                  </a:txBody>
                  <a:tcPr marL="95250" marR="95250" marT="95250" marB="95250" anchor="ctr"/>
                </a:tc>
              </a:tr>
              <a:tr h="370840">
                <a:tc>
                  <a:txBody>
                    <a:bodyPr/>
                    <a:lstStyle/>
                    <a:p>
                      <a:pPr algn="l" fontAlgn="ctr"/>
                      <a:r>
                        <a:rPr lang="en-US" sz="1800" b="0" u="sng" dirty="0">
                          <a:effectLst/>
                          <a:hlinkClick r:id="rId3"/>
                        </a:rPr>
                        <a:t>&lt;</a:t>
                      </a:r>
                      <a:r>
                        <a:rPr lang="en-US" sz="1800" b="0" u="sng" dirty="0" err="1">
                          <a:effectLst/>
                          <a:hlinkClick r:id="rId3"/>
                        </a:rPr>
                        <a:t>datalist</a:t>
                      </a:r>
                      <a:r>
                        <a:rPr lang="en-US" sz="1800" b="0" u="sng" dirty="0">
                          <a:effectLst/>
                          <a:hlinkClick r:id="rId3"/>
                        </a:rPr>
                        <a:t>&gt;</a:t>
                      </a:r>
                      <a:endParaRPr lang="en-US" sz="1800" b="0" dirty="0">
                        <a:effectLst/>
                      </a:endParaRPr>
                    </a:p>
                  </a:txBody>
                  <a:tcPr marL="95250" marR="95250" marT="133350" marB="133350" anchor="ctr"/>
                </a:tc>
                <a:tc>
                  <a:txBody>
                    <a:bodyPr/>
                    <a:lstStyle/>
                    <a:p>
                      <a:pPr algn="l" fontAlgn="ctr"/>
                      <a:r>
                        <a:rPr lang="en-US" sz="1800" b="0" dirty="0">
                          <a:effectLst/>
                        </a:rPr>
                        <a:t>It is used to specify pre-defined list options for input controls.</a:t>
                      </a:r>
                    </a:p>
                  </a:txBody>
                  <a:tcPr marL="95250" marR="95250" marT="133350" marB="133350" anchor="ctr"/>
                </a:tc>
              </a:tr>
              <a:tr h="370840">
                <a:tc>
                  <a:txBody>
                    <a:bodyPr/>
                    <a:lstStyle/>
                    <a:p>
                      <a:pPr algn="l" fontAlgn="ctr"/>
                      <a:r>
                        <a:rPr lang="en-US" sz="1800" b="0" u="sng" dirty="0">
                          <a:effectLst/>
                          <a:hlinkClick r:id="rId4"/>
                        </a:rPr>
                        <a:t>&lt;output&gt;</a:t>
                      </a:r>
                      <a:endParaRPr lang="en-US" sz="1800" b="0" dirty="0">
                        <a:effectLst/>
                      </a:endParaRPr>
                    </a:p>
                  </a:txBody>
                  <a:tcPr marL="95250" marR="95250" marT="133350" marB="133350" anchor="ctr"/>
                </a:tc>
                <a:tc>
                  <a:txBody>
                    <a:bodyPr/>
                    <a:lstStyle/>
                    <a:p>
                      <a:pPr algn="l" fontAlgn="ctr"/>
                      <a:r>
                        <a:rPr lang="en-US" sz="1800" b="0" dirty="0">
                          <a:effectLst/>
                        </a:rPr>
                        <a:t>It displays the output of performed calculations.</a:t>
                      </a:r>
                    </a:p>
                  </a:txBody>
                  <a:tcPr marL="95250" marR="95250" marT="133350" marB="133350" anchor="ctr"/>
                </a:tc>
              </a:tr>
              <a:tr h="370840">
                <a:tc>
                  <a:txBody>
                    <a:bodyPr/>
                    <a:lstStyle/>
                    <a:p>
                      <a:pPr algn="l" fontAlgn="ctr"/>
                      <a:r>
                        <a:rPr lang="en-US" sz="1800" b="0" u="sng" dirty="0">
                          <a:effectLst/>
                          <a:hlinkClick r:id="rId5"/>
                        </a:rPr>
                        <a:t>&lt;option&gt;</a:t>
                      </a:r>
                      <a:endParaRPr lang="en-US" sz="1800" b="0" dirty="0">
                        <a:effectLst/>
                      </a:endParaRPr>
                    </a:p>
                  </a:txBody>
                  <a:tcPr marL="95250" marR="95250" marT="133350" marB="133350" anchor="ctr"/>
                </a:tc>
                <a:tc>
                  <a:txBody>
                    <a:bodyPr/>
                    <a:lstStyle/>
                    <a:p>
                      <a:pPr algn="l" fontAlgn="ctr"/>
                      <a:r>
                        <a:rPr lang="en-US" sz="1800" b="0" dirty="0">
                          <a:effectLst/>
                        </a:rPr>
                        <a:t>It is used to define options in a drop-down list.</a:t>
                      </a:r>
                    </a:p>
                  </a:txBody>
                  <a:tcPr marL="95250" marR="95250" marT="133350" marB="133350" anchor="ctr"/>
                </a:tc>
              </a:tr>
              <a:tr h="370840">
                <a:tc>
                  <a:txBody>
                    <a:bodyPr/>
                    <a:lstStyle/>
                    <a:p>
                      <a:pPr algn="l" fontAlgn="ctr"/>
                      <a:r>
                        <a:rPr lang="en-US" sz="1800" b="0" u="sng" dirty="0">
                          <a:effectLst/>
                          <a:hlinkClick r:id="rId6"/>
                        </a:rPr>
                        <a:t>&lt;</a:t>
                      </a:r>
                      <a:r>
                        <a:rPr lang="en-US" sz="1800" b="0" u="sng" dirty="0" err="1">
                          <a:effectLst/>
                          <a:hlinkClick r:id="rId6"/>
                        </a:rPr>
                        <a:t>optgroup</a:t>
                      </a:r>
                      <a:r>
                        <a:rPr lang="en-US" sz="1800" b="0" u="sng" dirty="0">
                          <a:effectLst/>
                          <a:hlinkClick r:id="rId6"/>
                        </a:rPr>
                        <a:t>&gt;</a:t>
                      </a:r>
                      <a:endParaRPr lang="en-US" sz="1800" b="0" dirty="0">
                        <a:effectLst/>
                      </a:endParaRPr>
                    </a:p>
                  </a:txBody>
                  <a:tcPr marL="95250" marR="95250" marT="133350" marB="133350" anchor="ctr"/>
                </a:tc>
                <a:tc>
                  <a:txBody>
                    <a:bodyPr/>
                    <a:lstStyle/>
                    <a:p>
                      <a:pPr algn="l" fontAlgn="ctr"/>
                      <a:r>
                        <a:rPr lang="en-US" sz="1800" b="0" dirty="0">
                          <a:effectLst/>
                        </a:rPr>
                        <a:t>It is used to define group-related options in a drop-down list.</a:t>
                      </a:r>
                    </a:p>
                  </a:txBody>
                  <a:tcPr marL="95250" marR="95250" marT="133350" marB="133350" anchor="ctr"/>
                </a:tc>
              </a:tr>
            </a:tbl>
          </a:graphicData>
        </a:graphic>
      </p:graphicFrame>
    </p:spTree>
    <p:extLst>
      <p:ext uri="{BB962C8B-B14F-4D97-AF65-F5344CB8AC3E}">
        <p14:creationId xmlns:p14="http://schemas.microsoft.com/office/powerpoint/2010/main" val="2224031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Commonly Used Input Types in HTML Forms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70325723"/>
              </p:ext>
            </p:extLst>
          </p:nvPr>
        </p:nvGraphicFramePr>
        <p:xfrm>
          <a:off x="838200" y="1825625"/>
          <a:ext cx="10515600" cy="4526280"/>
        </p:xfrm>
        <a:graphic>
          <a:graphicData uri="http://schemas.openxmlformats.org/drawingml/2006/table">
            <a:tbl>
              <a:tblPr firstRow="1" bandRow="1">
                <a:tableStyleId>{5C22544A-7EE6-4342-B048-85BDC9FD1C3A}</a:tableStyleId>
              </a:tblPr>
              <a:tblGrid>
                <a:gridCol w="2751161"/>
                <a:gridCol w="7764439"/>
              </a:tblGrid>
              <a:tr h="370840">
                <a:tc>
                  <a:txBody>
                    <a:bodyPr/>
                    <a:lstStyle/>
                    <a:p>
                      <a:pPr algn="ctr" rtl="0" fontAlgn="base"/>
                      <a:r>
                        <a:rPr lang="en-US" sz="1800" b="1" dirty="0">
                          <a:effectLst/>
                        </a:rPr>
                        <a:t>Input Type</a:t>
                      </a:r>
                    </a:p>
                  </a:txBody>
                  <a:tcPr marL="38100" marR="38100" marT="95250" marB="95250" anchor="ctr"/>
                </a:tc>
                <a:tc>
                  <a:txBody>
                    <a:bodyPr/>
                    <a:lstStyle/>
                    <a:p>
                      <a:pPr algn="ctr" rtl="0" fontAlgn="base"/>
                      <a:r>
                        <a:rPr lang="en-US" sz="1800" b="1">
                          <a:effectLst/>
                        </a:rPr>
                        <a:t>Description</a:t>
                      </a:r>
                    </a:p>
                  </a:txBody>
                  <a:tcPr marL="95250" marR="95250" marT="95250" marB="95250" anchor="ctr"/>
                </a:tc>
              </a:tr>
              <a:tr h="370840">
                <a:tc>
                  <a:txBody>
                    <a:bodyPr/>
                    <a:lstStyle/>
                    <a:p>
                      <a:pPr algn="l" rtl="0" fontAlgn="base"/>
                      <a:r>
                        <a:rPr lang="en-US" sz="1800" b="0" u="sng" dirty="0">
                          <a:effectLst/>
                          <a:hlinkClick r:id="rId3"/>
                        </a:rPr>
                        <a:t>&lt;input type=”text”&gt;</a:t>
                      </a:r>
                      <a:endParaRPr lang="en-US" sz="1800" b="0" dirty="0">
                        <a:effectLst/>
                      </a:endParaRPr>
                    </a:p>
                  </a:txBody>
                  <a:tcPr marL="95250" marR="95250" marT="133350" marB="133350" anchor="ctr"/>
                </a:tc>
                <a:tc>
                  <a:txBody>
                    <a:bodyPr/>
                    <a:lstStyle/>
                    <a:p>
                      <a:pPr algn="l" rtl="0" fontAlgn="base"/>
                      <a:r>
                        <a:rPr lang="en-US" sz="1800" b="0">
                          <a:effectLst/>
                        </a:rPr>
                        <a:t>Defines a one-line text input field</a:t>
                      </a:r>
                    </a:p>
                  </a:txBody>
                  <a:tcPr marL="95250" marR="95250" marT="133350" marB="133350" anchor="ctr"/>
                </a:tc>
              </a:tr>
              <a:tr h="370840">
                <a:tc>
                  <a:txBody>
                    <a:bodyPr/>
                    <a:lstStyle/>
                    <a:p>
                      <a:pPr algn="l" rtl="0" fontAlgn="base"/>
                      <a:r>
                        <a:rPr lang="en-US" sz="1800" b="0" u="sng" dirty="0">
                          <a:effectLst/>
                          <a:hlinkClick r:id="rId4"/>
                        </a:rPr>
                        <a:t>&lt;input type=”password”&gt;</a:t>
                      </a:r>
                      <a:endParaRPr lang="en-US" sz="1800" b="0" dirty="0">
                        <a:effectLst/>
                      </a:endParaRPr>
                    </a:p>
                  </a:txBody>
                  <a:tcPr marL="95250" marR="95250" marT="133350" marB="133350" anchor="ctr"/>
                </a:tc>
                <a:tc>
                  <a:txBody>
                    <a:bodyPr/>
                    <a:lstStyle/>
                    <a:p>
                      <a:pPr algn="l" rtl="0" fontAlgn="base"/>
                      <a:r>
                        <a:rPr lang="en-US" sz="1800" b="0">
                          <a:effectLst/>
                        </a:rPr>
                        <a:t>Defines a password field</a:t>
                      </a:r>
                    </a:p>
                  </a:txBody>
                  <a:tcPr marL="95250" marR="95250" marT="133350" marB="133350" anchor="ctr"/>
                </a:tc>
              </a:tr>
              <a:tr h="370840">
                <a:tc>
                  <a:txBody>
                    <a:bodyPr/>
                    <a:lstStyle/>
                    <a:p>
                      <a:pPr algn="l" rtl="0" fontAlgn="base"/>
                      <a:r>
                        <a:rPr lang="en-US" sz="1800" b="0" u="sng" dirty="0">
                          <a:effectLst/>
                          <a:hlinkClick r:id="rId5"/>
                        </a:rPr>
                        <a:t>&lt;input type=”submit”&gt;</a:t>
                      </a:r>
                      <a:endParaRPr lang="en-US" sz="1800" b="0" dirty="0">
                        <a:effectLst/>
                      </a:endParaRPr>
                    </a:p>
                  </a:txBody>
                  <a:tcPr marL="95250" marR="95250" marT="133350" marB="133350" anchor="ctr"/>
                </a:tc>
                <a:tc>
                  <a:txBody>
                    <a:bodyPr/>
                    <a:lstStyle/>
                    <a:p>
                      <a:pPr algn="l" rtl="0" fontAlgn="base"/>
                      <a:r>
                        <a:rPr lang="en-US" sz="1800" b="0">
                          <a:effectLst/>
                        </a:rPr>
                        <a:t>Defines a submit button</a:t>
                      </a:r>
                    </a:p>
                  </a:txBody>
                  <a:tcPr marL="95250" marR="95250" marT="133350" marB="133350" anchor="ctr"/>
                </a:tc>
              </a:tr>
              <a:tr h="370840">
                <a:tc>
                  <a:txBody>
                    <a:bodyPr/>
                    <a:lstStyle/>
                    <a:p>
                      <a:pPr algn="l" rtl="0" fontAlgn="base"/>
                      <a:r>
                        <a:rPr lang="en-US" sz="1800" b="0" u="sng" dirty="0">
                          <a:effectLst/>
                          <a:hlinkClick r:id="rId6"/>
                        </a:rPr>
                        <a:t>&lt;input type=”reset”&gt;</a:t>
                      </a:r>
                      <a:endParaRPr lang="en-US" sz="1800" b="0" dirty="0">
                        <a:effectLst/>
                      </a:endParaRPr>
                    </a:p>
                  </a:txBody>
                  <a:tcPr marL="95250" marR="95250" marT="133350" marB="133350" anchor="ctr"/>
                </a:tc>
                <a:tc>
                  <a:txBody>
                    <a:bodyPr/>
                    <a:lstStyle/>
                    <a:p>
                      <a:pPr algn="l" rtl="0" fontAlgn="base"/>
                      <a:r>
                        <a:rPr lang="en-US" sz="1800" b="0">
                          <a:effectLst/>
                        </a:rPr>
                        <a:t>Defines a reset button</a:t>
                      </a:r>
                    </a:p>
                  </a:txBody>
                  <a:tcPr marL="95250" marR="95250" marT="133350" marB="133350" anchor="ctr"/>
                </a:tc>
              </a:tr>
              <a:tr h="370840">
                <a:tc>
                  <a:txBody>
                    <a:bodyPr/>
                    <a:lstStyle/>
                    <a:p>
                      <a:pPr algn="l" rtl="0" fontAlgn="base"/>
                      <a:r>
                        <a:rPr lang="en-US" sz="1800" b="0" u="sng" dirty="0">
                          <a:effectLst/>
                          <a:hlinkClick r:id="rId7"/>
                        </a:rPr>
                        <a:t>&lt;input type=”radio”&gt;</a:t>
                      </a:r>
                      <a:endParaRPr lang="en-US" sz="1800" b="0" dirty="0">
                        <a:effectLst/>
                      </a:endParaRPr>
                    </a:p>
                  </a:txBody>
                  <a:tcPr marL="95250" marR="95250" marT="133350" marB="133350" anchor="ctr"/>
                </a:tc>
                <a:tc>
                  <a:txBody>
                    <a:bodyPr/>
                    <a:lstStyle/>
                    <a:p>
                      <a:pPr algn="l" rtl="0" fontAlgn="base"/>
                      <a:r>
                        <a:rPr lang="en-US" sz="1800" b="0">
                          <a:effectLst/>
                        </a:rPr>
                        <a:t>Defines a radio button</a:t>
                      </a:r>
                    </a:p>
                  </a:txBody>
                  <a:tcPr marL="95250" marR="95250" marT="133350" marB="133350" anchor="ctr"/>
                </a:tc>
              </a:tr>
              <a:tr h="370840">
                <a:tc>
                  <a:txBody>
                    <a:bodyPr/>
                    <a:lstStyle/>
                    <a:p>
                      <a:pPr algn="l" rtl="0" fontAlgn="base"/>
                      <a:r>
                        <a:rPr lang="en-US" sz="1800" b="0" u="sng" dirty="0">
                          <a:effectLst/>
                          <a:hlinkClick r:id="rId8"/>
                        </a:rPr>
                        <a:t>&lt;input type=”email”&gt;</a:t>
                      </a:r>
                      <a:endParaRPr lang="en-US" sz="1800" b="0" dirty="0">
                        <a:effectLst/>
                      </a:endParaRPr>
                    </a:p>
                  </a:txBody>
                  <a:tcPr marL="95250" marR="95250" marT="133350" marB="133350" anchor="ctr"/>
                </a:tc>
                <a:tc>
                  <a:txBody>
                    <a:bodyPr/>
                    <a:lstStyle/>
                    <a:p>
                      <a:pPr algn="l" rtl="0" fontAlgn="base"/>
                      <a:r>
                        <a:rPr lang="en-US" sz="1800" b="0">
                          <a:effectLst/>
                        </a:rPr>
                        <a:t>Validates that the input is a valid email address.</a:t>
                      </a:r>
                    </a:p>
                  </a:txBody>
                  <a:tcPr marL="95250" marR="95250" marT="133350" marB="133350" anchor="ctr"/>
                </a:tc>
              </a:tr>
              <a:tr h="370840">
                <a:tc>
                  <a:txBody>
                    <a:bodyPr/>
                    <a:lstStyle/>
                    <a:p>
                      <a:pPr algn="l" rtl="0" fontAlgn="base"/>
                      <a:r>
                        <a:rPr lang="en-US" sz="1800" b="0" u="sng" dirty="0">
                          <a:effectLst/>
                          <a:hlinkClick r:id="rId9"/>
                        </a:rPr>
                        <a:t>&lt;input type=”number”&gt;</a:t>
                      </a:r>
                      <a:endParaRPr lang="en-US" sz="1800" b="0" dirty="0">
                        <a:effectLst/>
                      </a:endParaRPr>
                    </a:p>
                  </a:txBody>
                  <a:tcPr marL="95250" marR="95250" marT="133350" marB="133350" anchor="ctr"/>
                </a:tc>
                <a:tc>
                  <a:txBody>
                    <a:bodyPr/>
                    <a:lstStyle/>
                    <a:p>
                      <a:pPr algn="l" rtl="0" fontAlgn="base"/>
                      <a:r>
                        <a:rPr lang="en-US" sz="1800" b="0" dirty="0">
                          <a:effectLst/>
                        </a:rPr>
                        <a:t>Allows the user to enter a number. You can specify min, max, and step attributes for range.</a:t>
                      </a:r>
                    </a:p>
                  </a:txBody>
                  <a:tcPr marL="95250" marR="95250" marT="133350" marB="133350" anchor="ctr"/>
                </a:tc>
              </a:tr>
            </a:tbl>
          </a:graphicData>
        </a:graphic>
      </p:graphicFrame>
    </p:spTree>
    <p:extLst>
      <p:ext uri="{BB962C8B-B14F-4D97-AF65-F5344CB8AC3E}">
        <p14:creationId xmlns:p14="http://schemas.microsoft.com/office/powerpoint/2010/main" val="2987508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Commonly Used Input Types in HTML Forms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62933038"/>
              </p:ext>
            </p:extLst>
          </p:nvPr>
        </p:nvGraphicFramePr>
        <p:xfrm>
          <a:off x="838200" y="1825625"/>
          <a:ext cx="10515600" cy="2628900"/>
        </p:xfrm>
        <a:graphic>
          <a:graphicData uri="http://schemas.openxmlformats.org/drawingml/2006/table">
            <a:tbl>
              <a:tblPr firstRow="1" bandRow="1">
                <a:tableStyleId>{5C22544A-7EE6-4342-B048-85BDC9FD1C3A}</a:tableStyleId>
              </a:tblPr>
              <a:tblGrid>
                <a:gridCol w="2751161"/>
                <a:gridCol w="7764439"/>
              </a:tblGrid>
              <a:tr h="370840">
                <a:tc>
                  <a:txBody>
                    <a:bodyPr/>
                    <a:lstStyle/>
                    <a:p>
                      <a:pPr algn="ctr" rtl="0" fontAlgn="base"/>
                      <a:r>
                        <a:rPr lang="en-US" sz="1800" b="1" dirty="0">
                          <a:effectLst/>
                        </a:rPr>
                        <a:t>Input Type</a:t>
                      </a:r>
                    </a:p>
                  </a:txBody>
                  <a:tcPr marL="38100" marR="38100" marT="95250" marB="95250" anchor="ctr"/>
                </a:tc>
                <a:tc>
                  <a:txBody>
                    <a:bodyPr/>
                    <a:lstStyle/>
                    <a:p>
                      <a:pPr algn="ctr" rtl="0" fontAlgn="base"/>
                      <a:r>
                        <a:rPr lang="en-US" sz="1800" b="1">
                          <a:effectLst/>
                        </a:rPr>
                        <a:t>Description</a:t>
                      </a:r>
                    </a:p>
                  </a:txBody>
                  <a:tcPr marL="95250" marR="95250" marT="95250" marB="95250" anchor="ctr"/>
                </a:tc>
              </a:tr>
              <a:tr h="370840">
                <a:tc>
                  <a:txBody>
                    <a:bodyPr/>
                    <a:lstStyle/>
                    <a:p>
                      <a:pPr algn="l" rtl="0" fontAlgn="base"/>
                      <a:r>
                        <a:rPr lang="en-US" sz="1800" b="0" u="sng" dirty="0">
                          <a:effectLst/>
                          <a:hlinkClick r:id="rId3"/>
                        </a:rPr>
                        <a:t>&lt;input type=”checkbox”&gt;</a:t>
                      </a:r>
                      <a:endParaRPr lang="en-US" sz="1800" b="0" dirty="0">
                        <a:effectLst/>
                      </a:endParaRPr>
                    </a:p>
                  </a:txBody>
                  <a:tcPr marL="95250" marR="95250" marT="133350" marB="133350" anchor="ctr"/>
                </a:tc>
                <a:tc>
                  <a:txBody>
                    <a:bodyPr/>
                    <a:lstStyle/>
                    <a:p>
                      <a:pPr algn="l" rtl="0" fontAlgn="base"/>
                      <a:r>
                        <a:rPr lang="en-US" sz="1800" b="0">
                          <a:effectLst/>
                        </a:rPr>
                        <a:t>Used for checkboxes where the user can select multiple options.</a:t>
                      </a:r>
                    </a:p>
                  </a:txBody>
                  <a:tcPr marL="95250" marR="95250" marT="133350" marB="133350" anchor="ctr"/>
                </a:tc>
              </a:tr>
              <a:tr h="370840">
                <a:tc>
                  <a:txBody>
                    <a:bodyPr/>
                    <a:lstStyle/>
                    <a:p>
                      <a:pPr algn="l" rtl="0" fontAlgn="base"/>
                      <a:r>
                        <a:rPr lang="en-US" sz="1800" b="0" u="sng" dirty="0">
                          <a:effectLst/>
                          <a:hlinkClick r:id="rId4"/>
                        </a:rPr>
                        <a:t>&lt;input type=”date”&gt;</a:t>
                      </a:r>
                      <a:endParaRPr lang="en-US" sz="1800" b="0" dirty="0">
                        <a:effectLst/>
                      </a:endParaRPr>
                    </a:p>
                  </a:txBody>
                  <a:tcPr marL="95250" marR="95250" marT="133350" marB="133350" anchor="ctr"/>
                </a:tc>
                <a:tc>
                  <a:txBody>
                    <a:bodyPr/>
                    <a:lstStyle/>
                    <a:p>
                      <a:pPr algn="l" rtl="0" fontAlgn="base"/>
                      <a:r>
                        <a:rPr lang="en-US" sz="1800" b="0">
                          <a:effectLst/>
                        </a:rPr>
                        <a:t>Allows the user to select a date from a calendar.</a:t>
                      </a:r>
                    </a:p>
                  </a:txBody>
                  <a:tcPr marL="95250" marR="95250" marT="133350" marB="133350" anchor="ctr"/>
                </a:tc>
              </a:tr>
              <a:tr h="370840">
                <a:tc>
                  <a:txBody>
                    <a:bodyPr/>
                    <a:lstStyle/>
                    <a:p>
                      <a:pPr algn="l" rtl="0" fontAlgn="base"/>
                      <a:r>
                        <a:rPr lang="en-US" sz="1800" b="0" u="sng" dirty="0">
                          <a:effectLst/>
                          <a:hlinkClick r:id="rId5"/>
                        </a:rPr>
                        <a:t>&lt;input type=”time”&gt;</a:t>
                      </a:r>
                      <a:endParaRPr lang="en-US" sz="1800" b="0" dirty="0">
                        <a:effectLst/>
                      </a:endParaRPr>
                    </a:p>
                  </a:txBody>
                  <a:tcPr marL="95250" marR="95250" marT="133350" marB="133350" anchor="ctr"/>
                </a:tc>
                <a:tc>
                  <a:txBody>
                    <a:bodyPr/>
                    <a:lstStyle/>
                    <a:p>
                      <a:pPr algn="l" rtl="0" fontAlgn="base"/>
                      <a:r>
                        <a:rPr lang="en-US" sz="1800" b="0">
                          <a:effectLst/>
                        </a:rPr>
                        <a:t>Allows the user to select a time.</a:t>
                      </a:r>
                    </a:p>
                  </a:txBody>
                  <a:tcPr marL="95250" marR="95250" marT="133350" marB="133350" anchor="ctr"/>
                </a:tc>
              </a:tr>
              <a:tr h="370840">
                <a:tc>
                  <a:txBody>
                    <a:bodyPr/>
                    <a:lstStyle/>
                    <a:p>
                      <a:pPr algn="l" rtl="0" fontAlgn="base"/>
                      <a:r>
                        <a:rPr lang="en-US" sz="1800" b="0" u="sng" dirty="0">
                          <a:effectLst/>
                          <a:hlinkClick r:id="rId6"/>
                        </a:rPr>
                        <a:t>&lt;input type=”file”&gt;</a:t>
                      </a:r>
                      <a:endParaRPr lang="en-US" sz="1800" b="0" dirty="0">
                        <a:effectLst/>
                      </a:endParaRPr>
                    </a:p>
                  </a:txBody>
                  <a:tcPr marL="95250" marR="95250" marT="133350" marB="133350" anchor="ctr"/>
                </a:tc>
                <a:tc>
                  <a:txBody>
                    <a:bodyPr/>
                    <a:lstStyle/>
                    <a:p>
                      <a:pPr algn="l" rtl="0" fontAlgn="base"/>
                      <a:r>
                        <a:rPr lang="en-US" sz="1800" b="0" dirty="0">
                          <a:effectLst/>
                        </a:rPr>
                        <a:t>Allows the user to select a file to upload.</a:t>
                      </a:r>
                    </a:p>
                  </a:txBody>
                  <a:tcPr marL="95250" marR="95250" marT="133350" marB="133350" anchor="ctr"/>
                </a:tc>
              </a:tr>
            </a:tbl>
          </a:graphicData>
        </a:graphic>
      </p:graphicFrame>
    </p:spTree>
    <p:extLst>
      <p:ext uri="{BB962C8B-B14F-4D97-AF65-F5344CB8AC3E}">
        <p14:creationId xmlns:p14="http://schemas.microsoft.com/office/powerpoint/2010/main" val="946862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a:t>
            </a:r>
            <a:r>
              <a:rPr lang="en-US" dirty="0"/>
              <a:t>attributes that can be used with the &lt;form&gt; element:</a:t>
            </a:r>
          </a:p>
        </p:txBody>
      </p:sp>
      <p:sp>
        <p:nvSpPr>
          <p:cNvPr id="3" name="Content Placeholder 2"/>
          <p:cNvSpPr>
            <a:spLocks noGrp="1"/>
          </p:cNvSpPr>
          <p:nvPr>
            <p:ph idx="1"/>
          </p:nvPr>
        </p:nvSpPr>
        <p:spPr>
          <a:xfrm>
            <a:off x="838200" y="2248705"/>
            <a:ext cx="10515600" cy="4351338"/>
          </a:xfrm>
        </p:spPr>
        <p:txBody>
          <a:bodyPr>
            <a:normAutofit/>
          </a:bodyPr>
          <a:lstStyle/>
          <a:p>
            <a:pPr fontAlgn="base"/>
            <a:r>
              <a:rPr lang="en-US" b="1" dirty="0"/>
              <a:t>action:</a:t>
            </a:r>
            <a:r>
              <a:rPr lang="en-US" dirty="0"/>
              <a:t> This attribute specifies where to send the form-data when a form is submitted. The value of this attribute is typically a URL.</a:t>
            </a:r>
          </a:p>
          <a:p>
            <a:pPr fontAlgn="base"/>
            <a:r>
              <a:rPr lang="en-US" b="1" dirty="0"/>
              <a:t>method:</a:t>
            </a:r>
            <a:r>
              <a:rPr lang="en-US" dirty="0"/>
              <a:t> This attribute defines the HTTP method used to send the form-data. The values can be “</a:t>
            </a:r>
            <a:r>
              <a:rPr lang="en-US" b="1" dirty="0"/>
              <a:t>get</a:t>
            </a:r>
            <a:r>
              <a:rPr lang="en-US" dirty="0"/>
              <a:t>” or “</a:t>
            </a:r>
            <a:r>
              <a:rPr lang="en-US" b="1" dirty="0"/>
              <a:t>post</a:t>
            </a:r>
            <a:r>
              <a:rPr lang="en-US" dirty="0"/>
              <a:t>”.</a:t>
            </a:r>
          </a:p>
          <a:p>
            <a:pPr fontAlgn="base"/>
            <a:r>
              <a:rPr lang="en-US" b="1" dirty="0"/>
              <a:t>target:</a:t>
            </a:r>
            <a:r>
              <a:rPr lang="en-US" dirty="0"/>
              <a:t> This attribute specifies where to display the response received after submitting the form. The values can be “</a:t>
            </a:r>
            <a:r>
              <a:rPr lang="en-US" b="1" dirty="0"/>
              <a:t>_blank</a:t>
            </a:r>
            <a:r>
              <a:rPr lang="en-US" dirty="0"/>
              <a:t>”, “</a:t>
            </a:r>
            <a:r>
              <a:rPr lang="en-US" b="1" dirty="0"/>
              <a:t>_self</a:t>
            </a:r>
            <a:r>
              <a:rPr lang="en-US" dirty="0"/>
              <a:t>”, “</a:t>
            </a:r>
            <a:r>
              <a:rPr lang="en-US" b="1" dirty="0"/>
              <a:t>_parent</a:t>
            </a:r>
            <a:r>
              <a:rPr lang="en-US" dirty="0"/>
              <a:t>”, “</a:t>
            </a:r>
            <a:r>
              <a:rPr lang="en-US" b="1" dirty="0"/>
              <a:t>_top</a:t>
            </a:r>
            <a:r>
              <a:rPr lang="en-US" dirty="0"/>
              <a:t>”, or the name of an </a:t>
            </a:r>
            <a:r>
              <a:rPr lang="en-US" dirty="0" err="1"/>
              <a:t>iframe</a:t>
            </a:r>
            <a:r>
              <a:rPr lang="en-US" dirty="0"/>
              <a:t>.</a:t>
            </a:r>
          </a:p>
          <a:p>
            <a:endParaRPr lang="en-US" dirty="0"/>
          </a:p>
        </p:txBody>
      </p:sp>
    </p:spTree>
    <p:extLst>
      <p:ext uri="{BB962C8B-B14F-4D97-AF65-F5344CB8AC3E}">
        <p14:creationId xmlns:p14="http://schemas.microsoft.com/office/powerpoint/2010/main" val="1890798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r>
              <a:rPr lang="en-US" b="1" dirty="0" err="1"/>
              <a:t>enctype</a:t>
            </a:r>
            <a:r>
              <a:rPr lang="en-US" b="1" dirty="0"/>
              <a:t>:</a:t>
            </a:r>
            <a:r>
              <a:rPr lang="en-US" dirty="0"/>
              <a:t> This attribute is used when method=“post”. It specifies how the form-data should be encoded when submitting it to the server. The values can be “</a:t>
            </a:r>
            <a:r>
              <a:rPr lang="en-US" b="1" dirty="0"/>
              <a:t>application/x-www-form-</a:t>
            </a:r>
            <a:r>
              <a:rPr lang="en-US" b="1" dirty="0" err="1"/>
              <a:t>urlencoded</a:t>
            </a:r>
            <a:r>
              <a:rPr lang="en-US" dirty="0"/>
              <a:t>”, “</a:t>
            </a:r>
            <a:r>
              <a:rPr lang="en-US" b="1" dirty="0"/>
              <a:t>multipart/form-data</a:t>
            </a:r>
            <a:r>
              <a:rPr lang="en-US" dirty="0"/>
              <a:t>”, or “</a:t>
            </a:r>
            <a:r>
              <a:rPr lang="en-US" b="1" dirty="0"/>
              <a:t>text/plain</a:t>
            </a:r>
            <a:r>
              <a:rPr lang="en-US" dirty="0" smtClean="0"/>
              <a:t>”.</a:t>
            </a:r>
            <a:endParaRPr lang="en-US" b="1" dirty="0" smtClean="0"/>
          </a:p>
          <a:p>
            <a:pPr fontAlgn="base"/>
            <a:r>
              <a:rPr lang="en-US" b="1" dirty="0" smtClean="0"/>
              <a:t>autocomplete</a:t>
            </a:r>
            <a:r>
              <a:rPr lang="en-US" b="1" dirty="0"/>
              <a:t>:</a:t>
            </a:r>
            <a:r>
              <a:rPr lang="en-US" dirty="0"/>
              <a:t> This attribute specifies whether a form should have autocomplete on or off. When autocomplete is on, the browser automatically completes values based on values that the user has entered before.</a:t>
            </a:r>
          </a:p>
          <a:p>
            <a:pPr fontAlgn="base"/>
            <a:r>
              <a:rPr lang="en-US" b="1" dirty="0" err="1"/>
              <a:t>novalidate</a:t>
            </a:r>
            <a:r>
              <a:rPr lang="en-US" b="1" dirty="0"/>
              <a:t>:</a:t>
            </a:r>
            <a:r>
              <a:rPr lang="en-US" dirty="0"/>
              <a:t> This Boolean attribute specifies that the form-data should not be validated on submission.</a:t>
            </a:r>
          </a:p>
          <a:p>
            <a:endParaRPr lang="en-US" dirty="0"/>
          </a:p>
        </p:txBody>
      </p:sp>
    </p:spTree>
    <p:extLst>
      <p:ext uri="{BB962C8B-B14F-4D97-AF65-F5344CB8AC3E}">
        <p14:creationId xmlns:p14="http://schemas.microsoft.com/office/powerpoint/2010/main" val="1609740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XML</a:t>
            </a:r>
          </a:p>
        </p:txBody>
      </p:sp>
      <p:sp>
        <p:nvSpPr>
          <p:cNvPr id="3" name="Content Placeholder 2"/>
          <p:cNvSpPr>
            <a:spLocks noGrp="1"/>
          </p:cNvSpPr>
          <p:nvPr>
            <p:ph idx="1"/>
          </p:nvPr>
        </p:nvSpPr>
        <p:spPr/>
        <p:txBody>
          <a:bodyPr/>
          <a:lstStyle/>
          <a:p>
            <a:pPr fontAlgn="base"/>
            <a:r>
              <a:rPr lang="en-US" dirty="0"/>
              <a:t>XML stands for extensible Markup Language</a:t>
            </a:r>
          </a:p>
          <a:p>
            <a:pPr fontAlgn="base"/>
            <a:r>
              <a:rPr lang="en-US" dirty="0"/>
              <a:t>XML is a markup language like </a:t>
            </a:r>
            <a:r>
              <a:rPr lang="en-US" u="sng" dirty="0">
                <a:hlinkClick r:id="rId2"/>
              </a:rPr>
              <a:t>HTML</a:t>
            </a:r>
            <a:endParaRPr lang="en-US" dirty="0"/>
          </a:p>
          <a:p>
            <a:pPr fontAlgn="base"/>
            <a:r>
              <a:rPr lang="en-US" dirty="0"/>
              <a:t>XML is designed to store and transport data</a:t>
            </a:r>
          </a:p>
          <a:p>
            <a:pPr fontAlgn="base"/>
            <a:r>
              <a:rPr lang="en-US" dirty="0"/>
              <a:t>XML is designed to be </a:t>
            </a:r>
            <a:r>
              <a:rPr lang="en-US" dirty="0" smtClean="0"/>
              <a:t>self-descriptive.(</a:t>
            </a:r>
            <a:r>
              <a:rPr lang="en-US" dirty="0"/>
              <a:t>you define your own tags designed specifically for your needs</a:t>
            </a:r>
            <a:r>
              <a:rPr lang="en-US" dirty="0" smtClean="0"/>
              <a:t>.)</a:t>
            </a:r>
            <a:endParaRPr lang="en-US" dirty="0"/>
          </a:p>
          <a:p>
            <a:endParaRPr lang="en-US" dirty="0" smtClean="0"/>
          </a:p>
          <a:p>
            <a:r>
              <a:rPr lang="en-US" dirty="0"/>
              <a:t>Basically XML </a:t>
            </a:r>
            <a:r>
              <a:rPr lang="en-US" dirty="0" smtClean="0"/>
              <a:t> </a:t>
            </a:r>
            <a:r>
              <a:rPr lang="en-US" dirty="0"/>
              <a:t>does not do anything. </a:t>
            </a:r>
            <a:endParaRPr lang="en-US" dirty="0" smtClean="0"/>
          </a:p>
          <a:p>
            <a:r>
              <a:rPr lang="en-US" dirty="0" smtClean="0"/>
              <a:t>XML </a:t>
            </a:r>
            <a:r>
              <a:rPr lang="en-US" dirty="0"/>
              <a:t>is just information wrapped in tags. Users must require a piece of software to send, receive, store, or display it.</a:t>
            </a:r>
            <a:endParaRPr lang="en-US" dirty="0"/>
          </a:p>
        </p:txBody>
      </p:sp>
    </p:spTree>
    <p:extLst>
      <p:ext uri="{BB962C8B-B14F-4D97-AF65-F5344CB8AC3E}">
        <p14:creationId xmlns:p14="http://schemas.microsoft.com/office/powerpoint/2010/main" val="1106531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Differences between XML and HTML</a:t>
            </a:r>
            <a:endParaRPr lang="en-US" dirty="0"/>
          </a:p>
        </p:txBody>
      </p:sp>
      <p:sp>
        <p:nvSpPr>
          <p:cNvPr id="3" name="Content Placeholder 2"/>
          <p:cNvSpPr>
            <a:spLocks noGrp="1"/>
          </p:cNvSpPr>
          <p:nvPr>
            <p:ph idx="1"/>
          </p:nvPr>
        </p:nvSpPr>
        <p:spPr/>
        <p:txBody>
          <a:bodyPr/>
          <a:lstStyle/>
          <a:p>
            <a:pPr fontAlgn="base"/>
            <a:r>
              <a:rPr lang="en-US" dirty="0"/>
              <a:t>XML is designed to carry data emphasizing on what type of data it is.</a:t>
            </a:r>
          </a:p>
          <a:p>
            <a:pPr fontAlgn="base"/>
            <a:r>
              <a:rPr lang="en-US" dirty="0"/>
              <a:t>HTML is designed to display data emphasizing on how data looks</a:t>
            </a:r>
          </a:p>
          <a:p>
            <a:pPr fontAlgn="base"/>
            <a:r>
              <a:rPr lang="en-US" dirty="0"/>
              <a:t>XML tags are not predefined like HTML tags.</a:t>
            </a:r>
          </a:p>
          <a:p>
            <a:pPr fontAlgn="base"/>
            <a:r>
              <a:rPr lang="en-US" dirty="0"/>
              <a:t>HTML is a markup language whereas XML provides a framework for defining markup languages.</a:t>
            </a:r>
          </a:p>
          <a:p>
            <a:pPr fontAlgn="base"/>
            <a:r>
              <a:rPr lang="en-US" dirty="0"/>
              <a:t>HTML is about displaying </a:t>
            </a:r>
            <a:r>
              <a:rPr lang="en-US" dirty="0" err="1"/>
              <a:t>data,hence</a:t>
            </a:r>
            <a:r>
              <a:rPr lang="en-US" dirty="0"/>
              <a:t> it is static whereas XML is about carrying </a:t>
            </a:r>
            <a:r>
              <a:rPr lang="en-US" dirty="0" err="1"/>
              <a:t>information,which</a:t>
            </a:r>
            <a:r>
              <a:rPr lang="en-US" dirty="0"/>
              <a:t> makes it dynamic.</a:t>
            </a:r>
          </a:p>
          <a:p>
            <a:endParaRPr lang="en-US" dirty="0"/>
          </a:p>
        </p:txBody>
      </p:sp>
    </p:spTree>
    <p:extLst>
      <p:ext uri="{BB962C8B-B14F-4D97-AF65-F5344CB8AC3E}">
        <p14:creationId xmlns:p14="http://schemas.microsoft.com/office/powerpoint/2010/main" val="2297947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of XML</a:t>
            </a:r>
            <a:endParaRPr lang="en-US" dirty="0"/>
          </a:p>
        </p:txBody>
      </p:sp>
      <p:sp>
        <p:nvSpPr>
          <p:cNvPr id="3" name="Content Placeholder 2"/>
          <p:cNvSpPr>
            <a:spLocks noGrp="1"/>
          </p:cNvSpPr>
          <p:nvPr>
            <p:ph idx="1"/>
          </p:nvPr>
        </p:nvSpPr>
        <p:spPr/>
        <p:txBody>
          <a:bodyPr>
            <a:normAutofit fontScale="85000" lnSpcReduction="10000"/>
          </a:bodyPr>
          <a:lstStyle/>
          <a:p>
            <a:r>
              <a:rPr lang="en-US" dirty="0"/>
              <a:t>Prolog (optional): The prolog appears at the beginning of the XML document and contains metadata about the document itself, such as the XML version and the character encoding (e.g., &lt;?xml version="1.0" encoding="UTF-8</a:t>
            </a:r>
            <a:r>
              <a:rPr lang="en-US" dirty="0" smtClean="0"/>
              <a:t>"?&gt;)</a:t>
            </a:r>
            <a:endParaRPr lang="en-US" dirty="0"/>
          </a:p>
          <a:p>
            <a:r>
              <a:rPr lang="en-US" dirty="0"/>
              <a:t>Root Element: Every XML document must contain a single root element that encases all other elements. The root element provides a container for all data in the document to enforce a hierarchical </a:t>
            </a:r>
            <a:r>
              <a:rPr lang="en-US" dirty="0" smtClean="0"/>
              <a:t>structure</a:t>
            </a:r>
            <a:endParaRPr lang="en-US" dirty="0"/>
          </a:p>
          <a:p>
            <a:r>
              <a:rPr lang="en-US" dirty="0"/>
              <a:t>Elements: Elements are the building blocks of XML documents, denoted by tags. An element can contain text, other elements, or a mix of both. Elements are used to encase data points in a document, and typically consist of a start tag, content, and an end tag (e.g., &lt;name&gt;John Doe&lt;/name&gt;).</a:t>
            </a:r>
          </a:p>
          <a:p>
            <a:r>
              <a:rPr lang="en-US" dirty="0"/>
              <a:t>Attributes: Attributes provide additional information about elements. They are included within the start tag of an element and usually come in name/value pairs (e.g., &lt;postcode id="12345"/&gt;).</a:t>
            </a:r>
          </a:p>
          <a:p>
            <a:endParaRPr lang="en-US" dirty="0"/>
          </a:p>
          <a:p>
            <a:endParaRPr lang="en-US" dirty="0"/>
          </a:p>
        </p:txBody>
      </p:sp>
    </p:spTree>
    <p:extLst>
      <p:ext uri="{BB962C8B-B14F-4D97-AF65-F5344CB8AC3E}">
        <p14:creationId xmlns:p14="http://schemas.microsoft.com/office/powerpoint/2010/main" val="2508816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Hierarchical structure</a:t>
            </a:r>
          </a:p>
          <a:p>
            <a:r>
              <a:rPr lang="en-US" dirty="0"/>
              <a:t>Parent and child elements: </a:t>
            </a:r>
            <a:endParaRPr lang="en-US" dirty="0" smtClean="0"/>
          </a:p>
          <a:p>
            <a:pPr lvl="1"/>
            <a:r>
              <a:rPr lang="en-US" dirty="0" smtClean="0"/>
              <a:t>Elements </a:t>
            </a:r>
            <a:r>
              <a:rPr lang="en-US" dirty="0"/>
              <a:t>nested within other elements create parent-child relationships. This structure allows XML to represent complex data relationships naturally (e.g., a Person element might contain </a:t>
            </a:r>
            <a:r>
              <a:rPr lang="en-US" dirty="0" err="1"/>
              <a:t>FirstName</a:t>
            </a:r>
            <a:r>
              <a:rPr lang="en-US" dirty="0"/>
              <a:t>, </a:t>
            </a:r>
            <a:r>
              <a:rPr lang="en-US" dirty="0" err="1"/>
              <a:t>LastName</a:t>
            </a:r>
            <a:r>
              <a:rPr lang="en-US" dirty="0"/>
              <a:t>, and </a:t>
            </a:r>
            <a:r>
              <a:rPr lang="en-US" dirty="0" err="1"/>
              <a:t>ContactDetails</a:t>
            </a:r>
            <a:r>
              <a:rPr lang="en-US" dirty="0"/>
              <a:t> as child elements).</a:t>
            </a:r>
          </a:p>
        </p:txBody>
      </p:sp>
    </p:spTree>
    <p:extLst>
      <p:ext uri="{BB962C8B-B14F-4D97-AF65-F5344CB8AC3E}">
        <p14:creationId xmlns:p14="http://schemas.microsoft.com/office/powerpoint/2010/main" val="2389025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document structure</a:t>
            </a:r>
          </a:p>
        </p:txBody>
      </p:sp>
      <p:sp>
        <p:nvSpPr>
          <p:cNvPr id="3" name="Content Placeholder 2"/>
          <p:cNvSpPr>
            <a:spLocks noGrp="1"/>
          </p:cNvSpPr>
          <p:nvPr>
            <p:ph idx="1"/>
          </p:nvPr>
        </p:nvSpPr>
        <p:spPr/>
        <p:txBody>
          <a:bodyPr>
            <a:normAutofit lnSpcReduction="10000"/>
          </a:bodyPr>
          <a:lstStyle/>
          <a:p>
            <a:r>
              <a:rPr lang="en-US" dirty="0"/>
              <a:t>XML documents are formed as </a:t>
            </a:r>
            <a:r>
              <a:rPr lang="en-US" b="1" dirty="0"/>
              <a:t>element trees</a:t>
            </a:r>
            <a:r>
              <a:rPr lang="en-US" dirty="0"/>
              <a:t>.</a:t>
            </a:r>
          </a:p>
          <a:p>
            <a:r>
              <a:rPr lang="en-US" dirty="0"/>
              <a:t>An XML tree starts at a </a:t>
            </a:r>
            <a:r>
              <a:rPr lang="en-US" b="1" dirty="0"/>
              <a:t>root element</a:t>
            </a:r>
            <a:r>
              <a:rPr lang="en-US" dirty="0"/>
              <a:t> and branches from the root to </a:t>
            </a:r>
            <a:r>
              <a:rPr lang="en-US" b="1" dirty="0"/>
              <a:t>child elements</a:t>
            </a:r>
            <a:r>
              <a:rPr lang="en-US" dirty="0"/>
              <a:t>.</a:t>
            </a:r>
          </a:p>
          <a:p>
            <a:r>
              <a:rPr lang="en-US" dirty="0"/>
              <a:t>All elements can have sub elements (child elements):</a:t>
            </a:r>
          </a:p>
          <a:p>
            <a:r>
              <a:rPr lang="en-US" dirty="0"/>
              <a:t> </a:t>
            </a:r>
          </a:p>
          <a:p>
            <a:r>
              <a:rPr lang="en-US" dirty="0"/>
              <a:t>&lt;root&gt;</a:t>
            </a:r>
            <a:br>
              <a:rPr lang="en-US" dirty="0"/>
            </a:br>
            <a:r>
              <a:rPr lang="en-US" dirty="0"/>
              <a:t>  &lt;child&gt;</a:t>
            </a:r>
            <a:br>
              <a:rPr lang="en-US" dirty="0"/>
            </a:br>
            <a:r>
              <a:rPr lang="en-US" dirty="0"/>
              <a:t>    &lt;</a:t>
            </a:r>
            <a:r>
              <a:rPr lang="en-US" dirty="0" err="1"/>
              <a:t>subchild</a:t>
            </a:r>
            <a:r>
              <a:rPr lang="en-US" dirty="0"/>
              <a:t>&gt;.....&lt;/</a:t>
            </a:r>
            <a:r>
              <a:rPr lang="en-US" dirty="0" err="1"/>
              <a:t>subchild</a:t>
            </a:r>
            <a:r>
              <a:rPr lang="en-US" dirty="0"/>
              <a:t>&gt;</a:t>
            </a:r>
            <a:br>
              <a:rPr lang="en-US" dirty="0"/>
            </a:br>
            <a:r>
              <a:rPr lang="en-US" dirty="0"/>
              <a:t>  &lt;/child&gt;</a:t>
            </a:r>
            <a:br>
              <a:rPr lang="en-US" dirty="0"/>
            </a:br>
            <a:r>
              <a:rPr lang="en-US" dirty="0"/>
              <a:t>&lt;/root&gt;</a:t>
            </a:r>
          </a:p>
          <a:p>
            <a:endParaRPr lang="en-US" dirty="0"/>
          </a:p>
        </p:txBody>
      </p:sp>
    </p:spTree>
    <p:extLst>
      <p:ext uri="{BB962C8B-B14F-4D97-AF65-F5344CB8AC3E}">
        <p14:creationId xmlns:p14="http://schemas.microsoft.com/office/powerpoint/2010/main" val="1888764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Rule 1: Its standard format consists of an XML prolog which contains both XML Declaration and XML DTD (Document Type Definition) and the body. If the XML prolog is present, it should always be the beginning of the document. The XML Version, by default, is 1.0, and including only this forms the shortest XML Declaration. UTF-8 is the default character encoding and is one of seven character-encoding schemes. If it is not present, it can result in some encoding errors.</a:t>
            </a:r>
          </a:p>
          <a:p>
            <a:endParaRPr lang="en-US" dirty="0"/>
          </a:p>
          <a:p>
            <a:r>
              <a:rPr lang="en-US" dirty="0"/>
              <a:t>Syntax of XML Declaration:</a:t>
            </a:r>
          </a:p>
          <a:p>
            <a:endParaRPr lang="en-US" dirty="0"/>
          </a:p>
          <a:p>
            <a:r>
              <a:rPr lang="en-US" dirty="0"/>
              <a:t>&lt;?xml version="1.0" encoding="UTF-8"?&gt;</a:t>
            </a:r>
          </a:p>
        </p:txBody>
      </p:sp>
    </p:spTree>
    <p:extLst>
      <p:ext uri="{BB962C8B-B14F-4D97-AF65-F5344CB8AC3E}">
        <p14:creationId xmlns:p14="http://schemas.microsoft.com/office/powerpoint/2010/main" val="3177942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&lt;!DOCTYPE website [ </a:t>
            </a:r>
          </a:p>
          <a:p>
            <a:r>
              <a:rPr lang="en-US" dirty="0"/>
              <a:t>&lt;!ELEMENT website (</a:t>
            </a:r>
            <a:r>
              <a:rPr lang="en-US" dirty="0" err="1"/>
              <a:t>name,company,phone</a:t>
            </a:r>
            <a:r>
              <a:rPr lang="en-US" dirty="0"/>
              <a:t>)&gt; </a:t>
            </a:r>
          </a:p>
          <a:p>
            <a:r>
              <a:rPr lang="en-US" dirty="0"/>
              <a:t>&lt;!ELEMENT name (#PCDATA)&gt; </a:t>
            </a:r>
          </a:p>
          <a:p>
            <a:r>
              <a:rPr lang="en-US" dirty="0"/>
              <a:t>&lt;!ELEMENT company (#PCDATA)&gt; </a:t>
            </a:r>
          </a:p>
          <a:p>
            <a:r>
              <a:rPr lang="en-US" dirty="0"/>
              <a:t>&lt;!ELEMENT phone (#PCDATA)&gt; </a:t>
            </a:r>
          </a:p>
          <a:p>
            <a:r>
              <a:rPr lang="en-US" dirty="0"/>
              <a:t>]&gt; </a:t>
            </a:r>
          </a:p>
          <a:p>
            <a:endParaRPr lang="en-US" dirty="0"/>
          </a:p>
          <a:p>
            <a:r>
              <a:rPr lang="en-US" dirty="0"/>
              <a:t>&lt;website&gt; </a:t>
            </a:r>
          </a:p>
          <a:p>
            <a:r>
              <a:rPr lang="en-US" dirty="0"/>
              <a:t>&lt;name&gt;</a:t>
            </a:r>
            <a:r>
              <a:rPr lang="en-US" dirty="0" err="1"/>
              <a:t>GeeksforGeeks</a:t>
            </a:r>
            <a:r>
              <a:rPr lang="en-US" dirty="0"/>
              <a:t>&lt;/name&gt; </a:t>
            </a:r>
          </a:p>
          <a:p>
            <a:r>
              <a:rPr lang="en-US" dirty="0"/>
              <a:t>&lt;company&gt;</a:t>
            </a:r>
            <a:r>
              <a:rPr lang="en-US" dirty="0" err="1"/>
              <a:t>GeeksforGeeks</a:t>
            </a:r>
            <a:r>
              <a:rPr lang="en-US" dirty="0"/>
              <a:t>&lt;/company&gt; </a:t>
            </a:r>
          </a:p>
          <a:p>
            <a:r>
              <a:rPr lang="en-US" dirty="0"/>
              <a:t>&lt;phone&gt;011-24567981&lt;/phone&gt; </a:t>
            </a:r>
          </a:p>
          <a:p>
            <a:r>
              <a:rPr lang="en-US" dirty="0"/>
              <a:t>&lt;/website&gt;</a:t>
            </a:r>
          </a:p>
          <a:p>
            <a:endParaRPr lang="en-US" dirty="0"/>
          </a:p>
        </p:txBody>
      </p:sp>
    </p:spTree>
    <p:extLst>
      <p:ext uri="{BB962C8B-B14F-4D97-AF65-F5344CB8AC3E}">
        <p14:creationId xmlns:p14="http://schemas.microsoft.com/office/powerpoint/2010/main" val="1497328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Rule 2: XML Documents must have a root element (the supreme parent element) and its child elements (sub-elements). To have a better view of the hierarchy of the data elements, XML follows the XML tree structure which comprises of one single root (parent) and multiple leaves (children).</a:t>
            </a:r>
          </a:p>
        </p:txBody>
      </p:sp>
    </p:spTree>
    <p:extLst>
      <p:ext uri="{BB962C8B-B14F-4D97-AF65-F5344CB8AC3E}">
        <p14:creationId xmlns:p14="http://schemas.microsoft.com/office/powerpoint/2010/main" val="2750627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5660"/>
            <a:ext cx="10515600" cy="5931303"/>
          </a:xfrm>
        </p:spPr>
        <p:txBody>
          <a:bodyPr>
            <a:normAutofit fontScale="62500" lnSpcReduction="20000"/>
          </a:bodyPr>
          <a:lstStyle/>
          <a:p>
            <a:pPr marL="0" indent="0">
              <a:buNone/>
            </a:pPr>
            <a:r>
              <a:rPr lang="en-US" dirty="0"/>
              <a:t>&lt;?xml version="1.0" encoding="UTF-8"?&gt; </a:t>
            </a:r>
          </a:p>
          <a:p>
            <a:r>
              <a:rPr lang="en-US" dirty="0"/>
              <a:t>&lt;website&gt; </a:t>
            </a:r>
          </a:p>
          <a:p>
            <a:r>
              <a:rPr lang="en-US" dirty="0"/>
              <a:t>	&lt;company category="</a:t>
            </a:r>
            <a:r>
              <a:rPr lang="en-US" dirty="0" err="1"/>
              <a:t>geeksforgeeks</a:t>
            </a:r>
            <a:r>
              <a:rPr lang="en-US" dirty="0"/>
              <a:t>"&gt; </a:t>
            </a:r>
          </a:p>
          <a:p>
            <a:r>
              <a:rPr lang="en-US" dirty="0"/>
              <a:t>		&lt;title&gt;Machine learning&lt;/title&gt; </a:t>
            </a:r>
          </a:p>
          <a:p>
            <a:r>
              <a:rPr lang="en-US" dirty="0"/>
              <a:t>		&lt;author&gt;</a:t>
            </a:r>
            <a:r>
              <a:rPr lang="en-US" dirty="0" err="1"/>
              <a:t>aarti</a:t>
            </a:r>
            <a:r>
              <a:rPr lang="en-US" dirty="0"/>
              <a:t> </a:t>
            </a:r>
            <a:r>
              <a:rPr lang="en-US" dirty="0" err="1"/>
              <a:t>majumdar</a:t>
            </a:r>
            <a:r>
              <a:rPr lang="en-US" dirty="0"/>
              <a:t>&lt;/author&gt; </a:t>
            </a:r>
          </a:p>
          <a:p>
            <a:r>
              <a:rPr lang="en-US" dirty="0"/>
              <a:t>		&lt;year&gt;2022&lt;/year&gt; </a:t>
            </a:r>
          </a:p>
          <a:p>
            <a:r>
              <a:rPr lang="en-US" dirty="0"/>
              <a:t>	&lt;/company&gt; </a:t>
            </a:r>
          </a:p>
          <a:p>
            <a:r>
              <a:rPr lang="en-US" dirty="0"/>
              <a:t>	&lt;company category="</a:t>
            </a:r>
            <a:r>
              <a:rPr lang="en-US" dirty="0" err="1"/>
              <a:t>geeksforgeeks</a:t>
            </a:r>
            <a:r>
              <a:rPr lang="en-US" dirty="0"/>
              <a:t>"&gt; </a:t>
            </a:r>
          </a:p>
          <a:p>
            <a:r>
              <a:rPr lang="en-US" dirty="0"/>
              <a:t>		&lt;title&gt;Web Development&lt;/title&gt; </a:t>
            </a:r>
          </a:p>
          <a:p>
            <a:r>
              <a:rPr lang="en-US" dirty="0"/>
              <a:t>		&lt;author&gt;</a:t>
            </a:r>
            <a:r>
              <a:rPr lang="en-US" dirty="0" err="1"/>
              <a:t>aarti</a:t>
            </a:r>
            <a:r>
              <a:rPr lang="en-US" dirty="0"/>
              <a:t> </a:t>
            </a:r>
            <a:r>
              <a:rPr lang="en-US" dirty="0" err="1"/>
              <a:t>majumdar</a:t>
            </a:r>
            <a:r>
              <a:rPr lang="en-US" dirty="0"/>
              <a:t>&lt;/author&gt; </a:t>
            </a:r>
          </a:p>
          <a:p>
            <a:r>
              <a:rPr lang="en-US" dirty="0"/>
              <a:t>		&lt;year&gt;2022&lt;/year&gt; </a:t>
            </a:r>
          </a:p>
          <a:p>
            <a:r>
              <a:rPr lang="en-US" dirty="0"/>
              <a:t>	&lt;/company&gt; </a:t>
            </a:r>
          </a:p>
          <a:p>
            <a:r>
              <a:rPr lang="en-US" dirty="0"/>
              <a:t>	&lt;company category="</a:t>
            </a:r>
            <a:r>
              <a:rPr lang="en-US" dirty="0" err="1"/>
              <a:t>geeksforgeekse</a:t>
            </a:r>
            <a:r>
              <a:rPr lang="en-US" dirty="0"/>
              <a:t>"&gt; </a:t>
            </a:r>
          </a:p>
          <a:p>
            <a:r>
              <a:rPr lang="en-US" dirty="0"/>
              <a:t>		&lt;title&gt;XML&lt;/title&gt; </a:t>
            </a:r>
          </a:p>
          <a:p>
            <a:r>
              <a:rPr lang="en-US" dirty="0"/>
              <a:t>		&lt;author&gt;</a:t>
            </a:r>
            <a:r>
              <a:rPr lang="en-US" dirty="0" err="1"/>
              <a:t>aarti</a:t>
            </a:r>
            <a:r>
              <a:rPr lang="en-US" dirty="0"/>
              <a:t> </a:t>
            </a:r>
            <a:r>
              <a:rPr lang="en-US" dirty="0" err="1"/>
              <a:t>majumdar</a:t>
            </a:r>
            <a:r>
              <a:rPr lang="en-US" dirty="0"/>
              <a:t>&lt;/author&gt; </a:t>
            </a:r>
          </a:p>
          <a:p>
            <a:r>
              <a:rPr lang="en-US" dirty="0"/>
              <a:t>		&lt;year&gt;2022&lt;/year&gt; </a:t>
            </a:r>
          </a:p>
          <a:p>
            <a:r>
              <a:rPr lang="en-US" dirty="0"/>
              <a:t>	&lt;/company&gt; </a:t>
            </a:r>
          </a:p>
          <a:p>
            <a:r>
              <a:rPr lang="en-US" dirty="0"/>
              <a:t>&lt;/website&gt;</a:t>
            </a:r>
          </a:p>
          <a:p>
            <a:endParaRPr lang="en-US" dirty="0"/>
          </a:p>
        </p:txBody>
      </p:sp>
    </p:spTree>
    <p:extLst>
      <p:ext uri="{BB962C8B-B14F-4D97-AF65-F5344CB8AC3E}">
        <p14:creationId xmlns:p14="http://schemas.microsoft.com/office/powerpoint/2010/main" val="2503701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a:t>Rule 3:</a:t>
            </a:r>
            <a:r>
              <a:rPr lang="en-US" dirty="0"/>
              <a:t> All XML Elements are required to have Closing and opening </a:t>
            </a:r>
            <a:r>
              <a:rPr lang="en-US" dirty="0" smtClean="0"/>
              <a:t>Tags(similar </a:t>
            </a:r>
            <a:r>
              <a:rPr lang="en-US" dirty="0"/>
              <a:t>to HTML</a:t>
            </a:r>
            <a:r>
              <a:rPr lang="en-US" dirty="0" smtClean="0"/>
              <a:t>).</a:t>
            </a:r>
          </a:p>
          <a:p>
            <a:endParaRPr lang="en-US" dirty="0"/>
          </a:p>
          <a:p>
            <a:r>
              <a:rPr lang="en-US" dirty="0"/>
              <a:t>&lt;message&gt;Welcome to </a:t>
            </a:r>
            <a:r>
              <a:rPr lang="en-US" dirty="0" err="1"/>
              <a:t>GeeksforGeeks</a:t>
            </a:r>
            <a:r>
              <a:rPr lang="en-US" dirty="0"/>
              <a:t>&lt;/message&gt;</a:t>
            </a:r>
          </a:p>
          <a:p>
            <a:r>
              <a:rPr lang="en-US" b="1" dirty="0"/>
              <a:t>Rule 4:</a:t>
            </a:r>
            <a:r>
              <a:rPr lang="en-US" dirty="0"/>
              <a:t> The opening and closing tags are case-sensitive. For Example, </a:t>
            </a:r>
            <a:r>
              <a:rPr lang="en-US" b="1" dirty="0"/>
              <a:t>&lt;Message&gt; </a:t>
            </a:r>
            <a:r>
              <a:rPr lang="en-US" dirty="0"/>
              <a:t>is different from </a:t>
            </a:r>
            <a:r>
              <a:rPr lang="en-US" b="1" dirty="0"/>
              <a:t>&lt;message&gt; </a:t>
            </a:r>
            <a:r>
              <a:rPr lang="en-US" dirty="0"/>
              <a:t>from above example.</a:t>
            </a:r>
            <a:endParaRPr lang="en-US" dirty="0"/>
          </a:p>
        </p:txBody>
      </p:sp>
    </p:spTree>
    <p:extLst>
      <p:ext uri="{BB962C8B-B14F-4D97-AF65-F5344CB8AC3E}">
        <p14:creationId xmlns:p14="http://schemas.microsoft.com/office/powerpoint/2010/main" val="19571719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&lt;Person&gt;</a:t>
            </a:r>
          </a:p>
          <a:p>
            <a:r>
              <a:rPr lang="en-US" dirty="0"/>
              <a:t>  &lt;</a:t>
            </a:r>
            <a:r>
              <a:rPr lang="en-US" dirty="0" err="1"/>
              <a:t>First_Name</a:t>
            </a:r>
            <a:r>
              <a:rPr lang="en-US" dirty="0"/>
              <a:t>&gt;John&lt;/</a:t>
            </a:r>
            <a:r>
              <a:rPr lang="en-US" dirty="0" err="1"/>
              <a:t>First_Name</a:t>
            </a:r>
            <a:r>
              <a:rPr lang="en-US" dirty="0"/>
              <a:t>&gt;</a:t>
            </a:r>
          </a:p>
          <a:p>
            <a:r>
              <a:rPr lang="en-US" dirty="0"/>
              <a:t>  &lt;</a:t>
            </a:r>
            <a:r>
              <a:rPr lang="en-US" dirty="0" err="1"/>
              <a:t>Last_Name</a:t>
            </a:r>
            <a:r>
              <a:rPr lang="en-US" dirty="0"/>
              <a:t>&gt;Doe&lt;/</a:t>
            </a:r>
            <a:r>
              <a:rPr lang="en-US" dirty="0" err="1"/>
              <a:t>Last_Name</a:t>
            </a:r>
            <a:r>
              <a:rPr lang="en-US" dirty="0"/>
              <a:t>&gt;</a:t>
            </a:r>
          </a:p>
          <a:p>
            <a:r>
              <a:rPr lang="en-US" dirty="0"/>
              <a:t>  &lt;DOB&gt;1968-11-24&lt;/DOB&gt;</a:t>
            </a:r>
          </a:p>
          <a:p>
            <a:r>
              <a:rPr lang="en-US" dirty="0"/>
              <a:t>  &lt;State&gt;&lt;/State&gt;</a:t>
            </a:r>
          </a:p>
          <a:p>
            <a:r>
              <a:rPr lang="en-US" dirty="0"/>
              <a:t>  &lt;Postcode id=""/&gt;</a:t>
            </a:r>
          </a:p>
          <a:p>
            <a:r>
              <a:rPr lang="en-US" dirty="0"/>
              <a:t>&lt;/Person&gt;</a:t>
            </a:r>
            <a:endParaRPr lang="en-US" dirty="0"/>
          </a:p>
        </p:txBody>
      </p:sp>
    </p:spTree>
    <p:extLst>
      <p:ext uri="{BB962C8B-B14F-4D97-AF65-F5344CB8AC3E}">
        <p14:creationId xmlns:p14="http://schemas.microsoft.com/office/powerpoint/2010/main" val="39233109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XML parser</a:t>
            </a:r>
          </a:p>
        </p:txBody>
      </p:sp>
      <p:sp>
        <p:nvSpPr>
          <p:cNvPr id="3" name="Content Placeholder 2"/>
          <p:cNvSpPr>
            <a:spLocks noGrp="1"/>
          </p:cNvSpPr>
          <p:nvPr>
            <p:ph idx="1"/>
          </p:nvPr>
        </p:nvSpPr>
        <p:spPr/>
        <p:txBody>
          <a:bodyPr/>
          <a:lstStyle/>
          <a:p>
            <a:r>
              <a:rPr lang="en-US" dirty="0"/>
              <a:t>The </a:t>
            </a:r>
            <a:r>
              <a:rPr lang="en-US" dirty="0">
                <a:hlinkClick r:id="rId2"/>
              </a:rPr>
              <a:t>XML DOM (Document Object Model)</a:t>
            </a:r>
            <a:r>
              <a:rPr lang="en-US" dirty="0"/>
              <a:t> defines the properties and methods for accessing and editing XML.</a:t>
            </a:r>
          </a:p>
          <a:p>
            <a:r>
              <a:rPr lang="en-US" dirty="0"/>
              <a:t>However, before an XML document can be accessed, it must be loaded into an XML DOM object.</a:t>
            </a:r>
          </a:p>
          <a:p>
            <a:r>
              <a:rPr lang="en-US" dirty="0"/>
              <a:t>All modern browsers have a built-in XML parser that can convert text into an XML DOM object.</a:t>
            </a:r>
          </a:p>
          <a:p>
            <a:endParaRPr lang="en-US" dirty="0"/>
          </a:p>
        </p:txBody>
      </p:sp>
    </p:spTree>
    <p:extLst>
      <p:ext uri="{BB962C8B-B14F-4D97-AF65-F5344CB8AC3E}">
        <p14:creationId xmlns:p14="http://schemas.microsoft.com/office/powerpoint/2010/main" val="1252544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1319"/>
            <a:ext cx="10515600" cy="5685644"/>
          </a:xfrm>
        </p:spPr>
        <p:txBody>
          <a:bodyPr>
            <a:normAutofit fontScale="77500" lnSpcReduction="20000"/>
          </a:bodyPr>
          <a:lstStyle/>
          <a:p>
            <a:r>
              <a:rPr lang="en-US" dirty="0"/>
              <a:t>&lt;html&gt;</a:t>
            </a:r>
            <a:r>
              <a:rPr lang="en-US" dirty="0"/>
              <a:t/>
            </a:r>
            <a:br>
              <a:rPr lang="en-US" dirty="0"/>
            </a:br>
            <a:r>
              <a:rPr lang="en-US" dirty="0"/>
              <a:t>&lt;body&gt;</a:t>
            </a:r>
            <a:r>
              <a:rPr lang="en-US" dirty="0"/>
              <a:t/>
            </a:r>
            <a:br>
              <a:rPr lang="en-US" dirty="0"/>
            </a:br>
            <a:r>
              <a:rPr lang="en-US" dirty="0"/>
              <a:t/>
            </a:r>
            <a:br>
              <a:rPr lang="en-US" dirty="0"/>
            </a:br>
            <a:r>
              <a:rPr lang="en-US" dirty="0"/>
              <a:t>&lt;p id="demo"&gt;&lt;/p&gt;</a:t>
            </a:r>
            <a:r>
              <a:rPr lang="en-US" dirty="0"/>
              <a:t/>
            </a:r>
            <a:br>
              <a:rPr lang="en-US" dirty="0"/>
            </a:br>
            <a:r>
              <a:rPr lang="en-US" dirty="0"/>
              <a:t/>
            </a:r>
            <a:br>
              <a:rPr lang="en-US" dirty="0"/>
            </a:br>
            <a:r>
              <a:rPr lang="en-US" dirty="0"/>
              <a:t>&lt;script&gt;</a:t>
            </a:r>
            <a:br>
              <a:rPr lang="en-US" dirty="0"/>
            </a:br>
            <a:r>
              <a:rPr lang="en-US" dirty="0" err="1"/>
              <a:t>var</a:t>
            </a:r>
            <a:r>
              <a:rPr lang="en-US" dirty="0"/>
              <a:t> text, parser, </a:t>
            </a:r>
            <a:r>
              <a:rPr lang="en-US" dirty="0" err="1"/>
              <a:t>xmlDoc</a:t>
            </a:r>
            <a:r>
              <a:rPr lang="en-US" dirty="0"/>
              <a:t>;</a:t>
            </a:r>
            <a:br>
              <a:rPr lang="en-US" dirty="0"/>
            </a:br>
            <a:r>
              <a:rPr lang="en-US" dirty="0"/>
              <a:t/>
            </a:r>
            <a:br>
              <a:rPr lang="en-US" dirty="0"/>
            </a:br>
            <a:r>
              <a:rPr lang="en-US" dirty="0"/>
              <a:t>text = "&lt;bookstore&gt;&lt;book&gt;" +</a:t>
            </a:r>
            <a:br>
              <a:rPr lang="en-US" dirty="0"/>
            </a:br>
            <a:r>
              <a:rPr lang="en-US" dirty="0"/>
              <a:t>"&lt;title&gt;Everyday Italian&lt;/title&gt;" +</a:t>
            </a:r>
            <a:br>
              <a:rPr lang="en-US" dirty="0"/>
            </a:br>
            <a:r>
              <a:rPr lang="en-US" dirty="0"/>
              <a:t>"&lt;author&gt;Giada De </a:t>
            </a:r>
            <a:r>
              <a:rPr lang="en-US" dirty="0" err="1"/>
              <a:t>Laurentiis</a:t>
            </a:r>
            <a:r>
              <a:rPr lang="en-US" dirty="0"/>
              <a:t>&lt;/author&gt;" +</a:t>
            </a:r>
            <a:br>
              <a:rPr lang="en-US" dirty="0"/>
            </a:br>
            <a:r>
              <a:rPr lang="en-US" dirty="0"/>
              <a:t>"&lt;year&gt;2005&lt;/year&gt;" +</a:t>
            </a:r>
            <a:br>
              <a:rPr lang="en-US" dirty="0"/>
            </a:br>
            <a:r>
              <a:rPr lang="en-US" dirty="0"/>
              <a:t>"&lt;/book&gt;&lt;/bookstore&gt;";</a:t>
            </a:r>
            <a:br>
              <a:rPr lang="en-US" dirty="0"/>
            </a:br>
            <a:r>
              <a:rPr lang="en-US" dirty="0"/>
              <a:t/>
            </a:r>
            <a:br>
              <a:rPr lang="en-US" dirty="0"/>
            </a:br>
            <a:r>
              <a:rPr lang="en-US" dirty="0"/>
              <a:t>parser = new </a:t>
            </a:r>
            <a:r>
              <a:rPr lang="en-US" dirty="0" err="1"/>
              <a:t>DOMParser</a:t>
            </a:r>
            <a:r>
              <a:rPr lang="en-US" dirty="0"/>
              <a:t>();</a:t>
            </a:r>
            <a:br>
              <a:rPr lang="en-US" dirty="0"/>
            </a:br>
            <a:r>
              <a:rPr lang="en-US" dirty="0" err="1"/>
              <a:t>xmlDoc</a:t>
            </a:r>
            <a:r>
              <a:rPr lang="en-US" dirty="0"/>
              <a:t> = </a:t>
            </a:r>
            <a:r>
              <a:rPr lang="en-US" dirty="0" err="1"/>
              <a:t>parser.parseFromString</a:t>
            </a:r>
            <a:r>
              <a:rPr lang="en-US" dirty="0"/>
              <a:t>(</a:t>
            </a:r>
            <a:r>
              <a:rPr lang="en-US" dirty="0" err="1"/>
              <a:t>text,"text</a:t>
            </a:r>
            <a:r>
              <a:rPr lang="en-US" dirty="0"/>
              <a:t>/xml");</a:t>
            </a:r>
            <a:br>
              <a:rPr lang="en-US" dirty="0"/>
            </a:br>
            <a:r>
              <a:rPr lang="en-US" dirty="0"/>
              <a:t/>
            </a:r>
            <a:br>
              <a:rPr lang="en-US" dirty="0"/>
            </a:br>
            <a:r>
              <a:rPr lang="en-US" dirty="0" err="1"/>
              <a:t>document.getElementById</a:t>
            </a:r>
            <a:r>
              <a:rPr lang="en-US" dirty="0"/>
              <a:t>("demo").</a:t>
            </a:r>
            <a:r>
              <a:rPr lang="en-US" dirty="0" err="1"/>
              <a:t>innerHTML</a:t>
            </a:r>
            <a:r>
              <a:rPr lang="en-US" dirty="0"/>
              <a:t> =</a:t>
            </a:r>
            <a:br>
              <a:rPr lang="en-US" dirty="0"/>
            </a:br>
            <a:r>
              <a:rPr lang="en-US" dirty="0" err="1"/>
              <a:t>xmlDoc.getElementsByTagName</a:t>
            </a:r>
            <a:r>
              <a:rPr lang="en-US" dirty="0"/>
              <a:t>("title")[0].</a:t>
            </a:r>
            <a:r>
              <a:rPr lang="en-US" dirty="0" err="1"/>
              <a:t>childNodes</a:t>
            </a:r>
            <a:r>
              <a:rPr lang="en-US" dirty="0"/>
              <a:t>[0].</a:t>
            </a:r>
            <a:r>
              <a:rPr lang="en-US" dirty="0" err="1"/>
              <a:t>nodeValue</a:t>
            </a:r>
            <a:r>
              <a:rPr lang="en-US" dirty="0"/>
              <a:t>;</a:t>
            </a:r>
            <a:br>
              <a:rPr lang="en-US" dirty="0"/>
            </a:br>
            <a:r>
              <a:rPr lang="en-US" dirty="0"/>
              <a:t>&lt;/script&gt;</a:t>
            </a:r>
            <a:r>
              <a:rPr lang="en-US" dirty="0"/>
              <a:t/>
            </a:r>
            <a:br>
              <a:rPr lang="en-US" dirty="0"/>
            </a:br>
            <a:r>
              <a:rPr lang="en-US" dirty="0"/>
              <a:t/>
            </a:r>
            <a:br>
              <a:rPr lang="en-US" dirty="0"/>
            </a:br>
            <a:r>
              <a:rPr lang="en-US" dirty="0"/>
              <a:t>&lt;/body&gt;</a:t>
            </a:r>
            <a:r>
              <a:rPr lang="en-US" dirty="0"/>
              <a:t/>
            </a:r>
            <a:br>
              <a:rPr lang="en-US" dirty="0"/>
            </a:br>
            <a:r>
              <a:rPr lang="en-US" dirty="0"/>
              <a:t>&lt;/html&gt;</a:t>
            </a:r>
            <a:endParaRPr lang="en-US" dirty="0"/>
          </a:p>
        </p:txBody>
      </p:sp>
    </p:spTree>
    <p:extLst>
      <p:ext uri="{BB962C8B-B14F-4D97-AF65-F5344CB8AC3E}">
        <p14:creationId xmlns:p14="http://schemas.microsoft.com/office/powerpoint/2010/main" val="3357815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Output</a:t>
            </a:r>
          </a:p>
          <a:p>
            <a:r>
              <a:rPr lang="en-US" dirty="0"/>
              <a:t>Everyday Italian</a:t>
            </a:r>
            <a:endParaRPr lang="en-US" dirty="0"/>
          </a:p>
        </p:txBody>
      </p:sp>
    </p:spTree>
    <p:extLst>
      <p:ext uri="{BB962C8B-B14F-4D97-AF65-F5344CB8AC3E}">
        <p14:creationId xmlns:p14="http://schemas.microsoft.com/office/powerpoint/2010/main" val="24220941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TotalTime>
  <Words>1296</Words>
  <Application>Microsoft Office PowerPoint</Application>
  <PresentationFormat>Widescreen</PresentationFormat>
  <Paragraphs>187</Paragraphs>
  <Slides>28</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Office Theme</vt:lpstr>
      <vt:lpstr>HTML and XML</vt:lpstr>
      <vt:lpstr>Introduction to HTML</vt:lpstr>
      <vt:lpstr>PowerPoint Presentation</vt:lpstr>
      <vt:lpstr>HTML Features</vt:lpstr>
      <vt:lpstr>PowerPoint Presentation</vt:lpstr>
      <vt:lpstr>Structure and syntax</vt:lpstr>
      <vt:lpstr>HTML forms</vt:lpstr>
      <vt:lpstr>PowerPoint Presentation</vt:lpstr>
      <vt:lpstr>PowerPoint Presentation</vt:lpstr>
      <vt:lpstr>PowerPoint Presentation</vt:lpstr>
      <vt:lpstr>Commonly Used Input Types in HTML Forms</vt:lpstr>
      <vt:lpstr>Commonly Used Input Types in HTML Forms</vt:lpstr>
      <vt:lpstr>key attributes that can be used with the &lt;form&gt; element:</vt:lpstr>
      <vt:lpstr>PowerPoint Presentation</vt:lpstr>
      <vt:lpstr>Introduction to XML</vt:lpstr>
      <vt:lpstr>Differences between XML and HTML</vt:lpstr>
      <vt:lpstr>Structure of XML</vt:lpstr>
      <vt:lpstr>PowerPoint Presentation</vt:lpstr>
      <vt:lpstr>XML document structure</vt:lpstr>
      <vt:lpstr>PowerPoint Presentation</vt:lpstr>
      <vt:lpstr>PowerPoint Presentation</vt:lpstr>
      <vt:lpstr>PowerPoint Presentation</vt:lpstr>
      <vt:lpstr>PowerPoint Presentation</vt:lpstr>
      <vt:lpstr>PowerPoint Presentation</vt:lpstr>
      <vt:lpstr>PowerPoint Presentation</vt:lpstr>
      <vt:lpstr>XML parser</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and XML</dc:title>
  <dc:creator>Rushikesh</dc:creator>
  <cp:lastModifiedBy>Rushikesh</cp:lastModifiedBy>
  <cp:revision>67</cp:revision>
  <dcterms:created xsi:type="dcterms:W3CDTF">2025-02-21T15:13:15Z</dcterms:created>
  <dcterms:modified xsi:type="dcterms:W3CDTF">2025-02-26T15:45:49Z</dcterms:modified>
</cp:coreProperties>
</file>