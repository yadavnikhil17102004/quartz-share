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7" r:id="rId20"/>
    <p:sldId id="274" r:id="rId21"/>
    <p:sldId id="275" r:id="rId22"/>
    <p:sldId id="276" r:id="rId23"/>
    <p:sldId id="282" r:id="rId24"/>
    <p:sldId id="278" r:id="rId25"/>
    <p:sldId id="279" r:id="rId26"/>
    <p:sldId id="280" r:id="rId27"/>
    <p:sldId id="284" r:id="rId28"/>
    <p:sldId id="285" r:id="rId29"/>
    <p:sldId id="286" r:id="rId30"/>
    <p:sldId id="281" r:id="rId31"/>
    <p:sldId id="2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17BE8C0-EEBE-49BD-BADA-B4C20AF6421B}"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1D7D0-08D9-4DC7-84D7-F74F32A21EE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152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7BE8C0-EEBE-49BD-BADA-B4C20AF6421B}"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512680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7BE8C0-EEBE-49BD-BADA-B4C20AF6421B}"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1D7D0-08D9-4DC7-84D7-F74F32A21EE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355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17BE8C0-EEBE-49BD-BADA-B4C20AF6421B}"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3826815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17BE8C0-EEBE-49BD-BADA-B4C20AF6421B}" type="datetimeFigureOut">
              <a:rPr lang="en-US" smtClean="0"/>
              <a:t>12/31/2024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963694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17BE8C0-EEBE-49BD-BADA-B4C20AF6421B}" type="datetimeFigureOut">
              <a:rPr lang="en-US" smtClean="0"/>
              <a:t>12/31/2024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2304715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17BE8C0-EEBE-49BD-BADA-B4C20AF6421B}" type="datetimeFigureOut">
              <a:rPr lang="en-US" smtClean="0"/>
              <a:t>12/31/2024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2033269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17BE8C0-EEBE-49BD-BADA-B4C20AF6421B}" type="datetimeFigureOut">
              <a:rPr lang="en-US" smtClean="0"/>
              <a:t>12/31/2024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531D7D0-08D9-4DC7-84D7-F74F32A21EEF}" type="slidenum">
              <a:rPr lang="en-US" smtClean="0"/>
              <a:t>‹#›</a:t>
            </a:fld>
            <a:endParaRPr lang="en-US"/>
          </a:p>
        </p:txBody>
      </p:sp>
    </p:spTree>
    <p:extLst>
      <p:ext uri="{BB962C8B-B14F-4D97-AF65-F5344CB8AC3E}">
        <p14:creationId xmlns:p14="http://schemas.microsoft.com/office/powerpoint/2010/main" val="74498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7BE8C0-EEBE-49BD-BADA-B4C20AF6421B}"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3964633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7BE8C0-EEBE-49BD-BADA-B4C20AF6421B}"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4125938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7BE8C0-EEBE-49BD-BADA-B4C20AF6421B}"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31D7D0-08D9-4DC7-84D7-F74F32A21EEF}" type="slidenum">
              <a:rPr lang="en-US" smtClean="0"/>
              <a:t>‹#›</a:t>
            </a:fld>
            <a:endParaRPr lang="en-US"/>
          </a:p>
        </p:txBody>
      </p:sp>
    </p:spTree>
    <p:extLst>
      <p:ext uri="{BB962C8B-B14F-4D97-AF65-F5344CB8AC3E}">
        <p14:creationId xmlns:p14="http://schemas.microsoft.com/office/powerpoint/2010/main" val="239715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7BE8C0-EEBE-49BD-BADA-B4C20AF6421B}" type="datetimeFigureOut">
              <a:rPr lang="en-US" smtClean="0"/>
              <a:t>12/31/2024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531D7D0-08D9-4DC7-84D7-F74F32A21EE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02369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1</a:t>
            </a:r>
            <a:endParaRPr lang="en-US" dirty="0"/>
          </a:p>
        </p:txBody>
      </p:sp>
      <p:sp>
        <p:nvSpPr>
          <p:cNvPr id="3" name="Subtitle 2"/>
          <p:cNvSpPr>
            <a:spLocks noGrp="1"/>
          </p:cNvSpPr>
          <p:nvPr>
            <p:ph type="subTitle" idx="1"/>
          </p:nvPr>
        </p:nvSpPr>
        <p:spPr/>
        <p:txBody>
          <a:bodyPr/>
          <a:lstStyle/>
          <a:p>
            <a:r>
              <a:rPr lang="en-US" b="1" dirty="0"/>
              <a:t>Introduction To Web</a:t>
            </a:r>
            <a:endParaRPr lang="en-US" dirty="0"/>
          </a:p>
        </p:txBody>
      </p:sp>
    </p:spTree>
    <p:extLst>
      <p:ext uri="{BB962C8B-B14F-4D97-AF65-F5344CB8AC3E}">
        <p14:creationId xmlns:p14="http://schemas.microsoft.com/office/powerpoint/2010/main" val="552986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Web</a:t>
            </a:r>
          </a:p>
        </p:txBody>
      </p:sp>
      <p:sp>
        <p:nvSpPr>
          <p:cNvPr id="5" name="Rectangle 2"/>
          <p:cNvSpPr>
            <a:spLocks noGrp="1" noChangeArrowheads="1"/>
          </p:cNvSpPr>
          <p:nvPr>
            <p:ph idx="1"/>
          </p:nvPr>
        </p:nvSpPr>
        <p:spPr bwMode="auto">
          <a:xfrm>
            <a:off x="300251" y="1943189"/>
            <a:ext cx="1165518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rPr>
              <a:t>1989: Tim Berners-Lee's Proposal</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rPr>
              <a:t>Tim Berners-Lee proposed an information management system at CERN (Geneva, Switzerland) to share knowledge and resources over a computer network, leading to the creation of the </a:t>
            </a:r>
            <a:r>
              <a:rPr kumimoji="0" lang="en-US" b="1" i="0" u="none" strike="noStrike" cap="none" normalizeH="0" baseline="0" dirty="0" smtClean="0">
                <a:ln>
                  <a:noFill/>
                </a:ln>
                <a:solidFill>
                  <a:schemeClr val="tx1"/>
                </a:solidFill>
                <a:effectLst/>
              </a:rPr>
              <a:t>World Wide Web (WWW)</a:t>
            </a:r>
            <a:r>
              <a:rPr kumimoji="0" lang="en-US"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rPr>
              <a:t>Early Internet Technologies</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rPr>
              <a:t>Prior technologies like </a:t>
            </a:r>
            <a:r>
              <a:rPr kumimoji="0" lang="en-US" b="1" i="0" u="none" strike="noStrike" cap="none" normalizeH="0" baseline="0" dirty="0" smtClean="0">
                <a:ln>
                  <a:noFill/>
                </a:ln>
                <a:solidFill>
                  <a:schemeClr val="tx1"/>
                </a:solidFill>
                <a:effectLst/>
              </a:rPr>
              <a:t>FTP</a:t>
            </a:r>
            <a:r>
              <a:rPr kumimoji="0" lang="en-US" b="0" i="0" u="none" strike="noStrike" cap="none" normalizeH="0" baseline="0" dirty="0" smtClean="0">
                <a:ln>
                  <a:noFill/>
                </a:ln>
                <a:solidFill>
                  <a:schemeClr val="tx1"/>
                </a:solidFill>
                <a:effectLst/>
              </a:rPr>
              <a:t>, </a:t>
            </a:r>
            <a:r>
              <a:rPr kumimoji="0" lang="en-US" b="1" i="0" u="none" strike="noStrike" cap="none" normalizeH="0" baseline="0" dirty="0" smtClean="0">
                <a:ln>
                  <a:noFill/>
                </a:ln>
                <a:solidFill>
                  <a:schemeClr val="tx1"/>
                </a:solidFill>
                <a:effectLst/>
              </a:rPr>
              <a:t>Gopher</a:t>
            </a:r>
            <a:r>
              <a:rPr kumimoji="0" lang="en-US" b="0" i="0" u="none" strike="noStrike" cap="none" normalizeH="0" baseline="0" dirty="0" smtClean="0">
                <a:ln>
                  <a:noFill/>
                </a:ln>
                <a:solidFill>
                  <a:schemeClr val="tx1"/>
                </a:solidFill>
                <a:effectLst/>
              </a:rPr>
              <a:t>, and </a:t>
            </a:r>
            <a:r>
              <a:rPr kumimoji="0" lang="en-US" b="1" i="0" u="none" strike="noStrike" cap="none" normalizeH="0" baseline="0" dirty="0" smtClean="0">
                <a:ln>
                  <a:noFill/>
                </a:ln>
                <a:solidFill>
                  <a:schemeClr val="tx1"/>
                </a:solidFill>
                <a:effectLst/>
              </a:rPr>
              <a:t>Netnews</a:t>
            </a:r>
            <a:r>
              <a:rPr kumimoji="0" lang="en-US" b="0" i="0" u="none" strike="noStrike" cap="none" normalizeH="0" baseline="0" dirty="0" smtClean="0">
                <a:ln>
                  <a:noFill/>
                </a:ln>
                <a:solidFill>
                  <a:schemeClr val="tx1"/>
                </a:solidFill>
                <a:effectLst/>
              </a:rPr>
              <a:t> laid the foundation for information sharing over the Internet.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rPr>
              <a:t>Ted Nelson's </a:t>
            </a:r>
            <a:r>
              <a:rPr kumimoji="0" lang="en-US" b="1" i="0" u="none" strike="noStrike" cap="none" normalizeH="0" baseline="0" dirty="0" err="1" smtClean="0">
                <a:ln>
                  <a:noFill/>
                </a:ln>
                <a:solidFill>
                  <a:schemeClr val="tx1"/>
                </a:solidFill>
                <a:effectLst/>
              </a:rPr>
              <a:t>Xanadu</a:t>
            </a:r>
            <a:r>
              <a:rPr kumimoji="0" lang="en-US" b="1" i="0" u="none" strike="noStrike" cap="none" normalizeH="0" baseline="0" dirty="0" smtClean="0">
                <a:ln>
                  <a:noFill/>
                </a:ln>
                <a:solidFill>
                  <a:schemeClr val="tx1"/>
                </a:solidFill>
                <a:effectLst/>
              </a:rPr>
              <a:t> Project</a:t>
            </a:r>
            <a:r>
              <a:rPr kumimoji="0" lang="en-US" b="0" i="0" u="none" strike="noStrike" cap="none" normalizeH="0" baseline="0" dirty="0" smtClean="0">
                <a:ln>
                  <a:noFill/>
                </a:ln>
                <a:solidFill>
                  <a:schemeClr val="tx1"/>
                </a:solidFill>
                <a:effectLst/>
              </a:rPr>
              <a:t> introduced the idea of </a:t>
            </a:r>
            <a:r>
              <a:rPr kumimoji="0" lang="en-US" b="1" i="0" u="none" strike="noStrike" cap="none" normalizeH="0" baseline="0" dirty="0" smtClean="0">
                <a:ln>
                  <a:noFill/>
                </a:ln>
                <a:solidFill>
                  <a:schemeClr val="tx1"/>
                </a:solidFill>
                <a:effectLst/>
              </a:rPr>
              <a:t>hypertext</a:t>
            </a:r>
            <a:r>
              <a:rPr kumimoji="0" lang="en-US" b="0" i="0" u="none" strike="noStrike" cap="none" normalizeH="0" baseline="0" dirty="0" smtClean="0">
                <a:ln>
                  <a:noFill/>
                </a:ln>
                <a:solidFill>
                  <a:schemeClr val="tx1"/>
                </a:solidFill>
                <a:effectLst/>
              </a:rPr>
              <a:t>, enabling non-sequential writing and interactive links.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rPr>
              <a:t>The Web's Emergence</a:t>
            </a:r>
            <a:endParaRPr kumimoji="0" lang="en-US"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rPr>
              <a:t>Tim Berners-Lee integrated </a:t>
            </a:r>
            <a:r>
              <a:rPr kumimoji="0" lang="en-US" b="1" i="0" u="none" strike="noStrike" cap="none" normalizeH="0" baseline="0" dirty="0" smtClean="0">
                <a:ln>
                  <a:noFill/>
                </a:ln>
                <a:solidFill>
                  <a:schemeClr val="tx1"/>
                </a:solidFill>
                <a:effectLst/>
              </a:rPr>
              <a:t>hypertext</a:t>
            </a:r>
            <a:r>
              <a:rPr kumimoji="0" lang="en-US" b="0" i="0" u="none" strike="noStrike" cap="none" normalizeH="0" baseline="0" dirty="0" smtClean="0">
                <a:ln>
                  <a:noFill/>
                </a:ln>
                <a:solidFill>
                  <a:schemeClr val="tx1"/>
                </a:solidFill>
                <a:effectLst/>
              </a:rPr>
              <a:t> with </a:t>
            </a:r>
            <a:r>
              <a:rPr kumimoji="0" lang="en-US" b="1" i="0" u="none" strike="noStrike" cap="none" normalizeH="0" baseline="0" dirty="0" smtClean="0">
                <a:ln>
                  <a:noFill/>
                </a:ln>
                <a:solidFill>
                  <a:schemeClr val="tx1"/>
                </a:solidFill>
                <a:effectLst/>
              </a:rPr>
              <a:t>Internet</a:t>
            </a:r>
            <a:r>
              <a:rPr kumimoji="0" lang="en-US" b="0" i="0" u="none" strike="noStrike" cap="none" normalizeH="0" baseline="0" dirty="0" smtClean="0">
                <a:ln>
                  <a:noFill/>
                </a:ln>
                <a:solidFill>
                  <a:schemeClr val="tx1"/>
                </a:solidFill>
                <a:effectLst/>
              </a:rPr>
              <a:t> protocols, creating the </a:t>
            </a:r>
            <a:r>
              <a:rPr kumimoji="0" lang="en-US" b="1" i="0" u="none" strike="noStrike" cap="none" normalizeH="0" baseline="0" dirty="0" smtClean="0">
                <a:ln>
                  <a:noFill/>
                </a:ln>
                <a:solidFill>
                  <a:schemeClr val="tx1"/>
                </a:solidFill>
                <a:effectLst/>
              </a:rPr>
              <a:t>Web</a:t>
            </a:r>
            <a:r>
              <a:rPr kumimoji="0" lang="en-US"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rPr>
              <a:t>Initially envisioned as a </a:t>
            </a:r>
            <a:r>
              <a:rPr kumimoji="0" lang="en-US" b="1" i="0" u="none" strike="noStrike" cap="none" normalizeH="0" baseline="0" dirty="0" smtClean="0">
                <a:ln>
                  <a:noFill/>
                </a:ln>
                <a:solidFill>
                  <a:schemeClr val="tx1"/>
                </a:solidFill>
                <a:effectLst/>
              </a:rPr>
              <a:t>virtual library</a:t>
            </a:r>
            <a:r>
              <a:rPr kumimoji="0" lang="en-US" b="0" i="0" u="none" strike="noStrike" cap="none" normalizeH="0" baseline="0" dirty="0" smtClean="0">
                <a:ln>
                  <a:noFill/>
                </a:ln>
                <a:solidFill>
                  <a:schemeClr val="tx1"/>
                </a:solidFill>
                <a:effectLst/>
              </a:rPr>
              <a:t> for researchers, with documents accessible via </a:t>
            </a:r>
            <a:r>
              <a:rPr kumimoji="0" lang="en-US" b="1" i="0" u="none" strike="noStrike" cap="none" normalizeH="0" baseline="0" dirty="0" smtClean="0">
                <a:ln>
                  <a:noFill/>
                </a:ln>
                <a:solidFill>
                  <a:schemeClr val="tx1"/>
                </a:solidFill>
                <a:effectLst/>
              </a:rPr>
              <a:t>URLs</a:t>
            </a:r>
            <a:r>
              <a:rPr kumimoji="0" lang="en-US" b="0" i="0" u="none" strike="noStrike" cap="none" normalizeH="0" baseline="0" dirty="0" smtClean="0">
                <a:ln>
                  <a:noFill/>
                </a:ln>
                <a:solidFill>
                  <a:schemeClr val="tx1"/>
                </a:solidFill>
                <a:effectLst/>
              </a:rPr>
              <a:t> and linked through </a:t>
            </a:r>
            <a:r>
              <a:rPr kumimoji="0" lang="en-US" b="1" i="0" u="none" strike="noStrike" cap="none" normalizeH="0" baseline="0" dirty="0" smtClean="0">
                <a:ln>
                  <a:noFill/>
                </a:ln>
                <a:solidFill>
                  <a:schemeClr val="tx1"/>
                </a:solidFill>
                <a:effectLst/>
              </a:rPr>
              <a:t>hypertext</a:t>
            </a:r>
            <a:r>
              <a:rPr kumimoji="0" lang="en-US"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136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1024128" y="2004749"/>
            <a:ext cx="10358105"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rPr>
              <a:t>Web's Expansion</a:t>
            </a:r>
            <a:endParaRPr kumimoji="0" lang="en-US" sz="2800" b="0" i="0" u="none" strike="noStrike" cap="none" normalizeH="0" baseline="0" dirty="0" smtClean="0">
              <a:ln>
                <a:noFill/>
              </a:ln>
              <a:solidFill>
                <a:schemeClr val="tx1"/>
              </a:solidFill>
              <a:effectLst/>
            </a:endParaRPr>
          </a:p>
          <a:p>
            <a:pPr marL="173736" lvl="1" indent="0" eaLnBrk="0" fontAlgn="base" hangingPunct="0">
              <a:lnSpc>
                <a:spcPct val="100000"/>
              </a:lnSpc>
              <a:spcBef>
                <a:spcPct val="0"/>
              </a:spcBef>
              <a:spcAft>
                <a:spcPct val="0"/>
              </a:spcAft>
              <a:buClrTx/>
              <a:buFontTx/>
              <a:buChar char="•"/>
            </a:pPr>
            <a:r>
              <a:rPr kumimoji="0" lang="en-US" sz="2000" b="1" i="0" u="none" strike="noStrike" cap="none" normalizeH="0" baseline="0" dirty="0" smtClean="0">
                <a:ln>
                  <a:noFill/>
                </a:ln>
                <a:solidFill>
                  <a:schemeClr val="tx1"/>
                </a:solidFill>
                <a:effectLst/>
              </a:rPr>
              <a:t>Educational and research institutions</a:t>
            </a:r>
            <a:r>
              <a:rPr kumimoji="0" lang="en-US" sz="2000" b="0" i="0" u="none" strike="noStrike" cap="none" normalizeH="0" baseline="0" dirty="0" smtClean="0">
                <a:ln>
                  <a:noFill/>
                </a:ln>
                <a:solidFill>
                  <a:schemeClr val="tx1"/>
                </a:solidFill>
                <a:effectLst/>
              </a:rPr>
              <a:t> were early adopters, using the web to share documents and resources.</a:t>
            </a:r>
          </a:p>
          <a:p>
            <a:pPr marL="173736" lvl="1" indent="0" eaLnBrk="0" fontAlgn="base" hangingPunct="0">
              <a:lnSpc>
                <a:spcPct val="100000"/>
              </a:lnSpc>
              <a:spcBef>
                <a:spcPct val="0"/>
              </a:spcBef>
              <a:spcAft>
                <a:spcPct val="0"/>
              </a:spcAft>
              <a:buClrTx/>
              <a:buFontTx/>
              <a:buChar char="•"/>
            </a:pPr>
            <a:r>
              <a:rPr kumimoji="0" lang="en-US" sz="2000" b="0" i="0" u="none" strike="noStrike" cap="none" normalizeH="0" baseline="0" dirty="0" smtClean="0">
                <a:ln>
                  <a:noFill/>
                </a:ln>
                <a:solidFill>
                  <a:schemeClr val="tx1"/>
                </a:solidFill>
                <a:effectLst/>
              </a:rPr>
              <a:t>Gradual </a:t>
            </a:r>
            <a:r>
              <a:rPr kumimoji="0" lang="en-US" sz="2000" b="1" i="0" u="none" strike="noStrike" cap="none" normalizeH="0" baseline="0" dirty="0" smtClean="0">
                <a:ln>
                  <a:noFill/>
                </a:ln>
                <a:solidFill>
                  <a:schemeClr val="tx1"/>
                </a:solidFill>
                <a:effectLst/>
              </a:rPr>
              <a:t>public adoption</a:t>
            </a:r>
            <a:r>
              <a:rPr kumimoji="0" lang="en-US" sz="2000" b="0" i="0" u="none" strike="noStrike" cap="none" normalizeH="0" baseline="0" dirty="0" smtClean="0">
                <a:ln>
                  <a:noFill/>
                </a:ln>
                <a:solidFill>
                  <a:schemeClr val="tx1"/>
                </a:solidFill>
                <a:effectLst/>
              </a:rPr>
              <a:t> followed, with users initially engaging in </a:t>
            </a:r>
            <a:r>
              <a:rPr kumimoji="0" lang="en-US" sz="2000" b="1" i="0" u="none" strike="noStrike" cap="none" normalizeH="0" baseline="0" dirty="0" smtClean="0">
                <a:ln>
                  <a:noFill/>
                </a:ln>
                <a:solidFill>
                  <a:schemeClr val="tx1"/>
                </a:solidFill>
                <a:effectLst/>
              </a:rPr>
              <a:t>e-mail</a:t>
            </a:r>
            <a:r>
              <a:rPr kumimoji="0" lang="en-US" sz="2000" b="0" i="0" u="none" strike="noStrike" cap="none" normalizeH="0" baseline="0" dirty="0" smtClean="0">
                <a:ln>
                  <a:noFill/>
                </a:ln>
                <a:solidFill>
                  <a:schemeClr val="tx1"/>
                </a:solidFill>
                <a:effectLst/>
              </a:rPr>
              <a:t> and </a:t>
            </a:r>
            <a:r>
              <a:rPr kumimoji="0" lang="en-US" sz="2000" b="1" i="0" u="none" strike="noStrike" cap="none" normalizeH="0" baseline="0" dirty="0" smtClean="0">
                <a:ln>
                  <a:noFill/>
                </a:ln>
                <a:solidFill>
                  <a:schemeClr val="tx1"/>
                </a:solidFill>
                <a:effectLst/>
              </a:rPr>
              <a:t>web surfing</a:t>
            </a:r>
            <a:r>
              <a:rPr kumimoji="0" lang="en-US" sz="2000" b="0" i="0" u="none" strike="noStrike" cap="none" normalizeH="0" baseline="0" dirty="0" smtClean="0">
                <a:ln>
                  <a:noFill/>
                </a:ln>
                <a:solidFill>
                  <a:schemeClr val="tx1"/>
                </a:solidFill>
                <a:effectLst/>
              </a:rPr>
              <a:t>, then creating </a:t>
            </a:r>
            <a:r>
              <a:rPr kumimoji="0" lang="en-US" sz="2000" b="1" i="0" u="none" strike="noStrike" cap="none" normalizeH="0" baseline="0" dirty="0" smtClean="0">
                <a:ln>
                  <a:noFill/>
                </a:ln>
                <a:solidFill>
                  <a:schemeClr val="tx1"/>
                </a:solidFill>
                <a:effectLst/>
              </a:rPr>
              <a:t>personal websites</a:t>
            </a:r>
            <a:r>
              <a:rPr kumimoji="0" lang="en-US" sz="2000" b="0" i="0" u="none" strike="noStrike" cap="none" normalizeH="0" baseline="0" dirty="0" smtClean="0">
                <a:ln>
                  <a:noFill/>
                </a:ln>
                <a:solidFill>
                  <a:schemeClr val="tx1"/>
                </a:solidFill>
                <a:effectLst/>
              </a:rPr>
              <a:t> and </a:t>
            </a:r>
            <a:r>
              <a:rPr kumimoji="0" lang="en-US" sz="2000" b="1" i="0" u="none" strike="noStrike" cap="none" normalizeH="0" baseline="0" dirty="0" smtClean="0">
                <a:ln>
                  <a:noFill/>
                </a:ln>
                <a:solidFill>
                  <a:schemeClr val="tx1"/>
                </a:solidFill>
                <a:effectLst/>
              </a:rPr>
              <a:t>blogs</a:t>
            </a:r>
            <a:r>
              <a:rPr kumimoji="0" lang="en-US" sz="2000" b="0" i="0" u="none" strike="noStrike" cap="none" normalizeH="0" baseline="0" dirty="0" smtClean="0">
                <a:ln>
                  <a:noFill/>
                </a:ln>
                <a:solidFill>
                  <a:schemeClr val="tx1"/>
                </a:solidFill>
                <a:effectLst/>
              </a:rPr>
              <a:t>.</a:t>
            </a:r>
          </a:p>
          <a:p>
            <a:pPr marL="173736" lvl="1" indent="0" eaLnBrk="0" fontAlgn="base" hangingPunct="0">
              <a:lnSpc>
                <a:spcPct val="100000"/>
              </a:lnSpc>
              <a:spcBef>
                <a:spcPct val="0"/>
              </a:spcBef>
              <a:spcAft>
                <a:spcPct val="0"/>
              </a:spcAft>
              <a:buClrTx/>
              <a:buFontTx/>
              <a:buChar char="•"/>
            </a:pPr>
            <a:r>
              <a:rPr kumimoji="0" lang="en-US" sz="2000" b="1" i="0" u="none" strike="noStrike" cap="none" normalizeH="0" baseline="0" dirty="0" smtClean="0">
                <a:ln>
                  <a:noFill/>
                </a:ln>
                <a:solidFill>
                  <a:schemeClr val="tx1"/>
                </a:solidFill>
                <a:effectLst/>
              </a:rPr>
              <a:t>Businesses</a:t>
            </a:r>
            <a:r>
              <a:rPr kumimoji="0" lang="en-US" sz="2000" b="0" i="0" u="none" strike="noStrike" cap="none" normalizeH="0" baseline="0" dirty="0" smtClean="0">
                <a:ln>
                  <a:noFill/>
                </a:ln>
                <a:solidFill>
                  <a:schemeClr val="tx1"/>
                </a:solidFill>
                <a:effectLst/>
              </a:rPr>
              <a:t> adopted the web for </a:t>
            </a:r>
            <a:r>
              <a:rPr kumimoji="0" lang="en-US" sz="2000" b="1" i="0" u="none" strike="noStrike" cap="none" normalizeH="0" baseline="0" dirty="0" smtClean="0">
                <a:ln>
                  <a:noFill/>
                </a:ln>
                <a:solidFill>
                  <a:schemeClr val="tx1"/>
                </a:solidFill>
                <a:effectLst/>
              </a:rPr>
              <a:t>e-commerce</a:t>
            </a:r>
            <a:r>
              <a:rPr kumimoji="0" lang="en-US" sz="2000" b="0" i="0" u="none" strike="noStrike" cap="none" normalizeH="0" baseline="0" dirty="0" smtClean="0">
                <a:ln>
                  <a:noFill/>
                </a:ln>
                <a:solidFill>
                  <a:schemeClr val="tx1"/>
                </a:solidFill>
                <a:effectLst/>
              </a:rPr>
              <a:t>, driving the need for secure online transactions and real-time inventory synchronization.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1" i="0" u="none" strike="noStrike" cap="none" normalizeH="0" baseline="0" dirty="0" smtClean="0">
                <a:ln>
                  <a:noFill/>
                </a:ln>
                <a:solidFill>
                  <a:schemeClr val="tx1"/>
                </a:solidFill>
                <a:effectLst/>
              </a:rPr>
              <a:t>E-commerce Growth</a:t>
            </a:r>
            <a:endParaRPr kumimoji="0" lang="en-US" sz="2800" b="0" i="0" u="none" strike="noStrike" cap="none" normalizeH="0" baseline="0" dirty="0" smtClean="0">
              <a:ln>
                <a:noFill/>
              </a:ln>
              <a:solidFill>
                <a:schemeClr val="tx1"/>
              </a:solidFill>
              <a:effectLst/>
            </a:endParaRPr>
          </a:p>
          <a:p>
            <a:pPr marL="173736" lvl="1" indent="0" eaLnBrk="0" fontAlgn="base" hangingPunct="0">
              <a:lnSpc>
                <a:spcPct val="100000"/>
              </a:lnSpc>
              <a:spcBef>
                <a:spcPct val="0"/>
              </a:spcBef>
              <a:spcAft>
                <a:spcPct val="0"/>
              </a:spcAft>
              <a:buClrTx/>
              <a:buFontTx/>
              <a:buChar char="•"/>
            </a:pPr>
            <a:r>
              <a:rPr kumimoji="0" lang="en-US" sz="2000" b="0" i="0" u="none" strike="noStrike" cap="none" normalizeH="0" baseline="0" dirty="0" smtClean="0">
                <a:ln>
                  <a:noFill/>
                </a:ln>
                <a:solidFill>
                  <a:schemeClr val="tx1"/>
                </a:solidFill>
                <a:effectLst/>
              </a:rPr>
              <a:t>The web revolutionized commerce by allowing businesses to offer goods and services online.</a:t>
            </a:r>
          </a:p>
          <a:p>
            <a:pPr marL="173736" lvl="1" indent="0" eaLnBrk="0" fontAlgn="base" hangingPunct="0">
              <a:lnSpc>
                <a:spcPct val="100000"/>
              </a:lnSpc>
              <a:spcBef>
                <a:spcPct val="0"/>
              </a:spcBef>
              <a:spcAft>
                <a:spcPct val="0"/>
              </a:spcAft>
              <a:buClrTx/>
              <a:buFontTx/>
              <a:buChar char="•"/>
            </a:pPr>
            <a:r>
              <a:rPr kumimoji="0" lang="en-US" sz="2000" b="1" i="0" u="none" strike="noStrike" cap="none" normalizeH="0" baseline="0" dirty="0" smtClean="0">
                <a:ln>
                  <a:noFill/>
                </a:ln>
                <a:solidFill>
                  <a:schemeClr val="tx1"/>
                </a:solidFill>
                <a:effectLst/>
              </a:rPr>
              <a:t>Back-end applications</a:t>
            </a:r>
            <a:r>
              <a:rPr kumimoji="0" lang="en-US" sz="2000" b="0" i="0" u="none" strike="noStrike" cap="none" normalizeH="0" baseline="0" dirty="0" smtClean="0">
                <a:ln>
                  <a:noFill/>
                </a:ln>
                <a:solidFill>
                  <a:schemeClr val="tx1"/>
                </a:solidFill>
                <a:effectLst/>
              </a:rPr>
              <a:t> became essential for managing inventory, secure transactions, and customer data (e.g., credit card information, payment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4235829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Rectangle 1"/>
          <p:cNvSpPr>
            <a:spLocks noGrp="1" noChangeArrowheads="1"/>
          </p:cNvSpPr>
          <p:nvPr>
            <p:ph idx="1"/>
          </p:nvPr>
        </p:nvSpPr>
        <p:spPr bwMode="auto">
          <a:xfrm>
            <a:off x="1097280" y="1844454"/>
            <a:ext cx="1080848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rPr>
              <a:t>Content and Monetization</a:t>
            </a:r>
            <a:endParaRPr kumimoji="0" lang="en-US" sz="24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rPr>
              <a:t>A </a:t>
            </a:r>
            <a:r>
              <a:rPr kumimoji="0" lang="en-US" sz="2400" b="1" i="0" u="none" strike="noStrike" cap="none" normalizeH="0" baseline="0" dirty="0" smtClean="0">
                <a:ln>
                  <a:noFill/>
                </a:ln>
                <a:solidFill>
                  <a:schemeClr val="tx1"/>
                </a:solidFill>
                <a:effectLst/>
              </a:rPr>
              <a:t>tug-of-war</a:t>
            </a:r>
            <a:r>
              <a:rPr kumimoji="0" lang="en-US" sz="2400" b="0" i="0" u="none" strike="noStrike" cap="none" normalizeH="0" baseline="0" dirty="0" smtClean="0">
                <a:ln>
                  <a:noFill/>
                </a:ln>
                <a:solidFill>
                  <a:schemeClr val="tx1"/>
                </a:solidFill>
                <a:effectLst/>
              </a:rPr>
              <a:t> emerged between </a:t>
            </a:r>
            <a:r>
              <a:rPr kumimoji="0" lang="en-US" sz="2400" b="1" i="0" u="none" strike="noStrike" cap="none" normalizeH="0" baseline="0" dirty="0" smtClean="0">
                <a:ln>
                  <a:noFill/>
                </a:ln>
                <a:solidFill>
                  <a:schemeClr val="tx1"/>
                </a:solidFill>
                <a:effectLst/>
              </a:rPr>
              <a:t>free</a:t>
            </a:r>
            <a:r>
              <a:rPr kumimoji="0" lang="en-US" sz="2400" b="0" i="0" u="none" strike="noStrike" cap="none" normalizeH="0" baseline="0" dirty="0" smtClean="0">
                <a:ln>
                  <a:noFill/>
                </a:ln>
                <a:solidFill>
                  <a:schemeClr val="tx1"/>
                </a:solidFill>
                <a:effectLst/>
              </a:rPr>
              <a:t> and </a:t>
            </a:r>
            <a:r>
              <a:rPr kumimoji="0" lang="en-US" sz="2400" b="1" i="0" u="none" strike="noStrike" cap="none" normalizeH="0" baseline="0" dirty="0" smtClean="0">
                <a:ln>
                  <a:noFill/>
                </a:ln>
                <a:solidFill>
                  <a:schemeClr val="tx1"/>
                </a:solidFill>
                <a:effectLst/>
              </a:rPr>
              <a:t>paid</a:t>
            </a:r>
            <a:r>
              <a:rPr kumimoji="0" lang="en-US" sz="2400" b="0" i="0" u="none" strike="noStrike" cap="none" normalizeH="0" baseline="0" dirty="0" smtClean="0">
                <a:ln>
                  <a:noFill/>
                </a:ln>
                <a:solidFill>
                  <a:schemeClr val="tx1"/>
                </a:solidFill>
                <a:effectLst/>
              </a:rPr>
              <a:t> content.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rPr>
              <a:t>Google</a:t>
            </a:r>
            <a:r>
              <a:rPr kumimoji="0" lang="en-US" sz="2400" b="0" i="0" u="none" strike="noStrike" cap="none" normalizeH="0" baseline="0" dirty="0" smtClean="0">
                <a:ln>
                  <a:noFill/>
                </a:ln>
                <a:solidFill>
                  <a:schemeClr val="tx1"/>
                </a:solidFill>
                <a:effectLst/>
              </a:rPr>
              <a:t> helped popularize </a:t>
            </a:r>
            <a:r>
              <a:rPr kumimoji="0" lang="en-US" sz="2400" b="1" i="0" u="none" strike="noStrike" cap="none" normalizeH="0" baseline="0" dirty="0" smtClean="0">
                <a:ln>
                  <a:noFill/>
                </a:ln>
                <a:solidFill>
                  <a:schemeClr val="tx1"/>
                </a:solidFill>
                <a:effectLst/>
              </a:rPr>
              <a:t>free content</a:t>
            </a:r>
            <a:r>
              <a:rPr kumimoji="0" lang="en-US" sz="2400" b="0" i="0" u="none" strike="noStrike" cap="none" normalizeH="0" baseline="0" dirty="0" smtClean="0">
                <a:ln>
                  <a:noFill/>
                </a:ln>
                <a:solidFill>
                  <a:schemeClr val="tx1"/>
                </a:solidFill>
                <a:effectLst/>
              </a:rPr>
              <a:t> supported by ads.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rPr>
              <a:t>Even traditional media like the </a:t>
            </a:r>
            <a:r>
              <a:rPr kumimoji="0" lang="en-US" sz="2400" b="1" i="0" u="none" strike="noStrike" cap="none" normalizeH="0" baseline="0" dirty="0" smtClean="0">
                <a:ln>
                  <a:noFill/>
                </a:ln>
                <a:solidFill>
                  <a:schemeClr val="tx1"/>
                </a:solidFill>
                <a:effectLst/>
              </a:rPr>
              <a:t>Wall Street Journal</a:t>
            </a:r>
            <a:r>
              <a:rPr kumimoji="0" lang="en-US" sz="2400" b="0" i="0" u="none" strike="noStrike" cap="none" normalizeH="0" baseline="0" dirty="0" smtClean="0">
                <a:ln>
                  <a:noFill/>
                </a:ln>
                <a:solidFill>
                  <a:schemeClr val="tx1"/>
                </a:solidFill>
                <a:effectLst/>
              </a:rPr>
              <a:t> began opening more content to non-subscribers.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rPr>
              <a:t>Technological Foundations</a:t>
            </a:r>
            <a:endParaRPr kumimoji="0" lang="en-US" sz="24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rPr>
              <a:t>The web was built on pre-existing </a:t>
            </a:r>
            <a:r>
              <a:rPr kumimoji="0" lang="en-US" sz="2400" b="1" i="0" u="none" strike="noStrike" cap="none" normalizeH="0" baseline="0" dirty="0" smtClean="0">
                <a:ln>
                  <a:noFill/>
                </a:ln>
                <a:solidFill>
                  <a:schemeClr val="tx1"/>
                </a:solidFill>
                <a:effectLst/>
              </a:rPr>
              <a:t>Internet protocols</a:t>
            </a:r>
            <a:r>
              <a:rPr kumimoji="0" lang="en-US" sz="2400" b="0" i="0" u="none" strike="noStrike" cap="none" normalizeH="0" baseline="0" dirty="0" smtClean="0">
                <a:ln>
                  <a:noFill/>
                </a:ln>
                <a:solidFill>
                  <a:schemeClr val="tx1"/>
                </a:solidFill>
                <a:effectLst/>
              </a:rPr>
              <a:t> (e.g., HTTP, HTML, TCP/IP).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rPr>
              <a:t>The relationship between </a:t>
            </a:r>
            <a:r>
              <a:rPr kumimoji="0" lang="en-US" sz="2400" b="1" i="0" u="none" strike="noStrike" cap="none" normalizeH="0" baseline="0" dirty="0" smtClean="0">
                <a:ln>
                  <a:noFill/>
                </a:ln>
                <a:solidFill>
                  <a:schemeClr val="tx1"/>
                </a:solidFill>
                <a:effectLst/>
              </a:rPr>
              <a:t>web technologies</a:t>
            </a:r>
            <a:r>
              <a:rPr kumimoji="0" lang="en-US" sz="2400" b="0" i="0" u="none" strike="noStrike" cap="none" normalizeH="0" baseline="0" dirty="0" smtClean="0">
                <a:ln>
                  <a:noFill/>
                </a:ln>
                <a:solidFill>
                  <a:schemeClr val="tx1"/>
                </a:solidFill>
                <a:effectLst/>
              </a:rPr>
              <a:t> and these protocols is essential to understanding </a:t>
            </a:r>
            <a:r>
              <a:rPr kumimoji="0" lang="en-US" sz="2400" b="1" i="0" u="none" strike="noStrike" cap="none" normalizeH="0" baseline="0" dirty="0" smtClean="0">
                <a:ln>
                  <a:noFill/>
                </a:ln>
                <a:solidFill>
                  <a:schemeClr val="tx1"/>
                </a:solidFill>
                <a:effectLst/>
              </a:rPr>
              <a:t>web applications</a:t>
            </a:r>
            <a:r>
              <a:rPr kumimoji="0" lang="en-US" sz="2400" b="0" i="0" u="none" strike="noStrike" cap="none" normalizeH="0" baseline="0" dirty="0" smtClean="0">
                <a:ln>
                  <a:noFill/>
                </a:ln>
                <a:solidFill>
                  <a:schemeClr val="tx1"/>
                </a:solidFill>
                <a:effectLst/>
              </a:rPr>
              <a:t> versus simple </a:t>
            </a:r>
            <a:r>
              <a:rPr kumimoji="0" lang="en-US" sz="2400" b="1" i="0" u="none" strike="noStrike" cap="none" normalizeH="0" baseline="0" dirty="0" smtClean="0">
                <a:ln>
                  <a:noFill/>
                </a:ln>
                <a:solidFill>
                  <a:schemeClr val="tx1"/>
                </a:solidFill>
                <a:effectLst/>
              </a:rPr>
              <a:t>web pages</a:t>
            </a:r>
            <a:r>
              <a:rPr kumimoji="0" lang="en-US" sz="2400" b="0" i="0" u="none" strike="noStrike" cap="none" normalizeH="0" baseline="0" dirty="0" smtClean="0">
                <a:ln>
                  <a:noFill/>
                </a:ln>
                <a:solidFill>
                  <a:schemeClr val="tx1"/>
                </a:solidFill>
                <a:effectLst/>
              </a:rPr>
              <a:t> or </a:t>
            </a:r>
            <a:r>
              <a:rPr kumimoji="0" lang="en-US" sz="2400" b="1" i="0" u="none" strike="noStrike" cap="none" normalizeH="0" baseline="0" dirty="0" smtClean="0">
                <a:ln>
                  <a:noFill/>
                </a:ln>
                <a:solidFill>
                  <a:schemeClr val="tx1"/>
                </a:solidFill>
                <a:effectLst/>
              </a:rPr>
              <a:t>websites</a:t>
            </a:r>
            <a:r>
              <a:rPr kumimoji="0" lang="en-US" sz="2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2224110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Introduction to Web 1.0, Web 2.0 and Web</a:t>
            </a:r>
            <a:br>
              <a:rPr lang="en-US" dirty="0"/>
            </a:br>
            <a:r>
              <a:rPr lang="en-US" dirty="0"/>
              <a:t>3.0</a:t>
            </a:r>
          </a:p>
        </p:txBody>
      </p:sp>
      <p:sp>
        <p:nvSpPr>
          <p:cNvPr id="3" name="Content Placeholder 2"/>
          <p:cNvSpPr>
            <a:spLocks noGrp="1"/>
          </p:cNvSpPr>
          <p:nvPr>
            <p:ph idx="1"/>
          </p:nvPr>
        </p:nvSpPr>
        <p:spPr/>
        <p:txBody>
          <a:bodyPr>
            <a:normAutofit/>
          </a:bodyPr>
          <a:lstStyle/>
          <a:p>
            <a:r>
              <a:rPr lang="en-US" sz="2400" b="1" dirty="0" smtClean="0"/>
              <a:t>Web 1.0</a:t>
            </a:r>
          </a:p>
          <a:p>
            <a:pPr>
              <a:buFont typeface="Wingdings" panose="05000000000000000000" pitchFamily="2" charset="2"/>
              <a:buChar char="§"/>
            </a:pPr>
            <a:r>
              <a:rPr lang="en-US" dirty="0" smtClean="0"/>
              <a:t>Web </a:t>
            </a:r>
            <a:r>
              <a:rPr lang="en-US" dirty="0"/>
              <a:t>1.0 was the first version of the Internet that primarily featured </a:t>
            </a:r>
            <a:r>
              <a:rPr lang="en-US" dirty="0">
                <a:solidFill>
                  <a:srgbClr val="FF0000"/>
                </a:solidFill>
              </a:rPr>
              <a:t>static web pages without interactive elements</a:t>
            </a:r>
            <a:r>
              <a:rPr lang="en-US" dirty="0"/>
              <a:t>.</a:t>
            </a:r>
          </a:p>
          <a:p>
            <a:pPr>
              <a:buFont typeface="Wingdings" panose="05000000000000000000" pitchFamily="2" charset="2"/>
              <a:buChar char="§"/>
            </a:pPr>
            <a:r>
              <a:rPr lang="en-US" dirty="0"/>
              <a:t>Web 1.0 users could </a:t>
            </a:r>
            <a:r>
              <a:rPr lang="en-US" dirty="0">
                <a:solidFill>
                  <a:srgbClr val="FF0000"/>
                </a:solidFill>
              </a:rPr>
              <a:t>only read information;</a:t>
            </a:r>
            <a:r>
              <a:rPr lang="en-US" dirty="0"/>
              <a:t> there was no way to interact or contribute.</a:t>
            </a:r>
          </a:p>
          <a:p>
            <a:pPr>
              <a:buFont typeface="Wingdings" panose="05000000000000000000" pitchFamily="2" charset="2"/>
              <a:buChar char="§"/>
            </a:pPr>
            <a:r>
              <a:rPr lang="en-US" dirty="0"/>
              <a:t>The pages were primarily </a:t>
            </a:r>
            <a:r>
              <a:rPr lang="en-US" dirty="0">
                <a:solidFill>
                  <a:srgbClr val="FF0000"/>
                </a:solidFill>
              </a:rPr>
              <a:t>built using HTML and were linked together by hyperlinks</a:t>
            </a:r>
            <a:r>
              <a:rPr lang="en-US" dirty="0"/>
              <a:t>.</a:t>
            </a:r>
          </a:p>
          <a:p>
            <a:pPr>
              <a:buFont typeface="Wingdings" panose="05000000000000000000" pitchFamily="2" charset="2"/>
              <a:buChar char="§"/>
            </a:pPr>
            <a:r>
              <a:rPr lang="en-US" dirty="0"/>
              <a:t>Early websites often served as digital brochures for businesses.</a:t>
            </a:r>
          </a:p>
          <a:p>
            <a:pPr>
              <a:buFont typeface="Wingdings" panose="05000000000000000000" pitchFamily="2" charset="2"/>
              <a:buChar char="§"/>
            </a:pPr>
            <a:r>
              <a:rPr lang="en-US" dirty="0"/>
              <a:t>Content creation was centralized, </a:t>
            </a:r>
            <a:r>
              <a:rPr lang="en-US" dirty="0">
                <a:solidFill>
                  <a:srgbClr val="FF0000"/>
                </a:solidFill>
              </a:rPr>
              <a:t>only website owners and administrators could create and manage content.</a:t>
            </a:r>
          </a:p>
          <a:p>
            <a:endParaRPr lang="en-US" dirty="0"/>
          </a:p>
        </p:txBody>
      </p:sp>
    </p:spTree>
    <p:extLst>
      <p:ext uri="{BB962C8B-B14F-4D97-AF65-F5344CB8AC3E}">
        <p14:creationId xmlns:p14="http://schemas.microsoft.com/office/powerpoint/2010/main" val="2345486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b="1" dirty="0"/>
              <a:t>Web 1.0 History</a:t>
            </a:r>
          </a:p>
          <a:p>
            <a:pPr marL="0" lvl="0" indent="0" eaLnBrk="0" fontAlgn="base" hangingPunct="0">
              <a:lnSpc>
                <a:spcPct val="100000"/>
              </a:lnSpc>
              <a:spcBef>
                <a:spcPct val="0"/>
              </a:spcBef>
              <a:spcAft>
                <a:spcPct val="0"/>
              </a:spcAft>
              <a:buClrTx/>
              <a:buSzTx/>
              <a:buFontTx/>
              <a:buChar char="•"/>
            </a:pPr>
            <a:r>
              <a:rPr lang="en-US" sz="2000" b="1" dirty="0">
                <a:latin typeface="Arial" panose="020B0604020202020204" pitchFamily="34" charset="0"/>
              </a:rPr>
              <a:t>Origins:</a:t>
            </a:r>
          </a:p>
          <a:p>
            <a:pPr marL="0" lvl="0" indent="0" eaLnBrk="0" fontAlgn="base" hangingPunct="0">
              <a:lnSpc>
                <a:spcPct val="100000"/>
              </a:lnSpc>
              <a:spcBef>
                <a:spcPct val="0"/>
              </a:spcBef>
              <a:spcAft>
                <a:spcPct val="0"/>
              </a:spcAft>
              <a:buClrTx/>
              <a:buSzTx/>
              <a:buFontTx/>
              <a:buChar char="•"/>
            </a:pPr>
            <a:r>
              <a:rPr lang="en-US" sz="2000" dirty="0">
                <a:latin typeface="Arial" panose="020B0604020202020204" pitchFamily="34" charset="0"/>
              </a:rPr>
              <a:t>Invented by </a:t>
            </a:r>
            <a:r>
              <a:rPr lang="en-US" sz="2000" dirty="0">
                <a:solidFill>
                  <a:srgbClr val="FF0000"/>
                </a:solidFill>
                <a:latin typeface="Arial" panose="020B0604020202020204" pitchFamily="34" charset="0"/>
              </a:rPr>
              <a:t>Tim Berners-Lee </a:t>
            </a:r>
            <a:r>
              <a:rPr lang="en-US" sz="2000" dirty="0">
                <a:latin typeface="Arial" panose="020B0604020202020204" pitchFamily="34" charset="0"/>
              </a:rPr>
              <a:t>at CERN in the early 1990s.</a:t>
            </a:r>
          </a:p>
          <a:p>
            <a:pPr marL="0" lvl="0" indent="0" eaLnBrk="0" fontAlgn="base" hangingPunct="0">
              <a:lnSpc>
                <a:spcPct val="100000"/>
              </a:lnSpc>
              <a:spcBef>
                <a:spcPct val="0"/>
              </a:spcBef>
              <a:spcAft>
                <a:spcPct val="0"/>
              </a:spcAft>
              <a:buClrTx/>
              <a:buSzTx/>
              <a:buFontTx/>
              <a:buChar char="•"/>
            </a:pPr>
            <a:r>
              <a:rPr lang="en-US" sz="2000" dirty="0">
                <a:latin typeface="Arial" panose="020B0604020202020204" pitchFamily="34" charset="0"/>
              </a:rPr>
              <a:t>First web page (1991): An instructional guide on using the web</a:t>
            </a:r>
            <a:r>
              <a:rPr lang="en-US" sz="2000" dirty="0" smtClean="0">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endParaRPr lang="en-US" sz="2000" dirty="0">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sz="2000" b="1" dirty="0">
                <a:latin typeface="Arial" panose="020B0604020202020204" pitchFamily="34" charset="0"/>
              </a:rPr>
              <a:t>Growth (1990s):</a:t>
            </a:r>
          </a:p>
          <a:p>
            <a:pPr marL="0" lvl="0" indent="0" eaLnBrk="0" fontAlgn="base" hangingPunct="0">
              <a:lnSpc>
                <a:spcPct val="100000"/>
              </a:lnSpc>
              <a:spcBef>
                <a:spcPct val="0"/>
              </a:spcBef>
              <a:spcAft>
                <a:spcPct val="0"/>
              </a:spcAft>
              <a:buClrTx/>
              <a:buSzTx/>
              <a:buFontTx/>
              <a:buChar char="•"/>
            </a:pPr>
            <a:r>
              <a:rPr lang="en-US" sz="2000" dirty="0">
                <a:latin typeface="Arial" panose="020B0604020202020204" pitchFamily="34" charset="0"/>
              </a:rPr>
              <a:t>Early adoption by individuals and businesses.</a:t>
            </a:r>
          </a:p>
          <a:p>
            <a:pPr marL="0" lvl="0" indent="0" eaLnBrk="0" fontAlgn="base" hangingPunct="0">
              <a:lnSpc>
                <a:spcPct val="100000"/>
              </a:lnSpc>
              <a:spcBef>
                <a:spcPct val="0"/>
              </a:spcBef>
              <a:spcAft>
                <a:spcPct val="0"/>
              </a:spcAft>
              <a:buClrTx/>
              <a:buSzTx/>
              <a:buFontTx/>
              <a:buChar char="•"/>
            </a:pPr>
            <a:r>
              <a:rPr lang="en-US" sz="2000" dirty="0">
                <a:latin typeface="Arial" panose="020B0604020202020204" pitchFamily="34" charset="0"/>
              </a:rPr>
              <a:t>Web directories (e.g., Yahoo!) and search engines (e.g., AltaVista) emerged</a:t>
            </a:r>
            <a:r>
              <a:rPr lang="en-US" sz="2000" dirty="0" smtClean="0">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endParaRPr lang="en-US" sz="2000" dirty="0">
              <a:latin typeface="Arial" panose="020B0604020202020204" pitchFamily="34" charset="0"/>
            </a:endParaRPr>
          </a:p>
          <a:p>
            <a:pPr marL="0" lvl="0" indent="0" eaLnBrk="0" fontAlgn="base" hangingPunct="0">
              <a:lnSpc>
                <a:spcPct val="100000"/>
              </a:lnSpc>
              <a:spcBef>
                <a:spcPct val="0"/>
              </a:spcBef>
              <a:spcAft>
                <a:spcPct val="0"/>
              </a:spcAft>
              <a:buClrTx/>
              <a:buSzTx/>
              <a:buFontTx/>
              <a:buChar char="•"/>
            </a:pPr>
            <a:r>
              <a:rPr lang="en-US" sz="2000" b="1" dirty="0">
                <a:latin typeface="Arial" panose="020B0604020202020204" pitchFamily="34" charset="0"/>
              </a:rPr>
              <a:t>Features of Web 1.0:</a:t>
            </a:r>
          </a:p>
          <a:p>
            <a:pPr marL="0" lvl="0" indent="0" eaLnBrk="0" fontAlgn="base" hangingPunct="0">
              <a:lnSpc>
                <a:spcPct val="100000"/>
              </a:lnSpc>
              <a:spcBef>
                <a:spcPct val="0"/>
              </a:spcBef>
              <a:spcAft>
                <a:spcPct val="0"/>
              </a:spcAft>
              <a:buClrTx/>
              <a:buSzTx/>
              <a:buFontTx/>
              <a:buChar char="•"/>
            </a:pPr>
            <a:r>
              <a:rPr lang="en-US" sz="2000" dirty="0">
                <a:latin typeface="Arial" panose="020B0604020202020204" pitchFamily="34" charset="0"/>
              </a:rPr>
              <a:t>Static content using basic HTML tags for styling and alignment.</a:t>
            </a:r>
          </a:p>
          <a:p>
            <a:pPr marL="0" lvl="0" indent="0" eaLnBrk="0" fontAlgn="base" hangingPunct="0">
              <a:lnSpc>
                <a:spcPct val="100000"/>
              </a:lnSpc>
              <a:spcBef>
                <a:spcPct val="0"/>
              </a:spcBef>
              <a:spcAft>
                <a:spcPct val="0"/>
              </a:spcAft>
              <a:buClrTx/>
              <a:buSzTx/>
              <a:buFontTx/>
              <a:buChar char="•"/>
            </a:pPr>
            <a:r>
              <a:rPr lang="en-US" sz="2000" dirty="0">
                <a:latin typeface="Arial" panose="020B0604020202020204" pitchFamily="34" charset="0"/>
              </a:rPr>
              <a:t>Limited interactivity and no dynamic content.</a:t>
            </a:r>
          </a:p>
          <a:p>
            <a:endParaRPr lang="en-US" dirty="0"/>
          </a:p>
        </p:txBody>
      </p:sp>
    </p:spTree>
    <p:extLst>
      <p:ext uri="{BB962C8B-B14F-4D97-AF65-F5344CB8AC3E}">
        <p14:creationId xmlns:p14="http://schemas.microsoft.com/office/powerpoint/2010/main" val="995266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1024127" y="2866519"/>
            <a:ext cx="986678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Technological Evolution</a:t>
            </a:r>
            <a:r>
              <a:rPr kumimoji="0" lang="en-US"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Tools like CSS simplified web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Arial" panose="020B0604020202020204" pitchFamily="34" charset="0"/>
              </a:rPr>
              <a:t>SaaS</a:t>
            </a:r>
            <a:r>
              <a:rPr kumimoji="0" lang="en-US" sz="2000" b="0" i="0" u="none" strike="noStrike" cap="none" normalizeH="0" baseline="0" dirty="0" smtClean="0">
                <a:ln>
                  <a:noFill/>
                </a:ln>
                <a:solidFill>
                  <a:schemeClr val="tx1"/>
                </a:solidFill>
                <a:effectLst/>
                <a:latin typeface="Arial" panose="020B0604020202020204" pitchFamily="34" charset="0"/>
              </a:rPr>
              <a:t> and cloud computing began transforming the Internet.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Transition to Web 2.0</a:t>
            </a:r>
            <a:r>
              <a:rPr kumimoji="0" lang="en-US"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Gradual shift with increasing interactivity and dynamic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Enhanced user input via web forms and dynamic URLs.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Arial" panose="020B0604020202020204" pitchFamily="34" charset="0"/>
              </a:rPr>
              <a:t>"Look and feel" of the web evolved with new design standards.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9313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sz="2400" b="1" dirty="0"/>
              <a:t>Four Design Essentials of a Web 1.0 Site Include:</a:t>
            </a:r>
            <a:endParaRPr lang="en-US" sz="2400" dirty="0"/>
          </a:p>
          <a:p>
            <a:pPr fontAlgn="base">
              <a:buFont typeface="Wingdings" panose="05000000000000000000" pitchFamily="2" charset="2"/>
              <a:buChar char="§"/>
            </a:pPr>
            <a:r>
              <a:rPr lang="en-US" sz="2400" i="1" dirty="0"/>
              <a:t>Static pages.</a:t>
            </a:r>
            <a:endParaRPr lang="en-US" sz="2400" dirty="0"/>
          </a:p>
          <a:p>
            <a:pPr fontAlgn="base">
              <a:buFont typeface="Wingdings" panose="05000000000000000000" pitchFamily="2" charset="2"/>
              <a:buChar char="§"/>
            </a:pPr>
            <a:r>
              <a:rPr lang="en-US" sz="2400" i="1" dirty="0"/>
              <a:t>Content is served from the server’s file system.</a:t>
            </a:r>
            <a:endParaRPr lang="en-US" sz="2400" dirty="0"/>
          </a:p>
          <a:p>
            <a:pPr fontAlgn="base">
              <a:buFont typeface="Wingdings" panose="05000000000000000000" pitchFamily="2" charset="2"/>
              <a:buChar char="§"/>
            </a:pPr>
            <a:r>
              <a:rPr lang="en-US" sz="2400" i="1" dirty="0"/>
              <a:t>Pages built using Server Side Includes or </a:t>
            </a:r>
            <a:r>
              <a:rPr lang="en-US" sz="2400" b="1" i="1" dirty="0"/>
              <a:t>Common Gateway Interface</a:t>
            </a:r>
            <a:r>
              <a:rPr lang="en-US" sz="2400" i="1" dirty="0"/>
              <a:t> (CGI).</a:t>
            </a:r>
            <a:endParaRPr lang="en-US" sz="2400" dirty="0"/>
          </a:p>
          <a:p>
            <a:pPr fontAlgn="base">
              <a:buFont typeface="Wingdings" panose="05000000000000000000" pitchFamily="2" charset="2"/>
              <a:buChar char="§"/>
            </a:pPr>
            <a:r>
              <a:rPr lang="en-US" sz="2400" i="1" dirty="0"/>
              <a:t>Frames and Tables are used to position and align the elements on a page.</a:t>
            </a:r>
            <a:endParaRPr lang="en-US" sz="2400" dirty="0"/>
          </a:p>
          <a:p>
            <a:endParaRPr lang="en-US" sz="2400" dirty="0"/>
          </a:p>
        </p:txBody>
      </p:sp>
    </p:spTree>
    <p:extLst>
      <p:ext uri="{BB962C8B-B14F-4D97-AF65-F5344CB8AC3E}">
        <p14:creationId xmlns:p14="http://schemas.microsoft.com/office/powerpoint/2010/main" val="2494995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sz="2400" b="1" dirty="0"/>
              <a:t>Features of the Web 1.0</a:t>
            </a:r>
          </a:p>
          <a:p>
            <a:pPr fontAlgn="base">
              <a:buFont typeface="Wingdings" panose="05000000000000000000" pitchFamily="2" charset="2"/>
              <a:buChar char="§"/>
            </a:pPr>
            <a:r>
              <a:rPr lang="en-US" sz="2400" i="1" dirty="0"/>
              <a:t>Easy to connect static pages with the system via hyperlinks</a:t>
            </a:r>
            <a:endParaRPr lang="en-US" sz="2400" dirty="0"/>
          </a:p>
          <a:p>
            <a:pPr fontAlgn="base">
              <a:buFont typeface="Wingdings" panose="05000000000000000000" pitchFamily="2" charset="2"/>
              <a:buChar char="§"/>
            </a:pPr>
            <a:r>
              <a:rPr lang="en-US" sz="2400" i="1" dirty="0"/>
              <a:t>Supports elements like frames and tables with HTML 3.2</a:t>
            </a:r>
            <a:endParaRPr lang="en-US" sz="2400" dirty="0"/>
          </a:p>
          <a:p>
            <a:pPr fontAlgn="base">
              <a:buFont typeface="Wingdings" panose="05000000000000000000" pitchFamily="2" charset="2"/>
              <a:buChar char="§"/>
            </a:pPr>
            <a:r>
              <a:rPr lang="en-US" sz="2400" i="1" dirty="0"/>
              <a:t>Also has graphics and a GIF button</a:t>
            </a:r>
            <a:endParaRPr lang="en-US" sz="2400" dirty="0"/>
          </a:p>
          <a:p>
            <a:pPr fontAlgn="base">
              <a:buFont typeface="Wingdings" panose="05000000000000000000" pitchFamily="2" charset="2"/>
              <a:buChar char="§"/>
            </a:pPr>
            <a:r>
              <a:rPr lang="en-US" sz="2400" i="1" dirty="0"/>
              <a:t>Less interaction between the user and the server</a:t>
            </a:r>
            <a:endParaRPr lang="en-US" sz="2400" dirty="0"/>
          </a:p>
          <a:p>
            <a:pPr fontAlgn="base">
              <a:buFont typeface="Wingdings" panose="05000000000000000000" pitchFamily="2" charset="2"/>
              <a:buChar char="§"/>
            </a:pPr>
            <a:r>
              <a:rPr lang="en-US" sz="2400" i="1" dirty="0"/>
              <a:t>You can send </a:t>
            </a:r>
            <a:r>
              <a:rPr lang="en-US" sz="2400" b="1" i="1" dirty="0"/>
              <a:t>HTML</a:t>
            </a:r>
            <a:r>
              <a:rPr lang="en-US" sz="2400" i="1" dirty="0"/>
              <a:t> forms via mail</a:t>
            </a:r>
            <a:endParaRPr lang="en-US" sz="2400" dirty="0"/>
          </a:p>
          <a:p>
            <a:pPr fontAlgn="base">
              <a:buFont typeface="Wingdings" panose="05000000000000000000" pitchFamily="2" charset="2"/>
              <a:buChar char="§"/>
            </a:pPr>
            <a:r>
              <a:rPr lang="en-US" sz="2400" i="1" dirty="0"/>
              <a:t>Provides only a one-way publishing medium</a:t>
            </a:r>
            <a:endParaRPr lang="en-US" sz="2400" dirty="0"/>
          </a:p>
          <a:p>
            <a:endParaRPr lang="en-US" sz="2400" dirty="0"/>
          </a:p>
        </p:txBody>
      </p:sp>
    </p:spTree>
    <p:extLst>
      <p:ext uri="{BB962C8B-B14F-4D97-AF65-F5344CB8AC3E}">
        <p14:creationId xmlns:p14="http://schemas.microsoft.com/office/powerpoint/2010/main" val="1315669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dirty="0" smtClean="0"/>
              <a:t>Web 2.0</a:t>
            </a:r>
          </a:p>
          <a:p>
            <a:pPr lvl="0" eaLnBrk="0" fontAlgn="base" hangingPunct="0">
              <a:lnSpc>
                <a:spcPct val="100000"/>
              </a:lnSpc>
              <a:spcBef>
                <a:spcPct val="0"/>
              </a:spcBef>
              <a:spcAft>
                <a:spcPct val="0"/>
              </a:spcAft>
              <a:buClrTx/>
              <a:buSzTx/>
              <a:buFont typeface="Wingdings" panose="05000000000000000000" pitchFamily="2" charset="2"/>
              <a:buChar char="§"/>
            </a:pPr>
            <a:r>
              <a:rPr lang="en-US" dirty="0" smtClean="0">
                <a:solidFill>
                  <a:srgbClr val="FF0000"/>
                </a:solidFill>
                <a:latin typeface="+mj-lt"/>
              </a:rPr>
              <a:t>Term </a:t>
            </a:r>
            <a:r>
              <a:rPr lang="en-US" dirty="0">
                <a:solidFill>
                  <a:srgbClr val="FF0000"/>
                </a:solidFill>
                <a:latin typeface="+mj-lt"/>
              </a:rPr>
              <a:t>"Web 2.0" coined by Darcy </a:t>
            </a:r>
            <a:r>
              <a:rPr lang="en-US" dirty="0" err="1">
                <a:solidFill>
                  <a:srgbClr val="FF0000"/>
                </a:solidFill>
                <a:latin typeface="+mj-lt"/>
              </a:rPr>
              <a:t>DiNucci</a:t>
            </a:r>
            <a:r>
              <a:rPr lang="en-US" dirty="0">
                <a:solidFill>
                  <a:srgbClr val="FF0000"/>
                </a:solidFill>
                <a:latin typeface="+mj-lt"/>
              </a:rPr>
              <a:t> in 1999.</a:t>
            </a:r>
          </a:p>
          <a:p>
            <a:pPr lvl="0" eaLnBrk="0" fontAlgn="base" hangingPunct="0">
              <a:lnSpc>
                <a:spcPct val="100000"/>
              </a:lnSpc>
              <a:spcBef>
                <a:spcPct val="0"/>
              </a:spcBef>
              <a:spcAft>
                <a:spcPct val="0"/>
              </a:spcAft>
              <a:buClrTx/>
              <a:buSzTx/>
              <a:buFont typeface="Wingdings" panose="05000000000000000000" pitchFamily="2" charset="2"/>
              <a:buChar char="§"/>
            </a:pPr>
            <a:r>
              <a:rPr lang="en-US" dirty="0">
                <a:solidFill>
                  <a:schemeClr val="tx1"/>
                </a:solidFill>
                <a:latin typeface="+mj-lt"/>
              </a:rPr>
              <a:t>Popularized in 2004 by the first Web 2.0 conference by Tim O’Reilly and Dale Dougherty. </a:t>
            </a:r>
          </a:p>
          <a:p>
            <a:pPr>
              <a:buFont typeface="Wingdings" panose="05000000000000000000" pitchFamily="2" charset="2"/>
              <a:buChar char="§"/>
            </a:pPr>
            <a:r>
              <a:rPr lang="en-US" dirty="0">
                <a:latin typeface="+mj-lt"/>
              </a:rPr>
              <a:t>Web 2.0 is characterized by platforms that enable the proliferation of </a:t>
            </a:r>
            <a:r>
              <a:rPr lang="en-US" dirty="0">
                <a:solidFill>
                  <a:srgbClr val="FF0000"/>
                </a:solidFill>
                <a:latin typeface="+mj-lt"/>
              </a:rPr>
              <a:t>user-generated content, creating an interactive and engaging online experience driven by content sharing.</a:t>
            </a:r>
          </a:p>
          <a:p>
            <a:pPr>
              <a:buFont typeface="Wingdings" panose="05000000000000000000" pitchFamily="2" charset="2"/>
              <a:buChar char="§"/>
            </a:pPr>
            <a:r>
              <a:rPr lang="en-US" dirty="0">
                <a:latin typeface="+mj-lt"/>
              </a:rPr>
              <a:t>Web 2.0 platforms are designed to be </a:t>
            </a:r>
            <a:r>
              <a:rPr lang="en-US" dirty="0">
                <a:solidFill>
                  <a:srgbClr val="FF0000"/>
                </a:solidFill>
                <a:latin typeface="+mj-lt"/>
              </a:rPr>
              <a:t>user-friendly and accessible,</a:t>
            </a:r>
            <a:r>
              <a:rPr lang="en-US" dirty="0">
                <a:latin typeface="+mj-lt"/>
              </a:rPr>
              <a:t> even for those with limited technical knowledge.</a:t>
            </a:r>
          </a:p>
          <a:p>
            <a:pPr>
              <a:buFont typeface="Wingdings" panose="05000000000000000000" pitchFamily="2" charset="2"/>
              <a:buChar char="§"/>
            </a:pPr>
            <a:r>
              <a:rPr lang="en-US" dirty="0">
                <a:latin typeface="+mj-lt"/>
              </a:rPr>
              <a:t>Users can </a:t>
            </a:r>
            <a:r>
              <a:rPr lang="en-US" dirty="0">
                <a:solidFill>
                  <a:srgbClr val="FF0000"/>
                </a:solidFill>
                <a:latin typeface="+mj-lt"/>
              </a:rPr>
              <a:t>engage in social networking and community building through various applications,</a:t>
            </a:r>
            <a:r>
              <a:rPr lang="en-US" dirty="0">
                <a:latin typeface="+mj-lt"/>
              </a:rPr>
              <a:t> platforms, and services that foster real-time interaction and collaboration.</a:t>
            </a:r>
          </a:p>
          <a:p>
            <a:pPr>
              <a:buFont typeface="Wingdings" panose="05000000000000000000" pitchFamily="2" charset="2"/>
              <a:buChar char="§"/>
            </a:pPr>
            <a:r>
              <a:rPr lang="en-US" dirty="0">
                <a:latin typeface="+mj-lt"/>
              </a:rPr>
              <a:t>New technologies support the </a:t>
            </a:r>
            <a:r>
              <a:rPr lang="en-US" dirty="0">
                <a:solidFill>
                  <a:srgbClr val="FF0000"/>
                </a:solidFill>
                <a:latin typeface="+mj-lt"/>
              </a:rPr>
              <a:t>sharing of multimedia content such as videos, podcasts, and interactive graphics.</a:t>
            </a:r>
          </a:p>
          <a:p>
            <a:pPr>
              <a:buFont typeface="Wingdings" panose="05000000000000000000" pitchFamily="2" charset="2"/>
              <a:buChar char="§"/>
            </a:pPr>
            <a:r>
              <a:rPr lang="en-US" dirty="0">
                <a:latin typeface="+mj-lt"/>
              </a:rPr>
              <a:t>The transition from Web 1.0 to Web 2.0 paves the way for the shift to Web 3.0.</a:t>
            </a:r>
          </a:p>
          <a:p>
            <a:endParaRPr lang="en-US" dirty="0">
              <a:latin typeface="+mj-lt"/>
            </a:endParaRPr>
          </a:p>
        </p:txBody>
      </p:sp>
    </p:spTree>
    <p:extLst>
      <p:ext uri="{BB962C8B-B14F-4D97-AF65-F5344CB8AC3E}">
        <p14:creationId xmlns:p14="http://schemas.microsoft.com/office/powerpoint/2010/main" val="1960346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3"/>
            <a:ext cx="10653442" cy="4391293"/>
          </a:xfrm>
        </p:spPr>
        <p:txBody>
          <a:bodyPr>
            <a:normAutofit/>
          </a:bodyPr>
          <a:lstStyle/>
          <a:p>
            <a:r>
              <a:rPr lang="en-US" b="1" dirty="0"/>
              <a:t>Web 2.0 </a:t>
            </a:r>
            <a:r>
              <a:rPr lang="en-US" b="1" dirty="0" smtClean="0"/>
              <a:t>History</a:t>
            </a:r>
            <a:r>
              <a:rPr lang="en-US" dirty="0"/>
              <a:t/>
            </a:r>
            <a:br>
              <a:rPr lang="en-US" dirty="0"/>
            </a:br>
            <a:r>
              <a:rPr lang="en-US" b="1" dirty="0"/>
              <a:t>Origin</a:t>
            </a:r>
            <a:r>
              <a:rPr lang="en-US" b="1" dirty="0" smtClean="0"/>
              <a:t>:</a:t>
            </a:r>
          </a:p>
          <a:p>
            <a:pPr lvl="1"/>
            <a:r>
              <a:rPr lang="en-US" dirty="0" smtClean="0"/>
              <a:t>Coined </a:t>
            </a:r>
            <a:r>
              <a:rPr lang="en-US" dirty="0">
                <a:solidFill>
                  <a:srgbClr val="FF0000"/>
                </a:solidFill>
              </a:rPr>
              <a:t>in 1999 by Darcy </a:t>
            </a:r>
            <a:r>
              <a:rPr lang="en-US" dirty="0" err="1">
                <a:solidFill>
                  <a:srgbClr val="FF0000"/>
                </a:solidFill>
              </a:rPr>
              <a:t>DiNucci</a:t>
            </a:r>
            <a:r>
              <a:rPr lang="en-US" dirty="0"/>
              <a:t> in the article “Fragmented Future”, describing the </a:t>
            </a:r>
            <a:r>
              <a:rPr lang="en-US" dirty="0">
                <a:solidFill>
                  <a:srgbClr val="FF0000"/>
                </a:solidFill>
              </a:rPr>
              <a:t>Web as a medium for interactivity</a:t>
            </a:r>
            <a:r>
              <a:rPr lang="en-US" dirty="0" smtClean="0">
                <a:solidFill>
                  <a:srgbClr val="FF0000"/>
                </a:solidFill>
              </a:rPr>
              <a:t>.</a:t>
            </a:r>
          </a:p>
          <a:p>
            <a:pPr lvl="1"/>
            <a:r>
              <a:rPr lang="en-US" dirty="0" smtClean="0"/>
              <a:t>Popularized </a:t>
            </a:r>
            <a:r>
              <a:rPr lang="en-US" dirty="0"/>
              <a:t>in 2004 by Tim O’Reilly and Dale Dougherty during the first Web 2.0 Conference</a:t>
            </a:r>
            <a:r>
              <a:rPr lang="en-US" dirty="0" smtClean="0"/>
              <a:t>.</a:t>
            </a:r>
          </a:p>
          <a:p>
            <a:pPr marL="0" indent="0">
              <a:buNone/>
            </a:pPr>
            <a:r>
              <a:rPr lang="en-US" dirty="0" smtClean="0"/>
              <a:t> </a:t>
            </a:r>
            <a:r>
              <a:rPr lang="en-US" b="1" dirty="0" smtClean="0"/>
              <a:t>Concept</a:t>
            </a:r>
            <a:r>
              <a:rPr lang="en-US" b="1" dirty="0" smtClean="0"/>
              <a:t>:</a:t>
            </a:r>
          </a:p>
          <a:p>
            <a:pPr lvl="1"/>
            <a:r>
              <a:rPr lang="en-US" dirty="0" smtClean="0"/>
              <a:t>The </a:t>
            </a:r>
            <a:r>
              <a:rPr lang="en-US" dirty="0"/>
              <a:t>Web as a </a:t>
            </a:r>
            <a:r>
              <a:rPr lang="en-US" dirty="0">
                <a:solidFill>
                  <a:srgbClr val="FF0000"/>
                </a:solidFill>
              </a:rPr>
              <a:t>platform for interactivity and user engagement</a:t>
            </a:r>
            <a:r>
              <a:rPr lang="en-US" dirty="0" smtClean="0">
                <a:solidFill>
                  <a:srgbClr val="FF0000"/>
                </a:solidFill>
              </a:rPr>
              <a:t>.</a:t>
            </a:r>
          </a:p>
          <a:p>
            <a:r>
              <a:rPr lang="en-US" b="1" dirty="0" smtClean="0"/>
              <a:t>Key </a:t>
            </a:r>
            <a:r>
              <a:rPr lang="en-US" b="1" dirty="0"/>
              <a:t>Milestones</a:t>
            </a:r>
            <a:r>
              <a:rPr lang="en-US" b="1" dirty="0" smtClean="0"/>
              <a:t>:</a:t>
            </a:r>
          </a:p>
          <a:p>
            <a:pPr lvl="1"/>
            <a:r>
              <a:rPr lang="en-US" dirty="0" smtClean="0"/>
              <a:t>Launch </a:t>
            </a:r>
            <a:r>
              <a:rPr lang="en-US" dirty="0"/>
              <a:t>of major </a:t>
            </a:r>
            <a:r>
              <a:rPr lang="en-US" dirty="0" err="1"/>
              <a:t>platforms:</a:t>
            </a:r>
            <a:r>
              <a:rPr lang="en-US" dirty="0" err="1">
                <a:solidFill>
                  <a:srgbClr val="FF0000"/>
                </a:solidFill>
              </a:rPr>
              <a:t>MySpace</a:t>
            </a:r>
            <a:r>
              <a:rPr lang="en-US" dirty="0">
                <a:solidFill>
                  <a:srgbClr val="FF0000"/>
                </a:solidFill>
              </a:rPr>
              <a:t> (2003), Facebook (2004), YouTube (2005), Twitter (2006).</a:t>
            </a:r>
            <a:r>
              <a:rPr lang="en-US" dirty="0"/>
              <a:t>Growth of self-publishing platforms: </a:t>
            </a:r>
            <a:r>
              <a:rPr lang="en-US" dirty="0" err="1"/>
              <a:t>WordPress</a:t>
            </a:r>
            <a:r>
              <a:rPr lang="en-US" dirty="0"/>
              <a:t>, Medium, and </a:t>
            </a:r>
            <a:r>
              <a:rPr lang="en-US" dirty="0" err="1"/>
              <a:t>Substack</a:t>
            </a:r>
            <a:r>
              <a:rPr lang="en-US" dirty="0" smtClean="0"/>
              <a:t>.</a:t>
            </a:r>
          </a:p>
          <a:p>
            <a:r>
              <a:rPr lang="en-US" b="1" dirty="0" smtClean="0"/>
              <a:t>Impact:</a:t>
            </a:r>
          </a:p>
          <a:p>
            <a:pPr lvl="1"/>
            <a:r>
              <a:rPr lang="en-US" dirty="0" smtClean="0"/>
              <a:t>Accelerated </a:t>
            </a:r>
            <a:r>
              <a:rPr lang="en-US" dirty="0"/>
              <a:t>the transition to social networking and user-generated content.</a:t>
            </a:r>
          </a:p>
        </p:txBody>
      </p:sp>
    </p:spTree>
    <p:extLst>
      <p:ext uri="{BB962C8B-B14F-4D97-AF65-F5344CB8AC3E}">
        <p14:creationId xmlns:p14="http://schemas.microsoft.com/office/powerpoint/2010/main" val="357893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fontAlgn="base"/>
            <a:r>
              <a:rPr lang="en-US" sz="2400" b="1" dirty="0"/>
              <a:t>Features of the Web 2.0 </a:t>
            </a:r>
          </a:p>
          <a:p>
            <a:pPr fontAlgn="base">
              <a:buFont typeface="Arial" panose="020B0604020202020204" pitchFamily="34" charset="0"/>
              <a:buChar char="•"/>
            </a:pPr>
            <a:r>
              <a:rPr lang="en-US" sz="2400" i="1" dirty="0"/>
              <a:t>Free sorting of information, permits users to retrieve and classify the information collectively.</a:t>
            </a:r>
            <a:endParaRPr lang="en-US" sz="2400" dirty="0"/>
          </a:p>
          <a:p>
            <a:pPr fontAlgn="base">
              <a:buFont typeface="Arial" panose="020B0604020202020204" pitchFamily="34" charset="0"/>
              <a:buChar char="•"/>
            </a:pPr>
            <a:r>
              <a:rPr lang="en-US" sz="2400" i="1" dirty="0"/>
              <a:t>Dynamic content that is responsive to user input.</a:t>
            </a:r>
            <a:endParaRPr lang="en-US" sz="2400" dirty="0"/>
          </a:p>
          <a:p>
            <a:pPr fontAlgn="base">
              <a:buFont typeface="Arial" panose="020B0604020202020204" pitchFamily="34" charset="0"/>
              <a:buChar char="•"/>
            </a:pPr>
            <a:r>
              <a:rPr lang="en-US" sz="2400" i="1" dirty="0"/>
              <a:t>Information flows between the site owner and site users using evaluation &amp; online commenting.</a:t>
            </a:r>
            <a:endParaRPr lang="en-US" sz="2400" dirty="0"/>
          </a:p>
          <a:p>
            <a:pPr fontAlgn="base">
              <a:buFont typeface="Arial" panose="020B0604020202020204" pitchFamily="34" charset="0"/>
              <a:buChar char="•"/>
            </a:pPr>
            <a:r>
              <a:rPr lang="en-US" sz="2400" i="1" dirty="0"/>
              <a:t>Developed APIs to allow self-usage, such as by a software application.</a:t>
            </a:r>
            <a:endParaRPr lang="en-US" sz="2400" dirty="0"/>
          </a:p>
          <a:p>
            <a:pPr fontAlgn="base">
              <a:buFont typeface="Arial" panose="020B0604020202020204" pitchFamily="34" charset="0"/>
              <a:buChar char="•"/>
            </a:pPr>
            <a:r>
              <a:rPr lang="en-US" sz="2400" i="1" dirty="0"/>
              <a:t>Web access leads to concerns different, from the traditional Internet user base to a wider variety of users.</a:t>
            </a:r>
            <a:endParaRPr lang="en-US" sz="2400" dirty="0"/>
          </a:p>
          <a:p>
            <a:r>
              <a:rPr lang="en-US" dirty="0"/>
              <a:t/>
            </a:r>
            <a:br>
              <a:rPr lang="en-US" dirty="0"/>
            </a:br>
            <a:endParaRPr lang="en-US" dirty="0"/>
          </a:p>
        </p:txBody>
      </p:sp>
    </p:spTree>
    <p:extLst>
      <p:ext uri="{BB962C8B-B14F-4D97-AF65-F5344CB8AC3E}">
        <p14:creationId xmlns:p14="http://schemas.microsoft.com/office/powerpoint/2010/main" val="2371979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Autofit/>
          </a:bodyPr>
          <a:lstStyle/>
          <a:p>
            <a:pPr fontAlgn="base"/>
            <a:r>
              <a:rPr lang="en-US" sz="2400" b="1" dirty="0"/>
              <a:t>Usage of Web 2.0</a:t>
            </a:r>
          </a:p>
          <a:p>
            <a:pPr fontAlgn="base">
              <a:buFont typeface="Arial" panose="020B0604020202020204" pitchFamily="34" charset="0"/>
              <a:buChar char="•"/>
            </a:pPr>
            <a:r>
              <a:rPr lang="en-US" sz="2400" dirty="0" smtClean="0"/>
              <a:t>Podcasting</a:t>
            </a:r>
            <a:endParaRPr lang="en-US" sz="2400" dirty="0"/>
          </a:p>
          <a:p>
            <a:pPr fontAlgn="base">
              <a:buFont typeface="Arial" panose="020B0604020202020204" pitchFamily="34" charset="0"/>
              <a:buChar char="•"/>
            </a:pPr>
            <a:r>
              <a:rPr lang="en-US" sz="2400" dirty="0"/>
              <a:t>Blogging</a:t>
            </a:r>
          </a:p>
          <a:p>
            <a:pPr fontAlgn="base">
              <a:buFont typeface="Arial" panose="020B0604020202020204" pitchFamily="34" charset="0"/>
              <a:buChar char="•"/>
            </a:pPr>
            <a:r>
              <a:rPr lang="en-US" sz="2400" dirty="0"/>
              <a:t>Tagging</a:t>
            </a:r>
          </a:p>
          <a:p>
            <a:pPr fontAlgn="base">
              <a:buFont typeface="Arial" panose="020B0604020202020204" pitchFamily="34" charset="0"/>
              <a:buChar char="•"/>
            </a:pPr>
            <a:r>
              <a:rPr lang="en-US" sz="2400" dirty="0" smtClean="0"/>
              <a:t>Social </a:t>
            </a:r>
            <a:r>
              <a:rPr lang="en-US" sz="2400" dirty="0"/>
              <a:t>bookmarking</a:t>
            </a:r>
          </a:p>
          <a:p>
            <a:pPr fontAlgn="base">
              <a:buFont typeface="Arial" panose="020B0604020202020204" pitchFamily="34" charset="0"/>
              <a:buChar char="•"/>
            </a:pPr>
            <a:r>
              <a:rPr lang="en-US" sz="2400" dirty="0"/>
              <a:t>Social networking</a:t>
            </a:r>
          </a:p>
          <a:p>
            <a:pPr fontAlgn="base">
              <a:buFont typeface="Arial" panose="020B0604020202020204" pitchFamily="34" charset="0"/>
              <a:buChar char="•"/>
            </a:pPr>
            <a:r>
              <a:rPr lang="en-US" sz="2400" dirty="0"/>
              <a:t>Social media</a:t>
            </a:r>
          </a:p>
          <a:p>
            <a:pPr fontAlgn="base">
              <a:buFont typeface="Arial" panose="020B0604020202020204" pitchFamily="34" charset="0"/>
              <a:buChar char="•"/>
            </a:pPr>
            <a:r>
              <a:rPr lang="en-US" sz="2400" dirty="0"/>
              <a:t>Web content voting</a:t>
            </a:r>
          </a:p>
          <a:p>
            <a:r>
              <a:rPr lang="en-US" sz="2400" dirty="0"/>
              <a:t/>
            </a:r>
            <a:br>
              <a:rPr lang="en-US" sz="2400" dirty="0"/>
            </a:br>
            <a:endParaRPr lang="en-US" sz="2400" dirty="0"/>
          </a:p>
        </p:txBody>
      </p:sp>
    </p:spTree>
    <p:extLst>
      <p:ext uri="{BB962C8B-B14F-4D97-AF65-F5344CB8AC3E}">
        <p14:creationId xmlns:p14="http://schemas.microsoft.com/office/powerpoint/2010/main" val="2179893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sz="2400" b="1" dirty="0" smtClean="0">
                <a:latin typeface="+mj-lt"/>
              </a:rPr>
              <a:t>Web </a:t>
            </a:r>
            <a:r>
              <a:rPr lang="en-US" sz="2400" b="1" dirty="0" smtClean="0">
                <a:latin typeface="+mj-lt"/>
              </a:rPr>
              <a:t>3.0</a:t>
            </a:r>
          </a:p>
          <a:p>
            <a:endParaRPr lang="en-US" sz="2400" b="1" dirty="0" smtClean="0">
              <a:latin typeface="+mj-lt"/>
            </a:endParaRPr>
          </a:p>
          <a:p>
            <a:pPr lvl="0" eaLnBrk="0" fontAlgn="base" hangingPunct="0">
              <a:lnSpc>
                <a:spcPct val="100000"/>
              </a:lnSpc>
              <a:spcBef>
                <a:spcPct val="0"/>
              </a:spcBef>
              <a:spcAft>
                <a:spcPct val="0"/>
              </a:spcAft>
              <a:buClrTx/>
              <a:buSzTx/>
              <a:buFont typeface="Wingdings" panose="05000000000000000000" pitchFamily="2" charset="2"/>
              <a:buChar char="§"/>
            </a:pPr>
            <a:r>
              <a:rPr lang="en-US" sz="2400" dirty="0">
                <a:solidFill>
                  <a:schemeClr val="tx1"/>
                </a:solidFill>
                <a:latin typeface="+mj-lt"/>
              </a:rPr>
              <a:t>Transforms the </a:t>
            </a:r>
            <a:r>
              <a:rPr lang="en-US" sz="2400" dirty="0">
                <a:solidFill>
                  <a:srgbClr val="FF0000"/>
                </a:solidFill>
                <a:latin typeface="+mj-lt"/>
              </a:rPr>
              <a:t>web into a database with Distributed Ledger Technology (DLT) like </a:t>
            </a:r>
            <a:r>
              <a:rPr lang="en-US" sz="2400" dirty="0" err="1">
                <a:solidFill>
                  <a:srgbClr val="FF0000"/>
                </a:solidFill>
                <a:latin typeface="+mj-lt"/>
              </a:rPr>
              <a:t>blockchain</a:t>
            </a:r>
            <a:r>
              <a:rPr lang="en-US" sz="2400" dirty="0">
                <a:solidFill>
                  <a:srgbClr val="FF0000"/>
                </a:solidFill>
                <a:latin typeface="+mj-lt"/>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sz="2400" dirty="0">
                <a:solidFill>
                  <a:schemeClr val="tx1"/>
                </a:solidFill>
                <a:latin typeface="+mj-lt"/>
              </a:rPr>
              <a:t>Enables Smart Contracts tailored to individual needs.</a:t>
            </a:r>
          </a:p>
          <a:p>
            <a:pPr lvl="0" eaLnBrk="0" fontAlgn="base" hangingPunct="0">
              <a:lnSpc>
                <a:spcPct val="100000"/>
              </a:lnSpc>
              <a:spcBef>
                <a:spcPct val="0"/>
              </a:spcBef>
              <a:spcAft>
                <a:spcPct val="0"/>
              </a:spcAft>
              <a:buClrTx/>
              <a:buSzTx/>
              <a:buFont typeface="Wingdings" panose="05000000000000000000" pitchFamily="2" charset="2"/>
              <a:buChar char="§"/>
            </a:pPr>
            <a:r>
              <a:rPr lang="en-US" sz="2400" dirty="0">
                <a:solidFill>
                  <a:schemeClr val="tx1"/>
                </a:solidFill>
                <a:latin typeface="+mj-lt"/>
              </a:rPr>
              <a:t>Shifts focus </a:t>
            </a:r>
            <a:r>
              <a:rPr lang="en-US" sz="2400" dirty="0">
                <a:solidFill>
                  <a:srgbClr val="FF0000"/>
                </a:solidFill>
                <a:latin typeface="+mj-lt"/>
              </a:rPr>
              <a:t>from front-end (Web 2.0) to back-end upgrades Data is shared, not owned;</a:t>
            </a:r>
            <a:r>
              <a:rPr lang="en-US" sz="2400" dirty="0">
                <a:solidFill>
                  <a:schemeClr val="tx1"/>
                </a:solidFill>
                <a:latin typeface="+mj-lt"/>
              </a:rPr>
              <a:t> services provide different views of the same data</a:t>
            </a:r>
            <a:r>
              <a:rPr lang="en-US" sz="2400" dirty="0" smtClean="0">
                <a:solidFill>
                  <a:schemeClr val="tx1"/>
                </a:solidFill>
                <a:latin typeface="+mj-lt"/>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sz="2400" dirty="0" smtClean="0">
                <a:solidFill>
                  <a:schemeClr val="tx1"/>
                </a:solidFill>
                <a:latin typeface="+mj-lt"/>
              </a:rPr>
              <a:t>Promotes </a:t>
            </a:r>
            <a:r>
              <a:rPr lang="en-US" sz="2400" dirty="0">
                <a:solidFill>
                  <a:schemeClr val="tx1"/>
                </a:solidFill>
                <a:latin typeface="+mj-lt"/>
              </a:rPr>
              <a:t>a decentralized internet.</a:t>
            </a:r>
          </a:p>
          <a:p>
            <a:pPr lvl="0" eaLnBrk="0" fontAlgn="base" hangingPunct="0">
              <a:lnSpc>
                <a:spcPct val="100000"/>
              </a:lnSpc>
              <a:spcBef>
                <a:spcPct val="0"/>
              </a:spcBef>
              <a:spcAft>
                <a:spcPct val="0"/>
              </a:spcAft>
              <a:buClrTx/>
              <a:buSzTx/>
              <a:buFont typeface="Wingdings" panose="05000000000000000000" pitchFamily="2" charset="2"/>
              <a:buChar char="§"/>
            </a:pPr>
            <a:endParaRPr lang="en-US" dirty="0">
              <a:solidFill>
                <a:schemeClr val="tx1"/>
              </a:solidFill>
              <a:latin typeface="Arial" panose="020B0604020202020204" pitchFamily="34" charset="0"/>
            </a:endParaRPr>
          </a:p>
          <a:p>
            <a:endParaRPr lang="en-US" dirty="0"/>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440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Autofit/>
          </a:bodyPr>
          <a:lstStyle/>
          <a:p>
            <a:pPr fontAlgn="base"/>
            <a:r>
              <a:rPr lang="en-US" sz="2800" b="1" dirty="0"/>
              <a:t>Features of the Web </a:t>
            </a:r>
            <a:r>
              <a:rPr lang="en-US" sz="2800" b="1" dirty="0" smtClean="0"/>
              <a:t>3.0</a:t>
            </a:r>
          </a:p>
          <a:p>
            <a:pPr fontAlgn="base"/>
            <a:endParaRPr lang="en-US" sz="2800" b="1" dirty="0"/>
          </a:p>
          <a:p>
            <a:pPr lvl="0" eaLnBrk="0" fontAlgn="base" hangingPunct="0">
              <a:lnSpc>
                <a:spcPct val="100000"/>
              </a:lnSpc>
              <a:spcBef>
                <a:spcPct val="0"/>
              </a:spcBef>
              <a:spcAft>
                <a:spcPct val="0"/>
              </a:spcAft>
              <a:buClrTx/>
              <a:buSzTx/>
              <a:buFont typeface="Wingdings" panose="05000000000000000000" pitchFamily="2" charset="2"/>
              <a:buChar char="§"/>
            </a:pPr>
            <a:r>
              <a:rPr lang="en-US" sz="2400" b="1" dirty="0" smtClean="0">
                <a:solidFill>
                  <a:schemeClr val="tx1"/>
                </a:solidFill>
                <a:latin typeface="+mj-lt"/>
              </a:rPr>
              <a:t>Semantic </a:t>
            </a:r>
            <a:r>
              <a:rPr lang="en-US" sz="2400" b="1" dirty="0">
                <a:solidFill>
                  <a:schemeClr val="tx1"/>
                </a:solidFill>
                <a:latin typeface="+mj-lt"/>
              </a:rPr>
              <a:t>Web</a:t>
            </a:r>
            <a:r>
              <a:rPr lang="en-US" sz="2400" dirty="0">
                <a:solidFill>
                  <a:schemeClr val="tx1"/>
                </a:solidFill>
                <a:latin typeface="+mj-lt"/>
              </a:rPr>
              <a:t>: Enhances </a:t>
            </a:r>
            <a:r>
              <a:rPr lang="en-US" sz="2400" dirty="0">
                <a:solidFill>
                  <a:srgbClr val="FF0000"/>
                </a:solidFill>
                <a:latin typeface="+mj-lt"/>
              </a:rPr>
              <a:t>web technologies to create, share, and connect content </a:t>
            </a:r>
            <a:r>
              <a:rPr lang="en-US" sz="2400" dirty="0">
                <a:solidFill>
                  <a:schemeClr val="tx1"/>
                </a:solidFill>
                <a:latin typeface="+mj-lt"/>
              </a:rPr>
              <a:t>through meaning-based search and analysis, moving beyond keywords.</a:t>
            </a:r>
          </a:p>
          <a:p>
            <a:pPr lvl="0" eaLnBrk="0" fontAlgn="base" hangingPunct="0">
              <a:lnSpc>
                <a:spcPct val="100000"/>
              </a:lnSpc>
              <a:spcBef>
                <a:spcPct val="0"/>
              </a:spcBef>
              <a:spcAft>
                <a:spcPct val="0"/>
              </a:spcAft>
              <a:buClrTx/>
              <a:buSzTx/>
              <a:buFont typeface="Wingdings" panose="05000000000000000000" pitchFamily="2" charset="2"/>
              <a:buChar char="§"/>
            </a:pPr>
            <a:r>
              <a:rPr lang="en-US" sz="2400" b="1" dirty="0">
                <a:solidFill>
                  <a:schemeClr val="tx1"/>
                </a:solidFill>
                <a:latin typeface="+mj-lt"/>
              </a:rPr>
              <a:t>Artificial Intelligence</a:t>
            </a:r>
            <a:r>
              <a:rPr lang="en-US" sz="2400" dirty="0">
                <a:solidFill>
                  <a:schemeClr val="tx1"/>
                </a:solidFill>
                <a:latin typeface="+mj-lt"/>
              </a:rPr>
              <a:t>: Combines semantic understanding with natural language processing to deliver faster, more relevant results, making computers smarter and more responsive to user needs.</a:t>
            </a:r>
          </a:p>
          <a:p>
            <a:pPr lvl="0" eaLnBrk="0" fontAlgn="base" hangingPunct="0">
              <a:lnSpc>
                <a:spcPct val="100000"/>
              </a:lnSpc>
              <a:spcBef>
                <a:spcPct val="0"/>
              </a:spcBef>
              <a:spcAft>
                <a:spcPct val="0"/>
              </a:spcAft>
              <a:buClrTx/>
              <a:buSzTx/>
              <a:buFont typeface="Wingdings" panose="05000000000000000000" pitchFamily="2" charset="2"/>
              <a:buChar char="§"/>
            </a:pPr>
            <a:r>
              <a:rPr lang="en-US" sz="2400" b="1" dirty="0">
                <a:solidFill>
                  <a:schemeClr val="tx1"/>
                </a:solidFill>
                <a:latin typeface="+mj-lt"/>
              </a:rPr>
              <a:t>3D Graphics</a:t>
            </a:r>
            <a:r>
              <a:rPr lang="en-US" sz="2400" dirty="0">
                <a:solidFill>
                  <a:schemeClr val="tx1"/>
                </a:solidFill>
                <a:latin typeface="+mj-lt"/>
              </a:rPr>
              <a:t>: Widely used in Web 3.0 for museum guides, games, e-commerce, geospatial contexts, and more. </a:t>
            </a:r>
          </a:p>
          <a:p>
            <a:pPr fontAlgn="base"/>
            <a:endParaRPr lang="en-US" sz="2800" dirty="0"/>
          </a:p>
        </p:txBody>
      </p:sp>
    </p:spTree>
    <p:extLst>
      <p:ext uri="{BB962C8B-B14F-4D97-AF65-F5344CB8AC3E}">
        <p14:creationId xmlns:p14="http://schemas.microsoft.com/office/powerpoint/2010/main" val="3820448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1097280" y="2015977"/>
            <a:ext cx="100584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FontTx/>
              <a:buChar char="•"/>
            </a:pPr>
            <a:r>
              <a:rPr lang="en-US" sz="2400" b="1" dirty="0">
                <a:solidFill>
                  <a:schemeClr val="tx1"/>
                </a:solidFill>
                <a:latin typeface="+mj-lt"/>
              </a:rPr>
              <a:t>Connectivity</a:t>
            </a:r>
            <a:r>
              <a:rPr lang="en-US" sz="2400" dirty="0">
                <a:solidFill>
                  <a:schemeClr val="tx1"/>
                </a:solidFill>
                <a:latin typeface="+mj-lt"/>
              </a:rPr>
              <a:t>: Improved connectivity via semantic metadata, enabling a more immersive user experience by integrating all available information.</a:t>
            </a:r>
          </a:p>
          <a:p>
            <a:pPr marL="0" lvl="0" indent="0" eaLnBrk="0" fontAlgn="base" hangingPunct="0">
              <a:lnSpc>
                <a:spcPct val="100000"/>
              </a:lnSpc>
              <a:spcBef>
                <a:spcPct val="0"/>
              </a:spcBef>
              <a:spcAft>
                <a:spcPct val="0"/>
              </a:spcAft>
              <a:buClrTx/>
              <a:buSzTx/>
              <a:buFontTx/>
              <a:buChar char="•"/>
            </a:pPr>
            <a:r>
              <a:rPr lang="en-US" sz="2400" b="1" dirty="0">
                <a:solidFill>
                  <a:schemeClr val="tx1"/>
                </a:solidFill>
                <a:latin typeface="+mj-lt"/>
              </a:rPr>
              <a:t>Ubiquity</a:t>
            </a:r>
            <a:r>
              <a:rPr lang="en-US" sz="2400" dirty="0">
                <a:solidFill>
                  <a:schemeClr val="tx1"/>
                </a:solidFill>
                <a:latin typeface="+mj-lt"/>
              </a:rPr>
              <a:t>: </a:t>
            </a:r>
            <a:r>
              <a:rPr lang="en-US" sz="2400" dirty="0">
                <a:solidFill>
                  <a:srgbClr val="FF0000"/>
                </a:solidFill>
                <a:latin typeface="+mj-lt"/>
              </a:rPr>
              <a:t>Content accessible across multiple applications and devices, ensuring services are available everywhere.</a:t>
            </a:r>
          </a:p>
          <a:p>
            <a:pPr marL="0" lvl="0" indent="0" eaLnBrk="0" fontAlgn="base" hangingPunct="0">
              <a:lnSpc>
                <a:spcPct val="100000"/>
              </a:lnSpc>
              <a:spcBef>
                <a:spcPct val="0"/>
              </a:spcBef>
              <a:spcAft>
                <a:spcPct val="0"/>
              </a:spcAft>
              <a:buClrTx/>
              <a:buSzTx/>
              <a:buFontTx/>
              <a:buChar char="•"/>
            </a:pPr>
            <a:r>
              <a:rPr lang="en-US" sz="2400" b="1" dirty="0">
                <a:solidFill>
                  <a:schemeClr val="tx1"/>
                </a:solidFill>
                <a:latin typeface="+mj-lt"/>
              </a:rPr>
              <a:t>DLT and Smart Contracts</a:t>
            </a:r>
            <a:r>
              <a:rPr lang="en-US" sz="2400" dirty="0">
                <a:solidFill>
                  <a:schemeClr val="tx1"/>
                </a:solidFill>
                <a:latin typeface="+mj-lt"/>
              </a:rPr>
              <a:t>: Leverages distributed ledger technology (DLT) for secure, hack-resistant databases, enabling trustless interactions and smart contracts without intermediaries. This creates opportunities and ensures ownership in the digital space.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9646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Differences Between the Web 1.0, Web 2.0, and Web </a:t>
            </a:r>
            <a:r>
              <a:rPr lang="en-US" b="1" dirty="0" smtClean="0"/>
              <a:t>3.0</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69488539"/>
              </p:ext>
            </p:extLst>
          </p:nvPr>
        </p:nvGraphicFramePr>
        <p:xfrm>
          <a:off x="1096963" y="1846263"/>
          <a:ext cx="10058400" cy="4274820"/>
        </p:xfrm>
        <a:graphic>
          <a:graphicData uri="http://schemas.openxmlformats.org/drawingml/2006/table">
            <a:tbl>
              <a:tblPr firstRow="1" bandRow="1">
                <a:tableStyleId>{5C22544A-7EE6-4342-B048-85BDC9FD1C3A}</a:tableStyleId>
              </a:tblPr>
              <a:tblGrid>
                <a:gridCol w="1141270"/>
                <a:gridCol w="2934268"/>
                <a:gridCol w="2934269"/>
                <a:gridCol w="3048593"/>
              </a:tblGrid>
              <a:tr h="370840">
                <a:tc>
                  <a:txBody>
                    <a:bodyPr/>
                    <a:lstStyle/>
                    <a:p>
                      <a:pPr algn="ctr" rtl="0" fontAlgn="base"/>
                      <a:r>
                        <a:rPr lang="en-US" sz="1600" b="1" dirty="0">
                          <a:effectLst/>
                        </a:rPr>
                        <a:t>S. No.</a:t>
                      </a:r>
                    </a:p>
                  </a:txBody>
                  <a:tcPr marL="38100" marR="38100" marT="95250" marB="95250" anchor="ctr"/>
                </a:tc>
                <a:tc>
                  <a:txBody>
                    <a:bodyPr/>
                    <a:lstStyle/>
                    <a:p>
                      <a:pPr algn="ctr" rtl="0" fontAlgn="base"/>
                      <a:r>
                        <a:rPr lang="en-US" sz="1600" b="1" dirty="0">
                          <a:effectLst/>
                        </a:rPr>
                        <a:t>Web 1.0</a:t>
                      </a:r>
                    </a:p>
                  </a:txBody>
                  <a:tcPr marL="95250" marR="95250" marT="95250" marB="95250" anchor="ctr"/>
                </a:tc>
                <a:tc>
                  <a:txBody>
                    <a:bodyPr/>
                    <a:lstStyle/>
                    <a:p>
                      <a:pPr algn="ctr" rtl="0" fontAlgn="base"/>
                      <a:r>
                        <a:rPr lang="en-US" sz="1600" b="1" dirty="0">
                          <a:effectLst/>
                        </a:rPr>
                        <a:t>Web 2.0</a:t>
                      </a:r>
                    </a:p>
                  </a:txBody>
                  <a:tcPr marL="95250" marR="95250" marT="95250" marB="95250" anchor="ctr"/>
                </a:tc>
                <a:tc>
                  <a:txBody>
                    <a:bodyPr/>
                    <a:lstStyle/>
                    <a:p>
                      <a:pPr algn="ctr" rtl="0" fontAlgn="base"/>
                      <a:r>
                        <a:rPr lang="en-US" sz="1600" b="1" dirty="0">
                          <a:effectLst/>
                        </a:rPr>
                        <a:t>Web 3.0</a:t>
                      </a:r>
                    </a:p>
                  </a:txBody>
                  <a:tcPr marL="95250" marR="95250" marT="95250" marB="95250" anchor="ctr"/>
                </a:tc>
              </a:tr>
              <a:tr h="370840">
                <a:tc>
                  <a:txBody>
                    <a:bodyPr/>
                    <a:lstStyle/>
                    <a:p>
                      <a:pPr algn="ctr" fontAlgn="base"/>
                      <a:r>
                        <a:rPr lang="en-US" sz="1400" b="0" dirty="0">
                          <a:effectLst/>
                        </a:rPr>
                        <a:t>1.</a:t>
                      </a:r>
                    </a:p>
                  </a:txBody>
                  <a:tcPr marL="95250" marR="95250" marT="133350" marB="133350" anchor="ctr"/>
                </a:tc>
                <a:tc>
                  <a:txBody>
                    <a:bodyPr/>
                    <a:lstStyle/>
                    <a:p>
                      <a:pPr algn="ctr" rtl="0" fontAlgn="base"/>
                      <a:r>
                        <a:rPr lang="en-US" sz="1400" b="0">
                          <a:effectLst/>
                        </a:rPr>
                        <a:t>Mostly Read-Only</a:t>
                      </a:r>
                    </a:p>
                  </a:txBody>
                  <a:tcPr marL="95250" marR="95250" marT="133350" marB="133350" anchor="ctr"/>
                </a:tc>
                <a:tc>
                  <a:txBody>
                    <a:bodyPr/>
                    <a:lstStyle/>
                    <a:p>
                      <a:pPr algn="ctr" rtl="0" fontAlgn="base"/>
                      <a:r>
                        <a:rPr lang="en-US" sz="1400" b="0">
                          <a:effectLst/>
                        </a:rPr>
                        <a:t>Wildly Read-Write</a:t>
                      </a:r>
                    </a:p>
                  </a:txBody>
                  <a:tcPr marL="95250" marR="95250" marT="133350" marB="133350" anchor="ctr"/>
                </a:tc>
                <a:tc>
                  <a:txBody>
                    <a:bodyPr/>
                    <a:lstStyle/>
                    <a:p>
                      <a:pPr algn="ctr" rtl="0" fontAlgn="base"/>
                      <a:r>
                        <a:rPr lang="en-US" sz="1400" b="0" dirty="0">
                          <a:effectLst/>
                        </a:rPr>
                        <a:t>Portable and Personal</a:t>
                      </a:r>
                    </a:p>
                  </a:txBody>
                  <a:tcPr marL="95250" marR="95250" marT="133350" marB="133350" anchor="ctr"/>
                </a:tc>
              </a:tr>
              <a:tr h="370840">
                <a:tc>
                  <a:txBody>
                    <a:bodyPr/>
                    <a:lstStyle/>
                    <a:p>
                      <a:pPr algn="ctr" fontAlgn="base"/>
                      <a:r>
                        <a:rPr lang="en-US" sz="1400" b="0" dirty="0">
                          <a:effectLst/>
                        </a:rPr>
                        <a:t>2.</a:t>
                      </a:r>
                    </a:p>
                  </a:txBody>
                  <a:tcPr marL="95250" marR="95250" marT="133350" marB="133350" anchor="ctr"/>
                </a:tc>
                <a:tc>
                  <a:txBody>
                    <a:bodyPr/>
                    <a:lstStyle/>
                    <a:p>
                      <a:pPr algn="ctr" rtl="0" fontAlgn="base"/>
                      <a:r>
                        <a:rPr lang="en-US" sz="1400" b="0">
                          <a:effectLst/>
                        </a:rPr>
                        <a:t>Company Focus</a:t>
                      </a:r>
                    </a:p>
                  </a:txBody>
                  <a:tcPr marL="95250" marR="95250" marT="133350" marB="133350" anchor="ctr"/>
                </a:tc>
                <a:tc>
                  <a:txBody>
                    <a:bodyPr/>
                    <a:lstStyle/>
                    <a:p>
                      <a:pPr algn="ctr" rtl="0" fontAlgn="base"/>
                      <a:r>
                        <a:rPr lang="en-US" sz="1400" b="0">
                          <a:effectLst/>
                        </a:rPr>
                        <a:t>Community Focus</a:t>
                      </a:r>
                    </a:p>
                  </a:txBody>
                  <a:tcPr marL="95250" marR="95250" marT="133350" marB="133350" anchor="ctr"/>
                </a:tc>
                <a:tc>
                  <a:txBody>
                    <a:bodyPr/>
                    <a:lstStyle/>
                    <a:p>
                      <a:pPr algn="ctr" rtl="0" fontAlgn="base"/>
                      <a:r>
                        <a:rPr lang="en-US" sz="1400" b="0" dirty="0">
                          <a:effectLst/>
                        </a:rPr>
                        <a:t>Individual Focus</a:t>
                      </a:r>
                    </a:p>
                  </a:txBody>
                  <a:tcPr marL="95250" marR="95250" marT="133350" marB="133350" anchor="ctr"/>
                </a:tc>
              </a:tr>
              <a:tr h="370840">
                <a:tc>
                  <a:txBody>
                    <a:bodyPr/>
                    <a:lstStyle/>
                    <a:p>
                      <a:pPr algn="ctr" fontAlgn="base"/>
                      <a:r>
                        <a:rPr lang="en-US" sz="1400" b="0" dirty="0">
                          <a:effectLst/>
                        </a:rPr>
                        <a:t>3.</a:t>
                      </a:r>
                    </a:p>
                  </a:txBody>
                  <a:tcPr marL="95250" marR="95250" marT="133350" marB="133350" anchor="ctr"/>
                </a:tc>
                <a:tc>
                  <a:txBody>
                    <a:bodyPr/>
                    <a:lstStyle/>
                    <a:p>
                      <a:pPr algn="ctr" rtl="0" fontAlgn="base"/>
                      <a:r>
                        <a:rPr lang="en-US" sz="1400" b="0">
                          <a:effectLst/>
                        </a:rPr>
                        <a:t>Home Pages</a:t>
                      </a:r>
                    </a:p>
                  </a:txBody>
                  <a:tcPr marL="95250" marR="95250" marT="133350" marB="133350" anchor="ctr"/>
                </a:tc>
                <a:tc>
                  <a:txBody>
                    <a:bodyPr/>
                    <a:lstStyle/>
                    <a:p>
                      <a:pPr algn="ctr" rtl="0" fontAlgn="base"/>
                      <a:r>
                        <a:rPr lang="en-US" sz="1400" b="0">
                          <a:effectLst/>
                        </a:rPr>
                        <a:t>Blogs / Wikis</a:t>
                      </a:r>
                    </a:p>
                  </a:txBody>
                  <a:tcPr marL="95250" marR="95250" marT="133350" marB="133350" anchor="ctr"/>
                </a:tc>
                <a:tc>
                  <a:txBody>
                    <a:bodyPr/>
                    <a:lstStyle/>
                    <a:p>
                      <a:pPr algn="ctr" rtl="0" fontAlgn="base"/>
                      <a:r>
                        <a:rPr lang="en-US" sz="1400" b="0" dirty="0">
                          <a:effectLst/>
                        </a:rPr>
                        <a:t>Live-streams / Waves</a:t>
                      </a:r>
                    </a:p>
                  </a:txBody>
                  <a:tcPr marL="95250" marR="95250" marT="133350" marB="133350" anchor="ctr"/>
                </a:tc>
              </a:tr>
              <a:tr h="370840">
                <a:tc>
                  <a:txBody>
                    <a:bodyPr/>
                    <a:lstStyle/>
                    <a:p>
                      <a:pPr algn="ctr" fontAlgn="base"/>
                      <a:r>
                        <a:rPr lang="en-US" sz="1400" b="0" dirty="0">
                          <a:effectLst/>
                        </a:rPr>
                        <a:t>4.</a:t>
                      </a:r>
                    </a:p>
                  </a:txBody>
                  <a:tcPr marL="95250" marR="95250" marT="133350" marB="133350" anchor="ctr"/>
                </a:tc>
                <a:tc>
                  <a:txBody>
                    <a:bodyPr/>
                    <a:lstStyle/>
                    <a:p>
                      <a:pPr algn="ctr" rtl="0" fontAlgn="base"/>
                      <a:r>
                        <a:rPr lang="en-US" sz="1400" b="0" dirty="0">
                          <a:effectLst/>
                        </a:rPr>
                        <a:t>Owning Content</a:t>
                      </a:r>
                    </a:p>
                  </a:txBody>
                  <a:tcPr marL="95250" marR="95250" marT="133350" marB="133350" anchor="ctr"/>
                </a:tc>
                <a:tc>
                  <a:txBody>
                    <a:bodyPr/>
                    <a:lstStyle/>
                    <a:p>
                      <a:pPr algn="ctr" rtl="0" fontAlgn="base"/>
                      <a:r>
                        <a:rPr lang="en-US" sz="1400" b="0">
                          <a:effectLst/>
                        </a:rPr>
                        <a:t>Sharing Content</a:t>
                      </a:r>
                    </a:p>
                  </a:txBody>
                  <a:tcPr marL="95250" marR="95250" marT="133350" marB="133350" anchor="ctr"/>
                </a:tc>
                <a:tc>
                  <a:txBody>
                    <a:bodyPr/>
                    <a:lstStyle/>
                    <a:p>
                      <a:pPr algn="ctr" rtl="0" fontAlgn="base"/>
                      <a:r>
                        <a:rPr lang="en-US" sz="1400" b="0" dirty="0">
                          <a:effectLst/>
                        </a:rPr>
                        <a:t>Consolidating Content</a:t>
                      </a:r>
                    </a:p>
                  </a:txBody>
                  <a:tcPr marL="95250" marR="95250" marT="133350" marB="133350" anchor="ctr"/>
                </a:tc>
              </a:tr>
              <a:tr h="370840">
                <a:tc>
                  <a:txBody>
                    <a:bodyPr/>
                    <a:lstStyle/>
                    <a:p>
                      <a:pPr algn="ctr" fontAlgn="base"/>
                      <a:r>
                        <a:rPr lang="en-US" sz="1400" b="0" dirty="0">
                          <a:effectLst/>
                        </a:rPr>
                        <a:t>5.</a:t>
                      </a:r>
                    </a:p>
                  </a:txBody>
                  <a:tcPr marL="95250" marR="95250" marT="133350" marB="133350" anchor="ctr"/>
                </a:tc>
                <a:tc>
                  <a:txBody>
                    <a:bodyPr/>
                    <a:lstStyle/>
                    <a:p>
                      <a:pPr algn="ctr" rtl="0" fontAlgn="base"/>
                      <a:r>
                        <a:rPr lang="en-US" sz="1400" b="0">
                          <a:effectLst/>
                        </a:rPr>
                        <a:t>WebForms</a:t>
                      </a:r>
                    </a:p>
                  </a:txBody>
                  <a:tcPr marL="95250" marR="95250" marT="133350" marB="133350" anchor="ctr"/>
                </a:tc>
                <a:tc>
                  <a:txBody>
                    <a:bodyPr/>
                    <a:lstStyle/>
                    <a:p>
                      <a:pPr algn="ctr" rtl="0" fontAlgn="base"/>
                      <a:r>
                        <a:rPr lang="en-US" sz="1400" b="0">
                          <a:effectLst/>
                        </a:rPr>
                        <a:t>Web Applications</a:t>
                      </a:r>
                    </a:p>
                  </a:txBody>
                  <a:tcPr marL="95250" marR="95250" marT="133350" marB="133350" anchor="ctr"/>
                </a:tc>
                <a:tc>
                  <a:txBody>
                    <a:bodyPr/>
                    <a:lstStyle/>
                    <a:p>
                      <a:pPr algn="ctr" rtl="0" fontAlgn="base"/>
                      <a:r>
                        <a:rPr lang="en-US" sz="1400" b="0" dirty="0">
                          <a:effectLst/>
                        </a:rPr>
                        <a:t>Smart Applications</a:t>
                      </a:r>
                    </a:p>
                  </a:txBody>
                  <a:tcPr marL="95250" marR="95250" marT="133350" marB="133350" anchor="ctr"/>
                </a:tc>
              </a:tr>
              <a:tr h="370840">
                <a:tc>
                  <a:txBody>
                    <a:bodyPr/>
                    <a:lstStyle/>
                    <a:p>
                      <a:pPr algn="ctr" fontAlgn="base"/>
                      <a:r>
                        <a:rPr lang="en-US" sz="1400" b="0" dirty="0">
                          <a:effectLst/>
                        </a:rPr>
                        <a:t>6.</a:t>
                      </a:r>
                    </a:p>
                  </a:txBody>
                  <a:tcPr marL="95250" marR="95250" marT="133350" marB="133350" anchor="ctr"/>
                </a:tc>
                <a:tc>
                  <a:txBody>
                    <a:bodyPr/>
                    <a:lstStyle/>
                    <a:p>
                      <a:pPr algn="ctr" rtl="0" fontAlgn="base"/>
                      <a:r>
                        <a:rPr lang="en-US" sz="1400" b="0" dirty="0">
                          <a:effectLst/>
                        </a:rPr>
                        <a:t>Directories</a:t>
                      </a:r>
                    </a:p>
                  </a:txBody>
                  <a:tcPr marL="95250" marR="95250" marT="133350" marB="133350" anchor="ctr"/>
                </a:tc>
                <a:tc>
                  <a:txBody>
                    <a:bodyPr/>
                    <a:lstStyle/>
                    <a:p>
                      <a:pPr algn="ctr" rtl="0" fontAlgn="base"/>
                      <a:r>
                        <a:rPr lang="en-US" sz="1400" b="0" dirty="0">
                          <a:effectLst/>
                        </a:rPr>
                        <a:t>Tagging</a:t>
                      </a:r>
                    </a:p>
                  </a:txBody>
                  <a:tcPr marL="95250" marR="95250" marT="133350" marB="133350" anchor="ctr"/>
                </a:tc>
                <a:tc>
                  <a:txBody>
                    <a:bodyPr/>
                    <a:lstStyle/>
                    <a:p>
                      <a:pPr algn="ctr" rtl="0" fontAlgn="base"/>
                      <a:r>
                        <a:rPr lang="en-US" sz="1400" b="0" dirty="0">
                          <a:effectLst/>
                        </a:rPr>
                        <a:t>User behavior</a:t>
                      </a:r>
                    </a:p>
                  </a:txBody>
                  <a:tcPr marL="95250" marR="95250" marT="133350" marB="133350" anchor="ctr"/>
                </a:tc>
              </a:tr>
              <a:tr h="370840">
                <a:tc>
                  <a:txBody>
                    <a:bodyPr/>
                    <a:lstStyle/>
                    <a:p>
                      <a:pPr algn="ctr" fontAlgn="base"/>
                      <a:r>
                        <a:rPr lang="en-US" sz="1400" b="0">
                          <a:effectLst/>
                        </a:rPr>
                        <a:t>7.</a:t>
                      </a:r>
                    </a:p>
                  </a:txBody>
                  <a:tcPr marL="95250" marR="95250" marT="133350" marB="133350" anchor="ctr"/>
                </a:tc>
                <a:tc>
                  <a:txBody>
                    <a:bodyPr/>
                    <a:lstStyle/>
                    <a:p>
                      <a:pPr algn="ctr" rtl="0" fontAlgn="base"/>
                      <a:r>
                        <a:rPr lang="en-US" sz="1400" b="0">
                          <a:effectLst/>
                        </a:rPr>
                        <a:t>Page Views</a:t>
                      </a:r>
                    </a:p>
                  </a:txBody>
                  <a:tcPr marL="95250" marR="95250" marT="133350" marB="133350" anchor="ctr"/>
                </a:tc>
                <a:tc>
                  <a:txBody>
                    <a:bodyPr/>
                    <a:lstStyle/>
                    <a:p>
                      <a:pPr algn="ctr" rtl="0" fontAlgn="base"/>
                      <a:r>
                        <a:rPr lang="en-US" sz="1400" b="0">
                          <a:effectLst/>
                        </a:rPr>
                        <a:t>Cost Per Click</a:t>
                      </a:r>
                    </a:p>
                  </a:txBody>
                  <a:tcPr marL="95250" marR="95250" marT="133350" marB="133350" anchor="ctr"/>
                </a:tc>
                <a:tc>
                  <a:txBody>
                    <a:bodyPr/>
                    <a:lstStyle/>
                    <a:p>
                      <a:pPr algn="ctr" rtl="0" fontAlgn="base"/>
                      <a:r>
                        <a:rPr lang="en-US" sz="1400" b="0" dirty="0">
                          <a:effectLst/>
                        </a:rPr>
                        <a:t>User Engagement</a:t>
                      </a:r>
                    </a:p>
                  </a:txBody>
                  <a:tcPr marL="95250" marR="95250" marT="133350" marB="133350" anchor="ctr"/>
                </a:tc>
              </a:tr>
              <a:tr h="370840">
                <a:tc>
                  <a:txBody>
                    <a:bodyPr/>
                    <a:lstStyle/>
                    <a:p>
                      <a:pPr algn="ctr" fontAlgn="base"/>
                      <a:r>
                        <a:rPr lang="en-US" sz="1400" b="0">
                          <a:effectLst/>
                        </a:rPr>
                        <a:t>8.</a:t>
                      </a:r>
                    </a:p>
                  </a:txBody>
                  <a:tcPr marL="95250" marR="95250" marT="133350" marB="133350" anchor="ctr"/>
                </a:tc>
                <a:tc>
                  <a:txBody>
                    <a:bodyPr/>
                    <a:lstStyle/>
                    <a:p>
                      <a:pPr algn="ctr" rtl="0" fontAlgn="base"/>
                      <a:r>
                        <a:rPr lang="en-US" sz="1400" b="0">
                          <a:effectLst/>
                        </a:rPr>
                        <a:t>Banner Advertising</a:t>
                      </a:r>
                    </a:p>
                  </a:txBody>
                  <a:tcPr marL="95250" marR="95250" marT="133350" marB="133350" anchor="ctr"/>
                </a:tc>
                <a:tc>
                  <a:txBody>
                    <a:bodyPr/>
                    <a:lstStyle/>
                    <a:p>
                      <a:pPr algn="ctr" rtl="0" fontAlgn="base"/>
                      <a:r>
                        <a:rPr lang="en-US" sz="1400" b="0">
                          <a:effectLst/>
                        </a:rPr>
                        <a:t>Interactive Advertising</a:t>
                      </a:r>
                    </a:p>
                  </a:txBody>
                  <a:tcPr marL="95250" marR="95250" marT="133350" marB="133350" anchor="ctr"/>
                </a:tc>
                <a:tc>
                  <a:txBody>
                    <a:bodyPr/>
                    <a:lstStyle/>
                    <a:p>
                      <a:pPr algn="ctr" rtl="0" fontAlgn="base"/>
                      <a:r>
                        <a:rPr lang="en-US" sz="1400" b="0" dirty="0">
                          <a:effectLst/>
                        </a:rPr>
                        <a:t>Behavioral Advertising</a:t>
                      </a:r>
                    </a:p>
                  </a:txBody>
                  <a:tcPr marL="95250" marR="95250" marT="133350" marB="133350" anchor="ctr"/>
                </a:tc>
              </a:tr>
            </a:tbl>
          </a:graphicData>
        </a:graphic>
      </p:graphicFrame>
    </p:spTree>
    <p:extLst>
      <p:ext uri="{BB962C8B-B14F-4D97-AF65-F5344CB8AC3E}">
        <p14:creationId xmlns:p14="http://schemas.microsoft.com/office/powerpoint/2010/main" val="1435511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59507762"/>
              </p:ext>
            </p:extLst>
          </p:nvPr>
        </p:nvGraphicFramePr>
        <p:xfrm>
          <a:off x="1096963" y="1846263"/>
          <a:ext cx="10058400" cy="4648200"/>
        </p:xfrm>
        <a:graphic>
          <a:graphicData uri="http://schemas.openxmlformats.org/drawingml/2006/table">
            <a:tbl>
              <a:tblPr firstRow="1" bandRow="1">
                <a:tableStyleId>{5C22544A-7EE6-4342-B048-85BDC9FD1C3A}</a:tableStyleId>
              </a:tblPr>
              <a:tblGrid>
                <a:gridCol w="881962"/>
                <a:gridCol w="2688609"/>
                <a:gridCol w="3166281"/>
                <a:gridCol w="3321548"/>
              </a:tblGrid>
              <a:tr h="370840">
                <a:tc>
                  <a:txBody>
                    <a:bodyPr/>
                    <a:lstStyle/>
                    <a:p>
                      <a:pPr algn="ctr" rtl="0" fontAlgn="base"/>
                      <a:r>
                        <a:rPr lang="en-US" sz="1600" b="1" dirty="0">
                          <a:effectLst/>
                        </a:rPr>
                        <a:t>S. No.</a:t>
                      </a:r>
                    </a:p>
                  </a:txBody>
                  <a:tcPr marL="38100" marR="38100" marT="95250" marB="95250" anchor="ctr"/>
                </a:tc>
                <a:tc>
                  <a:txBody>
                    <a:bodyPr/>
                    <a:lstStyle/>
                    <a:p>
                      <a:pPr algn="ctr" rtl="0" fontAlgn="base"/>
                      <a:r>
                        <a:rPr lang="en-US" sz="1600" b="1" dirty="0">
                          <a:effectLst/>
                        </a:rPr>
                        <a:t>Web 1.0</a:t>
                      </a:r>
                    </a:p>
                  </a:txBody>
                  <a:tcPr marL="95250" marR="95250" marT="95250" marB="95250" anchor="ctr"/>
                </a:tc>
                <a:tc>
                  <a:txBody>
                    <a:bodyPr/>
                    <a:lstStyle/>
                    <a:p>
                      <a:pPr algn="ctr" rtl="0" fontAlgn="base"/>
                      <a:r>
                        <a:rPr lang="en-US" sz="1600" b="1" dirty="0">
                          <a:effectLst/>
                        </a:rPr>
                        <a:t>Web 2.0</a:t>
                      </a:r>
                    </a:p>
                  </a:txBody>
                  <a:tcPr marL="95250" marR="95250" marT="95250" marB="95250" anchor="ctr"/>
                </a:tc>
                <a:tc>
                  <a:txBody>
                    <a:bodyPr/>
                    <a:lstStyle/>
                    <a:p>
                      <a:pPr algn="ctr" rtl="0" fontAlgn="base"/>
                      <a:r>
                        <a:rPr lang="en-US" sz="1600" b="1" dirty="0">
                          <a:effectLst/>
                        </a:rPr>
                        <a:t>Web 3.0</a:t>
                      </a:r>
                    </a:p>
                  </a:txBody>
                  <a:tcPr marL="95250" marR="95250" marT="95250" marB="95250" anchor="ctr"/>
                </a:tc>
              </a:tr>
              <a:tr h="370840">
                <a:tc>
                  <a:txBody>
                    <a:bodyPr/>
                    <a:lstStyle/>
                    <a:p>
                      <a:pPr algn="ctr" fontAlgn="base"/>
                      <a:r>
                        <a:rPr lang="en-US" sz="1400" b="0" dirty="0">
                          <a:effectLst/>
                        </a:rPr>
                        <a:t>9.</a:t>
                      </a:r>
                    </a:p>
                  </a:txBody>
                  <a:tcPr marL="95250" marR="95250" marT="133350" marB="133350" anchor="ctr"/>
                </a:tc>
                <a:tc>
                  <a:txBody>
                    <a:bodyPr/>
                    <a:lstStyle/>
                    <a:p>
                      <a:pPr algn="ctr" rtl="0" fontAlgn="base"/>
                      <a:r>
                        <a:rPr lang="en-US" sz="1400" b="0">
                          <a:effectLst/>
                        </a:rPr>
                        <a:t>Britannica Online</a:t>
                      </a:r>
                    </a:p>
                  </a:txBody>
                  <a:tcPr marL="95250" marR="95250" marT="133350" marB="133350" anchor="ctr"/>
                </a:tc>
                <a:tc>
                  <a:txBody>
                    <a:bodyPr/>
                    <a:lstStyle/>
                    <a:p>
                      <a:pPr algn="ctr" rtl="0" fontAlgn="base"/>
                      <a:r>
                        <a:rPr lang="en-US" sz="1400" b="0">
                          <a:effectLst/>
                        </a:rPr>
                        <a:t>Wikipedia</a:t>
                      </a:r>
                    </a:p>
                  </a:txBody>
                  <a:tcPr marL="95250" marR="95250" marT="133350" marB="133350" anchor="ctr"/>
                </a:tc>
                <a:tc>
                  <a:txBody>
                    <a:bodyPr/>
                    <a:lstStyle/>
                    <a:p>
                      <a:pPr algn="ctr" rtl="0" fontAlgn="base"/>
                      <a:r>
                        <a:rPr lang="en-US" sz="1400" b="0">
                          <a:effectLst/>
                        </a:rPr>
                        <a:t>The Semantic Web</a:t>
                      </a:r>
                    </a:p>
                  </a:txBody>
                  <a:tcPr marL="95250" marR="95250" marT="133350" marB="133350" anchor="ctr"/>
                </a:tc>
              </a:tr>
              <a:tr h="370840">
                <a:tc>
                  <a:txBody>
                    <a:bodyPr/>
                    <a:lstStyle/>
                    <a:p>
                      <a:pPr algn="ctr" fontAlgn="base"/>
                      <a:r>
                        <a:rPr lang="en-US" sz="1400" b="0" dirty="0">
                          <a:effectLst/>
                        </a:rPr>
                        <a:t>10.</a:t>
                      </a:r>
                    </a:p>
                  </a:txBody>
                  <a:tcPr marL="95250" marR="95250" marT="133350" marB="133350" anchor="ctr"/>
                </a:tc>
                <a:tc>
                  <a:txBody>
                    <a:bodyPr/>
                    <a:lstStyle/>
                    <a:p>
                      <a:pPr algn="ctr" rtl="0" fontAlgn="base"/>
                      <a:r>
                        <a:rPr lang="en-US" sz="1400" b="0">
                          <a:effectLst/>
                        </a:rPr>
                        <a:t>HTML/Portals</a:t>
                      </a:r>
                    </a:p>
                  </a:txBody>
                  <a:tcPr marL="95250" marR="95250" marT="133350" marB="133350" anchor="ctr"/>
                </a:tc>
                <a:tc>
                  <a:txBody>
                    <a:bodyPr/>
                    <a:lstStyle/>
                    <a:p>
                      <a:pPr algn="ctr" rtl="0" fontAlgn="base"/>
                      <a:r>
                        <a:rPr lang="en-US" sz="1400" b="0">
                          <a:effectLst/>
                        </a:rPr>
                        <a:t>XML / RSS</a:t>
                      </a:r>
                    </a:p>
                  </a:txBody>
                  <a:tcPr marL="95250" marR="95250" marT="133350" marB="133350" anchor="ctr"/>
                </a:tc>
                <a:tc>
                  <a:txBody>
                    <a:bodyPr/>
                    <a:lstStyle/>
                    <a:p>
                      <a:pPr algn="ctr" rtl="0" fontAlgn="base"/>
                      <a:r>
                        <a:rPr lang="en-US" sz="1400" b="0">
                          <a:effectLst/>
                        </a:rPr>
                        <a:t>RDF / RDFS / OWL</a:t>
                      </a:r>
                    </a:p>
                  </a:txBody>
                  <a:tcPr marL="95250" marR="95250" marT="133350" marB="133350" anchor="ctr"/>
                </a:tc>
              </a:tr>
              <a:tr h="370840">
                <a:tc>
                  <a:txBody>
                    <a:bodyPr/>
                    <a:lstStyle/>
                    <a:p>
                      <a:pPr algn="ctr" fontAlgn="base"/>
                      <a:r>
                        <a:rPr lang="en-US" sz="1400" b="0" dirty="0">
                          <a:effectLst/>
                        </a:rPr>
                        <a:t>11.</a:t>
                      </a:r>
                    </a:p>
                  </a:txBody>
                  <a:tcPr marL="95250" marR="95250" marT="133350" marB="133350" anchor="ctr"/>
                </a:tc>
                <a:tc>
                  <a:txBody>
                    <a:bodyPr/>
                    <a:lstStyle/>
                    <a:p>
                      <a:pPr algn="ctr" rtl="0" fontAlgn="base"/>
                      <a:r>
                        <a:rPr lang="en-US" sz="1400" b="0">
                          <a:effectLst/>
                        </a:rPr>
                        <a:t>Data was not Focused.</a:t>
                      </a:r>
                    </a:p>
                  </a:txBody>
                  <a:tcPr marL="95250" marR="95250" marT="133350" marB="133350" anchor="ctr"/>
                </a:tc>
                <a:tc>
                  <a:txBody>
                    <a:bodyPr/>
                    <a:lstStyle/>
                    <a:p>
                      <a:pPr algn="ctr" rtl="0" fontAlgn="base"/>
                      <a:r>
                        <a:rPr lang="en-US" sz="1400" b="0">
                          <a:effectLst/>
                        </a:rPr>
                        <a:t>Data of many was controlled by some mediatory.</a:t>
                      </a:r>
                    </a:p>
                  </a:txBody>
                  <a:tcPr marL="95250" marR="95250" marT="133350" marB="133350" anchor="ctr"/>
                </a:tc>
                <a:tc>
                  <a:txBody>
                    <a:bodyPr/>
                    <a:lstStyle/>
                    <a:p>
                      <a:pPr algn="ctr" rtl="0" fontAlgn="base"/>
                      <a:r>
                        <a:rPr lang="en-US" sz="1400" b="0">
                          <a:effectLst/>
                        </a:rPr>
                        <a:t>Data was personalized and no use of mediatory.</a:t>
                      </a:r>
                    </a:p>
                  </a:txBody>
                  <a:tcPr marL="95250" marR="95250" marT="133350" marB="133350" anchor="ctr"/>
                </a:tc>
              </a:tr>
              <a:tr h="370840">
                <a:tc>
                  <a:txBody>
                    <a:bodyPr/>
                    <a:lstStyle/>
                    <a:p>
                      <a:pPr algn="ctr" fontAlgn="base"/>
                      <a:r>
                        <a:rPr lang="en-US" sz="1400" b="0" dirty="0">
                          <a:effectLst/>
                        </a:rPr>
                        <a:t>12.</a:t>
                      </a:r>
                    </a:p>
                  </a:txBody>
                  <a:tcPr marL="95250" marR="95250" marT="133350" marB="133350" anchor="ctr"/>
                </a:tc>
                <a:tc>
                  <a:txBody>
                    <a:bodyPr/>
                    <a:lstStyle/>
                    <a:p>
                      <a:pPr algn="ctr" rtl="0" fontAlgn="base"/>
                      <a:r>
                        <a:rPr lang="en-US" sz="1400" b="0">
                          <a:effectLst/>
                        </a:rPr>
                        <a:t>Information sharing is the goal. </a:t>
                      </a:r>
                    </a:p>
                  </a:txBody>
                  <a:tcPr marL="95250" marR="95250" marT="133350" marB="133350" anchor="ctr"/>
                </a:tc>
                <a:tc>
                  <a:txBody>
                    <a:bodyPr/>
                    <a:lstStyle/>
                    <a:p>
                      <a:pPr algn="ctr" rtl="0" fontAlgn="base"/>
                      <a:r>
                        <a:rPr lang="en-US" sz="1400" b="0">
                          <a:effectLst/>
                        </a:rPr>
                        <a:t>Interaction is the goal.</a:t>
                      </a:r>
                    </a:p>
                  </a:txBody>
                  <a:tcPr marL="95250" marR="95250" marT="133350" marB="133350" anchor="ctr"/>
                </a:tc>
                <a:tc>
                  <a:txBody>
                    <a:bodyPr/>
                    <a:lstStyle/>
                    <a:p>
                      <a:pPr algn="ctr" rtl="0" fontAlgn="base"/>
                      <a:r>
                        <a:rPr lang="en-US" sz="1400" b="0">
                          <a:effectLst/>
                        </a:rPr>
                        <a:t>Immersion is the goal.</a:t>
                      </a:r>
                    </a:p>
                  </a:txBody>
                  <a:tcPr marL="95250" marR="95250" marT="133350" marB="133350" anchor="ctr"/>
                </a:tc>
              </a:tr>
              <a:tr h="370840">
                <a:tc>
                  <a:txBody>
                    <a:bodyPr/>
                    <a:lstStyle/>
                    <a:p>
                      <a:pPr algn="ctr" fontAlgn="base"/>
                      <a:r>
                        <a:rPr lang="en-US" sz="1400" b="0" dirty="0">
                          <a:effectLst/>
                        </a:rPr>
                        <a:t>13.</a:t>
                      </a:r>
                    </a:p>
                  </a:txBody>
                  <a:tcPr marL="95250" marR="95250" marT="133350" marB="133350" anchor="ctr"/>
                </a:tc>
                <a:tc>
                  <a:txBody>
                    <a:bodyPr/>
                    <a:lstStyle/>
                    <a:p>
                      <a:pPr algn="ctr" rtl="0" fontAlgn="base"/>
                      <a:r>
                        <a:rPr lang="en-US" sz="1400" b="0">
                          <a:effectLst/>
                        </a:rPr>
                        <a:t>It connects information as its primary goal. </a:t>
                      </a:r>
                    </a:p>
                  </a:txBody>
                  <a:tcPr marL="95250" marR="95250" marT="133350" marB="133350" anchor="ctr"/>
                </a:tc>
                <a:tc>
                  <a:txBody>
                    <a:bodyPr/>
                    <a:lstStyle/>
                    <a:p>
                      <a:pPr algn="ctr" rtl="0" fontAlgn="base"/>
                      <a:r>
                        <a:rPr lang="en-US" sz="1400" b="0">
                          <a:effectLst/>
                        </a:rPr>
                        <a:t>It aims to connect people. </a:t>
                      </a:r>
                    </a:p>
                  </a:txBody>
                  <a:tcPr marL="95250" marR="95250" marT="133350" marB="133350" anchor="ctr"/>
                </a:tc>
                <a:tc>
                  <a:txBody>
                    <a:bodyPr/>
                    <a:lstStyle/>
                    <a:p>
                      <a:pPr algn="ctr" rtl="0" fontAlgn="base"/>
                      <a:r>
                        <a:rPr lang="en-US" sz="1400" b="0" dirty="0">
                          <a:effectLst/>
                        </a:rPr>
                        <a:t>Focuses on relating knowledge.</a:t>
                      </a:r>
                    </a:p>
                  </a:txBody>
                  <a:tcPr marL="95250" marR="95250" marT="133350" marB="133350" anchor="ctr"/>
                </a:tc>
              </a:tr>
              <a:tr h="370840">
                <a:tc>
                  <a:txBody>
                    <a:bodyPr/>
                    <a:lstStyle/>
                    <a:p>
                      <a:pPr algn="ctr" fontAlgn="base"/>
                      <a:r>
                        <a:rPr lang="en-US" sz="1400" b="0" dirty="0" smtClean="0">
                          <a:effectLst/>
                        </a:rPr>
                        <a:t>14</a:t>
                      </a:r>
                      <a:r>
                        <a:rPr lang="en-US" sz="1400" b="0" dirty="0">
                          <a:effectLst/>
                        </a:rPr>
                        <a:t>.</a:t>
                      </a:r>
                    </a:p>
                  </a:txBody>
                  <a:tcPr marL="95250" marR="95250" marT="133350" marB="133350" anchor="ctr"/>
                </a:tc>
                <a:tc>
                  <a:txBody>
                    <a:bodyPr/>
                    <a:lstStyle/>
                    <a:p>
                      <a:pPr algn="ctr" rtl="0" fontAlgn="base"/>
                      <a:r>
                        <a:rPr lang="en-US" sz="1400" b="0">
                          <a:effectLst/>
                        </a:rPr>
                        <a:t>Static websites</a:t>
                      </a:r>
                    </a:p>
                  </a:txBody>
                  <a:tcPr marL="95250" marR="95250" marT="133350" marB="133350" anchor="ctr"/>
                </a:tc>
                <a:tc>
                  <a:txBody>
                    <a:bodyPr/>
                    <a:lstStyle/>
                    <a:p>
                      <a:pPr algn="ctr" rtl="0" fontAlgn="base"/>
                      <a:r>
                        <a:rPr lang="en-US" sz="1400" b="0">
                          <a:effectLst/>
                        </a:rPr>
                        <a:t>Introduction of web applications</a:t>
                      </a:r>
                    </a:p>
                  </a:txBody>
                  <a:tcPr marL="95250" marR="95250" marT="133350" marB="133350" anchor="ctr"/>
                </a:tc>
                <a:tc>
                  <a:txBody>
                    <a:bodyPr/>
                    <a:lstStyle/>
                    <a:p>
                      <a:pPr algn="ctr" rtl="0" fontAlgn="base"/>
                      <a:r>
                        <a:rPr lang="en-US" sz="1400" b="0" dirty="0">
                          <a:effectLst/>
                        </a:rPr>
                        <a:t>Intelligent web-based functions and apps</a:t>
                      </a:r>
                    </a:p>
                  </a:txBody>
                  <a:tcPr marL="95250" marR="95250" marT="133350" marB="133350" anchor="ctr"/>
                </a:tc>
              </a:tr>
              <a:tr h="370840">
                <a:tc>
                  <a:txBody>
                    <a:bodyPr/>
                    <a:lstStyle/>
                    <a:p>
                      <a:r>
                        <a:rPr lang="en-US" sz="2000" dirty="0" smtClean="0"/>
                        <a:t>15</a:t>
                      </a:r>
                      <a:endParaRPr lang="en-US" sz="2000" dirty="0"/>
                    </a:p>
                  </a:txBody>
                  <a:tcPr/>
                </a:tc>
                <a:tc>
                  <a:txBody>
                    <a:bodyPr/>
                    <a:lstStyle/>
                    <a:p>
                      <a:pPr algn="ctr" rtl="0" fontAlgn="base"/>
                      <a:r>
                        <a:rPr lang="en-US" sz="1400" b="0" dirty="0">
                          <a:effectLst/>
                        </a:rPr>
                        <a:t>Web and File Servers, HTML, and Portals are technologies connected to Web 1.0. </a:t>
                      </a:r>
                    </a:p>
                  </a:txBody>
                  <a:tcPr marL="95250" marR="95250" marT="133350" marB="133350" anchor="ctr"/>
                </a:tc>
                <a:tc>
                  <a:txBody>
                    <a:bodyPr/>
                    <a:lstStyle/>
                    <a:p>
                      <a:pPr algn="ctr" rtl="0" fontAlgn="base"/>
                      <a:r>
                        <a:rPr lang="en-US" sz="1400" b="0" dirty="0">
                          <a:effectLst/>
                        </a:rPr>
                        <a:t>AJAX, JavaScript, CSS, and HTML5 are examples of related technology. </a:t>
                      </a:r>
                    </a:p>
                  </a:txBody>
                  <a:tcPr marL="95250" marR="95250" marT="133350" marB="133350" anchor="ctr"/>
                </a:tc>
                <a:tc>
                  <a:txBody>
                    <a:bodyPr/>
                    <a:lstStyle/>
                    <a:p>
                      <a:pPr algn="ctr" rtl="0" fontAlgn="base"/>
                      <a:r>
                        <a:rPr lang="en-US" sz="1400" b="0" dirty="0">
                          <a:effectLst/>
                        </a:rPr>
                        <a:t>Web 3.0 technologies include </a:t>
                      </a:r>
                      <a:r>
                        <a:rPr lang="en-US" sz="1400" b="0" dirty="0" err="1">
                          <a:effectLst/>
                        </a:rPr>
                        <a:t>blockchain</a:t>
                      </a:r>
                      <a:r>
                        <a:rPr lang="en-US" sz="1400" b="0" dirty="0">
                          <a:effectLst/>
                        </a:rPr>
                        <a:t>, artificial intelligence, and decentralized protocols.</a:t>
                      </a:r>
                    </a:p>
                  </a:txBody>
                  <a:tcPr marL="95250" marR="95250" marT="133350" marB="133350" anchor="ctr"/>
                </a:tc>
              </a:tr>
            </a:tbl>
          </a:graphicData>
        </a:graphic>
      </p:graphicFrame>
    </p:spTree>
    <p:extLst>
      <p:ext uri="{BB962C8B-B14F-4D97-AF65-F5344CB8AC3E}">
        <p14:creationId xmlns:p14="http://schemas.microsoft.com/office/powerpoint/2010/main" val="2592124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blocks of web</a:t>
            </a:r>
          </a:p>
        </p:txBody>
      </p:sp>
      <p:sp>
        <p:nvSpPr>
          <p:cNvPr id="3" name="Content Placeholder 2"/>
          <p:cNvSpPr>
            <a:spLocks noGrp="1"/>
          </p:cNvSpPr>
          <p:nvPr>
            <p:ph idx="1"/>
          </p:nvPr>
        </p:nvSpPr>
        <p:spPr/>
        <p:txBody>
          <a:bodyPr>
            <a:normAutofit/>
          </a:bodyPr>
          <a:lstStyle/>
          <a:p>
            <a:r>
              <a:rPr lang="en-US" dirty="0"/>
              <a:t>There were three basic components devised by Tim Berners-Lee comprising </a:t>
            </a:r>
            <a:r>
              <a:rPr lang="en-US" dirty="0" smtClean="0"/>
              <a:t>the essence </a:t>
            </a:r>
            <a:r>
              <a:rPr lang="en-US" dirty="0"/>
              <a:t>of web technology:</a:t>
            </a:r>
          </a:p>
          <a:p>
            <a:r>
              <a:rPr lang="en-US" dirty="0"/>
              <a:t>• a markup language for formatting hypertext documents;</a:t>
            </a:r>
          </a:p>
          <a:p>
            <a:r>
              <a:rPr lang="en-US" dirty="0"/>
              <a:t>• a uniform notation scheme for addressing accessible resources over </a:t>
            </a:r>
            <a:r>
              <a:rPr lang="en-US" dirty="0" smtClean="0"/>
              <a:t>the network</a:t>
            </a:r>
            <a:r>
              <a:rPr lang="en-US" dirty="0"/>
              <a:t>;</a:t>
            </a:r>
          </a:p>
          <a:p>
            <a:r>
              <a:rPr lang="en-US" dirty="0"/>
              <a:t>• a protocol for transporting messages over the network.</a:t>
            </a:r>
          </a:p>
          <a:p>
            <a:r>
              <a:rPr lang="en-US" dirty="0"/>
              <a:t>The markup language that allowed cross-referencing of documents </a:t>
            </a:r>
            <a:r>
              <a:rPr lang="en-US" dirty="0" smtClean="0"/>
              <a:t>via hyperlinks </a:t>
            </a:r>
            <a:r>
              <a:rPr lang="en-US" dirty="0"/>
              <a:t>was the </a:t>
            </a:r>
            <a:r>
              <a:rPr lang="en-US" i="1" dirty="0" err="1"/>
              <a:t>HyperText</a:t>
            </a:r>
            <a:r>
              <a:rPr lang="en-US" i="1" dirty="0"/>
              <a:t> Markup Language</a:t>
            </a:r>
            <a:r>
              <a:rPr lang="en-US" dirty="0"/>
              <a:t>, or </a:t>
            </a:r>
            <a:r>
              <a:rPr lang="en-US" i="1" dirty="0" smtClean="0"/>
              <a:t>HTML</a:t>
            </a:r>
            <a:r>
              <a:rPr lang="en-US" dirty="0" smtClean="0"/>
              <a:t>.</a:t>
            </a:r>
          </a:p>
          <a:p>
            <a:r>
              <a:rPr lang="en-US" dirty="0"/>
              <a:t>The uniform notation scheme is called the </a:t>
            </a:r>
            <a:r>
              <a:rPr lang="en-US" i="1" dirty="0"/>
              <a:t>Uniform Resource Identifier (URI)</a:t>
            </a:r>
            <a:r>
              <a:rPr lang="en-US" dirty="0"/>
              <a:t>.</a:t>
            </a:r>
          </a:p>
          <a:p>
            <a:r>
              <a:rPr lang="en-US" dirty="0"/>
              <a:t>For historic reasons, it is most often referred to as the </a:t>
            </a:r>
            <a:r>
              <a:rPr lang="en-US" i="1" dirty="0"/>
              <a:t>Uniform Resource </a:t>
            </a:r>
            <a:r>
              <a:rPr lang="en-US" i="1" dirty="0" smtClean="0"/>
              <a:t>Locator (URL</a:t>
            </a:r>
            <a:r>
              <a:rPr lang="en-US" i="1" dirty="0"/>
              <a:t>)</a:t>
            </a:r>
            <a:r>
              <a:rPr lang="en-US" dirty="0"/>
              <a:t>.</a:t>
            </a:r>
          </a:p>
        </p:txBody>
      </p:sp>
    </p:spTree>
    <p:extLst>
      <p:ext uri="{BB962C8B-B14F-4D97-AF65-F5344CB8AC3E}">
        <p14:creationId xmlns:p14="http://schemas.microsoft.com/office/powerpoint/2010/main" val="4055216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The </a:t>
            </a:r>
            <a:r>
              <a:rPr lang="en-US" b="1" dirty="0"/>
              <a:t>building blocks of the web</a:t>
            </a:r>
            <a:r>
              <a:rPr lang="en-US" dirty="0"/>
              <a:t> are the core technologies and components that enable the creation, </a:t>
            </a:r>
            <a:r>
              <a:rPr lang="en-US" dirty="0" smtClean="0"/>
              <a:t>functionality</a:t>
            </a:r>
            <a:r>
              <a:rPr lang="en-US" dirty="0"/>
              <a:t>, and interaction of web pages and applications. They include</a:t>
            </a:r>
            <a:r>
              <a:rPr lang="en-US" dirty="0" smtClean="0"/>
              <a:t>:</a:t>
            </a:r>
          </a:p>
          <a:p>
            <a:r>
              <a:rPr lang="en-US" b="1" dirty="0"/>
              <a:t>1. HTML (</a:t>
            </a:r>
            <a:r>
              <a:rPr lang="en-US" b="1" dirty="0" err="1"/>
              <a:t>HyperText</a:t>
            </a:r>
            <a:r>
              <a:rPr lang="en-US" b="1" dirty="0"/>
              <a:t> Markup Language)</a:t>
            </a:r>
          </a:p>
          <a:p>
            <a:r>
              <a:rPr lang="en-US" b="1" dirty="0"/>
              <a:t>Purpose</a:t>
            </a:r>
            <a:r>
              <a:rPr lang="en-US" dirty="0"/>
              <a:t>: The standard language used to structure content on the web.</a:t>
            </a:r>
          </a:p>
          <a:p>
            <a:r>
              <a:rPr lang="en-US" b="1" dirty="0"/>
              <a:t>Role</a:t>
            </a:r>
            <a:r>
              <a:rPr lang="en-US" dirty="0"/>
              <a:t>: Defines the structure of web pages using elements like headings, paragraphs, links, images, and forms.</a:t>
            </a:r>
          </a:p>
          <a:p>
            <a:r>
              <a:rPr lang="en-US" b="1" dirty="0"/>
              <a:t>2. CSS (Cascading Style Sheets)</a:t>
            </a:r>
          </a:p>
          <a:p>
            <a:r>
              <a:rPr lang="en-US" b="1" dirty="0"/>
              <a:t>Purpose</a:t>
            </a:r>
            <a:r>
              <a:rPr lang="en-US" dirty="0"/>
              <a:t>: Provides the design and layout for web pages.</a:t>
            </a:r>
          </a:p>
          <a:p>
            <a:r>
              <a:rPr lang="en-US" b="1" dirty="0"/>
              <a:t>Role</a:t>
            </a:r>
            <a:r>
              <a:rPr lang="en-US" dirty="0"/>
              <a:t>: Controls the presentation, such as colors, fonts, spacing, and positioning of elements on the page.</a:t>
            </a:r>
          </a:p>
          <a:p>
            <a:endParaRPr lang="en-US" dirty="0"/>
          </a:p>
        </p:txBody>
      </p:sp>
    </p:spTree>
    <p:extLst>
      <p:ext uri="{BB962C8B-B14F-4D97-AF65-F5344CB8AC3E}">
        <p14:creationId xmlns:p14="http://schemas.microsoft.com/office/powerpoint/2010/main" val="571667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a:t>3. JavaScript</a:t>
            </a:r>
          </a:p>
          <a:p>
            <a:r>
              <a:rPr lang="en-US" b="1" dirty="0"/>
              <a:t>Purpose</a:t>
            </a:r>
            <a:r>
              <a:rPr lang="en-US" dirty="0"/>
              <a:t>: Adds interactivity and dynamic behavior to web pages.</a:t>
            </a:r>
          </a:p>
          <a:p>
            <a:r>
              <a:rPr lang="en-US" b="1" dirty="0"/>
              <a:t>Role</a:t>
            </a:r>
            <a:r>
              <a:rPr lang="en-US" dirty="0"/>
              <a:t>: Enables actions like form validation, animations, interactive maps, and updating content without reloading the page (using AJAX).</a:t>
            </a:r>
          </a:p>
          <a:p>
            <a:r>
              <a:rPr lang="en-US" b="1" dirty="0"/>
              <a:t>4. Web Browsers</a:t>
            </a:r>
          </a:p>
          <a:p>
            <a:r>
              <a:rPr lang="en-US" b="1" dirty="0"/>
              <a:t>Purpose</a:t>
            </a:r>
            <a:r>
              <a:rPr lang="en-US" dirty="0"/>
              <a:t>: Software used to access, display, and interact with web content.</a:t>
            </a:r>
          </a:p>
          <a:p>
            <a:r>
              <a:rPr lang="en-US" b="1" dirty="0"/>
              <a:t>Examples</a:t>
            </a:r>
            <a:r>
              <a:rPr lang="en-US" dirty="0"/>
              <a:t>: Google Chrome, Mozilla Firefox, Safari, Microsoft Edge.</a:t>
            </a:r>
          </a:p>
          <a:p>
            <a:r>
              <a:rPr lang="en-US" b="1" dirty="0"/>
              <a:t>5. Web Servers</a:t>
            </a:r>
          </a:p>
          <a:p>
            <a:r>
              <a:rPr lang="en-US" b="1" dirty="0"/>
              <a:t>Purpose</a:t>
            </a:r>
            <a:r>
              <a:rPr lang="en-US" dirty="0"/>
              <a:t>: Hosts web applications and serves content to users over the internet.</a:t>
            </a:r>
          </a:p>
          <a:p>
            <a:r>
              <a:rPr lang="en-US" b="1" dirty="0"/>
              <a:t>Role</a:t>
            </a:r>
            <a:r>
              <a:rPr lang="en-US" dirty="0"/>
              <a:t>: Responds to HTTP requests, processes them, and sends the appropriate files (HTML, CSS, JavaScript, etc.) to the user’s browser.</a:t>
            </a:r>
          </a:p>
          <a:p>
            <a:endParaRPr lang="en-US" dirty="0"/>
          </a:p>
        </p:txBody>
      </p:sp>
    </p:spTree>
    <p:extLst>
      <p:ext uri="{BB962C8B-B14F-4D97-AF65-F5344CB8AC3E}">
        <p14:creationId xmlns:p14="http://schemas.microsoft.com/office/powerpoint/2010/main" val="1351026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6. HTTP/HTTPS (</a:t>
            </a:r>
            <a:r>
              <a:rPr lang="en-US" b="1" dirty="0" err="1"/>
              <a:t>HyperText</a:t>
            </a:r>
            <a:r>
              <a:rPr lang="en-US" b="1" dirty="0"/>
              <a:t> Transfer Protocol / Secure)</a:t>
            </a:r>
          </a:p>
          <a:p>
            <a:r>
              <a:rPr lang="en-US" b="1" dirty="0"/>
              <a:t>Purpose</a:t>
            </a:r>
            <a:r>
              <a:rPr lang="en-US" dirty="0"/>
              <a:t>: Protocols used for transferring data over the web.</a:t>
            </a:r>
          </a:p>
          <a:p>
            <a:r>
              <a:rPr lang="en-US" b="1" dirty="0"/>
              <a:t>Role</a:t>
            </a:r>
            <a:r>
              <a:rPr lang="en-US" dirty="0"/>
              <a:t>: Defines the rules for requesting and delivering content between browsers and web servers. HTTPS is the secure version, encrypting data for privacy.</a:t>
            </a:r>
          </a:p>
          <a:p>
            <a:r>
              <a:rPr lang="en-US" b="1" dirty="0"/>
              <a:t>7. APIs (Application Programming Interfaces)</a:t>
            </a:r>
          </a:p>
          <a:p>
            <a:r>
              <a:rPr lang="en-US" b="1" dirty="0"/>
              <a:t>Purpose</a:t>
            </a:r>
            <a:r>
              <a:rPr lang="en-US" dirty="0"/>
              <a:t>: Enable communication between different software systems.</a:t>
            </a:r>
          </a:p>
          <a:p>
            <a:r>
              <a:rPr lang="en-US" b="1" dirty="0"/>
              <a:t>Role</a:t>
            </a:r>
            <a:r>
              <a:rPr lang="en-US" dirty="0"/>
              <a:t>: Allows web applications to interact with external services (e.g., social media, payment gateways, weather data).</a:t>
            </a:r>
          </a:p>
          <a:p>
            <a:endParaRPr lang="en-US" dirty="0"/>
          </a:p>
        </p:txBody>
      </p:sp>
    </p:spTree>
    <p:extLst>
      <p:ext uri="{BB962C8B-B14F-4D97-AF65-F5344CB8AC3E}">
        <p14:creationId xmlns:p14="http://schemas.microsoft.com/office/powerpoint/2010/main" val="321713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a:t>8. Databases</a:t>
            </a:r>
          </a:p>
          <a:p>
            <a:r>
              <a:rPr lang="en-US" b="1" dirty="0"/>
              <a:t>Purpose</a:t>
            </a:r>
            <a:r>
              <a:rPr lang="en-US" dirty="0"/>
              <a:t>: Store, manage, and retrieve data for web applications.</a:t>
            </a:r>
          </a:p>
          <a:p>
            <a:r>
              <a:rPr lang="en-US" b="1" dirty="0"/>
              <a:t>Role</a:t>
            </a:r>
            <a:r>
              <a:rPr lang="en-US" dirty="0"/>
              <a:t>: Commonly used in dynamic websites to store user data, content, and other important information. Examples include MySQL, </a:t>
            </a:r>
            <a:r>
              <a:rPr lang="en-US" dirty="0" err="1"/>
              <a:t>MongoDB</a:t>
            </a:r>
            <a:r>
              <a:rPr lang="en-US" dirty="0"/>
              <a:t>, and </a:t>
            </a:r>
            <a:r>
              <a:rPr lang="en-US" dirty="0" err="1"/>
              <a:t>PostgreSQL</a:t>
            </a:r>
            <a:r>
              <a:rPr lang="en-US" dirty="0"/>
              <a:t>.</a:t>
            </a:r>
          </a:p>
          <a:p>
            <a:r>
              <a:rPr lang="en-US" b="1" dirty="0"/>
              <a:t>9. CSS Frameworks &amp; JavaScript Libraries</a:t>
            </a:r>
          </a:p>
          <a:p>
            <a:r>
              <a:rPr lang="en-US" b="1" dirty="0"/>
              <a:t>Purpose</a:t>
            </a:r>
            <a:r>
              <a:rPr lang="en-US" dirty="0"/>
              <a:t>: Pre-built sets of tools to streamline web development.</a:t>
            </a:r>
          </a:p>
          <a:p>
            <a:r>
              <a:rPr lang="en-US" b="1" dirty="0"/>
              <a:t>Examples</a:t>
            </a:r>
            <a:r>
              <a:rPr lang="en-US" dirty="0"/>
              <a:t>: Bootstrap (CSS framework), React.js, Angular, and Vue.js (JavaScript libraries).</a:t>
            </a:r>
          </a:p>
          <a:p>
            <a:r>
              <a:rPr lang="en-US" b="1" dirty="0"/>
              <a:t>10. Responsive Web Design</a:t>
            </a:r>
          </a:p>
          <a:p>
            <a:r>
              <a:rPr lang="en-US" b="1" dirty="0"/>
              <a:t>Purpose</a:t>
            </a:r>
            <a:r>
              <a:rPr lang="en-US" dirty="0"/>
              <a:t>: Ensures websites are optimized for different devices and screen sizes.</a:t>
            </a:r>
          </a:p>
          <a:p>
            <a:r>
              <a:rPr lang="en-US" b="1" dirty="0"/>
              <a:t>Role</a:t>
            </a:r>
            <a:r>
              <a:rPr lang="en-US" dirty="0"/>
              <a:t>: Uses techniques like fluid grids, flexible images, and media queries to create adaptable layouts.</a:t>
            </a:r>
          </a:p>
          <a:p>
            <a:endParaRPr lang="en-US" dirty="0"/>
          </a:p>
        </p:txBody>
      </p:sp>
    </p:spTree>
    <p:extLst>
      <p:ext uri="{BB962C8B-B14F-4D97-AF65-F5344CB8AC3E}">
        <p14:creationId xmlns:p14="http://schemas.microsoft.com/office/powerpoint/2010/main" val="1509353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11. Version Control Systems (e.g., </a:t>
            </a:r>
            <a:r>
              <a:rPr lang="en-US" b="1" dirty="0" err="1"/>
              <a:t>Git</a:t>
            </a:r>
            <a:r>
              <a:rPr lang="en-US" b="1" dirty="0"/>
              <a:t>)</a:t>
            </a:r>
          </a:p>
          <a:p>
            <a:r>
              <a:rPr lang="en-US" b="1" dirty="0"/>
              <a:t>Purpose</a:t>
            </a:r>
            <a:r>
              <a:rPr lang="en-US" dirty="0"/>
              <a:t>: Tracks and manages changes in code.</a:t>
            </a:r>
          </a:p>
          <a:p>
            <a:r>
              <a:rPr lang="en-US" b="1" dirty="0"/>
              <a:t>Role</a:t>
            </a:r>
            <a:r>
              <a:rPr lang="en-US" dirty="0"/>
              <a:t>: Helps developers collaborate, maintain code history, and manage different versions of a project.</a:t>
            </a:r>
          </a:p>
          <a:p>
            <a:r>
              <a:rPr lang="en-US" b="1" dirty="0"/>
              <a:t>12. Content Management Systems (CMS)</a:t>
            </a:r>
          </a:p>
          <a:p>
            <a:r>
              <a:rPr lang="en-US" b="1" dirty="0"/>
              <a:t>Purpose</a:t>
            </a:r>
            <a:r>
              <a:rPr lang="en-US" dirty="0"/>
              <a:t>: Simplifies the creation and management of digital content.</a:t>
            </a:r>
          </a:p>
          <a:p>
            <a:r>
              <a:rPr lang="en-US" b="1" dirty="0"/>
              <a:t>Role</a:t>
            </a:r>
            <a:r>
              <a:rPr lang="en-US" dirty="0"/>
              <a:t>: Platforms like </a:t>
            </a:r>
            <a:r>
              <a:rPr lang="en-US" dirty="0" err="1"/>
              <a:t>WordPress</a:t>
            </a:r>
            <a:r>
              <a:rPr lang="en-US" dirty="0"/>
              <a:t>, Joomla, and Drupal allow non-technical users to create and manage websites without writing code.</a:t>
            </a:r>
          </a:p>
          <a:p>
            <a:endParaRPr lang="en-US" dirty="0"/>
          </a:p>
        </p:txBody>
      </p:sp>
    </p:spTree>
    <p:extLst>
      <p:ext uri="{BB962C8B-B14F-4D97-AF65-F5344CB8AC3E}">
        <p14:creationId xmlns:p14="http://schemas.microsoft.com/office/powerpoint/2010/main" val="2473158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Uniform Resource Locator</a:t>
            </a:r>
            <a:endParaRPr lang="en-US" dirty="0"/>
          </a:p>
        </p:txBody>
      </p:sp>
      <p:sp>
        <p:nvSpPr>
          <p:cNvPr id="3" name="Content Placeholder 2"/>
          <p:cNvSpPr>
            <a:spLocks noGrp="1"/>
          </p:cNvSpPr>
          <p:nvPr>
            <p:ph idx="1"/>
          </p:nvPr>
        </p:nvSpPr>
        <p:spPr/>
        <p:txBody>
          <a:bodyPr/>
          <a:lstStyle/>
          <a:p>
            <a:pPr fontAlgn="base"/>
            <a:r>
              <a:rPr lang="en-US" dirty="0"/>
              <a:t>A URL (Uniform Resource Locator) is the unique address of a webpage on the internet. It indicates where a resource is located and how it can be accessed. In simpler terms, a URL is the web address of a specific page.</a:t>
            </a:r>
          </a:p>
          <a:p>
            <a:pPr fontAlgn="base"/>
            <a:r>
              <a:rPr lang="en-US" dirty="0"/>
              <a:t>Accessing the resource using a protocol, the relevant server’s address, and where the resource is located in a directory structure.</a:t>
            </a:r>
          </a:p>
          <a:p>
            <a:pPr fontAlgn="base"/>
            <a:r>
              <a:rPr lang="en-US" dirty="0"/>
              <a:t>Technically, the “www” is not a part of the protocol; it is a subdomain that indicates the website is using the World Wide Web. While many websites use ‘www’, it is not mandatory, and its usage depends on how the domain is set up</a:t>
            </a:r>
            <a:r>
              <a:rPr lang="en-US" dirty="0" smtClean="0"/>
              <a:t>.</a:t>
            </a:r>
          </a:p>
          <a:p>
            <a:pPr fontAlgn="base"/>
            <a:r>
              <a:rPr lang="en-US" dirty="0"/>
              <a:t>The URL (Uniform Resource Locator) is created by </a:t>
            </a:r>
            <a:r>
              <a:rPr lang="en-US" b="1" dirty="0"/>
              <a:t>Tim Berners-Lee</a:t>
            </a:r>
            <a:r>
              <a:rPr lang="en-US" dirty="0"/>
              <a:t> and the Internet Engineering working group in 1994. </a:t>
            </a:r>
          </a:p>
          <a:p>
            <a:endParaRPr lang="en-US" dirty="0"/>
          </a:p>
        </p:txBody>
      </p:sp>
    </p:spTree>
    <p:extLst>
      <p:ext uri="{BB962C8B-B14F-4D97-AF65-F5344CB8AC3E}">
        <p14:creationId xmlns:p14="http://schemas.microsoft.com/office/powerpoint/2010/main" val="2089118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1097280" y="2472420"/>
            <a:ext cx="10058400"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mn-lt"/>
              </a:rPr>
              <a:t>Syntax of URL:</a:t>
            </a:r>
            <a:endParaRPr kumimoji="0" lang="en-US" b="0" i="0" u="none" strike="noStrike" cap="none" normalizeH="0" baseline="0" dirty="0" smtClean="0">
              <a:ln>
                <a:noFill/>
              </a:ln>
              <a:solidFill>
                <a:schemeClr val="tx1"/>
              </a:solidFill>
              <a:effectLst/>
              <a:latin typeface="+mn-lt"/>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mn-lt"/>
                <a:cs typeface="Consolas" panose="020B0609020204030204" pitchFamily="49" charset="0"/>
              </a:rPr>
              <a:t>protocol://hostname/filename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mn-lt"/>
              </a:rPr>
              <a:t>Protocol:</a:t>
            </a:r>
            <a:r>
              <a:rPr kumimoji="0" lang="en-US" b="0" i="0" u="none" strike="noStrike" cap="none" normalizeH="0" baseline="0" dirty="0" smtClean="0">
                <a:ln>
                  <a:noFill/>
                </a:ln>
                <a:solidFill>
                  <a:srgbClr val="273239"/>
                </a:solidFill>
                <a:effectLst/>
                <a:latin typeface="+mn-lt"/>
              </a:rPr>
              <a:t> A protocol is the standard set of rules that are used to allow electronic devices to communicate with each other.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mn-lt"/>
              </a:rPr>
              <a:t>Hostname:</a:t>
            </a:r>
            <a:r>
              <a:rPr kumimoji="0" lang="en-US" b="0" i="0" u="none" strike="noStrike" cap="none" normalizeH="0" baseline="0" dirty="0" smtClean="0">
                <a:ln>
                  <a:noFill/>
                </a:ln>
                <a:solidFill>
                  <a:srgbClr val="273239"/>
                </a:solidFill>
                <a:effectLst/>
                <a:latin typeface="+mn-lt"/>
              </a:rPr>
              <a:t> It describes the name of the server on the network.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mn-lt"/>
              </a:rPr>
              <a:t>Filename:</a:t>
            </a:r>
            <a:r>
              <a:rPr kumimoji="0" lang="en-US" b="0" i="0" u="none" strike="noStrike" cap="none" normalizeH="0" baseline="0" dirty="0" smtClean="0">
                <a:ln>
                  <a:noFill/>
                </a:ln>
                <a:solidFill>
                  <a:srgbClr val="273239"/>
                </a:solidFill>
                <a:effectLst/>
                <a:latin typeface="+mn-lt"/>
              </a:rPr>
              <a:t> It describes the pathname to the file on the server. </a:t>
            </a:r>
            <a:endParaRPr kumimoji="0" lang="en-US" b="0" i="0" u="none" strike="noStrike" cap="none" normalizeH="0" baseline="0" dirty="0" smtClean="0">
              <a:ln>
                <a:noFill/>
              </a:ln>
              <a:solidFill>
                <a:schemeClr val="tx1"/>
              </a:solidFill>
              <a:effectLst/>
              <a:latin typeface="+mn-lt"/>
            </a:endParaRPr>
          </a:p>
        </p:txBody>
      </p:sp>
    </p:spTree>
    <p:extLst>
      <p:ext uri="{BB962C8B-B14F-4D97-AF65-F5344CB8AC3E}">
        <p14:creationId xmlns:p14="http://schemas.microsoft.com/office/powerpoint/2010/main" val="20955979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773668" y="1848490"/>
            <a:ext cx="10705624" cy="785528"/>
          </a:xfrm>
          <a:prstGeom prst="rect">
            <a:avLst/>
          </a:prstGeom>
        </p:spPr>
      </p:pic>
      <p:sp>
        <p:nvSpPr>
          <p:cNvPr id="5" name="Rectangle 4"/>
          <p:cNvSpPr/>
          <p:nvPr/>
        </p:nvSpPr>
        <p:spPr>
          <a:xfrm>
            <a:off x="773668" y="2880395"/>
            <a:ext cx="10705624" cy="2585323"/>
          </a:xfrm>
          <a:prstGeom prst="rect">
            <a:avLst/>
          </a:prstGeom>
        </p:spPr>
        <p:txBody>
          <a:bodyPr wrap="square">
            <a:spAutoFit/>
          </a:bodyPr>
          <a:lstStyle/>
          <a:p>
            <a:r>
              <a:rPr lang="en-US" b="1" dirty="0">
                <a:solidFill>
                  <a:srgbClr val="000000"/>
                </a:solidFill>
                <a:latin typeface="LiberationSerif-Bold"/>
              </a:rPr>
              <a:t>scheme</a:t>
            </a:r>
            <a:r>
              <a:rPr lang="en-US" dirty="0">
                <a:solidFill>
                  <a:srgbClr val="000000"/>
                </a:solidFill>
                <a:latin typeface="LiberationSerif"/>
              </a:rPr>
              <a:t>: This portion of the URL designates the underlying protocol to </a:t>
            </a:r>
            <a:r>
              <a:rPr lang="en-US" dirty="0" smtClean="0">
                <a:solidFill>
                  <a:srgbClr val="000000"/>
                </a:solidFill>
                <a:latin typeface="LiberationSerif"/>
              </a:rPr>
              <a:t>be used </a:t>
            </a:r>
            <a:r>
              <a:rPr lang="en-US" dirty="0">
                <a:solidFill>
                  <a:srgbClr val="000000"/>
                </a:solidFill>
                <a:latin typeface="LiberationSerif"/>
              </a:rPr>
              <a:t>(e.g., http or ftp); it is followed by a colon and two forward slashes.</a:t>
            </a:r>
          </a:p>
          <a:p>
            <a:r>
              <a:rPr lang="en-US" dirty="0">
                <a:solidFill>
                  <a:srgbClr val="000000"/>
                </a:solidFill>
                <a:latin typeface="LiberationSerif"/>
              </a:rPr>
              <a:t>In the example URL, the scheme is http.</a:t>
            </a:r>
          </a:p>
          <a:p>
            <a:r>
              <a:rPr lang="en-US" dirty="0">
                <a:solidFill>
                  <a:srgbClr val="000000"/>
                </a:solidFill>
                <a:latin typeface="LiberationSerif"/>
              </a:rPr>
              <a:t>• </a:t>
            </a:r>
            <a:r>
              <a:rPr lang="en-US" b="1" dirty="0">
                <a:solidFill>
                  <a:srgbClr val="000000"/>
                </a:solidFill>
                <a:latin typeface="LiberationSerif-Bold"/>
              </a:rPr>
              <a:t>host</a:t>
            </a:r>
            <a:r>
              <a:rPr lang="en-US" dirty="0">
                <a:solidFill>
                  <a:srgbClr val="000000"/>
                </a:solidFill>
                <a:latin typeface="LiberationSerif"/>
              </a:rPr>
              <a:t>: This is the IP address (numeric or DNS-based) for the web </a:t>
            </a:r>
            <a:r>
              <a:rPr lang="en-US" dirty="0" smtClean="0">
                <a:solidFill>
                  <a:srgbClr val="000000"/>
                </a:solidFill>
                <a:latin typeface="LiberationSerif"/>
              </a:rPr>
              <a:t>server being </a:t>
            </a:r>
            <a:r>
              <a:rPr lang="en-US" dirty="0">
                <a:solidFill>
                  <a:srgbClr val="000000"/>
                </a:solidFill>
                <a:latin typeface="LiberationSerif"/>
              </a:rPr>
              <a:t>accessed; it usually follows the colon and two forward slashes. </a:t>
            </a:r>
            <a:r>
              <a:rPr lang="en-US" dirty="0" smtClean="0">
                <a:solidFill>
                  <a:srgbClr val="000000"/>
                </a:solidFill>
                <a:latin typeface="LiberationSerif"/>
              </a:rPr>
              <a:t>In the </a:t>
            </a:r>
            <a:r>
              <a:rPr lang="en-US" dirty="0">
                <a:solidFill>
                  <a:srgbClr val="000000"/>
                </a:solidFill>
                <a:latin typeface="LiberationSerif"/>
              </a:rPr>
              <a:t>example URL, the host is </a:t>
            </a:r>
            <a:r>
              <a:rPr lang="en-US" dirty="0">
                <a:solidFill>
                  <a:srgbClr val="0000EF"/>
                </a:solidFill>
                <a:latin typeface="LiberationSerif"/>
              </a:rPr>
              <a:t>www.mywebsite.com</a:t>
            </a:r>
            <a:r>
              <a:rPr lang="en-US" dirty="0">
                <a:solidFill>
                  <a:srgbClr val="000000"/>
                </a:solidFill>
                <a:latin typeface="LiberationSerif"/>
              </a:rPr>
              <a:t>.</a:t>
            </a:r>
          </a:p>
          <a:p>
            <a:r>
              <a:rPr lang="en-US" dirty="0">
                <a:solidFill>
                  <a:srgbClr val="000000"/>
                </a:solidFill>
                <a:latin typeface="LiberationSerif"/>
              </a:rPr>
              <a:t>• </a:t>
            </a:r>
            <a:r>
              <a:rPr lang="en-US" b="1" dirty="0">
                <a:solidFill>
                  <a:srgbClr val="000000"/>
                </a:solidFill>
                <a:latin typeface="LiberationSerif-Bold"/>
              </a:rPr>
              <a:t>port</a:t>
            </a:r>
            <a:r>
              <a:rPr lang="en-US" dirty="0">
                <a:solidFill>
                  <a:srgbClr val="000000"/>
                </a:solidFill>
                <a:latin typeface="LiberationSerif"/>
              </a:rPr>
              <a:t>: This is an optional portion of the URL designating the port </a:t>
            </a:r>
            <a:r>
              <a:rPr lang="en-US" dirty="0" smtClean="0">
                <a:solidFill>
                  <a:srgbClr val="000000"/>
                </a:solidFill>
                <a:latin typeface="LiberationSerif"/>
              </a:rPr>
              <a:t>number to </a:t>
            </a:r>
            <a:r>
              <a:rPr lang="en-US" dirty="0">
                <a:solidFill>
                  <a:srgbClr val="000000"/>
                </a:solidFill>
                <a:latin typeface="LiberationSerif"/>
              </a:rPr>
              <a:t>which the target web server listens. (The default port number </a:t>
            </a:r>
            <a:r>
              <a:rPr lang="en-US" dirty="0" smtClean="0">
                <a:solidFill>
                  <a:srgbClr val="000000"/>
                </a:solidFill>
                <a:latin typeface="LiberationSerif"/>
              </a:rPr>
              <a:t>for HTTP </a:t>
            </a:r>
            <a:r>
              <a:rPr lang="en-US" dirty="0">
                <a:solidFill>
                  <a:srgbClr val="000000"/>
                </a:solidFill>
                <a:latin typeface="LiberationSerif"/>
              </a:rPr>
              <a:t>servers is 80, but some configurations are set up to use an </a:t>
            </a:r>
            <a:r>
              <a:rPr lang="en-US" dirty="0" smtClean="0">
                <a:solidFill>
                  <a:srgbClr val="000000"/>
                </a:solidFill>
                <a:latin typeface="LiberationSerif"/>
              </a:rPr>
              <a:t>alternate port </a:t>
            </a:r>
            <a:r>
              <a:rPr lang="en-US" dirty="0">
                <a:solidFill>
                  <a:srgbClr val="000000"/>
                </a:solidFill>
                <a:latin typeface="LiberationSerif"/>
              </a:rPr>
              <a:t>number. When they do, that number must be specified in the URL.)</a:t>
            </a:r>
          </a:p>
          <a:p>
            <a:r>
              <a:rPr lang="en-US" dirty="0">
                <a:solidFill>
                  <a:srgbClr val="000000"/>
                </a:solidFill>
                <a:latin typeface="LiberationSerif"/>
              </a:rPr>
              <a:t>The port number, if it appears, is preceded by a colon.</a:t>
            </a:r>
            <a:endParaRPr lang="en-US" dirty="0"/>
          </a:p>
        </p:txBody>
      </p:sp>
    </p:spTree>
    <p:extLst>
      <p:ext uri="{BB962C8B-B14F-4D97-AF65-F5344CB8AC3E}">
        <p14:creationId xmlns:p14="http://schemas.microsoft.com/office/powerpoint/2010/main" val="2020289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path</a:t>
            </a:r>
            <a:r>
              <a:rPr lang="en-US" dirty="0"/>
              <a:t>: Logically speaking, this is the path through the file system from </a:t>
            </a:r>
            <a:r>
              <a:rPr lang="en-US" dirty="0" smtClean="0"/>
              <a:t>the “root</a:t>
            </a:r>
            <a:r>
              <a:rPr lang="en-US" dirty="0"/>
              <a:t>” directory of the server to the desired document. (In practice, </a:t>
            </a:r>
            <a:r>
              <a:rPr lang="en-US" dirty="0" smtClean="0"/>
              <a:t>web servers </a:t>
            </a:r>
            <a:r>
              <a:rPr lang="en-US" dirty="0"/>
              <a:t>may use aliasing to point to documents, gateways, and </a:t>
            </a:r>
            <a:r>
              <a:rPr lang="en-US" dirty="0" smtClean="0"/>
              <a:t>services that </a:t>
            </a:r>
            <a:r>
              <a:rPr lang="en-US" dirty="0"/>
              <a:t>are not explicitly accessible from the server’s root directory.) </a:t>
            </a:r>
            <a:r>
              <a:rPr lang="en-US" dirty="0" smtClean="0"/>
              <a:t>The path </a:t>
            </a:r>
            <a:r>
              <a:rPr lang="en-US" dirty="0"/>
              <a:t>immediately follows the server and port number and, by </a:t>
            </a:r>
            <a:r>
              <a:rPr lang="en-US" dirty="0" smtClean="0"/>
              <a:t>definition, includes </a:t>
            </a:r>
            <a:r>
              <a:rPr lang="en-US" dirty="0"/>
              <a:t>that first forward slash. In the example URL, the path is </a:t>
            </a:r>
            <a:r>
              <a:rPr lang="en-US" i="1" dirty="0" err="1"/>
              <a:t>sj</a:t>
            </a:r>
            <a:r>
              <a:rPr lang="en-US" dirty="0" err="1"/>
              <a:t>test</a:t>
            </a:r>
            <a:r>
              <a:rPr lang="en-US" dirty="0"/>
              <a:t>.</a:t>
            </a:r>
          </a:p>
          <a:p>
            <a:r>
              <a:rPr lang="en-US" dirty="0"/>
              <a:t>• </a:t>
            </a:r>
            <a:r>
              <a:rPr lang="en-US" b="1" dirty="0" err="1"/>
              <a:t>url-params</a:t>
            </a:r>
            <a:r>
              <a:rPr lang="en-US" dirty="0"/>
              <a:t>: This portion of the URL includes optional name-value </a:t>
            </a:r>
            <a:r>
              <a:rPr lang="en-US" dirty="0" smtClean="0"/>
              <a:t>pairs (“</a:t>
            </a:r>
            <a:r>
              <a:rPr lang="en-US" dirty="0"/>
              <a:t>URL parameters”). It was once rarely used but is now used </a:t>
            </a:r>
            <a:r>
              <a:rPr lang="en-US" dirty="0" smtClean="0"/>
              <a:t>commonly for </a:t>
            </a:r>
            <a:r>
              <a:rPr lang="en-US" dirty="0"/>
              <a:t>session identifiers in application servers supporting the Java </a:t>
            </a:r>
            <a:r>
              <a:rPr lang="en-US" dirty="0" smtClean="0"/>
              <a:t>Servlet API</a:t>
            </a:r>
            <a:r>
              <a:rPr lang="en-US" dirty="0"/>
              <a:t>. They are useful to protect against some browser actions. </a:t>
            </a:r>
            <a:r>
              <a:rPr lang="en-US" dirty="0" smtClean="0"/>
              <a:t>For example</a:t>
            </a:r>
            <a:r>
              <a:rPr lang="en-US" dirty="0"/>
              <a:t>, when submitting HTML forms using the HTTP GET </a:t>
            </a:r>
            <a:r>
              <a:rPr lang="en-US" dirty="0" smtClean="0"/>
              <a:t>method, most </a:t>
            </a:r>
            <a:r>
              <a:rPr lang="en-US" dirty="0"/>
              <a:t>browsers substitute query strings of action URLs with </a:t>
            </a:r>
            <a:r>
              <a:rPr lang="en-US" dirty="0" err="1" smtClean="0"/>
              <a:t>attributevalue</a:t>
            </a:r>
            <a:r>
              <a:rPr lang="en-US" dirty="0"/>
              <a:t> </a:t>
            </a:r>
            <a:r>
              <a:rPr lang="en-US" dirty="0" smtClean="0"/>
              <a:t>pairs </a:t>
            </a:r>
            <a:r>
              <a:rPr lang="en-US" dirty="0"/>
              <a:t>(see Section 3.3.4). URL parameters are preceded by a </a:t>
            </a:r>
            <a:r>
              <a:rPr lang="en-US" dirty="0" smtClean="0"/>
              <a:t>semicolon immediately </a:t>
            </a:r>
            <a:r>
              <a:rPr lang="en-US" dirty="0"/>
              <a:t>after the path information. In the example URL, </a:t>
            </a:r>
            <a:r>
              <a:rPr lang="en-US" dirty="0" smtClean="0"/>
              <a:t>the URL </a:t>
            </a:r>
            <a:r>
              <a:rPr lang="en-US" dirty="0"/>
              <a:t>parameter is id=8079.</a:t>
            </a:r>
          </a:p>
        </p:txBody>
      </p:sp>
    </p:spTree>
    <p:extLst>
      <p:ext uri="{BB962C8B-B14F-4D97-AF65-F5344CB8AC3E}">
        <p14:creationId xmlns:p14="http://schemas.microsoft.com/office/powerpoint/2010/main" val="1883843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query-string</a:t>
            </a:r>
            <a:r>
              <a:rPr lang="en-US" dirty="0"/>
              <a:t>: This optional portion of the URL contains </a:t>
            </a:r>
            <a:r>
              <a:rPr lang="en-US" dirty="0" smtClean="0"/>
              <a:t>name-value pairs</a:t>
            </a:r>
            <a:r>
              <a:rPr lang="en-US" dirty="0"/>
              <a:t>, which represent dynamic parameters associated with the </a:t>
            </a:r>
            <a:r>
              <a:rPr lang="en-US" dirty="0" smtClean="0"/>
              <a:t>request. These </a:t>
            </a:r>
            <a:r>
              <a:rPr lang="en-US" dirty="0"/>
              <a:t>parameters are commonly included in links for tracking </a:t>
            </a:r>
            <a:r>
              <a:rPr lang="en-US" dirty="0" smtClean="0"/>
              <a:t>and context-setting </a:t>
            </a:r>
            <a:r>
              <a:rPr lang="en-US" dirty="0"/>
              <a:t>purposes. They may also be produced from variables </a:t>
            </a:r>
            <a:r>
              <a:rPr lang="en-US" dirty="0" smtClean="0"/>
              <a:t>in HTML </a:t>
            </a:r>
            <a:r>
              <a:rPr lang="en-US" dirty="0"/>
              <a:t>forms. If present, the query string is preceded by a question </a:t>
            </a:r>
            <a:r>
              <a:rPr lang="en-US" dirty="0" smtClean="0"/>
              <a:t>mark. Equals </a:t>
            </a:r>
            <a:r>
              <a:rPr lang="en-US" dirty="0"/>
              <a:t>signs ( = ) separate names and values, and ampersands (&amp;) </a:t>
            </a:r>
            <a:r>
              <a:rPr lang="en-US" dirty="0" smtClean="0"/>
              <a:t>mark the </a:t>
            </a:r>
            <a:r>
              <a:rPr lang="en-US" dirty="0"/>
              <a:t>boundaries between name-value pairs. In the example URL, the </a:t>
            </a:r>
            <a:r>
              <a:rPr lang="en-US" dirty="0" smtClean="0"/>
              <a:t>query string </a:t>
            </a:r>
            <a:r>
              <a:rPr lang="en-US" dirty="0"/>
              <a:t>is name=</a:t>
            </a:r>
            <a:r>
              <a:rPr lang="en-US" dirty="0" err="1"/>
              <a:t>bob&amp;x</a:t>
            </a:r>
            <a:r>
              <a:rPr lang="en-US" dirty="0"/>
              <a:t>=true.</a:t>
            </a:r>
          </a:p>
          <a:p>
            <a:r>
              <a:rPr lang="en-US" dirty="0"/>
              <a:t>• </a:t>
            </a:r>
            <a:r>
              <a:rPr lang="en-US" b="1" dirty="0"/>
              <a:t>anchor</a:t>
            </a:r>
            <a:r>
              <a:rPr lang="en-US" dirty="0"/>
              <a:t>: This optional portion of the URL is a reference to a </a:t>
            </a:r>
            <a:r>
              <a:rPr lang="en-US" dirty="0" smtClean="0"/>
              <a:t>positional marker </a:t>
            </a:r>
            <a:r>
              <a:rPr lang="en-US" dirty="0"/>
              <a:t>within the requested document, like a bookmark. If present, it </a:t>
            </a:r>
            <a:r>
              <a:rPr lang="en-US" dirty="0" smtClean="0"/>
              <a:t>is preceded </a:t>
            </a:r>
            <a:r>
              <a:rPr lang="en-US" dirty="0"/>
              <a:t>by a hash mark or pound sign </a:t>
            </a:r>
            <a:r>
              <a:rPr lang="en-US" dirty="0" smtClean="0"/>
              <a:t>(“#”). </a:t>
            </a:r>
            <a:r>
              <a:rPr lang="en-US" dirty="0"/>
              <a:t>In the example URL, </a:t>
            </a:r>
            <a:r>
              <a:rPr lang="en-US" dirty="0" smtClean="0"/>
              <a:t>the anchor </a:t>
            </a:r>
            <a:r>
              <a:rPr lang="en-US" dirty="0"/>
              <a:t>is label.</a:t>
            </a:r>
          </a:p>
        </p:txBody>
      </p:sp>
    </p:spTree>
    <p:extLst>
      <p:ext uri="{BB962C8B-B14F-4D97-AF65-F5344CB8AC3E}">
        <p14:creationId xmlns:p14="http://schemas.microsoft.com/office/powerpoint/2010/main" val="4776718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How URL Works?</a:t>
            </a:r>
          </a:p>
          <a:p>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1863062" y="2446432"/>
            <a:ext cx="6800850" cy="3248025"/>
          </a:xfrm>
          <a:prstGeom prst="rect">
            <a:avLst/>
          </a:prstGeom>
        </p:spPr>
      </p:pic>
    </p:spTree>
    <p:extLst>
      <p:ext uri="{BB962C8B-B14F-4D97-AF65-F5344CB8AC3E}">
        <p14:creationId xmlns:p14="http://schemas.microsoft.com/office/powerpoint/2010/main" val="140340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a:t>The internet works through the interaction between your web browser, the URL you enter, and the web server hosting the content.</a:t>
            </a:r>
          </a:p>
          <a:p>
            <a:pPr fontAlgn="base"/>
            <a:r>
              <a:rPr lang="en-US" dirty="0"/>
              <a:t>Here is the breakdown of the working of URL,</a:t>
            </a:r>
          </a:p>
          <a:p>
            <a:pPr fontAlgn="base"/>
            <a:r>
              <a:rPr lang="en-US" dirty="0"/>
              <a:t>When you type a URL in the search bar, You are instructing the browser exactly where to go on the internet.</a:t>
            </a:r>
          </a:p>
          <a:p>
            <a:pPr fontAlgn="base"/>
            <a:r>
              <a:rPr lang="en-US" dirty="0"/>
              <a:t>The browser then makes a request to a web server located at that address. This means, the webpage or file that you are attempting to access is stored on this server.</a:t>
            </a:r>
          </a:p>
          <a:p>
            <a:pPr fontAlgn="base"/>
            <a:r>
              <a:rPr lang="en-US" dirty="0"/>
              <a:t>After the server has completed processing your request, it sends back the requested resource like webpage, image, video etc.,</a:t>
            </a:r>
          </a:p>
          <a:p>
            <a:pPr fontAlgn="base"/>
            <a:r>
              <a:rPr lang="en-US" dirty="0"/>
              <a:t>The contents of that resource are then shown on the browser.</a:t>
            </a:r>
          </a:p>
          <a:p>
            <a:endParaRPr lang="en-US" dirty="0"/>
          </a:p>
        </p:txBody>
      </p:sp>
    </p:spTree>
    <p:extLst>
      <p:ext uri="{BB962C8B-B14F-4D97-AF65-F5344CB8AC3E}">
        <p14:creationId xmlns:p14="http://schemas.microsoft.com/office/powerpoint/2010/main" val="245658484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238</TotalTime>
  <Words>2571</Words>
  <Application>Microsoft Office PowerPoint</Application>
  <PresentationFormat>Widescreen</PresentationFormat>
  <Paragraphs>260</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Calibri Light</vt:lpstr>
      <vt:lpstr>Consolas</vt:lpstr>
      <vt:lpstr>LiberationSerif</vt:lpstr>
      <vt:lpstr>LiberationSerif-Bold</vt:lpstr>
      <vt:lpstr>Wingdings</vt:lpstr>
      <vt:lpstr>Retrospect</vt:lpstr>
      <vt:lpstr>Chapter 1</vt:lpstr>
      <vt:lpstr>History of Web</vt:lpstr>
      <vt:lpstr>PowerPoint Presentation</vt:lpstr>
      <vt:lpstr>PowerPoint Presentation</vt:lpstr>
      <vt:lpstr>Introduction to Web 1.0, Web 2.0 and Web 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Differences Between the Web 1.0, Web 2.0, and Web 3.0</vt:lpstr>
      <vt:lpstr>PowerPoint Presentation</vt:lpstr>
      <vt:lpstr>Building blocks of web</vt:lpstr>
      <vt:lpstr>PowerPoint Presentation</vt:lpstr>
      <vt:lpstr>PowerPoint Presentation</vt:lpstr>
      <vt:lpstr>PowerPoint Presentation</vt:lpstr>
      <vt:lpstr>PowerPoint Presentation</vt:lpstr>
      <vt:lpstr>PowerPoint Presentation</vt:lpstr>
      <vt:lpstr>Uniform Resource Locator</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Rushikesh</dc:creator>
  <cp:lastModifiedBy>Rushikesh</cp:lastModifiedBy>
  <cp:revision>105</cp:revision>
  <dcterms:created xsi:type="dcterms:W3CDTF">2024-12-26T15:12:20Z</dcterms:created>
  <dcterms:modified xsi:type="dcterms:W3CDTF">2024-12-31T09:18:14Z</dcterms:modified>
</cp:coreProperties>
</file>