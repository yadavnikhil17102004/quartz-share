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6" r:id="rId1"/>
  </p:sldMasterIdLst>
  <p:notesMasterIdLst>
    <p:notesMasterId r:id="rId54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8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59" r:id="rId18"/>
    <p:sldId id="260" r:id="rId19"/>
    <p:sldId id="276" r:id="rId20"/>
    <p:sldId id="281" r:id="rId21"/>
    <p:sldId id="277" r:id="rId22"/>
    <p:sldId id="278" r:id="rId23"/>
    <p:sldId id="279" r:id="rId24"/>
    <p:sldId id="280" r:id="rId25"/>
    <p:sldId id="282" r:id="rId26"/>
    <p:sldId id="283" r:id="rId27"/>
    <p:sldId id="284" r:id="rId28"/>
    <p:sldId id="285" r:id="rId29"/>
    <p:sldId id="286" r:id="rId30"/>
    <p:sldId id="287" r:id="rId31"/>
    <p:sldId id="261" r:id="rId32"/>
    <p:sldId id="262" r:id="rId33"/>
    <p:sldId id="288" r:id="rId34"/>
    <p:sldId id="295" r:id="rId35"/>
    <p:sldId id="290" r:id="rId36"/>
    <p:sldId id="289" r:id="rId37"/>
    <p:sldId id="291" r:id="rId38"/>
    <p:sldId id="297" r:id="rId39"/>
    <p:sldId id="298" r:id="rId40"/>
    <p:sldId id="299" r:id="rId41"/>
    <p:sldId id="300" r:id="rId42"/>
    <p:sldId id="301" r:id="rId43"/>
    <p:sldId id="302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D4C8A-9500-44CE-AF06-B373214AAA83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11513-327B-4488-A84F-67E0FFC6B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6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126EE3-4DEC-4F65-B4A6-7B36BAD5D70B}" type="slidenum">
              <a:rPr lang="en-US"/>
              <a:pPr/>
              <a:t>42</a:t>
            </a:fld>
            <a:endParaRPr lang="en-US"/>
          </a:p>
        </p:txBody>
      </p:sp>
      <p:sp>
        <p:nvSpPr>
          <p:cNvPr id="92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55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75EBB8-1EB3-4A9F-9A72-B332DAC41840}" type="slidenum">
              <a:rPr lang="en-US"/>
              <a:pPr/>
              <a:t>43</a:t>
            </a:fld>
            <a:endParaRPr lang="en-US"/>
          </a:p>
        </p:txBody>
      </p:sp>
      <p:sp>
        <p:nvSpPr>
          <p:cNvPr id="923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3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37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D11513-327B-4488-A84F-67E0FFC6B47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57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0835-D3EB-4B9C-98C5-42709205A9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5BAA-76E6-4239-9824-DD592ECB9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6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0835-D3EB-4B9C-98C5-42709205A9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5BAA-76E6-4239-9824-DD592ECB9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6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0835-D3EB-4B9C-98C5-42709205A9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5BAA-76E6-4239-9824-DD592ECB9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96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0835-D3EB-4B9C-98C5-42709205A9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5BAA-76E6-4239-9824-DD592ECB9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0835-D3EB-4B9C-98C5-42709205A9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5BAA-76E6-4239-9824-DD592ECB9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26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0835-D3EB-4B9C-98C5-42709205A9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5BAA-76E6-4239-9824-DD592ECB9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08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0835-D3EB-4B9C-98C5-42709205A9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5BAA-76E6-4239-9824-DD592ECB9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49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0835-D3EB-4B9C-98C5-42709205A9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5BAA-76E6-4239-9824-DD592ECB9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3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0835-D3EB-4B9C-98C5-42709205A9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5BAA-76E6-4239-9824-DD592ECB9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1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0835-D3EB-4B9C-98C5-42709205A9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5BAA-76E6-4239-9824-DD592ECB9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40835-D3EB-4B9C-98C5-42709205A9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75BAA-76E6-4239-9824-DD592ECB9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79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600200"/>
            <a:ext cx="508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5994400" y="1600200"/>
            <a:ext cx="5080000" cy="4648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FE57032-A51D-2F46-953C-D36EE91486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B55F01F-2129-2046-BD9F-C5954C7B67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F91211A-F829-D54F-816E-C86BE467DD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1BC374-A37E-E640-8D4B-CDDACDD206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3146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40835-D3EB-4B9C-98C5-42709205A9C4}" type="datetimeFigureOut">
              <a:rPr lang="en-US" smtClean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75BAA-76E6-4239-9824-DD592ECB9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2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Web Architecture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401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 Web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a Web Browser</a:t>
            </a:r>
            <a:r>
              <a:rPr lang="en-US" b="1" dirty="0" smtClean="0"/>
              <a:t>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+mj-lt"/>
              </a:rPr>
              <a:t>A </a:t>
            </a:r>
            <a:r>
              <a:rPr lang="en-US" sz="2400" b="1" dirty="0">
                <a:latin typeface="+mj-lt"/>
              </a:rPr>
              <a:t>web browser</a:t>
            </a:r>
            <a:r>
              <a:rPr lang="en-US" sz="2400" dirty="0">
                <a:latin typeface="+mj-lt"/>
              </a:rPr>
              <a:t> is application software for exploring the </a:t>
            </a:r>
            <a:r>
              <a:rPr lang="en-US" sz="2400" b="1" dirty="0">
                <a:latin typeface="+mj-lt"/>
              </a:rPr>
              <a:t>World Wide Web (WWW)</a:t>
            </a:r>
            <a:r>
              <a:rPr lang="en-US" sz="2400" dirty="0">
                <a:latin typeface="+mj-lt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+mj-lt"/>
              </a:rPr>
              <a:t>It provides an interface between the </a:t>
            </a:r>
            <a:r>
              <a:rPr lang="en-US" sz="2400" b="1" dirty="0">
                <a:latin typeface="+mj-lt"/>
              </a:rPr>
              <a:t>server</a:t>
            </a:r>
            <a:r>
              <a:rPr lang="en-US" sz="2400" dirty="0">
                <a:latin typeface="+mj-lt"/>
              </a:rPr>
              <a:t> and the </a:t>
            </a:r>
            <a:r>
              <a:rPr lang="en-US" sz="2400" b="1" dirty="0">
                <a:latin typeface="+mj-lt"/>
              </a:rPr>
              <a:t>client</a:t>
            </a:r>
            <a:r>
              <a:rPr lang="en-US" sz="2400" dirty="0">
                <a:latin typeface="+mj-lt"/>
              </a:rPr>
              <a:t> to request web documents and services.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+mj-lt"/>
              </a:rPr>
              <a:t>Acts as a </a:t>
            </a:r>
            <a:r>
              <a:rPr lang="en-US" sz="2400" b="1" dirty="0">
                <a:latin typeface="+mj-lt"/>
              </a:rPr>
              <a:t>compiler</a:t>
            </a:r>
            <a:r>
              <a:rPr lang="en-US" sz="2400" dirty="0">
                <a:latin typeface="+mj-lt"/>
              </a:rPr>
              <a:t> to render </a:t>
            </a:r>
            <a:r>
              <a:rPr lang="en-US" sz="2400" b="1" dirty="0">
                <a:latin typeface="+mj-lt"/>
              </a:rPr>
              <a:t>HTML</a:t>
            </a:r>
            <a:r>
              <a:rPr lang="en-US" sz="2400" dirty="0">
                <a:latin typeface="+mj-lt"/>
              </a:rPr>
              <a:t>, the language used to design webpages.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+mj-lt"/>
              </a:rPr>
              <a:t>Loads web pages containing </a:t>
            </a:r>
            <a:r>
              <a:rPr lang="en-US" sz="2400" b="1" dirty="0">
                <a:latin typeface="+mj-lt"/>
              </a:rPr>
              <a:t>text</a:t>
            </a:r>
            <a:r>
              <a:rPr lang="en-US" sz="2400" dirty="0">
                <a:latin typeface="+mj-lt"/>
              </a:rPr>
              <a:t>, </a:t>
            </a:r>
            <a:r>
              <a:rPr lang="en-US" sz="2400" b="1" dirty="0">
                <a:latin typeface="+mj-lt"/>
              </a:rPr>
              <a:t>links</a:t>
            </a:r>
            <a:r>
              <a:rPr lang="en-US" sz="2400" dirty="0">
                <a:latin typeface="+mj-lt"/>
              </a:rPr>
              <a:t>, </a:t>
            </a:r>
            <a:r>
              <a:rPr lang="en-US" sz="2400" b="1" dirty="0">
                <a:latin typeface="+mj-lt"/>
              </a:rPr>
              <a:t>images</a:t>
            </a:r>
            <a:r>
              <a:rPr lang="en-US" sz="2400" dirty="0">
                <a:latin typeface="+mj-lt"/>
              </a:rPr>
              <a:t>, </a:t>
            </a:r>
            <a:r>
              <a:rPr lang="en-US" sz="2400" b="1" dirty="0">
                <a:latin typeface="+mj-lt"/>
              </a:rPr>
              <a:t>style sheets</a:t>
            </a:r>
            <a:r>
              <a:rPr lang="en-US" sz="2400" dirty="0">
                <a:latin typeface="+mj-lt"/>
              </a:rPr>
              <a:t>, and </a:t>
            </a:r>
            <a:r>
              <a:rPr lang="en-US" sz="2400" b="1" dirty="0">
                <a:latin typeface="+mj-lt"/>
              </a:rPr>
              <a:t>JavaScript functions</a:t>
            </a:r>
            <a:r>
              <a:rPr lang="en-US" sz="2400" dirty="0">
                <a:latin typeface="+mj-lt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+mj-lt"/>
              </a:rPr>
              <a:t>Examples: </a:t>
            </a:r>
            <a:r>
              <a:rPr lang="en-US" sz="2400" b="1" dirty="0">
                <a:latin typeface="+mj-lt"/>
              </a:rPr>
              <a:t>Google Chrome</a:t>
            </a:r>
            <a:r>
              <a:rPr lang="en-US" sz="2400" dirty="0">
                <a:latin typeface="+mj-lt"/>
              </a:rPr>
              <a:t>, </a:t>
            </a:r>
            <a:r>
              <a:rPr lang="en-US" sz="2400" b="1" dirty="0">
                <a:latin typeface="+mj-lt"/>
              </a:rPr>
              <a:t>Microsoft Edge</a:t>
            </a:r>
            <a:r>
              <a:rPr lang="en-US" sz="2400" dirty="0">
                <a:latin typeface="+mj-lt"/>
              </a:rPr>
              <a:t>, </a:t>
            </a:r>
            <a:r>
              <a:rPr lang="en-US" sz="2400" b="1" dirty="0">
                <a:latin typeface="+mj-lt"/>
              </a:rPr>
              <a:t>Mozilla Firefox</a:t>
            </a:r>
            <a:r>
              <a:rPr lang="en-US" sz="2400" dirty="0">
                <a:latin typeface="+mj-lt"/>
              </a:rPr>
              <a:t>, and </a:t>
            </a:r>
            <a:r>
              <a:rPr lang="en-US" sz="2400" b="1" dirty="0">
                <a:latin typeface="+mj-lt"/>
              </a:rPr>
              <a:t>Safari</a:t>
            </a:r>
            <a:r>
              <a:rPr lang="en-US" sz="2400" dirty="0">
                <a:latin typeface="+mj-lt"/>
              </a:rPr>
              <a:t>.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2015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History of the Web </a:t>
            </a:r>
            <a:r>
              <a:rPr lang="en-US" b="1" dirty="0" smtClean="0"/>
              <a:t>Browsers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199" y="2108468"/>
            <a:ext cx="1053038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first web browser,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World Wide Web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was invented in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1990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by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Tim Berners-Lee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later renamed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Nexus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1993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Mosaic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was created by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Marc Andreessen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his team, the first browser to display text and images simultaneously.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1994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Marc Andreessen also developed the browser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Netscape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1995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Microsoft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launched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Internet Explorer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pre-installed in the Windows operating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Many other browsers followed with advanced features, including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Mozilla Firefox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Google Chrome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Safari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and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Opera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4753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 of Browser Functionality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main responsibilities of a browser are as follows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Generate and submit requests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to web servers by: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Following hyperlinks.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Typing URLs explicitly.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Submitting forms.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Parsing HTML pages for auxiliary resources (e.g., images, applets).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Accept and interpret responses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from web servers to create a visual representation by: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Examining response headers (e.g., Content-Type).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Determining the required action and rendering process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Render results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in the browser window or through third-party tools based on the response content type.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22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Depending on the status code and headers in the </a:t>
            </a:r>
            <a:r>
              <a:rPr lang="en-US" sz="2400" dirty="0" err="1" smtClean="0"/>
              <a:t>response,browsers</a:t>
            </a:r>
            <a:r>
              <a:rPr lang="en-US" sz="2400" dirty="0" smtClean="0"/>
              <a:t> </a:t>
            </a:r>
            <a:r>
              <a:rPr lang="en-US" sz="2400" dirty="0"/>
              <a:t>have to perform other </a:t>
            </a:r>
            <a:r>
              <a:rPr lang="en-US" sz="2400" dirty="0" smtClean="0"/>
              <a:t>tasks</a:t>
            </a:r>
            <a:r>
              <a:rPr lang="en-US" sz="2400" dirty="0"/>
              <a:t>, including</a:t>
            </a:r>
            <a:r>
              <a:rPr lang="en-US" sz="2400" dirty="0" smtClean="0"/>
              <a:t>:</a:t>
            </a:r>
          </a:p>
          <a:p>
            <a:r>
              <a:rPr lang="en-US" sz="2400" dirty="0"/>
              <a:t>Caching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Checks </a:t>
            </a:r>
            <a:r>
              <a:rPr lang="en-US" sz="2000" dirty="0"/>
              <a:t>if data is available in the cache to avoid unnecessary server requests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Queries </a:t>
            </a:r>
            <a:r>
              <a:rPr lang="en-US" sz="2000" dirty="0"/>
              <a:t>the server to verify if cached data has been modified</a:t>
            </a:r>
            <a:r>
              <a:rPr lang="en-US" sz="2000" dirty="0" smtClean="0"/>
              <a:t>.</a:t>
            </a:r>
          </a:p>
          <a:p>
            <a:r>
              <a:rPr lang="en-US" sz="2400" dirty="0" smtClean="0"/>
              <a:t>Authentication </a:t>
            </a:r>
            <a:r>
              <a:rPr lang="en-US" sz="2400" dirty="0"/>
              <a:t>and Authorization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Handles </a:t>
            </a:r>
            <a:r>
              <a:rPr lang="en-US" sz="2000" dirty="0"/>
              <a:t>secure server requests by prompting users or using stored credentials</a:t>
            </a:r>
            <a:r>
              <a:rPr lang="en-US" sz="2000" dirty="0" smtClean="0"/>
              <a:t>.</a:t>
            </a:r>
          </a:p>
          <a:p>
            <a:r>
              <a:rPr lang="en-US" sz="2400" dirty="0" smtClean="0"/>
              <a:t>State </a:t>
            </a:r>
            <a:r>
              <a:rPr lang="en-US" sz="2400" dirty="0"/>
              <a:t>Maintenance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Accepts </a:t>
            </a:r>
            <a:r>
              <a:rPr lang="en-US" sz="2000" dirty="0"/>
              <a:t>and stores cookies to maintain state across requests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Provides </a:t>
            </a:r>
            <a:r>
              <a:rPr lang="en-US" sz="2000" dirty="0"/>
              <a:t>user options for cookie acceptance.</a:t>
            </a:r>
          </a:p>
        </p:txBody>
      </p:sp>
    </p:spTree>
    <p:extLst>
      <p:ext uri="{BB962C8B-B14F-4D97-AF65-F5344CB8AC3E}">
        <p14:creationId xmlns:p14="http://schemas.microsoft.com/office/powerpoint/2010/main" val="32958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Requesting Supporting Data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Retrieves </a:t>
            </a:r>
            <a:r>
              <a:rPr lang="en-US" sz="2000" dirty="0"/>
              <a:t>additional objects (e.g., images, applets, sounds) required for proper page rendering</a:t>
            </a:r>
            <a:r>
              <a:rPr lang="en-US" sz="2000" dirty="0" smtClean="0"/>
              <a:t>.</a:t>
            </a:r>
          </a:p>
          <a:p>
            <a:r>
              <a:rPr lang="en-US" sz="2400" dirty="0" smtClean="0"/>
              <a:t>Processing </a:t>
            </a:r>
            <a:r>
              <a:rPr lang="en-US" sz="2400" dirty="0"/>
              <a:t>HTTP Headers and Status Codes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Handles </a:t>
            </a:r>
            <a:r>
              <a:rPr lang="en-US" sz="2000" dirty="0"/>
              <a:t>redirects, connection persistence, or error notifications based on headers and status codes</a:t>
            </a:r>
            <a:r>
              <a:rPr lang="en-US" sz="2000" dirty="0" smtClean="0"/>
              <a:t>.</a:t>
            </a:r>
          </a:p>
          <a:p>
            <a:r>
              <a:rPr lang="en-US" sz="2400" dirty="0" smtClean="0"/>
              <a:t>Rendering </a:t>
            </a:r>
            <a:r>
              <a:rPr lang="en-US" sz="2400" dirty="0"/>
              <a:t>Complex Objects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Natively </a:t>
            </a:r>
            <a:r>
              <a:rPr lang="en-US" sz="2000" dirty="0"/>
              <a:t>supports content types like HTML, plain text, and common image formats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Uses </a:t>
            </a:r>
            <a:r>
              <a:rPr lang="en-US" sz="2000" dirty="0"/>
              <a:t>plug-ins or external applications for advanced multimedia types</a:t>
            </a:r>
            <a:r>
              <a:rPr lang="en-US" sz="2000" dirty="0" smtClean="0"/>
              <a:t>.</a:t>
            </a:r>
          </a:p>
          <a:p>
            <a:r>
              <a:rPr lang="en-US" sz="2400" dirty="0"/>
              <a:t>Error Handling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Manages </a:t>
            </a:r>
            <a:r>
              <a:rPr lang="en-US" sz="2000" dirty="0"/>
              <a:t>connection failures, invalid server responses, and other errors.</a:t>
            </a:r>
          </a:p>
        </p:txBody>
      </p:sp>
    </p:spTree>
    <p:extLst>
      <p:ext uri="{BB962C8B-B14F-4D97-AF65-F5344CB8AC3E}">
        <p14:creationId xmlns:p14="http://schemas.microsoft.com/office/powerpoint/2010/main" val="57166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Functions of a Web Browser: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084832"/>
            <a:ext cx="10303514" cy="445244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User Interface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Provides </a:t>
            </a:r>
            <a:r>
              <a:rPr lang="en-US" dirty="0"/>
              <a:t>the interface for user interaction and displays the processed response from the server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Request </a:t>
            </a:r>
            <a:r>
              <a:rPr lang="en-US" dirty="0"/>
              <a:t>Generation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Builds </a:t>
            </a:r>
            <a:r>
              <a:rPr lang="en-US" dirty="0"/>
              <a:t>HTTP requests and resolves relative links into absolute URLs</a:t>
            </a:r>
            <a:r>
              <a:rPr lang="en-US" dirty="0" smtClean="0"/>
              <a:t>.</a:t>
            </a:r>
          </a:p>
          <a:p>
            <a:r>
              <a:rPr lang="en-US" dirty="0" smtClean="0"/>
              <a:t>Response </a:t>
            </a:r>
            <a:r>
              <a:rPr lang="en-US" dirty="0"/>
              <a:t>Processing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Parses </a:t>
            </a:r>
            <a:r>
              <a:rPr lang="en-US" dirty="0"/>
              <a:t>server responses and passes results to the User Interface module</a:t>
            </a:r>
            <a:r>
              <a:rPr lang="en-US" dirty="0" smtClean="0"/>
              <a:t>.</a:t>
            </a:r>
          </a:p>
          <a:p>
            <a:r>
              <a:rPr lang="en-US" dirty="0"/>
              <a:t>Networking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Handles </a:t>
            </a:r>
            <a:r>
              <a:rPr lang="en-US" dirty="0"/>
              <a:t>network communications, transmits requests, receives responses, and manages proxies and connections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Content </a:t>
            </a:r>
            <a:r>
              <a:rPr lang="en-US" dirty="0"/>
              <a:t>Interpretation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Decodes </a:t>
            </a:r>
            <a:r>
              <a:rPr lang="en-US" dirty="0"/>
              <a:t>content, processes references (e.g., images, multimedia, JavaScript), and initiates additional requests for auxiliary object</a:t>
            </a:r>
          </a:p>
        </p:txBody>
      </p:sp>
    </p:spTree>
    <p:extLst>
      <p:ext uri="{BB962C8B-B14F-4D97-AF65-F5344CB8AC3E}">
        <p14:creationId xmlns:p14="http://schemas.microsoft.com/office/powerpoint/2010/main" val="1092315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Caching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Stores </a:t>
            </a:r>
            <a:r>
              <a:rPr lang="en-US" dirty="0"/>
              <a:t>retrieved resources locally, checks for updates, and manages memory and disk space for cached items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State </a:t>
            </a:r>
            <a:r>
              <a:rPr lang="en-US" dirty="0"/>
              <a:t>Maintenance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Maintains </a:t>
            </a:r>
            <a:r>
              <a:rPr lang="en-US" dirty="0"/>
              <a:t>browser state using cookies to record information across requests and responses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Authentication/Authorization:</a:t>
            </a:r>
          </a:p>
          <a:p>
            <a:pPr lvl="1"/>
            <a:r>
              <a:rPr lang="en-US" dirty="0" smtClean="0"/>
              <a:t>Handles </a:t>
            </a:r>
            <a:r>
              <a:rPr lang="en-US" dirty="0"/>
              <a:t>user credentials for secure resources and stores them for reuse within the same security realm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Configuration:</a:t>
            </a:r>
          </a:p>
          <a:p>
            <a:pPr lvl="1"/>
            <a:r>
              <a:rPr lang="en-US" dirty="0" smtClean="0"/>
              <a:t>Manages </a:t>
            </a:r>
            <a:r>
              <a:rPr lang="en-US" dirty="0"/>
              <a:t>fixed and user-defined settings with an interface for modifying options.</a:t>
            </a:r>
          </a:p>
        </p:txBody>
      </p:sp>
    </p:spTree>
    <p:extLst>
      <p:ext uri="{BB962C8B-B14F-4D97-AF65-F5344CB8AC3E}">
        <p14:creationId xmlns:p14="http://schemas.microsoft.com/office/powerpoint/2010/main" val="2334620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browser session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</a:t>
            </a:r>
            <a:r>
              <a:rPr lang="en-US" dirty="0"/>
              <a:t>is </a:t>
            </a:r>
            <a:r>
              <a:rPr lang="en-US" dirty="0" smtClean="0"/>
              <a:t>the </a:t>
            </a:r>
            <a:r>
              <a:rPr lang="en-US" dirty="0">
                <a:solidFill>
                  <a:srgbClr val="FF0000"/>
                </a:solidFill>
              </a:rPr>
              <a:t>series </a:t>
            </a:r>
            <a:r>
              <a:rPr lang="en-US" dirty="0" smtClean="0">
                <a:solidFill>
                  <a:srgbClr val="FF0000"/>
                </a:solidFill>
              </a:rPr>
              <a:t>of interactions </a:t>
            </a:r>
            <a:r>
              <a:rPr lang="en-US" dirty="0">
                <a:solidFill>
                  <a:srgbClr val="FF0000"/>
                </a:solidFill>
              </a:rPr>
              <a:t>between a browser and the HTTP servers it communicates </a:t>
            </a:r>
            <a:r>
              <a:rPr lang="en-US" dirty="0" smtClean="0">
                <a:solidFill>
                  <a:srgbClr val="FF0000"/>
                </a:solidFill>
              </a:rPr>
              <a:t>with</a:t>
            </a:r>
            <a:r>
              <a:rPr lang="en-US" dirty="0" smtClean="0"/>
              <a:t>, commencing </a:t>
            </a:r>
            <a:r>
              <a:rPr lang="en-US" dirty="0"/>
              <a:t>with the first such interaction after the browser program starts </a:t>
            </a:r>
            <a:r>
              <a:rPr lang="en-US" dirty="0" smtClean="0"/>
              <a:t>and ending </a:t>
            </a:r>
            <a:r>
              <a:rPr lang="en-US" dirty="0"/>
              <a:t>when the browser program terminates</a:t>
            </a:r>
          </a:p>
        </p:txBody>
      </p:sp>
    </p:spTree>
    <p:extLst>
      <p:ext uri="{BB962C8B-B14F-4D97-AF65-F5344CB8AC3E}">
        <p14:creationId xmlns:p14="http://schemas.microsoft.com/office/powerpoint/2010/main" val="2195437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Browser Sessions vs HTTP Sessions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HTTP sessions are managed by the server; browser sessions are managed by the browser.</a:t>
            </a:r>
          </a:p>
          <a:p>
            <a:r>
              <a:rPr lang="en-US" dirty="0" smtClean="0"/>
              <a:t>The browser stores the HTTP session ID as a non-persistent cookie, linking the two sessions.</a:t>
            </a:r>
          </a:p>
          <a:p>
            <a:r>
              <a:rPr lang="en-US" dirty="0" smtClean="0"/>
              <a:t>HTTP session IDs are unavailable in new browser sessions.</a:t>
            </a:r>
          </a:p>
          <a:p>
            <a:r>
              <a:rPr lang="en-US" dirty="0" smtClean="0"/>
              <a:t>Browser sessions last until the program is closed.</a:t>
            </a:r>
          </a:p>
          <a:p>
            <a:r>
              <a:rPr lang="en-US" dirty="0" smtClean="0"/>
              <a:t>HTTP sessions time out after server-configured inactivity periods.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335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 of Processing Flow in a Browser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Transmitting </a:t>
            </a:r>
            <a:r>
              <a:rPr lang="en-US" b="1" dirty="0"/>
              <a:t>a </a:t>
            </a:r>
            <a:r>
              <a:rPr lang="en-US" b="1" dirty="0" smtClean="0"/>
              <a:t>request</a:t>
            </a:r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348" y="1706735"/>
            <a:ext cx="6057332" cy="41896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07328" y="5942568"/>
            <a:ext cx="3544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LiberationSerif"/>
              </a:rPr>
              <a:t>Browser request generation flow.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871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User Actions:</a:t>
            </a:r>
          </a:p>
          <a:p>
            <a:pPr lvl="1"/>
            <a:r>
              <a:rPr lang="en-US" dirty="0" smtClean="0"/>
              <a:t>Click hyperlinks, select links from history/bookmarks, or enter a URL manually.</a:t>
            </a:r>
          </a:p>
          <a:p>
            <a:pPr lvl="1"/>
            <a:r>
              <a:rPr lang="en-US" dirty="0" smtClean="0"/>
              <a:t>Events are interpreted by the User Interface module.</a:t>
            </a:r>
          </a:p>
          <a:p>
            <a:r>
              <a:rPr lang="en-US" dirty="0" smtClean="0"/>
              <a:t>User Interface Responsibilities:</a:t>
            </a:r>
          </a:p>
          <a:p>
            <a:pPr lvl="1"/>
            <a:r>
              <a:rPr lang="en-US" dirty="0" smtClean="0"/>
              <a:t>Entering URLs: Text entry box or dialog for manual URL entry, with OS support for selecting local files.</a:t>
            </a:r>
          </a:p>
          <a:p>
            <a:pPr lvl="1"/>
            <a:r>
              <a:rPr lang="en-US" dirty="0" smtClean="0"/>
              <a:t>History and Bookmarks: Maintains visited links, configurable retention settings, and allows saving links as bookmarks.</a:t>
            </a:r>
          </a:p>
          <a:p>
            <a:pPr lvl="1"/>
            <a:r>
              <a:rPr lang="en-US" dirty="0" smtClean="0"/>
              <a:t>Selecting Links: Provides mechanisms for link selection (e.g., mouse clicks, accessibility options). Highlights links and changes cursor shape on hover.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185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Request Generation Module:</a:t>
            </a:r>
          </a:p>
          <a:p>
            <a:pPr lvl="1"/>
            <a:r>
              <a:rPr lang="en-US" dirty="0" smtClean="0"/>
              <a:t>Resolves URLs:</a:t>
            </a:r>
          </a:p>
          <a:p>
            <a:pPr lvl="2"/>
            <a:r>
              <a:rPr lang="en-US" dirty="0" smtClean="0"/>
              <a:t>Absolute URLs: Processed directly.</a:t>
            </a:r>
          </a:p>
          <a:p>
            <a:pPr lvl="2"/>
            <a:r>
              <a:rPr lang="en-US" dirty="0" smtClean="0"/>
              <a:t>Relative URLs: Resolved relative to the current location or the &lt;BASE&gt; tag if present.</a:t>
            </a:r>
          </a:p>
          <a:p>
            <a:pPr lvl="1"/>
            <a:r>
              <a:rPr lang="en-US" dirty="0" smtClean="0"/>
              <a:t>Builds HTTP requests by interacting with:</a:t>
            </a:r>
          </a:p>
          <a:p>
            <a:pPr lvl="2"/>
            <a:r>
              <a:rPr lang="en-US" dirty="0" smtClean="0"/>
              <a:t>Caching module: Checks for existing resource copies or newer versions.</a:t>
            </a:r>
          </a:p>
          <a:p>
            <a:pPr lvl="2"/>
            <a:r>
              <a:rPr lang="en-US" dirty="0" smtClean="0"/>
              <a:t>Authorization module: Determines if authentication credentials are required.</a:t>
            </a:r>
          </a:p>
          <a:p>
            <a:pPr lvl="2"/>
            <a:r>
              <a:rPr lang="en-US" dirty="0" smtClean="0"/>
              <a:t>State Mechanism module: Adds appropriate cookies to the request.</a:t>
            </a:r>
          </a:p>
          <a:p>
            <a:r>
              <a:rPr lang="en-US" b="1" dirty="0" smtClean="0">
                <a:latin typeface="+mj-lt"/>
              </a:rPr>
              <a:t>Networking Module:</a:t>
            </a:r>
            <a:endParaRPr lang="en-US" dirty="0" smtClean="0">
              <a:latin typeface="+mj-lt"/>
            </a:endParaRPr>
          </a:p>
          <a:p>
            <a:pPr lvl="1"/>
            <a:r>
              <a:rPr lang="en-US" dirty="0" smtClean="0">
                <a:latin typeface="+mj-lt"/>
              </a:rPr>
              <a:t>Transmits the constructed request over the network for processing.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39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1030" y="1787856"/>
            <a:ext cx="10515600" cy="5221620"/>
          </a:xfrm>
        </p:spPr>
        <p:txBody>
          <a:bodyPr>
            <a:normAutofit/>
          </a:bodyPr>
          <a:lstStyle/>
          <a:p>
            <a:r>
              <a:rPr lang="en-US" b="1" dirty="0" smtClean="0"/>
              <a:t>Receiving a response</a:t>
            </a:r>
          </a:p>
          <a:p>
            <a:r>
              <a:rPr lang="en-US" b="1" dirty="0" smtClean="0">
                <a:latin typeface="+mj-lt"/>
              </a:rPr>
              <a:t>Response Handling:</a:t>
            </a:r>
          </a:p>
          <a:p>
            <a:pPr lvl="1"/>
            <a:r>
              <a:rPr lang="en-US" b="1" dirty="0" smtClean="0">
                <a:latin typeface="+mj-lt"/>
              </a:rPr>
              <a:t>Networking module receives and passes responses to the Response Processing module.</a:t>
            </a:r>
          </a:p>
          <a:p>
            <a:pPr lvl="1"/>
            <a:r>
              <a:rPr lang="en-US" b="1" dirty="0" smtClean="0">
                <a:latin typeface="+mj-lt"/>
              </a:rPr>
              <a:t>Deals with out-of-sequence responses by delaying processing.</a:t>
            </a:r>
          </a:p>
          <a:p>
            <a:r>
              <a:rPr lang="en-US" b="1" dirty="0" smtClean="0">
                <a:latin typeface="+mj-lt"/>
              </a:rPr>
              <a:t>Response Processing Actions:</a:t>
            </a:r>
          </a:p>
          <a:p>
            <a:pPr lvl="1"/>
            <a:r>
              <a:rPr lang="en-US" b="1" dirty="0" smtClean="0">
                <a:latin typeface="+mj-lt"/>
              </a:rPr>
              <a:t>Examines headers to determine required actions:</a:t>
            </a:r>
          </a:p>
          <a:p>
            <a:pPr lvl="2"/>
            <a:r>
              <a:rPr lang="en-US" sz="2200" b="1" dirty="0" smtClean="0">
                <a:latin typeface="+mj-lt"/>
              </a:rPr>
              <a:t>401 Unauthorized: Prompts user for credentials via the Authorization module and resubmits the request.</a:t>
            </a:r>
          </a:p>
          <a:p>
            <a:pPr lvl="2"/>
            <a:r>
              <a:rPr lang="en-US" sz="2200" b="1" dirty="0" smtClean="0">
                <a:latin typeface="+mj-lt"/>
              </a:rPr>
              <a:t>Set-Cookie: State Maintenance module stores cookie information.</a:t>
            </a:r>
          </a:p>
          <a:p>
            <a:pPr lvl="2"/>
            <a:r>
              <a:rPr lang="en-US" sz="2200" b="1" dirty="0" smtClean="0">
                <a:latin typeface="+mj-lt"/>
              </a:rPr>
              <a:t>Content-Encoding/Transfer-Encoding: Decodes content.</a:t>
            </a:r>
          </a:p>
          <a:p>
            <a:pPr lvl="2"/>
            <a:r>
              <a:rPr lang="en-US" sz="2200" b="1" dirty="0" smtClean="0">
                <a:latin typeface="+mj-lt"/>
              </a:rPr>
              <a:t>Cache-Control/Expires/Pragma: Updates or creates cache entries via the Caching module.</a:t>
            </a:r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50347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82" y="760662"/>
            <a:ext cx="8806360" cy="54163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02620" y="5992297"/>
            <a:ext cx="36984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LiberationSerif"/>
              </a:rPr>
              <a:t>Browser response processing 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48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1" y="264399"/>
            <a:ext cx="11144534" cy="670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Content Handling: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MIME Type Determination: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Uses Content-Type header or OS-based file extensions.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Native support for HTML, images, audio; non-native handled by plug-ins or helper applications.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Configuration Module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Manages plug-ins and file associations for unsupported content.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Embedded Resources: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Content Interpretation module parses and identifies additional resources (e.g., images, CSS, JavaScript).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Resolves URLs and sends requests via the Request Generation module.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Caching module checks for existing usable copies before sending network requests.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User Interface Updates: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Received resources are passed to the User Interface module for final presentation.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Networking module ensures all requests are satisfied and resubmits as needed.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Dynamic Configuration and State Maintenance: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Adjusts requests based on user settings (e.g., image preferences).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Adds cookie information for previously visited sites.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312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 Web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web server is a </a:t>
            </a:r>
            <a:r>
              <a:rPr lang="en-US" dirty="0">
                <a:solidFill>
                  <a:srgbClr val="FF0000"/>
                </a:solidFill>
              </a:rPr>
              <a:t>combination of software and hardware </a:t>
            </a:r>
            <a:r>
              <a:rPr lang="en-US" dirty="0"/>
              <a:t>that stores, processes, and delivers webpages to users</a:t>
            </a:r>
            <a:r>
              <a:rPr lang="en-US" dirty="0" smtClean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Web server is a program which processes the network requests of the users and serves them with files that create web pages.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It </a:t>
            </a:r>
            <a:r>
              <a:rPr lang="en-US" dirty="0"/>
              <a:t>uses HTTP and other protocols to respond to requests made over the World Wide Web.</a:t>
            </a:r>
          </a:p>
        </p:txBody>
      </p:sp>
    </p:spTree>
    <p:extLst>
      <p:ext uri="{BB962C8B-B14F-4D97-AF65-F5344CB8AC3E}">
        <p14:creationId xmlns:p14="http://schemas.microsoft.com/office/powerpoint/2010/main" val="1619982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The web server can be any software or hardware but is usually a software running on a computer. </a:t>
            </a:r>
            <a:endParaRPr lang="en-US" dirty="0" smtClean="0"/>
          </a:p>
          <a:p>
            <a:r>
              <a:rPr lang="en-US" dirty="0" smtClean="0"/>
              <a:t>One </a:t>
            </a:r>
            <a:r>
              <a:rPr lang="en-US" dirty="0"/>
              <a:t>web server can handle multiple users at any given time which is a necessity otherwise there had to be a web server for each user and considering the current world population, is nearly close to impossible.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web server is never disconnected from the internet because if it was, then it won’t be able to receive any requests, and therefore cannot process them.</a:t>
            </a:r>
          </a:p>
        </p:txBody>
      </p:sp>
    </p:spTree>
    <p:extLst>
      <p:ext uri="{BB962C8B-B14F-4D97-AF65-F5344CB8AC3E}">
        <p14:creationId xmlns:p14="http://schemas.microsoft.com/office/powerpoint/2010/main" val="1257368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0812" y="3034506"/>
            <a:ext cx="68103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60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Web Server Request Processing Overview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Networking Module</a:t>
            </a:r>
          </a:p>
          <a:p>
            <a:pPr lvl="1"/>
            <a:r>
              <a:rPr lang="en-US" dirty="0" smtClean="0"/>
              <a:t>Receives requests and transmits responses over the network.</a:t>
            </a:r>
          </a:p>
          <a:p>
            <a:r>
              <a:rPr lang="en-US" dirty="0" smtClean="0"/>
              <a:t>Address Resolution Module (Pre-processing):</a:t>
            </a:r>
          </a:p>
          <a:p>
            <a:pPr lvl="1"/>
            <a:r>
              <a:rPr lang="en-US" dirty="0" smtClean="0"/>
              <a:t>Virtual Hosting: Identifies target domain and applies corresponding configurations.</a:t>
            </a:r>
          </a:p>
          <a:p>
            <a:pPr lvl="1"/>
            <a:r>
              <a:rPr lang="en-US" dirty="0" smtClean="0"/>
              <a:t>Address Mapping: Resolves URL paths to static or dynamic content within the server’s file system.</a:t>
            </a:r>
          </a:p>
          <a:p>
            <a:pPr lvl="1"/>
            <a:r>
              <a:rPr lang="en-US" dirty="0" smtClean="0"/>
              <a:t>Authentication: Verifies authorization credentials for protected resources.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31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038" y="614150"/>
            <a:ext cx="8662412" cy="57811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25077" y="429483"/>
            <a:ext cx="34608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LiberationSerif"/>
              </a:rPr>
              <a:t>Server operation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23212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Request Processing Module</a:t>
            </a:r>
          </a:p>
          <a:p>
            <a:pPr lvl="1"/>
            <a:r>
              <a:rPr lang="en-US" dirty="0" smtClean="0"/>
              <a:t>Invokes sub-modules to handle static or dynamic content.</a:t>
            </a:r>
          </a:p>
          <a:p>
            <a:r>
              <a:rPr lang="en-US" dirty="0" smtClean="0"/>
              <a:t>Response Generation Module</a:t>
            </a:r>
          </a:p>
          <a:p>
            <a:pPr lvl="1"/>
            <a:r>
              <a:rPr lang="en-US" dirty="0" smtClean="0"/>
              <a:t>Builds the response and sends it to the Networking module for transmission.</a:t>
            </a:r>
          </a:p>
          <a:p>
            <a:r>
              <a:rPr lang="en-US" dirty="0" smtClean="0"/>
              <a:t>Stateless Nature of HTTP</a:t>
            </a:r>
          </a:p>
          <a:p>
            <a:pPr lvl="1"/>
            <a:r>
              <a:rPr lang="en-US" dirty="0" smtClean="0"/>
              <a:t>Server relies on information within the request.</a:t>
            </a:r>
          </a:p>
          <a:p>
            <a:pPr lvl="1"/>
            <a:r>
              <a:rPr lang="en-US" dirty="0" smtClean="0"/>
              <a:t>Session state is maintained by server-side applications, referenced via the request.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66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request processing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39"/>
            <a:ext cx="1099440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Steps for an HTTP Request to Arrive at the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Request: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enters the URL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http://mysite.org/pages/simple-page.html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 the browser.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sends an HTTP request to the server.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Rendering Initial Page: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responds with the HTML page containing links to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school.html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home.html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renders the page for the user.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490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185415"/>
            <a:ext cx="11103591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3.Link Resolution: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links are relative, the browser resolves them to absolute URLs using the current page’s URL.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Follow-Up Request: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clicks on the link to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school.html</a:t>
            </a: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sends another HTTP request (via an open connection or a re-established one).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5.Connection Management: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Persistent connections may keep the connection open to improve performance.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connection is closed, the browser re-establishes it (directly or via a proxy).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148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185413"/>
            <a:ext cx="9921306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Server Request Handling: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maintains input and output queues for managing requests and responses.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Requests are processed in FIFO order (First-In-First-Out).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7.Resource Processing: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resolves the URL to the physical file location.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Checks for authentication: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required and fails, sends an error response.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successful or not required, processes the request.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8.Response Delivery: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Processed response is sent back to the browser (directly or via proxy).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612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Delivery of static content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85249"/>
            <a:ext cx="1103493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Content Page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 (HTML, XML, images, etc.) that require HTTP responses to be constructed.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/pages/school.html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mapped to a server file like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wwwdoc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/pages/school.html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As-is Page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Files containing complete HTTP responses (including headers).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 "as is" by the server without modification.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Often used for testing or quick customizations (e.g., redirection targets).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Recognized by extensions like </a:t>
            </a:r>
            <a:r>
              <a:rPr kumimoji="0" 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asis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Details for Static Pages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MIME(Multipurpose internet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2000" b="1" i="0" u="none" strike="noStrike" cap="none" normalizeH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mail Extension)</a:t>
            </a:r>
            <a:r>
              <a: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Server maps file extensions (e.g., </a:t>
            </a:r>
            <a:r>
              <a:rPr kumimoji="0" 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html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text/html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to determine the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Content-Type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header for browser rendering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Content-Length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Optional but useful for progress tracking.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Last-Modified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Indicates the file's modification date, aiding browser caching.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45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Delivery of dynamic content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31366"/>
            <a:ext cx="10515600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Generated Responses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server-side processing, such as running scripts or programs (e.g., CGI, PHP, JSP, ASP, Java servlets).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 include auxiliary file data or templates.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URL-Based Processing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cgi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-bin/*.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cgi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CGI script.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*.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php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PHP script.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servlet/*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Java servlet.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Headers and Content-Length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responses often omit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Content-Length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as their size is unpredictable until generation is complete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738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2012"/>
            <a:ext cx="11035352" cy="6359857"/>
          </a:xfrm>
        </p:spPr>
        <p:txBody>
          <a:bodyPr>
            <a:normAutofit/>
          </a:bodyPr>
          <a:lstStyle/>
          <a:p>
            <a:r>
              <a:rPr lang="en-US" dirty="0"/>
              <a:t>The original mechanisms for serving up dynamic content are CGI and SSI</a:t>
            </a:r>
            <a:r>
              <a:rPr lang="en-US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b="1" dirty="0" smtClean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 smtClean="0">
                <a:latin typeface="Arial" panose="020B0604020202020204" pitchFamily="34" charset="0"/>
              </a:rPr>
              <a:t>CGI </a:t>
            </a:r>
            <a:r>
              <a:rPr lang="en-US" sz="2400" b="1" u="sng" dirty="0">
                <a:latin typeface="Arial" panose="020B0604020202020204" pitchFamily="34" charset="0"/>
              </a:rPr>
              <a:t>(Common Gateway Interface)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Arial" panose="020B0604020202020204" pitchFamily="34" charset="0"/>
              </a:rPr>
              <a:t>Origins</a:t>
            </a:r>
            <a:r>
              <a:rPr lang="en-US" sz="2000" dirty="0">
                <a:latin typeface="Arial" panose="020B0604020202020204" pitchFamily="34" charset="0"/>
              </a:rPr>
              <a:t>: First consistent, server-independent mechanism for serving dynamic content; defined in early web </a:t>
            </a:r>
            <a:r>
              <a:rPr lang="en-US" sz="1800" dirty="0">
                <a:latin typeface="Arial" panose="020B0604020202020204" pitchFamily="34" charset="0"/>
              </a:rPr>
              <a:t>days.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Arial" panose="020B0604020202020204" pitchFamily="34" charset="0"/>
              </a:rPr>
              <a:t>How it Works</a:t>
            </a:r>
            <a:r>
              <a:rPr lang="en-US" sz="2000" dirty="0"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Arial" panose="020B0604020202020204" pitchFamily="34" charset="0"/>
              </a:rPr>
              <a:t>A new process is "spawned" for each request.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Arial" panose="020B0604020202020204" pitchFamily="34" charset="0"/>
              </a:rPr>
              <a:t>Relies on </a:t>
            </a:r>
            <a:r>
              <a:rPr lang="en-US" sz="2000" b="1" dirty="0">
                <a:latin typeface="Arial" panose="020B0604020202020204" pitchFamily="34" charset="0"/>
              </a:rPr>
              <a:t>environment variables</a:t>
            </a:r>
            <a:r>
              <a:rPr lang="en-US" sz="2000" dirty="0">
                <a:latin typeface="Arial" panose="020B0604020202020204" pitchFamily="34" charset="0"/>
              </a:rPr>
              <a:t> populated by server from request info (e.g., </a:t>
            </a:r>
            <a:r>
              <a:rPr lang="en-US" sz="2000" dirty="0">
                <a:latin typeface="Arial Unicode MS" panose="020B0604020202020204" pitchFamily="34" charset="-128"/>
              </a:rPr>
              <a:t>SERVER_SOFTWARE</a:t>
            </a:r>
            <a:r>
              <a:rPr lang="en-US" sz="2000" dirty="0"/>
              <a:t>, </a:t>
            </a:r>
            <a:r>
              <a:rPr lang="en-US" sz="2000" dirty="0">
                <a:latin typeface="Arial Unicode MS" panose="020B0604020202020204" pitchFamily="34" charset="-128"/>
              </a:rPr>
              <a:t>HTTP_USER_AGENT</a:t>
            </a:r>
            <a:r>
              <a:rPr lang="en-US" sz="2000" dirty="0"/>
              <a:t>).</a:t>
            </a:r>
            <a:endParaRPr lang="en-US" sz="20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Arial" panose="020B0604020202020204" pitchFamily="34" charset="0"/>
              </a:rPr>
              <a:t>Request body provided as standard input; response sent back to server for client delivery.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Arial" panose="020B0604020202020204" pitchFamily="34" charset="0"/>
              </a:rPr>
              <a:t>Key Features</a:t>
            </a:r>
            <a:r>
              <a:rPr lang="en-US" sz="2000" dirty="0"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Arial" panose="020B0604020202020204" pitchFamily="34" charset="0"/>
              </a:rPr>
              <a:t>Platform-independent; works on Unix, Windows, and other systems.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Arial" panose="020B0604020202020204" pitchFamily="34" charset="0"/>
              </a:rPr>
              <a:t>Requires decomposition and decoding of URL-encoded query strings (e.g., ampersand-separated key-value pairs).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Arial" panose="020B0604020202020204" pitchFamily="34" charset="0"/>
              </a:rPr>
              <a:t>Popularly implemented in </a:t>
            </a:r>
            <a:r>
              <a:rPr lang="en-US" sz="2000" b="1" dirty="0">
                <a:latin typeface="Arial" panose="020B0604020202020204" pitchFamily="34" charset="0"/>
              </a:rPr>
              <a:t>Perl</a:t>
            </a:r>
            <a:r>
              <a:rPr lang="en-US" sz="2000" dirty="0">
                <a:latin typeface="Arial" panose="020B0604020202020204" pitchFamily="34" charset="0"/>
              </a:rPr>
              <a:t> but can use other languages like C.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Arial" panose="020B0604020202020204" pitchFamily="34" charset="0"/>
              </a:rPr>
              <a:t>Drawbacks</a:t>
            </a:r>
            <a:r>
              <a:rPr lang="en-US" sz="2000" dirty="0"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Arial" panose="020B0604020202020204" pitchFamily="34" charset="0"/>
              </a:rPr>
              <a:t>High overhead due to spawning new processes for each request.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Arial" panose="020B0604020202020204" pitchFamily="34" charset="0"/>
              </a:rPr>
              <a:t>Limited persistence; every request starts fresh.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Arial" panose="020B0604020202020204" pitchFamily="34" charset="0"/>
              </a:rPr>
              <a:t>Slower performance, especially with interpreted languages like Perl.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92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32012" y="1249277"/>
            <a:ext cx="11614245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SSI (Server Side Includes)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Simplifies dynamic content insertion into static HTML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comments with SSI macros (e.g.,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&lt;!--#exec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cgi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="path/to/script"--&gt;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are parsed by the server.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commands like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include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echo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fsize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exec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Executes server-side programs or includes content dynamically within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Convenient for mixing dynamic and static content.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partial page updates using templates or auxiliary files.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additional context information (e.g.,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DOCUMENT_NAME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DATE_LOCAL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to CGI scripts.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Drawbacks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Adds server load as pages with SSI need parsing.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risks with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exec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command leading to restricted usage.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portability due to server-imposed restrictions.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894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latin typeface="Arial" panose="020B0604020202020204" pitchFamily="34" charset="0"/>
              </a:rPr>
              <a:t>Comparison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</a:rPr>
              <a:t>CGI</a:t>
            </a:r>
            <a:r>
              <a:rPr lang="en-US" dirty="0">
                <a:latin typeface="Arial" panose="020B0604020202020204" pitchFamily="34" charset="0"/>
              </a:rPr>
              <a:t>: More flexible but resource-intensive; suitable for full-fledged dynamic applications.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</a:rPr>
              <a:t>SSI</a:t>
            </a:r>
            <a:r>
              <a:rPr lang="en-US" dirty="0">
                <a:latin typeface="Arial" panose="020B0604020202020204" pitchFamily="34" charset="0"/>
              </a:rPr>
              <a:t>: Lightweight, simpler, but less powerful and constrained by security considerations. </a:t>
            </a:r>
            <a:r>
              <a:rPr lang="en-US">
                <a:latin typeface="Arial" panose="020B0604020202020204" pitchFamily="34" charset="0"/>
              </a:rPr>
              <a:t>Ideal for partial dynamic updates.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403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 HTTP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HTTP is the foundation protocol of the </a:t>
            </a:r>
            <a:r>
              <a:rPr lang="en-US" dirty="0" smtClean="0"/>
              <a:t>web.</a:t>
            </a:r>
          </a:p>
          <a:p>
            <a:r>
              <a:rPr lang="en-US" dirty="0" smtClean="0"/>
              <a:t>Web servers </a:t>
            </a:r>
            <a:r>
              <a:rPr lang="en-US" dirty="0"/>
              <a:t>and browsers exchange information using the HTTP </a:t>
            </a:r>
            <a:r>
              <a:rPr lang="en-US" dirty="0" smtClean="0"/>
              <a:t>protocol.</a:t>
            </a:r>
          </a:p>
          <a:p>
            <a:r>
              <a:rPr lang="en-US" dirty="0"/>
              <a:t>HTTP is an application-level protocol in the TCP/IP protocol suite, using </a:t>
            </a:r>
            <a:r>
              <a:rPr lang="en-US" dirty="0" smtClean="0"/>
              <a:t>TCP as </a:t>
            </a:r>
            <a:r>
              <a:rPr lang="en-US" dirty="0"/>
              <a:t>the underlying Transport Layer protocol for transmitting messages. The</a:t>
            </a:r>
          </a:p>
          <a:p>
            <a:endParaRPr lang="en-US" b="1" dirty="0" smtClean="0"/>
          </a:p>
          <a:p>
            <a:r>
              <a:rPr lang="en-US" b="1" dirty="0" smtClean="0"/>
              <a:t>Request </a:t>
            </a:r>
            <a:r>
              <a:rPr lang="en-US" b="1" dirty="0"/>
              <a:t>- response paradigm</a:t>
            </a:r>
            <a:endParaRPr lang="en-US" dirty="0" smtClean="0"/>
          </a:p>
          <a:p>
            <a:r>
              <a:rPr lang="en-US" sz="2600" dirty="0" smtClean="0"/>
              <a:t>HTTP </a:t>
            </a:r>
            <a:r>
              <a:rPr lang="en-US" sz="2600" dirty="0"/>
              <a:t>protocol uses the </a:t>
            </a:r>
            <a:r>
              <a:rPr lang="en-US" sz="2600" i="1" dirty="0"/>
              <a:t>request </a:t>
            </a:r>
            <a:r>
              <a:rPr lang="en-US" sz="2600" i="1" dirty="0" smtClean="0"/>
              <a:t>–</a:t>
            </a:r>
          </a:p>
          <a:p>
            <a:r>
              <a:rPr lang="en-US" sz="2600" i="1" dirty="0" smtClean="0"/>
              <a:t> </a:t>
            </a:r>
            <a:r>
              <a:rPr lang="en-US" sz="2600" i="1" dirty="0"/>
              <a:t>response paradigm</a:t>
            </a:r>
            <a:r>
              <a:rPr lang="en-US" sz="2600" dirty="0"/>
              <a:t>, which basically </a:t>
            </a:r>
            <a:r>
              <a:rPr lang="en-US" sz="2600" dirty="0" smtClean="0"/>
              <a:t>means that </a:t>
            </a:r>
            <a:r>
              <a:rPr lang="en-US" sz="2600" dirty="0"/>
              <a:t>an HTTP client program sends an HTTP request message to an </a:t>
            </a:r>
            <a:r>
              <a:rPr lang="en-US" sz="2600" dirty="0" smtClean="0"/>
              <a:t>HTTP server</a:t>
            </a:r>
            <a:r>
              <a:rPr lang="en-US" sz="2600" dirty="0"/>
              <a:t>, which returns an HTTP response message. </a:t>
            </a:r>
            <a:endParaRPr lang="en-US" sz="2600" dirty="0" smtClean="0"/>
          </a:p>
          <a:p>
            <a:r>
              <a:rPr lang="en-US" sz="2600" dirty="0" smtClean="0"/>
              <a:t>The </a:t>
            </a:r>
            <a:r>
              <a:rPr lang="en-US" sz="2600" dirty="0"/>
              <a:t>structure of these </a:t>
            </a:r>
            <a:r>
              <a:rPr lang="en-US" sz="2600" dirty="0" smtClean="0"/>
              <a:t>request and </a:t>
            </a:r>
            <a:r>
              <a:rPr lang="en-US" sz="2600" dirty="0"/>
              <a:t>response messages is similar to that of e-mail messages, in that they </a:t>
            </a:r>
            <a:r>
              <a:rPr lang="en-US" sz="2600" dirty="0" smtClean="0"/>
              <a:t>consist of </a:t>
            </a:r>
            <a:r>
              <a:rPr lang="en-US" sz="2600" dirty="0"/>
              <a:t>a group of lines containing </a:t>
            </a:r>
            <a:r>
              <a:rPr lang="en-US" sz="2600" i="1" dirty="0"/>
              <a:t>message headers</a:t>
            </a:r>
            <a:r>
              <a:rPr lang="en-US" sz="2600" dirty="0"/>
              <a:t>, followed by a blank </a:t>
            </a:r>
            <a:r>
              <a:rPr lang="en-US" sz="2600" dirty="0" smtClean="0"/>
              <a:t>line, followed </a:t>
            </a:r>
            <a:r>
              <a:rPr lang="en-US" sz="2600" dirty="0"/>
              <a:t>by a </a:t>
            </a:r>
            <a:r>
              <a:rPr lang="en-US" sz="2600" i="1" dirty="0"/>
              <a:t>message body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51172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Stateless protocol</a:t>
            </a:r>
            <a:endParaRPr lang="en-US" dirty="0" smtClean="0"/>
          </a:p>
          <a:p>
            <a:r>
              <a:rPr lang="en-US" sz="2400" dirty="0" smtClean="0"/>
              <a:t>HTTP </a:t>
            </a:r>
            <a:r>
              <a:rPr lang="en-US" sz="2400" dirty="0"/>
              <a:t>is a </a:t>
            </a:r>
            <a:r>
              <a:rPr lang="en-US" sz="2400" i="1" dirty="0"/>
              <a:t>stateless </a:t>
            </a:r>
            <a:r>
              <a:rPr lang="en-US" sz="2400" dirty="0"/>
              <a:t>protocol, which does not rely on a persistent </a:t>
            </a:r>
            <a:r>
              <a:rPr lang="en-US" sz="2400" dirty="0" smtClean="0"/>
              <a:t>connection for </a:t>
            </a:r>
            <a:r>
              <a:rPr lang="en-US" sz="2400" dirty="0"/>
              <a:t>communication logic. </a:t>
            </a:r>
            <a:endParaRPr lang="en-US" sz="2400" dirty="0" smtClean="0"/>
          </a:p>
          <a:p>
            <a:r>
              <a:rPr lang="en-US" sz="2400" dirty="0" smtClean="0"/>
              <a:t>An </a:t>
            </a:r>
            <a:r>
              <a:rPr lang="en-US" sz="2400" dirty="0"/>
              <a:t>HTTP transaction consists of a single request </a:t>
            </a:r>
            <a:r>
              <a:rPr lang="en-US" sz="2400" dirty="0" smtClean="0"/>
              <a:t>from a </a:t>
            </a:r>
            <a:r>
              <a:rPr lang="en-US" sz="2400" dirty="0"/>
              <a:t>client to a server, followed by a single response from the server back to </a:t>
            </a:r>
            <a:r>
              <a:rPr lang="en-US" sz="2400" dirty="0" smtClean="0"/>
              <a:t>the client.</a:t>
            </a:r>
          </a:p>
        </p:txBody>
      </p:sp>
    </p:spTree>
    <p:extLst>
      <p:ext uri="{BB962C8B-B14F-4D97-AF65-F5344CB8AC3E}">
        <p14:creationId xmlns:p14="http://schemas.microsoft.com/office/powerpoint/2010/main" val="4250238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1033"/>
            <a:ext cx="10515600" cy="4351338"/>
          </a:xfrm>
        </p:spPr>
        <p:txBody>
          <a:bodyPr/>
          <a:lstStyle/>
          <a:p>
            <a:r>
              <a:rPr lang="en-US" sz="3200" b="1" dirty="0"/>
              <a:t>Structure of HTTP messages</a:t>
            </a:r>
            <a:endParaRPr lang="en-US" sz="32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b="1" dirty="0" smtClean="0"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555" y="2494292"/>
            <a:ext cx="7790834" cy="4016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71637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latin typeface="Arial" panose="020B0604020202020204" pitchFamily="34" charset="0"/>
              </a:rPr>
              <a:t>HTTP messages</a:t>
            </a:r>
            <a:r>
              <a:rPr lang="en-US" sz="2400" dirty="0">
                <a:latin typeface="Arial" panose="020B0604020202020204" pitchFamily="34" charset="0"/>
              </a:rPr>
              <a:t> resemble email structure: headers, blank line, and body.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latin typeface="Arial" panose="020B0604020202020204" pitchFamily="34" charset="0"/>
              </a:rPr>
              <a:t>Requests:</a:t>
            </a:r>
            <a:endParaRPr 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Arial" panose="020B0604020202020204" pitchFamily="34" charset="0"/>
              </a:rPr>
              <a:t>Start with a request line: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</a:rPr>
              <a:t>METHOD</a:t>
            </a:r>
            <a:r>
              <a:rPr lang="en-US" dirty="0">
                <a:latin typeface="Arial" panose="020B0604020202020204" pitchFamily="34" charset="0"/>
              </a:rPr>
              <a:t> (e.g., GET, POST)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</a:rPr>
              <a:t>/path-to-resource</a:t>
            </a:r>
            <a:r>
              <a:rPr lang="en-US" dirty="0">
                <a:latin typeface="Arial" panose="020B0604020202020204" pitchFamily="34" charset="0"/>
              </a:rPr>
              <a:t> (URL path)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</a:rPr>
              <a:t>version-number</a:t>
            </a:r>
            <a:r>
              <a:rPr lang="en-US" dirty="0">
                <a:latin typeface="Arial" panose="020B0604020202020204" pitchFamily="34" charset="0"/>
              </a:rPr>
              <a:t> (HTTP version)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Arial" panose="020B0604020202020204" pitchFamily="34" charset="0"/>
              </a:rPr>
              <a:t>Followed by headers, a blank line, and an optional body.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latin typeface="Arial" panose="020B0604020202020204" pitchFamily="34" charset="0"/>
              </a:rPr>
              <a:t>GET requests:</a:t>
            </a:r>
            <a:r>
              <a:rPr lang="en-US" sz="2400" dirty="0">
                <a:latin typeface="Arial" panose="020B0604020202020204" pitchFamily="34" charset="0"/>
              </a:rPr>
              <a:t> No body, end with a blank 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5044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202" y="532262"/>
            <a:ext cx="8703743" cy="6038222"/>
          </a:xfrm>
        </p:spPr>
      </p:pic>
    </p:spTree>
    <p:extLst>
      <p:ext uri="{BB962C8B-B14F-4D97-AF65-F5344CB8AC3E}">
        <p14:creationId xmlns:p14="http://schemas.microsoft.com/office/powerpoint/2010/main" val="2216180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46805"/>
            <a:ext cx="105156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Responses: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with a status line: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version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code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200 OK)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Followed by headers, a blank line, and response content (e.g., HTML).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 loading process: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sends GET request → Server responds with HTML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parses HTML → Identifies additional resources (images, scripts, etc.)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additional GET requests for resources → Server responds → Browser renders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931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24" y="950876"/>
            <a:ext cx="9821554" cy="5565547"/>
          </a:xfrm>
        </p:spPr>
      </p:pic>
    </p:spTree>
    <p:extLst>
      <p:ext uri="{BB962C8B-B14F-4D97-AF65-F5344CB8AC3E}">
        <p14:creationId xmlns:p14="http://schemas.microsoft.com/office/powerpoint/2010/main" val="17836953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5D3C5756-DC5A-E948-B0C2-E65A5BF19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HTTP method types</a:t>
            </a:r>
            <a:endParaRPr lang="en-US" dirty="0"/>
          </a:p>
        </p:txBody>
      </p:sp>
      <p:sp>
        <p:nvSpPr>
          <p:cNvPr id="33796" name="Rectangle 1027">
            <a:extLst>
              <a:ext uri="{FF2B5EF4-FFF2-40B4-BE49-F238E27FC236}">
                <a16:creationId xmlns:a16="http://schemas.microsoft.com/office/drawing/2014/main" xmlns="" id="{D9D5229B-DF44-534D-9F7D-BDCB432A3B0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38200" y="1690687"/>
            <a:ext cx="5334000" cy="5030787"/>
          </a:xfrm>
        </p:spPr>
        <p:txBody>
          <a:bodyPr>
            <a:normAutofit/>
          </a:bodyPr>
          <a:lstStyle/>
          <a:p>
            <a:pPr>
              <a:buFont typeface="ZapfDingbats" pitchFamily="82" charset="2"/>
              <a:buNone/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dirty="0">
                <a:solidFill>
                  <a:srgbClr val="C00000"/>
                </a:solidFill>
              </a:rPr>
              <a:t>GET</a:t>
            </a:r>
          </a:p>
          <a:p>
            <a:pPr lvl="1">
              <a:defRPr/>
            </a:pPr>
            <a:r>
              <a:rPr lang="en-US" altLang="en-US" sz="2000" dirty="0"/>
              <a:t>Get the resource specified in the requested URL. URL may refer to </a:t>
            </a:r>
            <a:r>
              <a:rPr lang="en-US" altLang="en-US" sz="2000" dirty="0">
                <a:solidFill>
                  <a:srgbClr val="C00000"/>
                </a:solidFill>
              </a:rPr>
              <a:t>a data-handling process</a:t>
            </a:r>
          </a:p>
          <a:p>
            <a:pPr>
              <a:defRPr/>
            </a:pPr>
            <a:r>
              <a:rPr lang="en-US" altLang="en-US" dirty="0">
                <a:solidFill>
                  <a:srgbClr val="C00000"/>
                </a:solidFill>
              </a:rPr>
              <a:t>POST</a:t>
            </a:r>
          </a:p>
          <a:p>
            <a:pPr lvl="1">
              <a:defRPr/>
            </a:pPr>
            <a:r>
              <a:rPr lang="en-US" altLang="en-US" sz="2000" dirty="0"/>
              <a:t>Send entities (specified in the entity body) to a data-handling process at the requested URL</a:t>
            </a:r>
          </a:p>
          <a:p>
            <a:pPr>
              <a:defRPr/>
            </a:pPr>
            <a:r>
              <a:rPr lang="en-US" altLang="en-US" dirty="0">
                <a:solidFill>
                  <a:srgbClr val="C00000"/>
                </a:solidFill>
              </a:rPr>
              <a:t>HEAD</a:t>
            </a:r>
          </a:p>
          <a:p>
            <a:pPr lvl="1">
              <a:defRPr/>
            </a:pPr>
            <a:r>
              <a:rPr lang="en-US" altLang="en-US" sz="2000" dirty="0"/>
              <a:t>Asks server to leave requested object out of response, but send the rest of the response</a:t>
            </a:r>
          </a:p>
        </p:txBody>
      </p:sp>
      <p:sp>
        <p:nvSpPr>
          <p:cNvPr id="34821" name="Rectangle 1028">
            <a:extLst>
              <a:ext uri="{FF2B5EF4-FFF2-40B4-BE49-F238E27FC236}">
                <a16:creationId xmlns:a16="http://schemas.microsoft.com/office/drawing/2014/main" xmlns="" id="{DC34DD45-4CEC-8941-AE97-848F7F42719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389914" y="1847850"/>
            <a:ext cx="5181600" cy="4351338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endParaRPr lang="en-US" altLang="en-US" sz="2400" dirty="0"/>
          </a:p>
          <a:p>
            <a:r>
              <a:rPr lang="en-US" altLang="en-US" dirty="0">
                <a:solidFill>
                  <a:srgbClr val="C00000"/>
                </a:solidFill>
              </a:rPr>
              <a:t>PUT</a:t>
            </a:r>
          </a:p>
          <a:p>
            <a:pPr lvl="1"/>
            <a:r>
              <a:rPr lang="en-US" altLang="en-US" sz="2000" dirty="0"/>
              <a:t>Update a resource at the requested URL with the new entity specified in the entity body</a:t>
            </a:r>
          </a:p>
          <a:p>
            <a:r>
              <a:rPr lang="en-US" altLang="en-US" dirty="0">
                <a:solidFill>
                  <a:srgbClr val="C00000"/>
                </a:solidFill>
              </a:rPr>
              <a:t>DELETE</a:t>
            </a:r>
          </a:p>
          <a:p>
            <a:pPr lvl="1"/>
            <a:r>
              <a:rPr lang="en-US" altLang="en-US" sz="2000" dirty="0"/>
              <a:t>Deletes file specified in the URL</a:t>
            </a:r>
          </a:p>
          <a:p>
            <a:endParaRPr lang="en-US" altLang="en-US" sz="2400" dirty="0"/>
          </a:p>
          <a:p>
            <a:r>
              <a:rPr lang="en-US" altLang="en-US" sz="2400" dirty="0"/>
              <a:t>... and other methods.</a:t>
            </a:r>
          </a:p>
        </p:txBody>
      </p:sp>
      <p:sp>
        <p:nvSpPr>
          <p:cNvPr id="34818" name="Slide Number Placeholder 6">
            <a:extLst>
              <a:ext uri="{FF2B5EF4-FFF2-40B4-BE49-F238E27FC236}">
                <a16:creationId xmlns:a16="http://schemas.microsoft.com/office/drawing/2014/main" xmlns="" id="{939B605F-FC20-A24E-A705-4C585364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fld id="{463CA771-D47F-3648-9ACA-5D495D1A8800}" type="slidenum">
              <a:rPr lang="en-US" altLang="en-US" sz="1400">
                <a:latin typeface="Times New Roman" panose="02020603050405020304" pitchFamily="18" charset="0"/>
              </a:rPr>
              <a:pPr>
                <a:buFontTx/>
                <a:buNone/>
              </a:pPr>
              <a:t>38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34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FCD94A-ACC3-804B-99AD-F0C5258B0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POST and 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56B2E4-C622-7047-A0BE-BDF1D3720E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POST: the URL of the request identifies the resource that </a:t>
            </a:r>
            <a:r>
              <a:rPr lang="en-US" dirty="0">
                <a:solidFill>
                  <a:srgbClr val="C00000"/>
                </a:solidFill>
              </a:rPr>
              <a:t>processes</a:t>
            </a:r>
            <a:r>
              <a:rPr lang="en-US" dirty="0"/>
              <a:t> the entity body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029DE18-B5C9-6C48-85A4-E4D34246F9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PUT: the URL of the request identifies the resource that is </a:t>
            </a:r>
            <a:r>
              <a:rPr lang="en-US" dirty="0">
                <a:solidFill>
                  <a:srgbClr val="C00000"/>
                </a:solidFill>
              </a:rPr>
              <a:t>contained in</a:t>
            </a:r>
            <a:r>
              <a:rPr lang="en-US" dirty="0"/>
              <a:t> the entity body</a:t>
            </a:r>
          </a:p>
        </p:txBody>
      </p:sp>
    </p:spTree>
    <p:extLst>
      <p:ext uri="{BB962C8B-B14F-4D97-AF65-F5344CB8AC3E}">
        <p14:creationId xmlns:p14="http://schemas.microsoft.com/office/powerpoint/2010/main" val="34198044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DD796C-6F23-7A43-9475-F61F3588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HEAD and 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3FF4DE-4AF9-FD49-BE51-0E4405F2AF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GET:  return the requested resource in the entity body of the response along with response headers (we’ll see these shortly)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5F0D976-BC6C-3445-865C-AE3A6CAF7A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HEAD: return all the response headers in the GET response, but </a:t>
            </a:r>
            <a:r>
              <a:rPr lang="en-US" dirty="0">
                <a:solidFill>
                  <a:srgbClr val="C00000"/>
                </a:solidFill>
              </a:rPr>
              <a:t>without the resource</a:t>
            </a:r>
            <a:r>
              <a:rPr lang="en-US" dirty="0"/>
              <a:t> in the entity body</a:t>
            </a:r>
          </a:p>
        </p:txBody>
      </p:sp>
    </p:spTree>
    <p:extLst>
      <p:ext uri="{BB962C8B-B14F-4D97-AF65-F5344CB8AC3E}">
        <p14:creationId xmlns:p14="http://schemas.microsoft.com/office/powerpoint/2010/main" val="3032251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D70925BC-35D3-9D4E-9BF6-1A6EB01B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Uploading form input: GET and POST</a:t>
            </a:r>
            <a:endParaRPr lang="en-US" dirty="0"/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xmlns="" id="{CEC000FB-2918-FC4D-98B9-0C33ABE2E10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38200" y="1825625"/>
            <a:ext cx="4465320" cy="4667250"/>
          </a:xfrm>
        </p:spPr>
        <p:txBody>
          <a:bodyPr>
            <a:normAutofit/>
          </a:bodyPr>
          <a:lstStyle/>
          <a:p>
            <a:pPr>
              <a:buFont typeface="ZapfDingbats" pitchFamily="82" charset="2"/>
              <a:buNone/>
            </a:pPr>
            <a:r>
              <a:rPr lang="en-US" altLang="en-US" sz="2400" dirty="0"/>
              <a:t>POST method:</a:t>
            </a:r>
          </a:p>
          <a:p>
            <a:r>
              <a:rPr lang="en-US" altLang="en-US" sz="2400" dirty="0"/>
              <a:t>Web page often includes form input</a:t>
            </a:r>
          </a:p>
          <a:p>
            <a:r>
              <a:rPr lang="en-US" altLang="en-US" sz="2400" dirty="0"/>
              <a:t>Input is uploaded to server </a:t>
            </a:r>
            <a:r>
              <a:rPr lang="en-US" altLang="en-US" sz="2400" dirty="0">
                <a:solidFill>
                  <a:srgbClr val="C00000"/>
                </a:solidFill>
              </a:rPr>
              <a:t>in entity body</a:t>
            </a:r>
          </a:p>
          <a:p>
            <a:endParaRPr lang="en-US" altLang="en-US" sz="2400" dirty="0">
              <a:solidFill>
                <a:srgbClr val="C00000"/>
              </a:solidFill>
            </a:endParaRPr>
          </a:p>
          <a:p>
            <a:r>
              <a:rPr lang="en-US" altLang="en-US" sz="2400" dirty="0"/>
              <a:t>Posted content not visible in the URL</a:t>
            </a:r>
          </a:p>
          <a:p>
            <a:pPr lvl="1"/>
            <a:r>
              <a:rPr lang="en-US" altLang="en-US" sz="2000" dirty="0"/>
              <a:t>Free form content (ex: images) can be posted since entity body interpreted as data bytes</a:t>
            </a:r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xmlns="" id="{89DC39F1-2D2B-D149-97A8-39E20601E06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625737" y="1794669"/>
            <a:ext cx="5956663" cy="3352097"/>
          </a:xfrm>
        </p:spPr>
        <p:txBody>
          <a:bodyPr>
            <a:normAutofit/>
          </a:bodyPr>
          <a:lstStyle/>
          <a:p>
            <a:pPr>
              <a:buFont typeface="ZapfDingbats" pitchFamily="82" charset="2"/>
              <a:buNone/>
            </a:pPr>
            <a:r>
              <a:rPr lang="en-US" altLang="en-US" sz="2400" dirty="0"/>
              <a:t>GET method:</a:t>
            </a:r>
          </a:p>
          <a:p>
            <a:r>
              <a:rPr lang="en-US" altLang="en-US" sz="2400" dirty="0"/>
              <a:t>Entity body is empty</a:t>
            </a:r>
          </a:p>
          <a:p>
            <a:r>
              <a:rPr lang="en-US" altLang="en-US" sz="2400" dirty="0"/>
              <a:t>Input is uploaded </a:t>
            </a:r>
            <a:r>
              <a:rPr lang="en-US" altLang="en-US" sz="2400" dirty="0">
                <a:solidFill>
                  <a:srgbClr val="C00000"/>
                </a:solidFill>
              </a:rPr>
              <a:t>in URL field of request line</a:t>
            </a:r>
          </a:p>
          <a:p>
            <a:endParaRPr lang="en-US" altLang="en-US" sz="2400" dirty="0">
              <a:solidFill>
                <a:srgbClr val="C00000"/>
              </a:solidFill>
            </a:endParaRPr>
          </a:p>
          <a:p>
            <a:r>
              <a:rPr lang="en-US" altLang="en-US" sz="2400" dirty="0"/>
              <a:t>Example: </a:t>
            </a:r>
          </a:p>
          <a:p>
            <a:pPr lvl="1"/>
            <a:r>
              <a:rPr lang="en-US" altLang="en-US" sz="2000" dirty="0"/>
              <a:t>http://</a:t>
            </a:r>
            <a:r>
              <a:rPr lang="en-US" altLang="en-US" sz="2000" dirty="0" err="1"/>
              <a:t>site.com</a:t>
            </a:r>
            <a:r>
              <a:rPr lang="en-US" altLang="en-US" sz="2000" dirty="0"/>
              <a:t>/</a:t>
            </a:r>
            <a:r>
              <a:rPr lang="en-US" altLang="en-US" sz="2000" dirty="0" err="1"/>
              <a:t>form?first</a:t>
            </a:r>
            <a:r>
              <a:rPr lang="en-US" altLang="en-US" sz="2000" dirty="0"/>
              <a:t>=</a:t>
            </a:r>
            <a:r>
              <a:rPr lang="en-US" altLang="en-US" sz="2000" dirty="0" err="1"/>
              <a:t>jane&amp;last</a:t>
            </a:r>
            <a:r>
              <a:rPr lang="en-US" altLang="en-US" sz="2000" dirty="0"/>
              <a:t>=</a:t>
            </a:r>
            <a:r>
              <a:rPr lang="en-US" altLang="en-US" sz="2000" dirty="0" err="1"/>
              <a:t>austen</a:t>
            </a:r>
            <a:endParaRPr lang="en-US" altLang="en-US" sz="2000" dirty="0"/>
          </a:p>
          <a:p>
            <a:pPr>
              <a:buFont typeface="ZapfDingbats" pitchFamily="82" charset="2"/>
              <a:buNone/>
            </a:pPr>
            <a:endParaRPr lang="en-US" altLang="en-US" sz="2400" dirty="0"/>
          </a:p>
        </p:txBody>
      </p:sp>
      <p:sp>
        <p:nvSpPr>
          <p:cNvPr id="35842" name="Slide Number Placeholder 6">
            <a:extLst>
              <a:ext uri="{FF2B5EF4-FFF2-40B4-BE49-F238E27FC236}">
                <a16:creationId xmlns:a16="http://schemas.microsoft.com/office/drawing/2014/main" xmlns="" id="{732BFEC4-4B08-4E45-8169-008B516B0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fld id="{84EABD59-CBFC-0147-9544-C70434CFDADB}" type="slidenum">
              <a:rPr lang="en-US" altLang="en-US" sz="1400">
                <a:latin typeface="Times New Roman" panose="02020603050405020304" pitchFamily="18" charset="0"/>
              </a:rPr>
              <a:pPr>
                <a:buFontTx/>
                <a:buNone/>
              </a:pPr>
              <a:t>41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49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Text Box 2"/>
          <p:cNvSpPr txBox="1">
            <a:spLocks noChangeArrowheads="1"/>
          </p:cNvSpPr>
          <p:nvPr/>
        </p:nvSpPr>
        <p:spPr bwMode="auto">
          <a:xfrm>
            <a:off x="2209800" y="735310"/>
            <a:ext cx="6556154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4400" dirty="0">
                <a:latin typeface="+mj-lt"/>
              </a:rPr>
              <a:t>HTTP response status codes</a:t>
            </a:r>
            <a:endParaRPr lang="en-US" sz="4400" i="1" dirty="0">
              <a:latin typeface="+mj-lt"/>
            </a:endParaRPr>
          </a:p>
        </p:txBody>
      </p:sp>
      <p:pic>
        <p:nvPicPr>
          <p:cNvPr id="88371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3683"/>
            <a:ext cx="9377819" cy="431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955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762000"/>
            <a:ext cx="7715250" cy="563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813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HTTP authentication</a:t>
            </a:r>
          </a:p>
          <a:p>
            <a:endParaRPr lang="en-US" b="1" i="1" dirty="0"/>
          </a:p>
          <a:p>
            <a:r>
              <a:rPr lang="en-US" b="1" dirty="0"/>
              <a:t>Built-in HTTP Authentication:</a:t>
            </a:r>
            <a:endParaRPr lang="en-US" dirty="0"/>
          </a:p>
          <a:p>
            <a:r>
              <a:rPr lang="en-US" dirty="0"/>
              <a:t>Uses a browser’s pop-up dialog for login instead of an in-page form.</a:t>
            </a:r>
          </a:p>
          <a:p>
            <a:r>
              <a:rPr lang="en-US" dirty="0"/>
              <a:t>Server responds with </a:t>
            </a:r>
            <a:r>
              <a:rPr lang="en-US" b="1" dirty="0"/>
              <a:t>401 Unauthorized</a:t>
            </a:r>
            <a:r>
              <a:rPr lang="en-US" dirty="0"/>
              <a:t> if access is restricted.</a:t>
            </a:r>
          </a:p>
          <a:p>
            <a:r>
              <a:rPr lang="en-US" b="1" dirty="0"/>
              <a:t>WWW-Authenticate</a:t>
            </a:r>
            <a:r>
              <a:rPr lang="en-US" dirty="0"/>
              <a:t> header specifies the security realm.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9682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093080"/>
            <a:ext cx="1076239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Process: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prompts user for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username &amp; password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Credentials are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Base64-encoded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sent in the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Authorization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verifies credentials: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valid → Grants access.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invalid → Resends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401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403 Forbidden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multiple failures.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265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1" y="2570133"/>
            <a:ext cx="10515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 of Basic Authentication: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Credentials are only encoded,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encrypted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(use secure connections).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Commercial applications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often use custom authentication via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requests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secure connections.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methods avoid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401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may use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403 Forbidden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unauthorized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3016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A47132B4-8F24-774E-BEE1-BE030B37C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HTTP connections</a:t>
            </a:r>
            <a:endParaRPr lang="en-US" dirty="0"/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xmlns="" id="{B750C025-660E-144F-9B08-515B18BCA51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C00000"/>
                </a:solidFill>
              </a:rPr>
              <a:t>Non-persistent HTTP</a:t>
            </a:r>
          </a:p>
          <a:p>
            <a:r>
              <a:rPr lang="en-US" altLang="en-US" dirty="0"/>
              <a:t>At most one object is sent over a TCP connection.</a:t>
            </a:r>
          </a:p>
          <a:p>
            <a:endParaRPr lang="en-US" altLang="en-US" dirty="0"/>
          </a:p>
          <a:p>
            <a:r>
              <a:rPr lang="en-US" altLang="en-US" dirty="0"/>
              <a:t>HTTP/1.0 uses </a:t>
            </a:r>
            <a:r>
              <a:rPr lang="en-US" altLang="en-US" dirty="0" err="1"/>
              <a:t>nonpersistent</a:t>
            </a:r>
            <a:r>
              <a:rPr lang="en-US" altLang="en-US" dirty="0"/>
              <a:t> HTTP</a:t>
            </a:r>
          </a:p>
        </p:txBody>
      </p:sp>
      <p:sp>
        <p:nvSpPr>
          <p:cNvPr id="261124" name="Rectangle 4">
            <a:extLst>
              <a:ext uri="{FF2B5EF4-FFF2-40B4-BE49-F238E27FC236}">
                <a16:creationId xmlns:a16="http://schemas.microsoft.com/office/drawing/2014/main" xmlns="" id="{3CD6232D-04B9-2842-9593-8AE73994917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C00000"/>
                </a:solidFill>
              </a:rPr>
              <a:t>Persistent HTTP</a:t>
            </a:r>
          </a:p>
          <a:p>
            <a:r>
              <a:rPr lang="en-US" altLang="en-US" dirty="0"/>
              <a:t>Multiple objects can be sent over single TCP connection between client and server.</a:t>
            </a:r>
          </a:p>
          <a:p>
            <a:endParaRPr lang="en-US" altLang="en-US" dirty="0"/>
          </a:p>
          <a:p>
            <a:r>
              <a:rPr lang="en-US" altLang="en-US" dirty="0"/>
              <a:t>HTTP/1.1 uses persistent connections in default mode</a:t>
            </a:r>
          </a:p>
        </p:txBody>
      </p:sp>
      <p:sp>
        <p:nvSpPr>
          <p:cNvPr id="43010" name="Slide Number Placeholder 6">
            <a:extLst>
              <a:ext uri="{FF2B5EF4-FFF2-40B4-BE49-F238E27FC236}">
                <a16:creationId xmlns:a16="http://schemas.microsoft.com/office/drawing/2014/main" xmlns="" id="{FDED9C47-8E8B-BF46-AAAB-A103601B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fld id="{9F7BE803-C63F-F742-82B7-9B60F70C4D91}" type="slidenum">
              <a:rPr lang="en-US" altLang="en-US" sz="1400">
                <a:latin typeface="Times New Roman" panose="02020603050405020304" pitchFamily="18" charset="0"/>
              </a:rPr>
              <a:pPr>
                <a:buFontTx/>
                <a:buNone/>
              </a:pPr>
              <a:t>47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3014" name="Text Box 5">
            <a:extLst>
              <a:ext uri="{FF2B5EF4-FFF2-40B4-BE49-F238E27FC236}">
                <a16:creationId xmlns:a16="http://schemas.microsoft.com/office/drawing/2014/main" xmlns="" id="{FA05ED19-9112-2E4C-8E35-B14151CD3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7916" y="5469077"/>
            <a:ext cx="1016856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 typeface="ZapfDingbats" pitchFamily="82" charset="2"/>
              <a:buNone/>
            </a:pPr>
            <a:r>
              <a:rPr lang="en-US" altLang="en-US" sz="2000" dirty="0">
                <a:latin typeface="Helvetica" pitchFamily="2" charset="0"/>
              </a:rPr>
              <a:t>TCP is a kind of reliable communication service provided by the transport layer. It requires the connection to be “set up” before data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67816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build="p"/>
      <p:bldP spid="26112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F15435CC-B022-0F45-9977-82C532AA1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Non-persistent HTTP</a:t>
            </a:r>
            <a:endParaRPr lang="en-US" dirty="0"/>
          </a:p>
        </p:txBody>
      </p:sp>
      <p:sp>
        <p:nvSpPr>
          <p:cNvPr id="44038" name="Rectangle 5">
            <a:extLst>
              <a:ext uri="{FF2B5EF4-FFF2-40B4-BE49-F238E27FC236}">
                <a16:creationId xmlns:a16="http://schemas.microsoft.com/office/drawing/2014/main" xmlns="" id="{C999FB97-5526-2B43-B159-D69C237EA16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73064" y="2914651"/>
            <a:ext cx="2609031" cy="220027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en-US" sz="2400" dirty="0"/>
              <a:t>Suppose user visits a page with text and 10 images.</a:t>
            </a:r>
          </a:p>
        </p:txBody>
      </p:sp>
      <p:sp>
        <p:nvSpPr>
          <p:cNvPr id="44039" name="Rectangle 6">
            <a:extLst>
              <a:ext uri="{FF2B5EF4-FFF2-40B4-BE49-F238E27FC236}">
                <a16:creationId xmlns:a16="http://schemas.microsoft.com/office/drawing/2014/main" xmlns="" id="{8FCB7AED-51B0-234E-9DA2-B81F2D8EC47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3139692" y="2095500"/>
            <a:ext cx="3943350" cy="19050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000" dirty="0">
                <a:solidFill>
                  <a:srgbClr val="C00000"/>
                </a:solidFill>
              </a:rPr>
              <a:t>1a</a:t>
            </a:r>
            <a:r>
              <a:rPr lang="en-US" altLang="en-US" sz="1800" dirty="0">
                <a:solidFill>
                  <a:srgbClr val="C00000"/>
                </a:solidFill>
              </a:rPr>
              <a:t>.</a:t>
            </a:r>
            <a:r>
              <a:rPr lang="en-US" altLang="en-US" sz="1800" dirty="0"/>
              <a:t> HTTP client initiates TCP connection to HTTP server</a:t>
            </a:r>
            <a:endParaRPr lang="en-US" altLang="en-US" sz="2000" dirty="0"/>
          </a:p>
        </p:txBody>
      </p:sp>
      <p:sp>
        <p:nvSpPr>
          <p:cNvPr id="44034" name="Slide Number Placeholder 6">
            <a:extLst>
              <a:ext uri="{FF2B5EF4-FFF2-40B4-BE49-F238E27FC236}">
                <a16:creationId xmlns:a16="http://schemas.microsoft.com/office/drawing/2014/main" xmlns="" id="{AAD2F0AD-3EEF-DB43-B266-79A374079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fld id="{DA7341B5-A5B7-064D-807E-3102247472EE}" type="slidenum">
              <a:rPr lang="en-US" altLang="en-US" sz="1400">
                <a:latin typeface="Times New Roman" panose="02020603050405020304" pitchFamily="18" charset="0"/>
              </a:rPr>
              <a:pPr>
                <a:buFontTx/>
                <a:buNone/>
              </a:pPr>
              <a:t>48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4035" name="Line 2">
            <a:extLst>
              <a:ext uri="{FF2B5EF4-FFF2-40B4-BE49-F238E27FC236}">
                <a16:creationId xmlns:a16="http://schemas.microsoft.com/office/drawing/2014/main" xmlns="" id="{537D3986-8904-884D-9127-817FA5D41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8717" y="2095500"/>
            <a:ext cx="0" cy="449580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xmlns="" id="{4ABD22D0-4E94-7D46-9A53-4125D8D0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593" y="6019801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en-US" altLang="en-US" sz="2400"/>
          </a:p>
        </p:txBody>
      </p:sp>
      <p:sp>
        <p:nvSpPr>
          <p:cNvPr id="44040" name="Rectangle 7">
            <a:extLst>
              <a:ext uri="{FF2B5EF4-FFF2-40B4-BE49-F238E27FC236}">
                <a16:creationId xmlns:a16="http://schemas.microsoft.com/office/drawing/2014/main" xmlns="" id="{76CE8614-1C7A-5E4B-8EC7-A5A4151E4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317" y="3829051"/>
            <a:ext cx="3810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2000" dirty="0">
                <a:solidFill>
                  <a:srgbClr val="C00000"/>
                </a:solidFill>
                <a:latin typeface="Helvetica" pitchFamily="2" charset="0"/>
              </a:rPr>
              <a:t>2.</a:t>
            </a:r>
            <a:r>
              <a:rPr lang="en-US" altLang="en-US" sz="2000" dirty="0">
                <a:latin typeface="Helvetica" pitchFamily="2" charset="0"/>
              </a:rPr>
              <a:t> HTTP</a:t>
            </a:r>
            <a:r>
              <a:rPr lang="en-US" altLang="en-US" sz="1800" dirty="0">
                <a:latin typeface="Helvetica" pitchFamily="2" charset="0"/>
              </a:rPr>
              <a:t> client sends HTTP </a:t>
            </a:r>
            <a:r>
              <a:rPr lang="en-US" altLang="en-US" sz="1800" dirty="0">
                <a:solidFill>
                  <a:srgbClr val="C00000"/>
                </a:solidFill>
                <a:latin typeface="Helvetica" pitchFamily="2" charset="0"/>
              </a:rPr>
              <a:t>request message</a:t>
            </a:r>
          </a:p>
        </p:txBody>
      </p:sp>
      <p:sp>
        <p:nvSpPr>
          <p:cNvPr id="44041" name="Rectangle 8">
            <a:extLst>
              <a:ext uri="{FF2B5EF4-FFF2-40B4-BE49-F238E27FC236}">
                <a16:creationId xmlns:a16="http://schemas.microsoft.com/office/drawing/2014/main" xmlns="" id="{5B56345B-8CC5-4C44-9ABF-EFA1844B3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017" y="2524125"/>
            <a:ext cx="381000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2000" dirty="0">
                <a:solidFill>
                  <a:srgbClr val="C00000"/>
                </a:solidFill>
                <a:latin typeface="Helvetica" pitchFamily="2" charset="0"/>
              </a:rPr>
              <a:t>1b.</a:t>
            </a:r>
            <a:r>
              <a:rPr lang="en-US" altLang="en-US" sz="2000" dirty="0">
                <a:latin typeface="Helvetica" pitchFamily="2" charset="0"/>
              </a:rPr>
              <a:t> HTTP</a:t>
            </a:r>
            <a:r>
              <a:rPr lang="en-US" altLang="en-US" sz="1800" dirty="0">
                <a:latin typeface="Helvetica" pitchFamily="2" charset="0"/>
              </a:rPr>
              <a:t> server at host “accepts” connection, notifying client</a:t>
            </a:r>
            <a:endParaRPr lang="en-US" altLang="en-US" sz="2000" dirty="0">
              <a:latin typeface="Helvetica" pitchFamily="2" charset="0"/>
            </a:endParaRPr>
          </a:p>
        </p:txBody>
      </p:sp>
      <p:sp>
        <p:nvSpPr>
          <p:cNvPr id="44042" name="Rectangle 9">
            <a:extLst>
              <a:ext uri="{FF2B5EF4-FFF2-40B4-BE49-F238E27FC236}">
                <a16:creationId xmlns:a16="http://schemas.microsoft.com/office/drawing/2014/main" xmlns="" id="{1CD914E7-AFB8-B14F-955B-31F94D8D4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6867" y="4381501"/>
            <a:ext cx="3810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2000" dirty="0">
                <a:solidFill>
                  <a:srgbClr val="C00000"/>
                </a:solidFill>
                <a:latin typeface="Helvetica" pitchFamily="2" charset="0"/>
              </a:rPr>
              <a:t>3.</a:t>
            </a:r>
            <a:r>
              <a:rPr lang="en-US" altLang="en-US" sz="2000" dirty="0">
                <a:latin typeface="Helvetica" pitchFamily="2" charset="0"/>
              </a:rPr>
              <a:t> HTTP</a:t>
            </a:r>
            <a:r>
              <a:rPr lang="en-US" altLang="en-US" sz="1800" dirty="0">
                <a:latin typeface="Helvetica" pitchFamily="2" charset="0"/>
              </a:rPr>
              <a:t> server receives request message, replies with </a:t>
            </a:r>
            <a:r>
              <a:rPr lang="en-US" altLang="en-US" sz="1800" dirty="0">
                <a:solidFill>
                  <a:srgbClr val="C00000"/>
                </a:solidFill>
                <a:latin typeface="Helvetica" pitchFamily="2" charset="0"/>
              </a:rPr>
              <a:t>response message</a:t>
            </a:r>
            <a:r>
              <a:rPr lang="en-US" altLang="en-US" sz="1800" dirty="0">
                <a:latin typeface="Helvetica" pitchFamily="2" charset="0"/>
              </a:rPr>
              <a:t> containing requested object</a:t>
            </a:r>
          </a:p>
        </p:txBody>
      </p:sp>
      <p:sp>
        <p:nvSpPr>
          <p:cNvPr id="44043" name="Line 10">
            <a:extLst>
              <a:ext uri="{FF2B5EF4-FFF2-40B4-BE49-F238E27FC236}">
                <a16:creationId xmlns:a16="http://schemas.microsoft.com/office/drawing/2014/main" xmlns="" id="{CDEE7889-9584-5C4B-A86A-BC44E187A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0593" y="2647951"/>
            <a:ext cx="1095375" cy="52387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4" name="Line 11">
            <a:extLst>
              <a:ext uri="{FF2B5EF4-FFF2-40B4-BE49-F238E27FC236}">
                <a16:creationId xmlns:a16="http://schemas.microsoft.com/office/drawing/2014/main" xmlns="" id="{4961EE75-BA45-EC4E-B7E3-7A541C64D1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8193" y="4591051"/>
            <a:ext cx="1095375" cy="52387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5" name="Line 12">
            <a:extLst>
              <a:ext uri="{FF2B5EF4-FFF2-40B4-BE49-F238E27FC236}">
                <a16:creationId xmlns:a16="http://schemas.microsoft.com/office/drawing/2014/main" xmlns="" id="{835F3C37-12BB-E043-9D7D-1D4AEE6313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16293" y="5124451"/>
            <a:ext cx="1095375" cy="52387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6" name="Text Box 13">
            <a:extLst>
              <a:ext uri="{FF2B5EF4-FFF2-40B4-BE49-F238E27FC236}">
                <a16:creationId xmlns:a16="http://schemas.microsoft.com/office/drawing/2014/main" xmlns="" id="{A8CD67B9-BC2C-DF4E-B1FC-B03E275C2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4182" y="5942013"/>
            <a:ext cx="7665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C00000"/>
                </a:solidFill>
                <a:latin typeface="Helvetica" pitchFamily="2" charset="0"/>
              </a:rPr>
              <a:t>time</a:t>
            </a:r>
          </a:p>
        </p:txBody>
      </p:sp>
      <p:sp>
        <p:nvSpPr>
          <p:cNvPr id="44047" name="Line 14">
            <a:extLst>
              <a:ext uri="{FF2B5EF4-FFF2-40B4-BE49-F238E27FC236}">
                <a16:creationId xmlns:a16="http://schemas.microsoft.com/office/drawing/2014/main" xmlns="" id="{34E7289F-C61B-4E43-A43C-61ACBF701B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02018" y="3162301"/>
            <a:ext cx="1095375" cy="52387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7" name="Picture 27" descr="ANd9GcTxPLH7geI9YctTbt0tziC9-zZAWvCxFSthtLXwscnWaTnRXLSlcA">
            <a:extLst>
              <a:ext uri="{FF2B5EF4-FFF2-40B4-BE49-F238E27FC236}">
                <a16:creationId xmlns:a16="http://schemas.microsoft.com/office/drawing/2014/main" xmlns="" id="{DD85D464-DB0E-A24B-B5FF-145C0D1D2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335" y="1492525"/>
            <a:ext cx="709254" cy="553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8CB906B-08E7-D346-A51E-441A225B6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684" y="1297353"/>
            <a:ext cx="1097645" cy="131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0" grpId="0"/>
      <p:bldP spid="44041" grpId="0"/>
      <p:bldP spid="44042" grpId="0"/>
      <p:bldP spid="44043" grpId="0" animBg="1"/>
      <p:bldP spid="44044" grpId="0" animBg="1"/>
      <p:bldP spid="44045" grpId="0" animBg="1"/>
      <p:bldP spid="4404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03B390D0-567E-5F40-95E2-E50B1F7B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Non-persistent HTTP (contd.)</a:t>
            </a:r>
            <a:endParaRPr lang="en-US" dirty="0"/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xmlns="" id="{5EE5797F-11D3-8447-8EAA-AD9C67D547E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25306" y="3154929"/>
            <a:ext cx="3810000" cy="1533525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000" dirty="0">
                <a:solidFill>
                  <a:srgbClr val="C00000"/>
                </a:solidFill>
              </a:rPr>
              <a:t>5</a:t>
            </a:r>
            <a:r>
              <a:rPr lang="en-US" altLang="en-US" sz="1800" dirty="0">
                <a:solidFill>
                  <a:srgbClr val="C00000"/>
                </a:solidFill>
              </a:rPr>
              <a:t>.</a:t>
            </a:r>
            <a:r>
              <a:rPr lang="en-US" altLang="en-US" sz="1800" dirty="0"/>
              <a:t> HTTP client receives response message containing html file, displays html.  Parsing html file, finds 10 referenced jpeg  objects</a:t>
            </a:r>
            <a:endParaRPr lang="en-US" altLang="en-US" sz="2000" dirty="0"/>
          </a:p>
        </p:txBody>
      </p:sp>
      <p:sp>
        <p:nvSpPr>
          <p:cNvPr id="45058" name="Slide Number Placeholder 6">
            <a:extLst>
              <a:ext uri="{FF2B5EF4-FFF2-40B4-BE49-F238E27FC236}">
                <a16:creationId xmlns:a16="http://schemas.microsoft.com/office/drawing/2014/main" xmlns="" id="{566C2AFC-EF98-0F43-87EA-8D7B5C0D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fld id="{51A60ADC-1D8A-174D-97E2-EBE5DE902DC1}" type="slidenum">
              <a:rPr lang="en-US" altLang="en-US" sz="1400">
                <a:latin typeface="Times New Roman" panose="02020603050405020304" pitchFamily="18" charset="0"/>
              </a:rPr>
              <a:pPr>
                <a:buFontTx/>
                <a:buNone/>
              </a:pPr>
              <a:t>49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xmlns="" id="{6108E5C3-EBBD-DA43-9B83-C92D9BA36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781" y="4675753"/>
            <a:ext cx="3810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2000" dirty="0">
                <a:solidFill>
                  <a:srgbClr val="C00000"/>
                </a:solidFill>
                <a:latin typeface="Helvetica" pitchFamily="2" charset="0"/>
              </a:rPr>
              <a:t>6. </a:t>
            </a:r>
            <a:r>
              <a:rPr lang="en-US" altLang="en-US" sz="1800" dirty="0">
                <a:solidFill>
                  <a:srgbClr val="C00000"/>
                </a:solidFill>
                <a:latin typeface="Helvetica" pitchFamily="2" charset="0"/>
              </a:rPr>
              <a:t>Steps 1-5 repeated for each of 10 jpeg objects</a:t>
            </a:r>
          </a:p>
        </p:txBody>
      </p:sp>
      <p:sp>
        <p:nvSpPr>
          <p:cNvPr id="45062" name="Rectangle 5">
            <a:extLst>
              <a:ext uri="{FF2B5EF4-FFF2-40B4-BE49-F238E27FC236}">
                <a16:creationId xmlns:a16="http://schemas.microsoft.com/office/drawing/2014/main" xmlns="" id="{595BAF23-9904-9E49-A7E6-8AC0ED6DC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306" y="2599304"/>
            <a:ext cx="3810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2000" dirty="0">
                <a:solidFill>
                  <a:srgbClr val="C00000"/>
                </a:solidFill>
                <a:latin typeface="Helvetica" pitchFamily="2" charset="0"/>
              </a:rPr>
              <a:t>4.</a:t>
            </a:r>
            <a:r>
              <a:rPr lang="en-US" altLang="en-US" sz="2000" dirty="0">
                <a:latin typeface="Helvetica" pitchFamily="2" charset="0"/>
              </a:rPr>
              <a:t> HTTP</a:t>
            </a:r>
            <a:r>
              <a:rPr lang="en-US" altLang="en-US" sz="1800" dirty="0">
                <a:latin typeface="Helvetica" pitchFamily="2" charset="0"/>
              </a:rPr>
              <a:t> server closes TCP connection. </a:t>
            </a:r>
            <a:endParaRPr lang="en-US" altLang="en-US" sz="2000" dirty="0">
              <a:latin typeface="Helvetica" pitchFamily="2" charset="0"/>
            </a:endParaRPr>
          </a:p>
        </p:txBody>
      </p:sp>
      <p:sp>
        <p:nvSpPr>
          <p:cNvPr id="45063" name="Line 6">
            <a:extLst>
              <a:ext uri="{FF2B5EF4-FFF2-40B4-BE49-F238E27FC236}">
                <a16:creationId xmlns:a16="http://schemas.microsoft.com/office/drawing/2014/main" xmlns="" id="{6CA5D476-F448-2F4A-BC79-D2F785F5B8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72855" y="1690688"/>
            <a:ext cx="23477" cy="3507353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4" name="Rectangle 7">
            <a:extLst>
              <a:ext uri="{FF2B5EF4-FFF2-40B4-BE49-F238E27FC236}">
                <a16:creationId xmlns:a16="http://schemas.microsoft.com/office/drawing/2014/main" xmlns="" id="{A7A663AE-EB0E-DD42-A842-92683326F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4731" y="4626542"/>
            <a:ext cx="342900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en-US" altLang="en-US" sz="2400"/>
          </a:p>
        </p:txBody>
      </p:sp>
      <p:sp>
        <p:nvSpPr>
          <p:cNvPr id="45065" name="Text Box 8">
            <a:extLst>
              <a:ext uri="{FF2B5EF4-FFF2-40B4-BE49-F238E27FC236}">
                <a16:creationId xmlns:a16="http://schemas.microsoft.com/office/drawing/2014/main" xmlns="" id="{EB78AA01-393F-344F-8D5C-10A8BA3CF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4660" y="4490016"/>
            <a:ext cx="7665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C00000"/>
                </a:solidFill>
                <a:latin typeface="Helvetica" pitchFamily="2" charset="0"/>
              </a:rPr>
              <a:t>time</a:t>
            </a:r>
          </a:p>
        </p:txBody>
      </p:sp>
      <p:sp>
        <p:nvSpPr>
          <p:cNvPr id="45066" name="Line 9">
            <a:extLst>
              <a:ext uri="{FF2B5EF4-FFF2-40B4-BE49-F238E27FC236}">
                <a16:creationId xmlns:a16="http://schemas.microsoft.com/office/drawing/2014/main" xmlns="" id="{45B190A7-6F69-5B4C-9677-8AB932C25D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92307" y="2556442"/>
            <a:ext cx="1095375" cy="52387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" name="Picture 27" descr="ANd9GcTxPLH7geI9YctTbt0tziC9-zZAWvCxFSthtLXwscnWaTnRXLSlcA">
            <a:extLst>
              <a:ext uri="{FF2B5EF4-FFF2-40B4-BE49-F238E27FC236}">
                <a16:creationId xmlns:a16="http://schemas.microsoft.com/office/drawing/2014/main" xmlns="" id="{AC440A1C-394B-D640-8025-7A0576677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335" y="1492525"/>
            <a:ext cx="709254" cy="553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5B3DBB2B-96E5-D14F-80DD-A1E585663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684" y="1297353"/>
            <a:ext cx="1097645" cy="131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1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/>
      <p:bldP spid="45061" grpId="0"/>
      <p:bldP spid="45062" grpId="0"/>
      <p:bldP spid="4506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081AD0ED-C1B5-5A4B-9DFA-5FA54B92D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Non-Persistent HTTP’s Response time</a:t>
            </a:r>
            <a:endParaRPr lang="en-US" dirty="0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xmlns="" id="{B5F5328C-8194-8F42-8B70-6BB4F03AB83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93255" y="1617662"/>
            <a:ext cx="5278142" cy="4921250"/>
          </a:xfrm>
        </p:spPr>
        <p:txBody>
          <a:bodyPr>
            <a:normAutofit/>
          </a:bodyPr>
          <a:lstStyle/>
          <a:p>
            <a:pPr>
              <a:buFont typeface="ZapfDingbats" pitchFamily="82" charset="2"/>
              <a:buNone/>
            </a:pPr>
            <a:r>
              <a:rPr lang="en-US" altLang="en-US" sz="2400" dirty="0">
                <a:solidFill>
                  <a:srgbClr val="C00000"/>
                </a:solidFill>
              </a:rPr>
              <a:t>Round Trip Time (RTT):</a:t>
            </a:r>
            <a:r>
              <a:rPr lang="en-US" altLang="en-US" sz="2400" dirty="0"/>
              <a:t> time to send a packet from client to server and back.</a:t>
            </a:r>
          </a:p>
          <a:p>
            <a:r>
              <a:rPr lang="en-US" altLang="en-US" sz="2400" dirty="0"/>
              <a:t>Sum of propagation, transmission, and queueing delays along both directions.</a:t>
            </a:r>
          </a:p>
          <a:p>
            <a:pPr>
              <a:buFont typeface="ZapfDingbats" pitchFamily="82" charset="2"/>
              <a:buNone/>
            </a:pPr>
            <a:r>
              <a:rPr lang="en-US" altLang="en-US" sz="2400" dirty="0">
                <a:solidFill>
                  <a:srgbClr val="C00000"/>
                </a:solidFill>
              </a:rPr>
              <a:t>Response time:</a:t>
            </a:r>
          </a:p>
          <a:p>
            <a:r>
              <a:rPr lang="en-US" altLang="en-US" sz="2400" dirty="0"/>
              <a:t>One RTT to initiate TCP connection</a:t>
            </a:r>
          </a:p>
          <a:p>
            <a:r>
              <a:rPr lang="en-US" altLang="en-US" sz="2400" dirty="0"/>
              <a:t>One RTT for HTTP request and first few bytes of HTTP response to return</a:t>
            </a:r>
          </a:p>
          <a:p>
            <a:r>
              <a:rPr lang="en-US" altLang="en-US" sz="2400" dirty="0"/>
              <a:t>File transmission time</a:t>
            </a:r>
          </a:p>
          <a:p>
            <a:pPr>
              <a:buFont typeface="ZapfDingbats" pitchFamily="82" charset="2"/>
              <a:buNone/>
            </a:pPr>
            <a:r>
              <a:rPr lang="en-US" altLang="en-US" sz="2400" dirty="0">
                <a:solidFill>
                  <a:srgbClr val="C00000"/>
                </a:solidFill>
              </a:rPr>
              <a:t>total = 2RTT + file transmission time</a:t>
            </a:r>
          </a:p>
          <a:p>
            <a:pPr>
              <a:buFont typeface="ZapfDingbats" pitchFamily="82" charset="2"/>
              <a:buNone/>
            </a:pPr>
            <a:endParaRPr lang="en-US" altLang="en-US" sz="2400" dirty="0"/>
          </a:p>
        </p:txBody>
      </p:sp>
      <p:sp>
        <p:nvSpPr>
          <p:cNvPr id="46082" name="Slide Number Placeholder 6">
            <a:extLst>
              <a:ext uri="{FF2B5EF4-FFF2-40B4-BE49-F238E27FC236}">
                <a16:creationId xmlns:a16="http://schemas.microsoft.com/office/drawing/2014/main" xmlns="" id="{3FFE314F-1E13-A343-AC49-940FC535A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fld id="{795410C6-6C78-0847-9E73-8879DD7A0CC1}" type="slidenum">
              <a:rPr lang="en-US" altLang="en-US" sz="1400">
                <a:latin typeface="Times New Roman" panose="02020603050405020304" pitchFamily="18" charset="0"/>
              </a:rPr>
              <a:pPr>
                <a:buFontTx/>
                <a:buNone/>
              </a:pPr>
              <a:t>50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46085" name="Group 4">
            <a:extLst>
              <a:ext uri="{FF2B5EF4-FFF2-40B4-BE49-F238E27FC236}">
                <a16:creationId xmlns:a16="http://schemas.microsoft.com/office/drawing/2014/main" xmlns="" id="{3CDC8A3C-0160-8944-9AF4-9662699CBDD8}"/>
              </a:ext>
            </a:extLst>
          </p:cNvPr>
          <p:cNvGrpSpPr>
            <a:grpSpLocks/>
          </p:cNvGrpSpPr>
          <p:nvPr/>
        </p:nvGrpSpPr>
        <p:grpSpPr bwMode="auto">
          <a:xfrm>
            <a:off x="6108702" y="1888440"/>
            <a:ext cx="4294188" cy="4414838"/>
            <a:chOff x="2888" y="794"/>
            <a:chExt cx="2705" cy="2781"/>
          </a:xfrm>
        </p:grpSpPr>
        <p:graphicFrame>
          <p:nvGraphicFramePr>
            <p:cNvPr id="46086" name="Object 1024">
              <a:extLst>
                <a:ext uri="{FF2B5EF4-FFF2-40B4-BE49-F238E27FC236}">
                  <a16:creationId xmlns:a16="http://schemas.microsoft.com/office/drawing/2014/main" xmlns="" id="{CEB8EF38-B7C0-B64E-9964-44C646E711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7" y="1049"/>
            <a:ext cx="474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9" name="Clip" r:id="rId3" imgW="17462500" imgH="14478000" progId="MS_ClipArt_Gallery.2">
                    <p:embed/>
                  </p:oleObj>
                </mc:Choice>
                <mc:Fallback>
                  <p:oleObj name="Clip" r:id="rId3" imgW="17462500" imgH="1447800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7" y="1049"/>
                          <a:ext cx="474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6087" name="Group 6">
              <a:extLst>
                <a:ext uri="{FF2B5EF4-FFF2-40B4-BE49-F238E27FC236}">
                  <a16:creationId xmlns:a16="http://schemas.microsoft.com/office/drawing/2014/main" xmlns="" id="{CC35C015-6ABC-774D-AE66-1D96491956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3" y="794"/>
              <a:ext cx="318" cy="675"/>
              <a:chOff x="4180" y="783"/>
              <a:chExt cx="150" cy="307"/>
            </a:xfrm>
          </p:grpSpPr>
          <p:sp>
            <p:nvSpPr>
              <p:cNvPr id="46108" name="AutoShape 7">
                <a:extLst>
                  <a:ext uri="{FF2B5EF4-FFF2-40B4-BE49-F238E27FC236}">
                    <a16:creationId xmlns:a16="http://schemas.microsoft.com/office/drawing/2014/main" xmlns="" id="{79FC144E-018F-4948-8624-63C1FD4AA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Char char="r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buSzPct val="75000"/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46109" name="Rectangle 8">
                <a:extLst>
                  <a:ext uri="{FF2B5EF4-FFF2-40B4-BE49-F238E27FC236}">
                    <a16:creationId xmlns:a16="http://schemas.microsoft.com/office/drawing/2014/main" xmlns="" id="{9158C9AF-6980-F244-AACA-F6404B6B13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Char char="r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buSzPct val="75000"/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46110" name="Rectangle 9">
                <a:extLst>
                  <a:ext uri="{FF2B5EF4-FFF2-40B4-BE49-F238E27FC236}">
                    <a16:creationId xmlns:a16="http://schemas.microsoft.com/office/drawing/2014/main" xmlns="" id="{0756AB32-7A22-3143-8C9A-48A861475B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buChar char="r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buSzPct val="75000"/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46111" name="AutoShape 10">
                <a:extLst>
                  <a:ext uri="{FF2B5EF4-FFF2-40B4-BE49-F238E27FC236}">
                    <a16:creationId xmlns:a16="http://schemas.microsoft.com/office/drawing/2014/main" xmlns="" id="{54BC26CE-B744-5741-94B9-AEF2F0A6BE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buChar char="r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buSzPct val="75000"/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46112" name="Line 11">
                <a:extLst>
                  <a:ext uri="{FF2B5EF4-FFF2-40B4-BE49-F238E27FC236}">
                    <a16:creationId xmlns:a16="http://schemas.microsoft.com/office/drawing/2014/main" xmlns="" id="{EF33307F-0327-8F4C-B47E-EBAA3D8BB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3" name="Line 12">
                <a:extLst>
                  <a:ext uri="{FF2B5EF4-FFF2-40B4-BE49-F238E27FC236}">
                    <a16:creationId xmlns:a16="http://schemas.microsoft.com/office/drawing/2014/main" xmlns="" id="{BBAF45C0-ACA8-CB42-83BC-8343C00DB4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4" name="Rectangle 13">
                <a:extLst>
                  <a:ext uri="{FF2B5EF4-FFF2-40B4-BE49-F238E27FC236}">
                    <a16:creationId xmlns:a16="http://schemas.microsoft.com/office/drawing/2014/main" xmlns="" id="{2BF30C2A-4CEC-CC43-9871-D94446293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buChar char="r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buSzPct val="75000"/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  <p:sp>
            <p:nvSpPr>
              <p:cNvPr id="46115" name="Rectangle 14">
                <a:extLst>
                  <a:ext uri="{FF2B5EF4-FFF2-40B4-BE49-F238E27FC236}">
                    <a16:creationId xmlns:a16="http://schemas.microsoft.com/office/drawing/2014/main" xmlns="" id="{9C1E9D7D-0643-0845-BD65-BB06FB8F1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Char char="r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buSzPct val="75000"/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buFont typeface="ZapfDingbats" pitchFamily="82" charset="2"/>
                  <a:buNone/>
                </a:pPr>
                <a:endParaRPr lang="en-US" altLang="en-US" sz="2400"/>
              </a:p>
            </p:txBody>
          </p:sp>
        </p:grpSp>
        <p:sp>
          <p:nvSpPr>
            <p:cNvPr id="46088" name="Line 15">
              <a:extLst>
                <a:ext uri="{FF2B5EF4-FFF2-40B4-BE49-F238E27FC236}">
                  <a16:creationId xmlns:a16="http://schemas.microsoft.com/office/drawing/2014/main" xmlns="" id="{97BCB764-ECA3-BE41-96E5-C33612660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6" y="1569"/>
              <a:ext cx="0" cy="178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89" name="Line 16">
              <a:extLst>
                <a:ext uri="{FF2B5EF4-FFF2-40B4-BE49-F238E27FC236}">
                  <a16:creationId xmlns:a16="http://schemas.microsoft.com/office/drawing/2014/main" xmlns="" id="{288E2D99-CC99-7343-87F3-8515130E6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1" y="1565"/>
              <a:ext cx="0" cy="181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0" name="Line 17">
              <a:extLst>
                <a:ext uri="{FF2B5EF4-FFF2-40B4-BE49-F238E27FC236}">
                  <a16:creationId xmlns:a16="http://schemas.microsoft.com/office/drawing/2014/main" xmlns="" id="{4ECC0411-D974-174C-94B5-3F616A5F3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" y="1715"/>
              <a:ext cx="1061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1" name="Line 18">
              <a:extLst>
                <a:ext uri="{FF2B5EF4-FFF2-40B4-BE49-F238E27FC236}">
                  <a16:creationId xmlns:a16="http://schemas.microsoft.com/office/drawing/2014/main" xmlns="" id="{A870C6C4-6259-684C-BBA8-3D665297CC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6" y="1991"/>
              <a:ext cx="1054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2" name="Line 19">
              <a:extLst>
                <a:ext uri="{FF2B5EF4-FFF2-40B4-BE49-F238E27FC236}">
                  <a16:creationId xmlns:a16="http://schemas.microsoft.com/office/drawing/2014/main" xmlns="" id="{D0811C90-EE02-C748-91F1-B980E86954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1" y="2311"/>
              <a:ext cx="1061" cy="2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3" name="Line 20">
              <a:extLst>
                <a:ext uri="{FF2B5EF4-FFF2-40B4-BE49-F238E27FC236}">
                  <a16:creationId xmlns:a16="http://schemas.microsoft.com/office/drawing/2014/main" xmlns="" id="{8C983DFD-444C-EA47-9692-76F4410010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1" y="2615"/>
              <a:ext cx="1054" cy="239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4" name="AutoShape 21">
              <a:extLst>
                <a:ext uri="{FF2B5EF4-FFF2-40B4-BE49-F238E27FC236}">
                  <a16:creationId xmlns:a16="http://schemas.microsoft.com/office/drawing/2014/main" xmlns="" id="{2316CD10-B923-144A-B081-D4F360607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1" y="2562"/>
              <a:ext cx="47" cy="115"/>
            </a:xfrm>
            <a:prstGeom prst="rightBrace">
              <a:avLst>
                <a:gd name="adj1" fmla="val 2039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Char char="r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buSzPct val="7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46095" name="Text Box 22">
              <a:extLst>
                <a:ext uri="{FF2B5EF4-FFF2-40B4-BE49-F238E27FC236}">
                  <a16:creationId xmlns:a16="http://schemas.microsoft.com/office/drawing/2014/main" xmlns="" id="{99665E39-BF18-8C45-9C13-D1242BE31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0" y="2369"/>
              <a:ext cx="613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har char="r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buSzPct val="7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Helvetica" pitchFamily="2" charset="0"/>
                </a:rPr>
                <a:t>time to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Helvetica" pitchFamily="2" charset="0"/>
                </a:rPr>
                <a:t>transmit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Helvetica" pitchFamily="2" charset="0"/>
                </a:rPr>
                <a:t>file</a:t>
              </a:r>
            </a:p>
          </p:txBody>
        </p:sp>
        <p:sp>
          <p:nvSpPr>
            <p:cNvPr id="46096" name="Line 23">
              <a:extLst>
                <a:ext uri="{FF2B5EF4-FFF2-40B4-BE49-F238E27FC236}">
                  <a16:creationId xmlns:a16="http://schemas.microsoft.com/office/drawing/2014/main" xmlns="" id="{CD5D1BDF-3AD8-AF45-AEED-DC8B9D3106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699"/>
              <a:ext cx="24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7" name="Text Box 24">
              <a:extLst>
                <a:ext uri="{FF2B5EF4-FFF2-40B4-BE49-F238E27FC236}">
                  <a16:creationId xmlns:a16="http://schemas.microsoft.com/office/drawing/2014/main" xmlns="" id="{0021F8C2-B272-DC4D-91EE-C8C93BD6FC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8" y="1516"/>
              <a:ext cx="78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har char="r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buSzPct val="7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dirty="0">
                  <a:latin typeface="Helvetica" pitchFamily="2" charset="0"/>
                </a:rPr>
                <a:t>initiate TCP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dirty="0">
                  <a:latin typeface="Helvetica" pitchFamily="2" charset="0"/>
                </a:rPr>
                <a:t>connection</a:t>
              </a:r>
            </a:p>
          </p:txBody>
        </p:sp>
        <p:sp>
          <p:nvSpPr>
            <p:cNvPr id="46098" name="AutoShape 25">
              <a:extLst>
                <a:ext uri="{FF2B5EF4-FFF2-40B4-BE49-F238E27FC236}">
                  <a16:creationId xmlns:a16="http://schemas.microsoft.com/office/drawing/2014/main" xmlns="" id="{EAD779ED-ABE4-E546-ACEA-4A1B82BFB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1731"/>
              <a:ext cx="81" cy="506"/>
            </a:xfrm>
            <a:prstGeom prst="leftBrace">
              <a:avLst>
                <a:gd name="adj1" fmla="val 5205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Char char="r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buSzPct val="7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46099" name="Text Box 26">
              <a:extLst>
                <a:ext uri="{FF2B5EF4-FFF2-40B4-BE49-F238E27FC236}">
                  <a16:creationId xmlns:a16="http://schemas.microsoft.com/office/drawing/2014/main" xmlns="" id="{00AE2AF3-ACB7-F74E-88FC-EBF678B64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1" y="1862"/>
              <a:ext cx="36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har char="r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buSzPct val="7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dirty="0">
                  <a:latin typeface="Helvetica" pitchFamily="2" charset="0"/>
                </a:rPr>
                <a:t>RTT</a:t>
              </a:r>
            </a:p>
          </p:txBody>
        </p:sp>
        <p:sp>
          <p:nvSpPr>
            <p:cNvPr id="46100" name="Line 27">
              <a:extLst>
                <a:ext uri="{FF2B5EF4-FFF2-40B4-BE49-F238E27FC236}">
                  <a16:creationId xmlns:a16="http://schemas.microsoft.com/office/drawing/2014/main" xmlns="" id="{BD4A8958-33A1-124E-926B-9B9CAAF12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1" y="2269"/>
              <a:ext cx="2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1" name="Text Box 28">
              <a:extLst>
                <a:ext uri="{FF2B5EF4-FFF2-40B4-BE49-F238E27FC236}">
                  <a16:creationId xmlns:a16="http://schemas.microsoft.com/office/drawing/2014/main" xmlns="" id="{94EDE0C4-C432-184A-94A3-A44D68805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078"/>
              <a:ext cx="54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har char="r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buSzPct val="7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Helvetica" pitchFamily="2" charset="0"/>
                </a:rPr>
                <a:t>request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Helvetica" pitchFamily="2" charset="0"/>
                </a:rPr>
                <a:t>file</a:t>
              </a:r>
            </a:p>
          </p:txBody>
        </p:sp>
        <p:sp>
          <p:nvSpPr>
            <p:cNvPr id="46102" name="AutoShape 29">
              <a:extLst>
                <a:ext uri="{FF2B5EF4-FFF2-40B4-BE49-F238E27FC236}">
                  <a16:creationId xmlns:a16="http://schemas.microsoft.com/office/drawing/2014/main" xmlns="" id="{8B4E5402-2FB0-CF48-BCD4-848EF8ABE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9" y="2304"/>
              <a:ext cx="81" cy="506"/>
            </a:xfrm>
            <a:prstGeom prst="leftBrace">
              <a:avLst>
                <a:gd name="adj1" fmla="val 5205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Char char="r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buSzPct val="7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 typeface="ZapfDingbats" pitchFamily="82" charset="2"/>
                <a:buNone/>
              </a:pPr>
              <a:endParaRPr lang="en-US" altLang="en-US" sz="2400"/>
            </a:p>
          </p:txBody>
        </p:sp>
        <p:sp>
          <p:nvSpPr>
            <p:cNvPr id="46103" name="Text Box 30">
              <a:extLst>
                <a:ext uri="{FF2B5EF4-FFF2-40B4-BE49-F238E27FC236}">
                  <a16:creationId xmlns:a16="http://schemas.microsoft.com/office/drawing/2014/main" xmlns="" id="{BAB62C53-0E2A-A247-8946-F72F5EBEF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3" y="2443"/>
              <a:ext cx="36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har char="r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buSzPct val="7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dirty="0">
                  <a:latin typeface="Helvetica" pitchFamily="2" charset="0"/>
                </a:rPr>
                <a:t>RTT</a:t>
              </a:r>
            </a:p>
          </p:txBody>
        </p:sp>
        <p:sp>
          <p:nvSpPr>
            <p:cNvPr id="46104" name="Line 31">
              <a:extLst>
                <a:ext uri="{FF2B5EF4-FFF2-40B4-BE49-F238E27FC236}">
                  <a16:creationId xmlns:a16="http://schemas.microsoft.com/office/drawing/2014/main" xmlns="" id="{8B7755CA-7EF2-9D43-AA59-F61AEB10EF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8" y="2892"/>
              <a:ext cx="21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5" name="Text Box 32">
              <a:extLst>
                <a:ext uri="{FF2B5EF4-FFF2-40B4-BE49-F238E27FC236}">
                  <a16:creationId xmlns:a16="http://schemas.microsoft.com/office/drawing/2014/main" xmlns="" id="{B80F3AD9-1A57-1541-A1F7-B7B8E8901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6" y="2794"/>
              <a:ext cx="60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har char="r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buSzPct val="7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Helvetica" pitchFamily="2" charset="0"/>
                </a:rPr>
                <a:t>file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Helvetica" pitchFamily="2" charset="0"/>
                </a:rPr>
                <a:t>received</a:t>
              </a:r>
            </a:p>
          </p:txBody>
        </p:sp>
        <p:sp>
          <p:nvSpPr>
            <p:cNvPr id="46106" name="Text Box 33">
              <a:extLst>
                <a:ext uri="{FF2B5EF4-FFF2-40B4-BE49-F238E27FC236}">
                  <a16:creationId xmlns:a16="http://schemas.microsoft.com/office/drawing/2014/main" xmlns="" id="{75F45B28-73FB-4B46-9CD4-B8206A9DA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4" y="3362"/>
              <a:ext cx="36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har char="r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buSzPct val="7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dirty="0">
                  <a:latin typeface="Helvetica" pitchFamily="2" charset="0"/>
                </a:rPr>
                <a:t>time</a:t>
              </a:r>
            </a:p>
          </p:txBody>
        </p:sp>
        <p:sp>
          <p:nvSpPr>
            <p:cNvPr id="46107" name="Text Box 34">
              <a:extLst>
                <a:ext uri="{FF2B5EF4-FFF2-40B4-BE49-F238E27FC236}">
                  <a16:creationId xmlns:a16="http://schemas.microsoft.com/office/drawing/2014/main" xmlns="" id="{05ADA633-512F-7B4C-86EF-DB420C6CF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1" y="3351"/>
              <a:ext cx="36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buChar char="r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buSzPct val="75000"/>
                <a:buFont typeface="Wingdings" pitchFamily="2" charset="2"/>
                <a:buChar char="v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Helvetica" pitchFamily="2" charset="0"/>
                </a:rPr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316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03B390D0-567E-5F40-95E2-E50B1F7B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Persistent HTTP:</a:t>
            </a:r>
            <a:r>
              <a:rPr lang="en-US" altLang="en-US" dirty="0"/>
              <a:t> jumping to steps 4/5</a:t>
            </a:r>
            <a:endParaRPr lang="en-US" dirty="0"/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xmlns="" id="{5EE5797F-11D3-8447-8EAA-AD9C67D547E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25306" y="3154929"/>
            <a:ext cx="3810000" cy="1533525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000" dirty="0">
                <a:solidFill>
                  <a:srgbClr val="C00000"/>
                </a:solidFill>
              </a:rPr>
              <a:t>5</a:t>
            </a:r>
            <a:r>
              <a:rPr lang="en-US" altLang="en-US" sz="1800" dirty="0">
                <a:solidFill>
                  <a:srgbClr val="C00000"/>
                </a:solidFill>
              </a:rPr>
              <a:t>.</a:t>
            </a:r>
            <a:r>
              <a:rPr lang="en-US" altLang="en-US" sz="1800" dirty="0"/>
              <a:t> HTTP client receives response message containing html file, displays html.  Parsing html file, finds 10 referenced jpeg  objects</a:t>
            </a:r>
            <a:endParaRPr lang="en-US" altLang="en-US" sz="2000" dirty="0"/>
          </a:p>
        </p:txBody>
      </p:sp>
      <p:sp>
        <p:nvSpPr>
          <p:cNvPr id="45058" name="Slide Number Placeholder 6">
            <a:extLst>
              <a:ext uri="{FF2B5EF4-FFF2-40B4-BE49-F238E27FC236}">
                <a16:creationId xmlns:a16="http://schemas.microsoft.com/office/drawing/2014/main" xmlns="" id="{566C2AFC-EF98-0F43-87EA-8D7B5C0D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fld id="{51A60ADC-1D8A-174D-97E2-EBE5DE902DC1}" type="slidenum">
              <a:rPr lang="en-US" altLang="en-US" sz="1400">
                <a:latin typeface="Times New Roman" panose="02020603050405020304" pitchFamily="18" charset="0"/>
              </a:rPr>
              <a:pPr>
                <a:buFontTx/>
                <a:buNone/>
              </a:pPr>
              <a:t>51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xmlns="" id="{6108E5C3-EBBD-DA43-9B83-C92D9BA36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781" y="4675753"/>
            <a:ext cx="642154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dirty="0">
                <a:latin typeface="Helvetica" pitchFamily="2" charset="0"/>
              </a:rPr>
              <a:t>The 10 objects can be requested over the </a:t>
            </a:r>
            <a:r>
              <a:rPr lang="en-US" altLang="en-US" dirty="0">
                <a:solidFill>
                  <a:srgbClr val="C00000"/>
                </a:solidFill>
                <a:latin typeface="Helvetica" pitchFamily="2" charset="0"/>
              </a:rPr>
              <a:t>same</a:t>
            </a:r>
            <a:r>
              <a:rPr lang="en-US" altLang="en-US" dirty="0">
                <a:latin typeface="Helvetica" pitchFamily="2" charset="0"/>
              </a:rPr>
              <a:t> TCP connection.</a:t>
            </a:r>
          </a:p>
          <a:p>
            <a:pPr>
              <a:buFont typeface="ZapfDingbats" pitchFamily="82" charset="2"/>
              <a:buNone/>
            </a:pPr>
            <a:r>
              <a:rPr lang="en-US" altLang="en-US" dirty="0">
                <a:latin typeface="Helvetica" pitchFamily="2" charset="0"/>
              </a:rPr>
              <a:t>i.e., save an RTT trying to open a new TCP connection per object.</a:t>
            </a:r>
          </a:p>
        </p:txBody>
      </p:sp>
      <p:sp>
        <p:nvSpPr>
          <p:cNvPr id="45062" name="Rectangle 5">
            <a:extLst>
              <a:ext uri="{FF2B5EF4-FFF2-40B4-BE49-F238E27FC236}">
                <a16:creationId xmlns:a16="http://schemas.microsoft.com/office/drawing/2014/main" xmlns="" id="{595BAF23-9904-9E49-A7E6-8AC0ED6DC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305" y="2599304"/>
            <a:ext cx="4695865" cy="1153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2000" dirty="0">
                <a:solidFill>
                  <a:srgbClr val="C00000"/>
                </a:solidFill>
                <a:latin typeface="Helvetica" pitchFamily="2" charset="0"/>
              </a:rPr>
              <a:t>4.</a:t>
            </a:r>
            <a:r>
              <a:rPr lang="en-US" altLang="en-US" sz="2000" dirty="0">
                <a:latin typeface="Helvetica" pitchFamily="2" charset="0"/>
              </a:rPr>
              <a:t> HTTP</a:t>
            </a:r>
            <a:r>
              <a:rPr lang="en-US" altLang="en-US" sz="1800" dirty="0">
                <a:latin typeface="Helvetica" pitchFamily="2" charset="0"/>
              </a:rPr>
              <a:t> server sends a response.</a:t>
            </a:r>
          </a:p>
          <a:p>
            <a:pPr>
              <a:buFont typeface="ZapfDingbats" pitchFamily="82" charset="2"/>
              <a:buNone/>
            </a:pPr>
            <a:r>
              <a:rPr lang="en-US" altLang="en-US" sz="2400" dirty="0">
                <a:solidFill>
                  <a:srgbClr val="C00000"/>
                </a:solidFill>
                <a:latin typeface="Helvetica" pitchFamily="2" charset="0"/>
              </a:rPr>
              <a:t>Server keeps the TCP connection alive.</a:t>
            </a:r>
            <a:endParaRPr lang="en-US" altLang="en-US" dirty="0">
              <a:solidFill>
                <a:srgbClr val="C00000"/>
              </a:solidFill>
              <a:latin typeface="Helvetica" pitchFamily="2" charset="0"/>
            </a:endParaRPr>
          </a:p>
        </p:txBody>
      </p:sp>
      <p:sp>
        <p:nvSpPr>
          <p:cNvPr id="45063" name="Line 6">
            <a:extLst>
              <a:ext uri="{FF2B5EF4-FFF2-40B4-BE49-F238E27FC236}">
                <a16:creationId xmlns:a16="http://schemas.microsoft.com/office/drawing/2014/main" xmlns="" id="{6CA5D476-F448-2F4A-BC79-D2F785F5B8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72855" y="1690688"/>
            <a:ext cx="23477" cy="3507353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4" name="Rectangle 7">
            <a:extLst>
              <a:ext uri="{FF2B5EF4-FFF2-40B4-BE49-F238E27FC236}">
                <a16:creationId xmlns:a16="http://schemas.microsoft.com/office/drawing/2014/main" xmlns="" id="{A7A663AE-EB0E-DD42-A842-92683326F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4731" y="4626542"/>
            <a:ext cx="342900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endParaRPr lang="en-US" altLang="en-US" sz="2400"/>
          </a:p>
        </p:txBody>
      </p:sp>
      <p:sp>
        <p:nvSpPr>
          <p:cNvPr id="45065" name="Text Box 8">
            <a:extLst>
              <a:ext uri="{FF2B5EF4-FFF2-40B4-BE49-F238E27FC236}">
                <a16:creationId xmlns:a16="http://schemas.microsoft.com/office/drawing/2014/main" xmlns="" id="{EB78AA01-393F-344F-8D5C-10A8BA3CF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4660" y="4490016"/>
            <a:ext cx="7665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C00000"/>
                </a:solidFill>
                <a:latin typeface="Helvetica" pitchFamily="2" charset="0"/>
              </a:rPr>
              <a:t>time</a:t>
            </a:r>
          </a:p>
        </p:txBody>
      </p:sp>
      <p:sp>
        <p:nvSpPr>
          <p:cNvPr id="45066" name="Line 9">
            <a:extLst>
              <a:ext uri="{FF2B5EF4-FFF2-40B4-BE49-F238E27FC236}">
                <a16:creationId xmlns:a16="http://schemas.microsoft.com/office/drawing/2014/main" xmlns="" id="{45B190A7-6F69-5B4C-9677-8AB932C25D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92307" y="2556442"/>
            <a:ext cx="1095375" cy="52387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5" name="Picture 27" descr="ANd9GcTxPLH7geI9YctTbt0tziC9-zZAWvCxFSthtLXwscnWaTnRXLSlcA">
            <a:extLst>
              <a:ext uri="{FF2B5EF4-FFF2-40B4-BE49-F238E27FC236}">
                <a16:creationId xmlns:a16="http://schemas.microsoft.com/office/drawing/2014/main" xmlns="" id="{AC440A1C-394B-D640-8025-7A0576677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335" y="1492525"/>
            <a:ext cx="709254" cy="553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5B3DBB2B-96E5-D14F-80DD-A1E585663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684" y="1297353"/>
            <a:ext cx="1097645" cy="131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39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4CB242A1-054A-EA46-880A-276FA96E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Persistent vs. Non-persistent</a:t>
            </a:r>
            <a:endParaRPr lang="en-US" dirty="0"/>
          </a:p>
        </p:txBody>
      </p:sp>
      <p:sp>
        <p:nvSpPr>
          <p:cNvPr id="47108" name="Rectangle 1027">
            <a:extLst>
              <a:ext uri="{FF2B5EF4-FFF2-40B4-BE49-F238E27FC236}">
                <a16:creationId xmlns:a16="http://schemas.microsoft.com/office/drawing/2014/main" xmlns="" id="{0EA87870-DA46-6543-90C3-5D1F7D0A70E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38200" y="1844675"/>
            <a:ext cx="10515600" cy="4648200"/>
          </a:xfrm>
        </p:spPr>
        <p:txBody>
          <a:bodyPr>
            <a:normAutofit fontScale="92500" lnSpcReduction="20000"/>
          </a:bodyPr>
          <a:lstStyle/>
          <a:p>
            <a:pPr>
              <a:buFont typeface="ZapfDingbats" pitchFamily="82" charset="2"/>
              <a:buNone/>
            </a:pPr>
            <a:r>
              <a:rPr lang="en-US" altLang="en-US" sz="3200" dirty="0">
                <a:solidFill>
                  <a:srgbClr val="C00000"/>
                </a:solidFill>
              </a:rPr>
              <a:t>Non-persistent HTTP </a:t>
            </a:r>
            <a:r>
              <a:rPr lang="en-US" altLang="en-US" sz="3200" dirty="0"/>
              <a:t>requires at least 2 RTTs per object. </a:t>
            </a:r>
          </a:p>
          <a:p>
            <a:pPr lvl="1"/>
            <a:r>
              <a:rPr lang="en-US" altLang="en-US" sz="2800" dirty="0"/>
              <a:t>For each object: Open TCP connection; send HTTP request &amp; receive response</a:t>
            </a:r>
          </a:p>
          <a:p>
            <a:pPr>
              <a:buFont typeface="ZapfDingbats" pitchFamily="82" charset="2"/>
              <a:buNone/>
            </a:pPr>
            <a:endParaRPr lang="en-US" altLang="en-US" sz="3200" dirty="0">
              <a:solidFill>
                <a:srgbClr val="C00000"/>
              </a:solidFill>
            </a:endParaRPr>
          </a:p>
          <a:p>
            <a:pPr>
              <a:buFont typeface="ZapfDingbats" pitchFamily="82" charset="2"/>
              <a:buNone/>
            </a:pPr>
            <a:r>
              <a:rPr lang="en-US" altLang="en-US" sz="3200" dirty="0">
                <a:solidFill>
                  <a:srgbClr val="C00000"/>
                </a:solidFill>
              </a:rPr>
              <a:t>Persistent  HTTP: </a:t>
            </a:r>
            <a:r>
              <a:rPr lang="en-US" altLang="en-US" sz="3200" dirty="0"/>
              <a:t>since server leaves connection open after sending response, subsequent HTTP messages  between same client/server sent over the open connection</a:t>
            </a:r>
          </a:p>
          <a:p>
            <a:pPr>
              <a:buFont typeface="ZapfDingbats" pitchFamily="82" charset="2"/>
              <a:buNone/>
            </a:pPr>
            <a:r>
              <a:rPr lang="en-US" altLang="en-US" sz="3200" dirty="0">
                <a:solidFill>
                  <a:srgbClr val="C00000"/>
                </a:solidFill>
              </a:rPr>
              <a:t>	Save one RTT per object </a:t>
            </a:r>
            <a:r>
              <a:rPr lang="en-US" altLang="en-US" sz="3200" dirty="0"/>
              <a:t>relative to non-persistent HTTP</a:t>
            </a:r>
          </a:p>
          <a:p>
            <a:pPr marL="0" indent="0">
              <a:buNone/>
            </a:pPr>
            <a:endParaRPr lang="en-US" altLang="en-US" sz="3200" dirty="0"/>
          </a:p>
          <a:p>
            <a:pPr marL="0" indent="0">
              <a:buNone/>
            </a:pPr>
            <a:r>
              <a:rPr lang="en-US" altLang="en-US" sz="3200" dirty="0"/>
              <a:t>In both cases, browsers have a choice of opening multiple parallel connections.</a:t>
            </a:r>
          </a:p>
          <a:p>
            <a:endParaRPr lang="en-US" altLang="en-US" sz="3200" dirty="0"/>
          </a:p>
        </p:txBody>
      </p:sp>
      <p:sp>
        <p:nvSpPr>
          <p:cNvPr id="47106" name="Slide Number Placeholder 6">
            <a:extLst>
              <a:ext uri="{FF2B5EF4-FFF2-40B4-BE49-F238E27FC236}">
                <a16:creationId xmlns:a16="http://schemas.microsoft.com/office/drawing/2014/main" xmlns="" id="{CD9A387C-F812-ED48-8752-A76A9054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har char="r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fld id="{A9984566-A3BE-AC45-9698-113480D94B59}" type="slidenum">
              <a:rPr lang="en-US" altLang="en-US" sz="1400">
                <a:latin typeface="Times New Roman" panose="02020603050405020304" pitchFamily="18" charset="0"/>
              </a:rPr>
              <a:pPr>
                <a:buFontTx/>
                <a:buNone/>
              </a:pPr>
              <a:t>52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80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3102</Words>
  <Application>Microsoft Office PowerPoint</Application>
  <PresentationFormat>Widescreen</PresentationFormat>
  <Paragraphs>389</Paragraphs>
  <Slides>52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3" baseType="lpstr">
      <vt:lpstr>Arial Unicode MS</vt:lpstr>
      <vt:lpstr>Arial</vt:lpstr>
      <vt:lpstr>Calibri</vt:lpstr>
      <vt:lpstr>Calibri Light</vt:lpstr>
      <vt:lpstr>Comic Sans MS</vt:lpstr>
      <vt:lpstr>Helvetica</vt:lpstr>
      <vt:lpstr>LiberationSerif</vt:lpstr>
      <vt:lpstr>Times New Roman</vt:lpstr>
      <vt:lpstr>ZapfDingbats</vt:lpstr>
      <vt:lpstr>Office Theme</vt:lpstr>
      <vt:lpstr>Clip</vt:lpstr>
      <vt:lpstr>Web Architecture</vt:lpstr>
      <vt:lpstr>2.1 Web browser</vt:lpstr>
      <vt:lpstr>History of the Web Browsers</vt:lpstr>
      <vt:lpstr>Overview of Browser Functionality</vt:lpstr>
      <vt:lpstr>PowerPoint Presentation</vt:lpstr>
      <vt:lpstr>PowerPoint Presentation</vt:lpstr>
      <vt:lpstr>Core Functions of a Web Browser:</vt:lpstr>
      <vt:lpstr>PowerPoint Presentation</vt:lpstr>
      <vt:lpstr>browser session</vt:lpstr>
      <vt:lpstr>Browser Sessions vs HTTP Sessions</vt:lpstr>
      <vt:lpstr>Overview of Processing Flow in a Browser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2.2 Web Server</vt:lpstr>
      <vt:lpstr>PowerPoint Presentation</vt:lpstr>
      <vt:lpstr>PowerPoint Presentation</vt:lpstr>
      <vt:lpstr>Web Server Request Processing Overview </vt:lpstr>
      <vt:lpstr>PowerPoint Presentation</vt:lpstr>
      <vt:lpstr>PowerPoint Presentation</vt:lpstr>
      <vt:lpstr>HTTP request processing</vt:lpstr>
      <vt:lpstr>PowerPoint Presentation</vt:lpstr>
      <vt:lpstr>PowerPoint Presentation</vt:lpstr>
      <vt:lpstr>Delivery of static content</vt:lpstr>
      <vt:lpstr>Delivery of dynamic content</vt:lpstr>
      <vt:lpstr>PowerPoint Presentation</vt:lpstr>
      <vt:lpstr>PowerPoint Presentation</vt:lpstr>
      <vt:lpstr>PowerPoint Presentation</vt:lpstr>
      <vt:lpstr>2.3 HTTP protocol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HTTP method types</vt:lpstr>
      <vt:lpstr>Difference between POST and PUT</vt:lpstr>
      <vt:lpstr>Difference between HEAD and GET</vt:lpstr>
      <vt:lpstr>Uploading form input: GET and POST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HTTP connections</vt:lpstr>
      <vt:lpstr>Non-persistent HTTP</vt:lpstr>
      <vt:lpstr>Non-persistent HTTP (contd.)</vt:lpstr>
      <vt:lpstr>Non-Persistent HTTP’s Response time</vt:lpstr>
      <vt:lpstr>Persistent HTTP: jumping to steps 4/5</vt:lpstr>
      <vt:lpstr>Persistent vs. Non-persistent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Architecture</dc:title>
  <dc:creator>Rushikesh</dc:creator>
  <cp:lastModifiedBy>Rushikesh</cp:lastModifiedBy>
  <cp:revision>129</cp:revision>
  <dcterms:created xsi:type="dcterms:W3CDTF">2025-01-06T16:02:10Z</dcterms:created>
  <dcterms:modified xsi:type="dcterms:W3CDTF">2025-02-07T11:21:25Z</dcterms:modified>
</cp:coreProperties>
</file>