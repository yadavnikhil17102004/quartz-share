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78" r:id="rId4"/>
    <p:sldId id="257" r:id="rId5"/>
    <p:sldId id="268" r:id="rId6"/>
    <p:sldId id="269" r:id="rId7"/>
    <p:sldId id="270" r:id="rId8"/>
    <p:sldId id="258" r:id="rId9"/>
    <p:sldId id="271" r:id="rId10"/>
    <p:sldId id="272" r:id="rId11"/>
    <p:sldId id="273" r:id="rId12"/>
    <p:sldId id="274" r:id="rId13"/>
    <p:sldId id="277" r:id="rId14"/>
    <p:sldId id="275" r:id="rId15"/>
    <p:sldId id="264" r:id="rId16"/>
    <p:sldId id="265" r:id="rId17"/>
    <p:sldId id="279" r:id="rId18"/>
    <p:sldId id="266"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snapToObjects="1">
      <p:cViewPr varScale="1">
        <p:scale>
          <a:sx n="78" d="100"/>
          <a:sy n="78" d="100"/>
        </p:scale>
        <p:origin x="15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22038"/>
            <a:ext cx="7772400" cy="1470025"/>
          </a:xfrm>
        </p:spPr>
        <p:txBody>
          <a:bodyPr/>
          <a:lstStyle/>
          <a:p>
            <a:r>
              <a:rPr dirty="0"/>
              <a:t>Chapter 3: Mobile Device Forensics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11F2-4224-8D40-0F09-183CB154E3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0FF9880-4741-A32C-18C7-DCBDF1BEAA0D}"/>
              </a:ext>
            </a:extLst>
          </p:cNvPr>
          <p:cNvSpPr>
            <a:spLocks noGrp="1"/>
          </p:cNvSpPr>
          <p:nvPr>
            <p:ph idx="1"/>
          </p:nvPr>
        </p:nvSpPr>
        <p:spPr/>
        <p:txBody>
          <a:bodyPr>
            <a:normAutofit fontScale="85000" lnSpcReduction="20000"/>
          </a:bodyPr>
          <a:lstStyle/>
          <a:p>
            <a:r>
              <a:rPr lang="en-US" dirty="0"/>
              <a:t>Each mobile OS has a unique architecture, security model, and data storage approach, directly impacting forensic methodologies. Understanding these differences is fundamental.</a:t>
            </a:r>
          </a:p>
          <a:p>
            <a:pPr marL="0" indent="0">
              <a:buNone/>
            </a:pPr>
            <a:endParaRPr lang="en-US" dirty="0"/>
          </a:p>
          <a:p>
            <a:pPr lvl="1"/>
            <a:r>
              <a:rPr lang="en-IN" b="1" dirty="0"/>
              <a:t>Android</a:t>
            </a:r>
            <a:r>
              <a:rPr lang="en-IN" dirty="0"/>
              <a:t>: Open-source OS, supports rooting, app logs, SQLite databases.</a:t>
            </a:r>
          </a:p>
          <a:p>
            <a:pPr lvl="1"/>
            <a:r>
              <a:rPr lang="en-IN" b="1" dirty="0"/>
              <a:t>iOS</a:t>
            </a:r>
            <a:r>
              <a:rPr lang="en-IN" dirty="0"/>
              <a:t>: Encrypted file system, requires jailbreaking for deeper access.</a:t>
            </a:r>
          </a:p>
          <a:p>
            <a:pPr lvl="1"/>
            <a:r>
              <a:rPr lang="en-IN" b="1" dirty="0"/>
              <a:t>BlackBerry</a:t>
            </a:r>
            <a:r>
              <a:rPr lang="en-IN" dirty="0"/>
              <a:t>: Legacy secure OS, supports PIN messages and encrypted data.</a:t>
            </a:r>
          </a:p>
          <a:p>
            <a:pPr lvl="1"/>
            <a:r>
              <a:rPr lang="en-IN" b="1" dirty="0"/>
              <a:t>Windows Mobile</a:t>
            </a:r>
            <a:r>
              <a:rPr lang="en-IN" dirty="0"/>
              <a:t>: Less common today, uses NTFS/FAT file system.</a:t>
            </a:r>
          </a:p>
          <a:p>
            <a:endParaRPr lang="en-IN" dirty="0"/>
          </a:p>
        </p:txBody>
      </p:sp>
    </p:spTree>
    <p:extLst>
      <p:ext uri="{BB962C8B-B14F-4D97-AF65-F5344CB8AC3E}">
        <p14:creationId xmlns:p14="http://schemas.microsoft.com/office/powerpoint/2010/main" val="3881740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85974F50-1C8C-5B95-AD55-7646848C18AB}"/>
              </a:ext>
            </a:extLst>
          </p:cNvPr>
          <p:cNvPicPr>
            <a:picLocks noGrp="1" noChangeAspect="1"/>
          </p:cNvPicPr>
          <p:nvPr>
            <p:ph idx="1"/>
          </p:nvPr>
        </p:nvPicPr>
        <p:blipFill>
          <a:blip r:embed="rId2"/>
          <a:stretch>
            <a:fillRect/>
          </a:stretch>
        </p:blipFill>
        <p:spPr>
          <a:xfrm>
            <a:off x="974284" y="911942"/>
            <a:ext cx="7195431" cy="4525963"/>
          </a:xfrm>
        </p:spPr>
      </p:pic>
    </p:spTree>
    <p:extLst>
      <p:ext uri="{BB962C8B-B14F-4D97-AF65-F5344CB8AC3E}">
        <p14:creationId xmlns:p14="http://schemas.microsoft.com/office/powerpoint/2010/main" val="945009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3.1 Mobile OS Forensics</a:t>
            </a:r>
          </a:p>
        </p:txBody>
      </p:sp>
      <p:sp>
        <p:nvSpPr>
          <p:cNvPr id="3" name="Content Placeholder 2"/>
          <p:cNvSpPr>
            <a:spLocks noGrp="1"/>
          </p:cNvSpPr>
          <p:nvPr>
            <p:ph idx="1"/>
          </p:nvPr>
        </p:nvSpPr>
        <p:spPr/>
        <p:txBody>
          <a:bodyPr>
            <a:normAutofit fontScale="47500" lnSpcReduction="20000"/>
          </a:bodyPr>
          <a:lstStyle/>
          <a:p>
            <a:pPr marL="0" indent="0">
              <a:buNone/>
            </a:pPr>
            <a:r>
              <a:rPr lang="en-IN" b="1" dirty="0"/>
              <a:t>Android Forensics</a:t>
            </a:r>
          </a:p>
          <a:p>
            <a:endParaRPr lang="en-IN" dirty="0"/>
          </a:p>
          <a:p>
            <a:r>
              <a:rPr lang="en-IN" b="1" dirty="0"/>
              <a:t>Architecture &amp; Characteristics:</a:t>
            </a:r>
          </a:p>
          <a:p>
            <a:pPr lvl="1"/>
            <a:r>
              <a:rPr lang="en-IN" sz="2700" b="1" dirty="0"/>
              <a:t>Linux Kernel-based: </a:t>
            </a:r>
            <a:r>
              <a:rPr lang="en-IN" sz="2700" dirty="0"/>
              <a:t>Open-source, highly customizable.</a:t>
            </a:r>
          </a:p>
          <a:p>
            <a:pPr lvl="1"/>
            <a:r>
              <a:rPr lang="en-IN" sz="2700" b="1" dirty="0"/>
              <a:t>Android Runtime </a:t>
            </a:r>
            <a:r>
              <a:rPr lang="en-IN" sz="2700" dirty="0"/>
              <a:t>(ART): Executes app code.</a:t>
            </a:r>
          </a:p>
          <a:p>
            <a:pPr lvl="1"/>
            <a:r>
              <a:rPr lang="en-IN" sz="2700" b="1" dirty="0"/>
              <a:t>App Sandboxing</a:t>
            </a:r>
            <a:r>
              <a:rPr lang="en-IN" sz="2700" dirty="0"/>
              <a:t>: Each app runs in its own isolated process.</a:t>
            </a:r>
          </a:p>
          <a:p>
            <a:pPr lvl="1"/>
            <a:r>
              <a:rPr lang="en-IN" sz="2700" b="1" dirty="0"/>
              <a:t>File System</a:t>
            </a:r>
            <a:r>
              <a:rPr lang="en-IN" sz="2700" dirty="0"/>
              <a:t>: Typically ext4 or f2fs. User data often in /data/data/&lt;</a:t>
            </a:r>
            <a:r>
              <a:rPr lang="en-IN" sz="2700" dirty="0" err="1"/>
              <a:t>package_name</a:t>
            </a:r>
            <a:r>
              <a:rPr lang="en-IN" sz="2700" dirty="0"/>
              <a:t>&gt; (app-specific) and /</a:t>
            </a:r>
            <a:r>
              <a:rPr lang="en-IN" sz="2700" dirty="0" err="1"/>
              <a:t>sdcard</a:t>
            </a:r>
            <a:r>
              <a:rPr lang="en-IN" sz="2700" dirty="0"/>
              <a:t> (user-accessible).</a:t>
            </a:r>
          </a:p>
          <a:p>
            <a:pPr lvl="1"/>
            <a:r>
              <a:rPr lang="en-IN" sz="2700" b="1" dirty="0"/>
              <a:t>Device Fragmentation</a:t>
            </a:r>
            <a:r>
              <a:rPr lang="en-IN" sz="2700" dirty="0"/>
              <a:t>: Wide variety of manufacturers, models, and Android versions</a:t>
            </a:r>
          </a:p>
          <a:p>
            <a:pPr marL="457200" lvl="1" indent="0">
              <a:buNone/>
            </a:pPr>
            <a:endParaRPr lang="en-IN" dirty="0"/>
          </a:p>
          <a:p>
            <a:r>
              <a:rPr lang="en-IN" b="1" dirty="0"/>
              <a:t>Security Model:</a:t>
            </a:r>
          </a:p>
          <a:p>
            <a:pPr lvl="1"/>
            <a:r>
              <a:rPr lang="en-IN" b="1" dirty="0"/>
              <a:t>App Permissions</a:t>
            </a:r>
            <a:r>
              <a:rPr lang="en-IN" dirty="0"/>
              <a:t>: Granular control over resources.</a:t>
            </a:r>
          </a:p>
          <a:p>
            <a:pPr lvl="1"/>
            <a:r>
              <a:rPr lang="en-IN" b="1" dirty="0"/>
              <a:t>Full-Disk Encryption (FDE) / File-Based Encryption (FBE): </a:t>
            </a:r>
            <a:r>
              <a:rPr lang="en-IN" dirty="0"/>
              <a:t>Default on modern devices.</a:t>
            </a:r>
          </a:p>
          <a:p>
            <a:pPr lvl="1"/>
            <a:r>
              <a:rPr lang="en-IN" dirty="0"/>
              <a:t>Verified Boot, </a:t>
            </a:r>
            <a:r>
              <a:rPr lang="en-IN" dirty="0" err="1"/>
              <a:t>SELinux</a:t>
            </a:r>
            <a:r>
              <a:rPr lang="en-IN" dirty="0"/>
              <a:t>.</a:t>
            </a:r>
          </a:p>
          <a:p>
            <a:endParaRPr lang="en-IN" dirty="0"/>
          </a:p>
          <a:p>
            <a:r>
              <a:rPr lang="en-IN" b="1" dirty="0"/>
              <a:t>Forensic Implications:</a:t>
            </a:r>
          </a:p>
          <a:p>
            <a:pPr lvl="1"/>
            <a:r>
              <a:rPr lang="en-IN" b="1" dirty="0"/>
              <a:t>Acquisition Challenges</a:t>
            </a:r>
            <a:r>
              <a:rPr lang="en-IN" dirty="0"/>
              <a:t>: FBE makes data inaccessible without passcode when locked. Rooting might be needed for full filesystem access (but alters device).</a:t>
            </a:r>
          </a:p>
          <a:p>
            <a:pPr lvl="1"/>
            <a:r>
              <a:rPr lang="en-IN" b="1" dirty="0"/>
              <a:t>Data Locations</a:t>
            </a:r>
            <a:r>
              <a:rPr lang="en-IN" dirty="0"/>
              <a:t>: Standardized app data locations (SQLite databases) are common.</a:t>
            </a:r>
          </a:p>
          <a:p>
            <a:pPr lvl="1"/>
            <a:r>
              <a:rPr lang="en-IN" b="1" dirty="0"/>
              <a:t>Tool Support</a:t>
            </a:r>
            <a:r>
              <a:rPr lang="en-IN" dirty="0"/>
              <a:t>: Wide range of commercial and open-source tools due to its open nature.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E37B-7495-5021-AFAF-E11B0F3F9D6E}"/>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B2E1ED01-03CA-37B2-6BCD-E0B26DA0E46D}"/>
              </a:ext>
            </a:extLst>
          </p:cNvPr>
          <p:cNvSpPr>
            <a:spLocks noGrp="1"/>
          </p:cNvSpPr>
          <p:nvPr>
            <p:ph idx="1"/>
          </p:nvPr>
        </p:nvSpPr>
        <p:spPr/>
        <p:txBody>
          <a:bodyPr>
            <a:normAutofit fontScale="55000" lnSpcReduction="20000"/>
          </a:bodyPr>
          <a:lstStyle/>
          <a:p>
            <a:pPr marL="0" indent="0">
              <a:buNone/>
            </a:pPr>
            <a:r>
              <a:rPr lang="en-IN" b="1" dirty="0"/>
              <a:t>iOS Forensics</a:t>
            </a:r>
          </a:p>
          <a:p>
            <a:pPr marL="0" indent="0">
              <a:buNone/>
            </a:pPr>
            <a:endParaRPr lang="en-IN" dirty="0"/>
          </a:p>
          <a:p>
            <a:r>
              <a:rPr lang="en-IN" b="1" dirty="0"/>
              <a:t>Architecture &amp; Characteristics:</a:t>
            </a:r>
            <a:endParaRPr lang="en-IN" dirty="0"/>
          </a:p>
          <a:p>
            <a:pPr lvl="1"/>
            <a:r>
              <a:rPr lang="en-IN" b="1" dirty="0"/>
              <a:t>Unix-like (Darwin Kernel):</a:t>
            </a:r>
            <a:r>
              <a:rPr lang="en-IN" dirty="0"/>
              <a:t> Closed-source, tightly integrated with Apple hardware.</a:t>
            </a:r>
          </a:p>
          <a:p>
            <a:pPr lvl="1"/>
            <a:r>
              <a:rPr lang="en-IN" b="1" dirty="0"/>
              <a:t>Secure Enclave:</a:t>
            </a:r>
            <a:r>
              <a:rPr lang="en-IN" dirty="0"/>
              <a:t> Hardware-based security for cryptographic keys and biometrics.</a:t>
            </a:r>
          </a:p>
          <a:p>
            <a:pPr lvl="1"/>
            <a:r>
              <a:rPr lang="en-IN" b="1" dirty="0"/>
              <a:t>APFS (Apple File System):</a:t>
            </a:r>
            <a:r>
              <a:rPr lang="en-IN" dirty="0"/>
              <a:t> Modern file system.</a:t>
            </a:r>
          </a:p>
          <a:p>
            <a:pPr lvl="1"/>
            <a:r>
              <a:rPr lang="en-IN" b="1" dirty="0"/>
              <a:t>Strict Sandboxing:</a:t>
            </a:r>
            <a:r>
              <a:rPr lang="en-IN" dirty="0"/>
              <a:t> Apps are heavily restricted.</a:t>
            </a:r>
          </a:p>
          <a:p>
            <a:r>
              <a:rPr lang="en-IN" b="1" dirty="0"/>
              <a:t>Security Model:</a:t>
            </a:r>
            <a:endParaRPr lang="en-IN" dirty="0"/>
          </a:p>
          <a:p>
            <a:pPr lvl="1"/>
            <a:r>
              <a:rPr lang="en-IN" b="1" dirty="0"/>
              <a:t>Hardware Encryption:</a:t>
            </a:r>
            <a:r>
              <a:rPr lang="en-IN" dirty="0"/>
              <a:t> Always-on encryption tied to user passcode.</a:t>
            </a:r>
          </a:p>
          <a:p>
            <a:pPr lvl="1"/>
            <a:r>
              <a:rPr lang="en-IN" b="1" dirty="0"/>
              <a:t>Data Protection Classes:</a:t>
            </a:r>
            <a:r>
              <a:rPr lang="en-IN" dirty="0"/>
              <a:t> Different levels of encryption for files based on access patterns.</a:t>
            </a:r>
          </a:p>
          <a:p>
            <a:pPr lvl="1"/>
            <a:r>
              <a:rPr lang="en-IN" b="1" dirty="0"/>
              <a:t>Activation Lock:</a:t>
            </a:r>
            <a:r>
              <a:rPr lang="en-IN" dirty="0"/>
              <a:t> Anti-theft feature.</a:t>
            </a:r>
          </a:p>
          <a:p>
            <a:pPr lvl="1"/>
            <a:r>
              <a:rPr lang="en-IN" b="1" dirty="0"/>
              <a:t>Code Signing:</a:t>
            </a:r>
            <a:r>
              <a:rPr lang="en-IN" dirty="0"/>
              <a:t> All apps must be signed by Apple.</a:t>
            </a:r>
          </a:p>
          <a:p>
            <a:r>
              <a:rPr lang="en-IN" b="1" dirty="0"/>
              <a:t>Forensic Implications:</a:t>
            </a:r>
            <a:endParaRPr lang="en-IN" dirty="0"/>
          </a:p>
          <a:p>
            <a:pPr lvl="1"/>
            <a:r>
              <a:rPr lang="en-IN" b="1" dirty="0"/>
              <a:t>High Security:</a:t>
            </a:r>
            <a:r>
              <a:rPr lang="en-IN" dirty="0"/>
              <a:t> Very challenging when locked due to strong encryption and Secure Enclave.</a:t>
            </a:r>
          </a:p>
          <a:p>
            <a:pPr lvl="1"/>
            <a:r>
              <a:rPr lang="en-IN" b="1" dirty="0"/>
              <a:t>Limited Access:</a:t>
            </a:r>
            <a:r>
              <a:rPr lang="en-IN" dirty="0"/>
              <a:t> Reliance on iTunes backups for logical acquisition. Full filesystem often requires jailbreaking (alters device) or specific hardware exploits (e.g., checkm8).</a:t>
            </a:r>
          </a:p>
          <a:p>
            <a:pPr lvl="1"/>
            <a:r>
              <a:rPr lang="en-IN" b="1" dirty="0"/>
              <a:t>Data Sources:</a:t>
            </a:r>
            <a:r>
              <a:rPr lang="en-IN" dirty="0"/>
              <a:t> iTunes backups, iCloud backups, specific hardware extractions.</a:t>
            </a:r>
          </a:p>
          <a:p>
            <a:pPr lvl="1"/>
            <a:r>
              <a:rPr lang="en-IN" b="1" dirty="0"/>
              <a:t>Tool Support:</a:t>
            </a:r>
            <a:r>
              <a:rPr lang="en-IN" dirty="0"/>
              <a:t> Primarily commercial tools, some open-source for specific vulnerabilities/jailbreaks.</a:t>
            </a:r>
          </a:p>
          <a:p>
            <a:endParaRPr lang="en-IN" dirty="0"/>
          </a:p>
        </p:txBody>
      </p:sp>
    </p:spTree>
    <p:extLst>
      <p:ext uri="{BB962C8B-B14F-4D97-AF65-F5344CB8AC3E}">
        <p14:creationId xmlns:p14="http://schemas.microsoft.com/office/powerpoint/2010/main" val="726063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DCDB4-87C8-402A-E981-EF2B907BD9B4}"/>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3C9F1B47-41C2-1853-7D12-F641A37A55D2}"/>
              </a:ext>
            </a:extLst>
          </p:cNvPr>
          <p:cNvSpPr>
            <a:spLocks noGrp="1"/>
          </p:cNvSpPr>
          <p:nvPr>
            <p:ph idx="1"/>
          </p:nvPr>
        </p:nvSpPr>
        <p:spPr/>
        <p:txBody>
          <a:bodyPr>
            <a:normAutofit fontScale="77500" lnSpcReduction="20000"/>
          </a:bodyPr>
          <a:lstStyle/>
          <a:p>
            <a:pPr marL="0" indent="0">
              <a:buNone/>
            </a:pPr>
            <a:r>
              <a:rPr lang="en-IN" b="1" dirty="0"/>
              <a:t>BlackBerry Forensics</a:t>
            </a:r>
          </a:p>
          <a:p>
            <a:pPr marL="0" indent="0">
              <a:buNone/>
            </a:pPr>
            <a:endParaRPr lang="en-IN" dirty="0"/>
          </a:p>
          <a:p>
            <a:r>
              <a:rPr lang="en-IN" b="1" dirty="0"/>
              <a:t>Legacy Systems (BlackBerry OS 7 and older):</a:t>
            </a:r>
            <a:endParaRPr lang="en-IN" dirty="0"/>
          </a:p>
          <a:p>
            <a:pPr lvl="1"/>
            <a:r>
              <a:rPr lang="en-IN" b="1" dirty="0"/>
              <a:t>Proprietary OS:</a:t>
            </a:r>
            <a:r>
              <a:rPr lang="en-IN" dirty="0"/>
              <a:t> Not Android or iOS.</a:t>
            </a:r>
          </a:p>
          <a:p>
            <a:pPr lvl="1"/>
            <a:r>
              <a:rPr lang="en-IN" b="1" dirty="0"/>
              <a:t>Strong Encryption:</a:t>
            </a:r>
            <a:r>
              <a:rPr lang="en-IN" dirty="0"/>
              <a:t> Often had robust device encryption.</a:t>
            </a:r>
          </a:p>
          <a:p>
            <a:pPr lvl="1"/>
            <a:r>
              <a:rPr lang="en-IN" b="1" dirty="0"/>
              <a:t>BlackBerry Desktop Manager:</a:t>
            </a:r>
            <a:r>
              <a:rPr lang="en-IN" dirty="0"/>
              <a:t> Primary tool for logical backups.</a:t>
            </a:r>
          </a:p>
          <a:p>
            <a:pPr lvl="1"/>
            <a:r>
              <a:rPr lang="en-IN" b="1" dirty="0"/>
              <a:t>Artifacts:</a:t>
            </a:r>
            <a:r>
              <a:rPr lang="en-IN" dirty="0"/>
              <a:t> BBM messages, email, calendar, contacts.</a:t>
            </a:r>
          </a:p>
          <a:p>
            <a:pPr marL="457200" lvl="1" indent="0">
              <a:buNone/>
            </a:pPr>
            <a:endParaRPr lang="en-IN" dirty="0"/>
          </a:p>
          <a:p>
            <a:r>
              <a:rPr lang="en-IN" b="1" dirty="0"/>
              <a:t>Forensic Implications:</a:t>
            </a:r>
            <a:endParaRPr lang="en-IN" dirty="0"/>
          </a:p>
          <a:p>
            <a:pPr lvl="1"/>
            <a:r>
              <a:rPr lang="en-IN" b="1" dirty="0"/>
              <a:t>Declining Relevance:</a:t>
            </a:r>
            <a:r>
              <a:rPr lang="en-IN" dirty="0"/>
              <a:t> Less common in modern investigations.</a:t>
            </a:r>
          </a:p>
          <a:p>
            <a:pPr lvl="1"/>
            <a:r>
              <a:rPr lang="en-IN" b="1" dirty="0"/>
              <a:t>Tool Support:</a:t>
            </a:r>
            <a:r>
              <a:rPr lang="en-IN" dirty="0"/>
              <a:t> Older commercial tools may support, but limited new development.</a:t>
            </a:r>
          </a:p>
          <a:p>
            <a:pPr lvl="1"/>
            <a:r>
              <a:rPr lang="en-IN" b="1" dirty="0"/>
              <a:t>Proprietary Formats:</a:t>
            </a:r>
            <a:r>
              <a:rPr lang="en-IN" dirty="0"/>
              <a:t> Requires specialized parsers.</a:t>
            </a:r>
          </a:p>
          <a:p>
            <a:endParaRPr lang="en-IN" dirty="0"/>
          </a:p>
        </p:txBody>
      </p:sp>
    </p:spTree>
    <p:extLst>
      <p:ext uri="{BB962C8B-B14F-4D97-AF65-F5344CB8AC3E}">
        <p14:creationId xmlns:p14="http://schemas.microsoft.com/office/powerpoint/2010/main" val="2732168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9BC40-61C2-04BB-7D62-B049DBB553D8}"/>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A6D5C9D1-5D29-D39B-C327-B36DFB38AEBA}"/>
              </a:ext>
            </a:extLst>
          </p:cNvPr>
          <p:cNvSpPr>
            <a:spLocks noGrp="1"/>
          </p:cNvSpPr>
          <p:nvPr>
            <p:ph idx="1"/>
          </p:nvPr>
        </p:nvSpPr>
        <p:spPr/>
        <p:txBody>
          <a:bodyPr>
            <a:normAutofit fontScale="70000" lnSpcReduction="20000"/>
          </a:bodyPr>
          <a:lstStyle/>
          <a:p>
            <a:pPr marL="0" indent="0">
              <a:buNone/>
            </a:pPr>
            <a:r>
              <a:rPr lang="en-IN" b="1" dirty="0"/>
              <a:t>Windows Mobile Forensics</a:t>
            </a:r>
          </a:p>
          <a:p>
            <a:pPr marL="0" indent="0">
              <a:buNone/>
            </a:pPr>
            <a:endParaRPr lang="en-IN" dirty="0"/>
          </a:p>
          <a:p>
            <a:r>
              <a:rPr lang="en-IN" b="1" dirty="0"/>
              <a:t>Windows Phone (Windows CE/Mobile, Windows Phone 7/8/10 Mobile):</a:t>
            </a:r>
            <a:endParaRPr lang="en-IN" dirty="0"/>
          </a:p>
          <a:p>
            <a:pPr lvl="1"/>
            <a:r>
              <a:rPr lang="en-IN" b="1" dirty="0"/>
              <a:t>Microsoft OS:</a:t>
            </a:r>
            <a:r>
              <a:rPr lang="en-IN" dirty="0"/>
              <a:t> Less prevalent in the market.</a:t>
            </a:r>
          </a:p>
          <a:p>
            <a:pPr lvl="1"/>
            <a:r>
              <a:rPr lang="en-IN" b="1" dirty="0"/>
              <a:t>Live Tiles Interface.</a:t>
            </a:r>
            <a:endParaRPr lang="en-IN" dirty="0"/>
          </a:p>
          <a:p>
            <a:pPr lvl="1"/>
            <a:r>
              <a:rPr lang="en-IN" b="1" dirty="0"/>
              <a:t>Integration with Microsoft Services:</a:t>
            </a:r>
            <a:r>
              <a:rPr lang="en-IN" dirty="0"/>
              <a:t> OneDrive, Outlook.</a:t>
            </a:r>
          </a:p>
          <a:p>
            <a:pPr marL="457200" lvl="1" indent="0">
              <a:buNone/>
            </a:pPr>
            <a:endParaRPr lang="en-IN" dirty="0"/>
          </a:p>
          <a:p>
            <a:r>
              <a:rPr lang="en-IN" b="1" dirty="0"/>
              <a:t>Forensic Implications:</a:t>
            </a:r>
            <a:endParaRPr lang="en-IN" dirty="0"/>
          </a:p>
          <a:p>
            <a:pPr lvl="1"/>
            <a:r>
              <a:rPr lang="en-IN" b="1" dirty="0"/>
              <a:t>Limited Market Share:</a:t>
            </a:r>
            <a:r>
              <a:rPr lang="en-IN" dirty="0"/>
              <a:t> Infrequently encountered in modern cases.</a:t>
            </a:r>
          </a:p>
          <a:p>
            <a:pPr lvl="1"/>
            <a:r>
              <a:rPr lang="en-IN" b="1" dirty="0"/>
              <a:t>Acquisition:</a:t>
            </a:r>
            <a:r>
              <a:rPr lang="en-IN" dirty="0"/>
              <a:t> Often relied on logical backups via Zune software (older) or MTP/PTP protocols.</a:t>
            </a:r>
          </a:p>
          <a:p>
            <a:pPr lvl="1"/>
            <a:r>
              <a:rPr lang="en-IN" b="1" dirty="0"/>
              <a:t>Artifacts:</a:t>
            </a:r>
            <a:r>
              <a:rPr lang="en-IN" dirty="0"/>
              <a:t> SMS, call logs, contacts, browser history (IE/Edge).</a:t>
            </a:r>
          </a:p>
          <a:p>
            <a:pPr lvl="1"/>
            <a:r>
              <a:rPr lang="en-IN" b="1" dirty="0"/>
              <a:t>Tool Support:</a:t>
            </a:r>
            <a:r>
              <a:rPr lang="en-IN" dirty="0"/>
              <a:t> Limited compared to Android/iOS.</a:t>
            </a:r>
          </a:p>
          <a:p>
            <a:endParaRPr lang="en-IN" dirty="0"/>
          </a:p>
        </p:txBody>
      </p:sp>
    </p:spTree>
    <p:extLst>
      <p:ext uri="{BB962C8B-B14F-4D97-AF65-F5344CB8AC3E}">
        <p14:creationId xmlns:p14="http://schemas.microsoft.com/office/powerpoint/2010/main" val="2552716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3.2 Artefact Extraction</a:t>
            </a:r>
          </a:p>
        </p:txBody>
      </p:sp>
      <p:sp>
        <p:nvSpPr>
          <p:cNvPr id="3" name="Content Placeholder 2"/>
          <p:cNvSpPr>
            <a:spLocks noGrp="1"/>
          </p:cNvSpPr>
          <p:nvPr>
            <p:ph idx="1"/>
          </p:nvPr>
        </p:nvSpPr>
        <p:spPr/>
        <p:txBody>
          <a:bodyPr/>
          <a:lstStyle/>
          <a:p>
            <a:r>
              <a:rPr lang="en-US" dirty="0"/>
              <a:t>Digital artifacts are pieces of data left behind by user activity or system processes that can be used as evidence.</a:t>
            </a:r>
          </a:p>
          <a:p>
            <a:r>
              <a:rPr lang="en-US" dirty="0"/>
              <a:t>These artifacts help reconstruct events, establish timelines, identify individuals, and prove intent.</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05F8-47F4-423B-E126-CA8E74DB4F5A}"/>
              </a:ext>
            </a:extLst>
          </p:cNvPr>
          <p:cNvSpPr>
            <a:spLocks noGrp="1"/>
          </p:cNvSpPr>
          <p:nvPr>
            <p:ph type="title"/>
          </p:nvPr>
        </p:nvSpPr>
        <p:spPr>
          <a:xfrm>
            <a:off x="457200" y="104082"/>
            <a:ext cx="8229600" cy="1143000"/>
          </a:xfrm>
        </p:spPr>
        <p:txBody>
          <a:bodyPr/>
          <a:lstStyle/>
          <a:p>
            <a:r>
              <a:rPr lang="en-US" dirty="0"/>
              <a:t>Cont.</a:t>
            </a:r>
            <a:endParaRPr lang="en-IN" dirty="0"/>
          </a:p>
        </p:txBody>
      </p:sp>
      <p:sp>
        <p:nvSpPr>
          <p:cNvPr id="5" name="Rectangle 2">
            <a:extLst>
              <a:ext uri="{FF2B5EF4-FFF2-40B4-BE49-F238E27FC236}">
                <a16:creationId xmlns:a16="http://schemas.microsoft.com/office/drawing/2014/main" id="{EFC5831E-7C94-4800-E466-4CE4624E8D9A}"/>
              </a:ext>
            </a:extLst>
          </p:cNvPr>
          <p:cNvSpPr>
            <a:spLocks noGrp="1" noChangeArrowheads="1"/>
          </p:cNvSpPr>
          <p:nvPr>
            <p:ph idx="1"/>
          </p:nvPr>
        </p:nvSpPr>
        <p:spPr bwMode="auto">
          <a:xfrm>
            <a:off x="290051" y="1154752"/>
            <a:ext cx="8952066"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Contacts and Phone Call Artefacts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Forensic Value: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Identity:</a:t>
            </a:r>
            <a:r>
              <a:rPr kumimoji="0" lang="en-US" altLang="en-US" sz="1800" b="0" i="0" u="none" strike="noStrike" cap="none" normalizeH="0" baseline="0" dirty="0">
                <a:ln>
                  <a:noFill/>
                </a:ln>
                <a:solidFill>
                  <a:schemeClr val="tx1"/>
                </a:solidFill>
                <a:effectLst/>
                <a:latin typeface="Arial" panose="020B0604020202020204" pitchFamily="34" charset="0"/>
              </a:rPr>
              <a:t> Who the user communicates with.</a:t>
            </a:r>
          </a:p>
          <a:p>
            <a:pPr lvl="1"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Associations:</a:t>
            </a:r>
            <a:r>
              <a:rPr kumimoji="0" lang="en-US" altLang="en-US" sz="1800" b="0" i="0" u="none" strike="noStrike" cap="none" normalizeH="0" baseline="0" dirty="0">
                <a:ln>
                  <a:noFill/>
                </a:ln>
                <a:solidFill>
                  <a:schemeClr val="tx1"/>
                </a:solidFill>
                <a:effectLst/>
                <a:latin typeface="Arial" panose="020B0604020202020204" pitchFamily="34" charset="0"/>
              </a:rPr>
              <a:t> Links between individuals.</a:t>
            </a:r>
          </a:p>
          <a:p>
            <a:pPr lvl="1"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Communication Patterns:</a:t>
            </a:r>
            <a:r>
              <a:rPr kumimoji="0" lang="en-US" altLang="en-US" sz="1800" b="0" i="0" u="none" strike="noStrike" cap="none" normalizeH="0" baseline="0" dirty="0">
                <a:ln>
                  <a:noFill/>
                </a:ln>
                <a:solidFill>
                  <a:schemeClr val="tx1"/>
                </a:solidFill>
                <a:effectLst/>
                <a:latin typeface="Arial" panose="020B0604020202020204" pitchFamily="34" charset="0"/>
              </a:rPr>
              <a:t> Frequency, duration of calls.</a:t>
            </a:r>
          </a:p>
          <a:p>
            <a:pPr lvl="1"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Timelines:</a:t>
            </a:r>
            <a:r>
              <a:rPr kumimoji="0" lang="en-US" altLang="en-US" sz="1800" b="0" i="0" u="none" strike="noStrike" cap="none" normalizeH="0" baseline="0" dirty="0">
                <a:ln>
                  <a:noFill/>
                </a:ln>
                <a:solidFill>
                  <a:schemeClr val="tx1"/>
                </a:solidFill>
                <a:effectLst/>
                <a:latin typeface="Arial" panose="020B0604020202020204" pitchFamily="34" charset="0"/>
              </a:rPr>
              <a:t> Exact timestamps of calls.</a:t>
            </a:r>
          </a:p>
          <a:p>
            <a:pPr marL="457200" lvl="1" indent="0" defTabSz="91440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Typical Locations: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Android:</a:t>
            </a:r>
            <a:r>
              <a:rPr kumimoji="0" lang="en-US" altLang="en-US" sz="1800" b="0" i="0" u="none" strike="noStrike" cap="none" normalizeH="0" baseline="0" dirty="0">
                <a:ln>
                  <a:noFill/>
                </a:ln>
                <a:solidFill>
                  <a:schemeClr val="tx1"/>
                </a:solidFill>
                <a:effectLst/>
                <a:latin typeface="Arial" panose="020B0604020202020204" pitchFamily="34" charset="0"/>
              </a:rPr>
              <a:t> SQLite databases </a:t>
            </a:r>
            <a:endParaRPr lang="en-US" altLang="en-US" sz="1800" dirty="0">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100" b="0" i="0" u="none" strike="noStrike" cap="none" normalizeH="0" baseline="0" dirty="0">
                <a:ln>
                  <a:noFill/>
                </a:ln>
                <a:solidFill>
                  <a:schemeClr val="tx1"/>
                </a:solidFill>
                <a:effectLst/>
                <a:latin typeface="Arial Unicode MS"/>
              </a:rPr>
              <a:t>/data/data/</a:t>
            </a:r>
            <a:r>
              <a:rPr kumimoji="0" lang="en-US" altLang="en-US" sz="1100" b="0" i="0" u="none" strike="noStrike" cap="none" normalizeH="0" baseline="0" dirty="0" err="1">
                <a:ln>
                  <a:noFill/>
                </a:ln>
                <a:solidFill>
                  <a:schemeClr val="tx1"/>
                </a:solidFill>
                <a:effectLst/>
                <a:latin typeface="Arial Unicode MS"/>
              </a:rPr>
              <a:t>com.android.providers.contacts</a:t>
            </a:r>
            <a:r>
              <a:rPr kumimoji="0" lang="en-US" altLang="en-US" sz="1100" b="0" i="0" u="none" strike="noStrike" cap="none" normalizeH="0" baseline="0" dirty="0">
                <a:ln>
                  <a:noFill/>
                </a:ln>
                <a:solidFill>
                  <a:schemeClr val="tx1"/>
                </a:solidFill>
                <a:effectLst/>
                <a:latin typeface="Arial Unicode MS"/>
              </a:rPr>
              <a:t>/databases/contacts2.db</a:t>
            </a:r>
            <a:r>
              <a:rPr kumimoji="0" lang="en-US" altLang="en-US" sz="800" b="0" i="0" u="none" strike="noStrike" cap="none" normalizeH="0" baseline="0" dirty="0">
                <a:ln>
                  <a:noFill/>
                </a:ln>
                <a:solidFill>
                  <a:schemeClr val="tx1"/>
                </a:solidFill>
                <a:effectLst/>
              </a:rPr>
              <a:t>, </a:t>
            </a:r>
            <a:r>
              <a:rPr kumimoji="0" lang="en-US" altLang="en-US" sz="1100" b="0" i="0" u="none" strike="noStrike" cap="none" normalizeH="0" baseline="0" dirty="0">
                <a:ln>
                  <a:noFill/>
                </a:ln>
                <a:solidFill>
                  <a:schemeClr val="tx1"/>
                </a:solidFill>
                <a:effectLst/>
                <a:latin typeface="Arial Unicode MS"/>
              </a:rPr>
              <a:t>/data/data/</a:t>
            </a:r>
            <a:r>
              <a:rPr kumimoji="0" lang="en-US" altLang="en-US" sz="1100" b="0" i="0" u="none" strike="noStrike" cap="none" normalizeH="0" baseline="0" dirty="0" err="1">
                <a:ln>
                  <a:noFill/>
                </a:ln>
                <a:solidFill>
                  <a:schemeClr val="tx1"/>
                </a:solidFill>
                <a:effectLst/>
                <a:latin typeface="Arial Unicode MS"/>
              </a:rPr>
              <a:t>com.android.providers.contacts</a:t>
            </a:r>
            <a:r>
              <a:rPr kumimoji="0" lang="en-US" altLang="en-US" sz="1100" b="0" i="0" u="none" strike="noStrike" cap="none" normalizeH="0" baseline="0" dirty="0">
                <a:ln>
                  <a:noFill/>
                </a:ln>
                <a:solidFill>
                  <a:schemeClr val="tx1"/>
                </a:solidFill>
                <a:effectLst/>
                <a:latin typeface="Arial Unicode MS"/>
              </a:rPr>
              <a:t>/databases/</a:t>
            </a:r>
            <a:r>
              <a:rPr kumimoji="0" lang="en-US" altLang="en-US" sz="1100" b="0" i="0" u="none" strike="noStrike" cap="none" normalizeH="0" baseline="0" dirty="0" err="1">
                <a:ln>
                  <a:noFill/>
                </a:ln>
                <a:solidFill>
                  <a:schemeClr val="tx1"/>
                </a:solidFill>
                <a:effectLst/>
                <a:latin typeface="Arial Unicode MS"/>
              </a:rPr>
              <a:t>calllog.db</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iOS:</a:t>
            </a:r>
            <a:r>
              <a:rPr kumimoji="0" lang="en-US" altLang="en-US" sz="1800" b="0" i="0" u="none" strike="noStrike" cap="none" normalizeH="0" baseline="0" dirty="0">
                <a:ln>
                  <a:noFill/>
                </a:ln>
                <a:solidFill>
                  <a:schemeClr val="tx1"/>
                </a:solidFill>
                <a:effectLst/>
                <a:latin typeface="Arial" panose="020B0604020202020204" pitchFamily="34" charset="0"/>
              </a:rPr>
              <a:t> SQLite databases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100" b="0" i="0" u="none" strike="noStrike" cap="none" normalizeH="0" baseline="0" dirty="0">
                <a:ln>
                  <a:noFill/>
                </a:ln>
                <a:solidFill>
                  <a:schemeClr val="tx1"/>
                </a:solidFill>
                <a:effectLst/>
                <a:latin typeface="Arial Unicode MS"/>
              </a:rPr>
              <a:t>/private/var/mobile/Library/</a:t>
            </a:r>
            <a:r>
              <a:rPr kumimoji="0" lang="en-US" altLang="en-US" sz="1100" b="0" i="0" u="none" strike="noStrike" cap="none" normalizeH="0" baseline="0" dirty="0" err="1">
                <a:ln>
                  <a:noFill/>
                </a:ln>
                <a:solidFill>
                  <a:schemeClr val="tx1"/>
                </a:solidFill>
                <a:effectLst/>
                <a:latin typeface="Arial Unicode MS"/>
              </a:rPr>
              <a:t>AddressBook</a:t>
            </a:r>
            <a:r>
              <a:rPr kumimoji="0" lang="en-US" altLang="en-US" sz="1100" b="0" i="0" u="none" strike="noStrike" cap="none" normalizeH="0" baseline="0" dirty="0">
                <a:ln>
                  <a:noFill/>
                </a:ln>
                <a:solidFill>
                  <a:schemeClr val="tx1"/>
                </a:solidFill>
                <a:effectLst/>
                <a:latin typeface="Arial Unicode MS"/>
              </a:rPr>
              <a:t>/</a:t>
            </a:r>
            <a:r>
              <a:rPr kumimoji="0" lang="en-US" altLang="en-US" sz="1100" b="0" i="0" u="none" strike="noStrike" cap="none" normalizeH="0" baseline="0" dirty="0" err="1">
                <a:ln>
                  <a:noFill/>
                </a:ln>
                <a:solidFill>
                  <a:schemeClr val="tx1"/>
                </a:solidFill>
                <a:effectLst/>
                <a:latin typeface="Arial Unicode MS"/>
              </a:rPr>
              <a:t>AddressBook.sqlitedb</a:t>
            </a:r>
            <a:r>
              <a:rPr kumimoji="0" lang="en-US" altLang="en-US" sz="800" b="0" i="0" u="none" strike="noStrike" cap="none" normalizeH="0" baseline="0" dirty="0">
                <a:ln>
                  <a:noFill/>
                </a:ln>
                <a:solidFill>
                  <a:schemeClr val="tx1"/>
                </a:solidFill>
                <a:effectLst/>
              </a:rPr>
              <a:t>, </a:t>
            </a:r>
            <a:r>
              <a:rPr kumimoji="0" lang="en-US" altLang="en-US" sz="1100" b="0" i="0" u="none" strike="noStrike" cap="none" normalizeH="0" baseline="0" dirty="0">
                <a:ln>
                  <a:noFill/>
                </a:ln>
                <a:solidFill>
                  <a:schemeClr val="tx1"/>
                </a:solidFill>
                <a:effectLst/>
                <a:latin typeface="Arial Unicode MS"/>
              </a:rPr>
              <a:t>/private/var/wireless/Library/</a:t>
            </a:r>
            <a:r>
              <a:rPr kumimoji="0" lang="en-US" altLang="en-US" sz="1100" b="0" i="0" u="none" strike="noStrike" cap="none" normalizeH="0" baseline="0" dirty="0" err="1">
                <a:ln>
                  <a:noFill/>
                </a:ln>
                <a:solidFill>
                  <a:schemeClr val="tx1"/>
                </a:solidFill>
                <a:effectLst/>
                <a:latin typeface="Arial Unicode MS"/>
              </a:rPr>
              <a:t>CallHistory</a:t>
            </a:r>
            <a:r>
              <a:rPr kumimoji="0" lang="en-US" altLang="en-US" sz="1100" b="0" i="0" u="none" strike="noStrike" cap="none" normalizeH="0" baseline="0" dirty="0">
                <a:ln>
                  <a:noFill/>
                </a:ln>
                <a:solidFill>
                  <a:schemeClr val="tx1"/>
                </a:solidFill>
                <a:effectLst/>
                <a:latin typeface="Arial Unicode MS"/>
              </a:rPr>
              <a:t>/</a:t>
            </a:r>
            <a:r>
              <a:rPr kumimoji="0" lang="en-US" altLang="en-US" sz="1100" b="0" i="0" u="none" strike="noStrike" cap="none" normalizeH="0" baseline="0" dirty="0" err="1">
                <a:ln>
                  <a:noFill/>
                </a:ln>
                <a:solidFill>
                  <a:schemeClr val="tx1"/>
                </a:solidFill>
                <a:effectLst/>
                <a:latin typeface="Arial Unicode MS"/>
              </a:rPr>
              <a:t>call_history.db</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Cloud Sync:</a:t>
            </a:r>
            <a:r>
              <a:rPr kumimoji="0" lang="en-US" altLang="en-US" sz="1800" b="0" i="0" u="none" strike="noStrike" cap="none" normalizeH="0" baseline="0" dirty="0">
                <a:ln>
                  <a:noFill/>
                </a:ln>
                <a:solidFill>
                  <a:schemeClr val="tx1"/>
                </a:solidFill>
                <a:effectLst/>
                <a:latin typeface="Arial" panose="020B0604020202020204" pitchFamily="34" charset="0"/>
              </a:rPr>
              <a:t> Google Contacts, iCloud Contacts.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SIM Card:</a:t>
            </a:r>
            <a:r>
              <a:rPr kumimoji="0" lang="en-US" altLang="en-US" sz="1800" b="0" i="0" u="none" strike="noStrike" cap="none" normalizeH="0" baseline="0" dirty="0">
                <a:ln>
                  <a:noFill/>
                </a:ln>
                <a:solidFill>
                  <a:schemeClr val="tx1"/>
                </a:solidFill>
                <a:effectLst/>
                <a:latin typeface="Arial" panose="020B0604020202020204" pitchFamily="34" charset="0"/>
              </a:rPr>
              <a:t> Limited contact storage (EF_ADN) and last dialed numbers.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Extraction Methods:</a:t>
            </a:r>
            <a:r>
              <a:rPr kumimoji="0" lang="en-US" altLang="en-US" sz="1800" b="0" i="0" u="none" strike="noStrike" cap="none" normalizeH="0" baseline="0" dirty="0">
                <a:ln>
                  <a:noFill/>
                </a:ln>
                <a:solidFill>
                  <a:schemeClr val="tx1"/>
                </a:solidFill>
                <a:effectLst/>
                <a:latin typeface="Arial" panose="020B0604020202020204" pitchFamily="34" charset="0"/>
              </a:rPr>
              <a:t> Logical backup, filesystem acquisition, physical acquisition,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SIM card readers.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Tools:</a:t>
            </a:r>
            <a:r>
              <a:rPr kumimoji="0" lang="en-US" altLang="en-US" sz="1800" b="0" i="0" u="none" strike="noStrike" cap="none" normalizeH="0" baseline="0" dirty="0">
                <a:ln>
                  <a:noFill/>
                </a:ln>
                <a:solidFill>
                  <a:schemeClr val="tx1"/>
                </a:solidFill>
                <a:effectLst/>
                <a:latin typeface="Arial" panose="020B0604020202020204" pitchFamily="34" charset="0"/>
              </a:rPr>
              <a:t> Commercial forensic suites (AXIOM, UFED, Oxygen), SQLite browsers, </a:t>
            </a:r>
            <a:r>
              <a:rPr lang="en-US" altLang="en-US" sz="1800" dirty="0">
                <a:latin typeface="Arial" panose="020B0604020202020204" pitchFamily="34" charset="0"/>
              </a:rPr>
              <a:t>ADB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998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AA7C-7249-18E8-575F-9080312147BF}"/>
              </a:ext>
            </a:extLst>
          </p:cNvPr>
          <p:cNvSpPr>
            <a:spLocks noGrp="1"/>
          </p:cNvSpPr>
          <p:nvPr>
            <p:ph type="title"/>
          </p:nvPr>
        </p:nvSpPr>
        <p:spPr/>
        <p:txBody>
          <a:bodyPr/>
          <a:lstStyle/>
          <a:p>
            <a:r>
              <a:rPr lang="en-US" dirty="0"/>
              <a:t>Cont.</a:t>
            </a:r>
            <a:endParaRPr lang="en-IN" dirty="0"/>
          </a:p>
        </p:txBody>
      </p:sp>
      <p:sp>
        <p:nvSpPr>
          <p:cNvPr id="4" name="Rectangle 1">
            <a:extLst>
              <a:ext uri="{FF2B5EF4-FFF2-40B4-BE49-F238E27FC236}">
                <a16:creationId xmlns:a16="http://schemas.microsoft.com/office/drawing/2014/main" id="{8AE0275D-4DFE-C733-DD88-12BA2AFF36F1}"/>
              </a:ext>
            </a:extLst>
          </p:cNvPr>
          <p:cNvSpPr>
            <a:spLocks noGrp="1" noChangeArrowheads="1"/>
          </p:cNvSpPr>
          <p:nvPr>
            <p:ph idx="1"/>
          </p:nvPr>
        </p:nvSpPr>
        <p:spPr bwMode="auto">
          <a:xfrm>
            <a:off x="457200" y="1047029"/>
            <a:ext cx="780854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SMS Artefacts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Forensic Value: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Direct Communication:</a:t>
            </a:r>
            <a:r>
              <a:rPr kumimoji="0" lang="en-US" altLang="en-US" sz="1800" b="0" i="0" u="none" strike="noStrike" cap="none" normalizeH="0" baseline="0" dirty="0">
                <a:ln>
                  <a:noFill/>
                </a:ln>
                <a:solidFill>
                  <a:schemeClr val="tx1"/>
                </a:solidFill>
                <a:effectLst/>
                <a:latin typeface="Arial" panose="020B0604020202020204" pitchFamily="34" charset="0"/>
              </a:rPr>
              <a:t> Content of conversations.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Timelines:</a:t>
            </a:r>
            <a:r>
              <a:rPr kumimoji="0" lang="en-US" altLang="en-US" sz="1800" b="0" i="0" u="none" strike="noStrike" cap="none" normalizeH="0" baseline="0" dirty="0">
                <a:ln>
                  <a:noFill/>
                </a:ln>
                <a:solidFill>
                  <a:schemeClr val="tx1"/>
                </a:solidFill>
                <a:effectLst/>
                <a:latin typeface="Arial" panose="020B0604020202020204" pitchFamily="34" charset="0"/>
              </a:rPr>
              <a:t> Exact timestamps of messages sent/received.</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Participants:</a:t>
            </a:r>
            <a:r>
              <a:rPr kumimoji="0" lang="en-US" altLang="en-US" sz="1800" b="0" i="0" u="none" strike="noStrike" cap="none" normalizeH="0" baseline="0" dirty="0">
                <a:ln>
                  <a:noFill/>
                </a:ln>
                <a:solidFill>
                  <a:schemeClr val="tx1"/>
                </a:solidFill>
                <a:effectLst/>
                <a:latin typeface="Arial" panose="020B0604020202020204" pitchFamily="34" charset="0"/>
              </a:rPr>
              <a:t> Sender and receiver phone numbers.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Multimedia:</a:t>
            </a:r>
            <a:r>
              <a:rPr kumimoji="0" lang="en-US" altLang="en-US" sz="1800" b="0" i="0" u="none" strike="noStrike" cap="none" normalizeH="0" baseline="0" dirty="0">
                <a:ln>
                  <a:noFill/>
                </a:ln>
                <a:solidFill>
                  <a:schemeClr val="tx1"/>
                </a:solidFill>
                <a:effectLst/>
                <a:latin typeface="Arial" panose="020B0604020202020204" pitchFamily="34" charset="0"/>
              </a:rPr>
              <a:t> Attached images, audio, video in MMS.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Typical Locations: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 typeface="Wingdings" panose="05000000000000000000" pitchFamily="2" charset="2"/>
              <a:buChar char="Ø"/>
            </a:pPr>
            <a:r>
              <a:rPr lang="en-US" altLang="en-US" sz="1800" b="1" dirty="0">
                <a:latin typeface="Arial" panose="020B0604020202020204" pitchFamily="34" charset="0"/>
              </a:rPr>
              <a:t>Android: </a:t>
            </a:r>
            <a:r>
              <a:rPr lang="en-US" altLang="en-US" sz="1800" dirty="0">
                <a:latin typeface="Arial" panose="020B0604020202020204" pitchFamily="34" charset="0"/>
              </a:rPr>
              <a:t>SQLite database </a:t>
            </a:r>
          </a:p>
          <a:p>
            <a:pPr marL="457200" lvl="1" indent="0" defTabSz="914400" eaLnBrk="0" fontAlgn="base" hangingPunct="0">
              <a:spcBef>
                <a:spcPct val="0"/>
              </a:spcBef>
              <a:spcAft>
                <a:spcPct val="0"/>
              </a:spcAft>
              <a:buNone/>
            </a:pPr>
            <a:r>
              <a:rPr lang="en-US" altLang="en-US" sz="1800" dirty="0">
                <a:latin typeface="Arial" panose="020B0604020202020204" pitchFamily="34" charset="0"/>
              </a:rPr>
              <a:t>/data/data/</a:t>
            </a:r>
            <a:r>
              <a:rPr lang="en-US" altLang="en-US" sz="1800" dirty="0" err="1">
                <a:latin typeface="Arial" panose="020B0604020202020204" pitchFamily="34" charset="0"/>
              </a:rPr>
              <a:t>com.android.providers.telephony</a:t>
            </a:r>
            <a:r>
              <a:rPr lang="en-US" altLang="en-US" sz="1800" dirty="0">
                <a:latin typeface="Arial" panose="020B0604020202020204" pitchFamily="34" charset="0"/>
              </a:rPr>
              <a:t>/databases/</a:t>
            </a:r>
            <a:r>
              <a:rPr lang="en-US" altLang="en-US" sz="1800" dirty="0" err="1">
                <a:latin typeface="Arial" panose="020B0604020202020204" pitchFamily="34" charset="0"/>
              </a:rPr>
              <a:t>mmssms.db</a:t>
            </a:r>
            <a:endParaRPr lang="en-US" altLang="en-US" sz="1800" dirty="0">
              <a:latin typeface="Arial" panose="020B0604020202020204" pitchFamily="34" charset="0"/>
            </a:endParaRPr>
          </a:p>
          <a:p>
            <a:pPr lvl="1" defTabSz="914400" eaLnBrk="0" fontAlgn="base" hangingPunct="0">
              <a:spcBef>
                <a:spcPct val="0"/>
              </a:spcBef>
              <a:spcAft>
                <a:spcPct val="0"/>
              </a:spcAft>
              <a:buFont typeface="Wingdings" panose="05000000000000000000" pitchFamily="2" charset="2"/>
              <a:buChar char="Ø"/>
            </a:pPr>
            <a:r>
              <a:rPr lang="en-US" altLang="en-US" sz="1800" b="1" dirty="0">
                <a:latin typeface="Arial" panose="020B0604020202020204" pitchFamily="34" charset="0"/>
              </a:rPr>
              <a:t>iOS (Messages/iMessage): </a:t>
            </a:r>
            <a:r>
              <a:rPr lang="en-US" altLang="en-US" sz="1800" dirty="0">
                <a:latin typeface="Arial" panose="020B0604020202020204" pitchFamily="34" charset="0"/>
              </a:rPr>
              <a:t>SQLite database </a:t>
            </a:r>
          </a:p>
          <a:p>
            <a:pPr marL="457200" lvl="1" indent="0" defTabSz="914400" eaLnBrk="0" fontAlgn="base" hangingPunct="0">
              <a:spcBef>
                <a:spcPct val="0"/>
              </a:spcBef>
              <a:spcAft>
                <a:spcPct val="0"/>
              </a:spcAft>
              <a:buNone/>
            </a:pPr>
            <a:r>
              <a:rPr lang="en-US" altLang="en-US" sz="1800" dirty="0">
                <a:latin typeface="Arial" panose="020B0604020202020204" pitchFamily="34" charset="0"/>
              </a:rPr>
              <a:t>/private/var/mobile/Library/SMS/</a:t>
            </a:r>
            <a:r>
              <a:rPr lang="en-US" altLang="en-US" sz="1800" dirty="0" err="1">
                <a:latin typeface="Arial" panose="020B0604020202020204" pitchFamily="34" charset="0"/>
              </a:rPr>
              <a:t>sms.db</a:t>
            </a:r>
            <a:endParaRPr lang="en-US" altLang="en-US" sz="1800" dirty="0">
              <a:latin typeface="Arial" panose="020B0604020202020204" pitchFamily="34" charset="0"/>
            </a:endParaRPr>
          </a:p>
          <a:p>
            <a:pPr lvl="1" defTabSz="914400" eaLnBrk="0" fontAlgn="base" hangingPunct="0">
              <a:spcBef>
                <a:spcPct val="0"/>
              </a:spcBef>
              <a:spcAft>
                <a:spcPct val="0"/>
              </a:spcAft>
              <a:buFont typeface="Wingdings" panose="05000000000000000000" pitchFamily="2" charset="2"/>
              <a:buChar char="Ø"/>
            </a:pPr>
            <a:r>
              <a:rPr lang="en-US" altLang="en-US" sz="1800" b="1" dirty="0">
                <a:latin typeface="Arial" panose="020B0604020202020204" pitchFamily="34" charset="0"/>
              </a:rPr>
              <a:t>SIM Card</a:t>
            </a:r>
            <a:r>
              <a:rPr lang="en-US" altLang="en-US" sz="1800" dirty="0">
                <a:latin typeface="Arial" panose="020B0604020202020204" pitchFamily="34" charset="0"/>
              </a:rPr>
              <a:t>: Limited SMS storage (EF_SMS).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Extraction Methods:</a:t>
            </a:r>
            <a:r>
              <a:rPr kumimoji="0" lang="en-US" altLang="en-US" sz="1800" b="0" i="0" u="none" strike="noStrike" cap="none" normalizeH="0" baseline="0" dirty="0">
                <a:ln>
                  <a:noFill/>
                </a:ln>
                <a:solidFill>
                  <a:schemeClr val="tx1"/>
                </a:solidFill>
                <a:effectLst/>
                <a:latin typeface="Arial" panose="020B0604020202020204" pitchFamily="34" charset="0"/>
              </a:rPr>
              <a:t> Logical backup, filesystem acquisition, physical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acquisition, SIM card readers.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Tools:</a:t>
            </a:r>
            <a:r>
              <a:rPr kumimoji="0" lang="en-US" altLang="en-US" sz="1800" b="0" i="0" u="none" strike="noStrike" cap="none" normalizeH="0" baseline="0" dirty="0">
                <a:ln>
                  <a:noFill/>
                </a:ln>
                <a:solidFill>
                  <a:schemeClr val="tx1"/>
                </a:solidFill>
                <a:effectLst/>
                <a:latin typeface="Arial" panose="020B0604020202020204" pitchFamily="34" charset="0"/>
              </a:rPr>
              <a:t> Commercial forensic suites, SQLite browsers.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25957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30DA8-7A49-24B6-9207-EBFC4F69B9B0}"/>
              </a:ext>
            </a:extLst>
          </p:cNvPr>
          <p:cNvSpPr>
            <a:spLocks noGrp="1"/>
          </p:cNvSpPr>
          <p:nvPr>
            <p:ph type="title"/>
          </p:nvPr>
        </p:nvSpPr>
        <p:spPr/>
        <p:txBody>
          <a:bodyPr/>
          <a:lstStyle/>
          <a:p>
            <a:r>
              <a:rPr lang="en-US" dirty="0"/>
              <a:t>Cont.</a:t>
            </a:r>
            <a:endParaRPr lang="en-IN" dirty="0"/>
          </a:p>
        </p:txBody>
      </p:sp>
      <p:sp>
        <p:nvSpPr>
          <p:cNvPr id="4" name="Rectangle 1">
            <a:extLst>
              <a:ext uri="{FF2B5EF4-FFF2-40B4-BE49-F238E27FC236}">
                <a16:creationId xmlns:a16="http://schemas.microsoft.com/office/drawing/2014/main" id="{C03EECD3-8123-D004-0046-5463968C53A7}"/>
              </a:ext>
            </a:extLst>
          </p:cNvPr>
          <p:cNvSpPr>
            <a:spLocks noGrp="1" noChangeArrowheads="1"/>
          </p:cNvSpPr>
          <p:nvPr>
            <p:ph idx="1"/>
          </p:nvPr>
        </p:nvSpPr>
        <p:spPr bwMode="auto">
          <a:xfrm>
            <a:off x="457200" y="1047028"/>
            <a:ext cx="886223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Network Artefacts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Forensic Value: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Connectivity:</a:t>
            </a:r>
            <a:r>
              <a:rPr kumimoji="0" lang="en-US" altLang="en-US" sz="1800" b="0" i="0" u="none" strike="noStrike" cap="none" normalizeH="0" baseline="0" dirty="0">
                <a:ln>
                  <a:noFill/>
                </a:ln>
                <a:solidFill>
                  <a:schemeClr val="tx1"/>
                </a:solidFill>
                <a:effectLst/>
                <a:latin typeface="Arial" panose="020B0604020202020204" pitchFamily="34" charset="0"/>
              </a:rPr>
              <a:t> When and where the device connected to networks.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Associated Devices:</a:t>
            </a:r>
            <a:r>
              <a:rPr kumimoji="0" lang="en-US" altLang="en-US" sz="1800" b="0" i="0" u="none" strike="noStrike" cap="none" normalizeH="0" baseline="0" dirty="0">
                <a:ln>
                  <a:noFill/>
                </a:ln>
                <a:solidFill>
                  <a:schemeClr val="tx1"/>
                </a:solidFill>
                <a:effectLst/>
                <a:latin typeface="Arial" panose="020B0604020202020204" pitchFamily="34" charset="0"/>
              </a:rPr>
              <a:t> Bluetooth pairings.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Web Activity:</a:t>
            </a:r>
            <a:r>
              <a:rPr kumimoji="0" lang="en-US" altLang="en-US" sz="1800" b="0" i="0" u="none" strike="noStrike" cap="none" normalizeH="0" baseline="0" dirty="0">
                <a:ln>
                  <a:noFill/>
                </a:ln>
                <a:solidFill>
                  <a:schemeClr val="tx1"/>
                </a:solidFill>
                <a:effectLst/>
                <a:latin typeface="Arial" panose="020B0604020202020204" pitchFamily="34" charset="0"/>
              </a:rPr>
              <a:t> Websites visited, search queries.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Communication:</a:t>
            </a:r>
            <a:r>
              <a:rPr kumimoji="0" lang="en-US" altLang="en-US" sz="1800" b="0" i="0" u="none" strike="noStrike" cap="none" normalizeH="0" baseline="0" dirty="0">
                <a:ln>
                  <a:noFill/>
                </a:ln>
                <a:solidFill>
                  <a:schemeClr val="tx1"/>
                </a:solidFill>
                <a:effectLst/>
                <a:latin typeface="Arial" panose="020B0604020202020204" pitchFamily="34" charset="0"/>
              </a:rPr>
              <a:t> Evidence of data transfer, app usage.</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Types &amp; Locations: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Wi-Fi Connection History:</a:t>
            </a:r>
            <a:r>
              <a:rPr kumimoji="0" lang="en-US" altLang="en-US" sz="1800" b="0" i="0" u="none" strike="noStrike" cap="none" normalizeH="0" baseline="0" dirty="0">
                <a:ln>
                  <a:noFill/>
                </a:ln>
                <a:solidFill>
                  <a:schemeClr val="tx1"/>
                </a:solidFill>
                <a:effectLst/>
                <a:latin typeface="Arial" panose="020B0604020202020204" pitchFamily="34" charset="0"/>
              </a:rPr>
              <a:t> Network SSIDs, MAC addresses,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connection times (often in system logs or specific databases).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Bluetooth Pairing Records:</a:t>
            </a:r>
            <a:r>
              <a:rPr kumimoji="0" lang="en-US" altLang="en-US" sz="1800" b="0" i="0" u="none" strike="noStrike" cap="none" normalizeH="0" baseline="0" dirty="0">
                <a:ln>
                  <a:noFill/>
                </a:ln>
                <a:solidFill>
                  <a:schemeClr val="tx1"/>
                </a:solidFill>
                <a:effectLst/>
                <a:latin typeface="Arial" panose="020B0604020202020204" pitchFamily="34" charset="0"/>
              </a:rPr>
              <a:t> Paired devices, connection timestamps.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Cellular Network Logs:</a:t>
            </a:r>
            <a:r>
              <a:rPr kumimoji="0" lang="en-US" altLang="en-US" sz="1800" b="0" i="0" u="none" strike="noStrike" cap="none" normalizeH="0" baseline="0" dirty="0">
                <a:ln>
                  <a:noFill/>
                </a:ln>
                <a:solidFill>
                  <a:schemeClr val="tx1"/>
                </a:solidFill>
                <a:effectLst/>
                <a:latin typeface="Arial" panose="020B0604020202020204" pitchFamily="34" charset="0"/>
              </a:rPr>
              <a:t> Cell tower IDs, signal strength, network changes </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Web Browser History:</a:t>
            </a:r>
            <a:r>
              <a:rPr kumimoji="0" lang="en-US" altLang="en-US" sz="1800" b="0" i="0" u="none" strike="noStrike" cap="none" normalizeH="0" baseline="0" dirty="0">
                <a:ln>
                  <a:noFill/>
                </a:ln>
                <a:solidFill>
                  <a:schemeClr val="tx1"/>
                </a:solidFill>
                <a:effectLst/>
                <a:latin typeface="Arial" panose="020B0604020202020204" pitchFamily="34" charset="0"/>
              </a:rPr>
              <a:t> URLs, timestamps, downloads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DNS Cache:</a:t>
            </a:r>
            <a:r>
              <a:rPr kumimoji="0" lang="en-US" altLang="en-US" sz="1800" b="0" i="0" u="none" strike="noStrike" cap="none" normalizeH="0" baseline="0" dirty="0">
                <a:ln>
                  <a:noFill/>
                </a:ln>
                <a:solidFill>
                  <a:schemeClr val="tx1"/>
                </a:solidFill>
                <a:effectLst/>
                <a:latin typeface="Arial" panose="020B0604020202020204" pitchFamily="34" charset="0"/>
              </a:rPr>
              <a:t> Recently resolved domain names.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Extraction Methods:</a:t>
            </a:r>
            <a:r>
              <a:rPr kumimoji="0" lang="en-US" altLang="en-US" sz="1800" b="0" i="0" u="none" strike="noStrike" cap="none" normalizeH="0" baseline="0" dirty="0">
                <a:ln>
                  <a:noFill/>
                </a:ln>
                <a:solidFill>
                  <a:schemeClr val="tx1"/>
                </a:solidFill>
                <a:effectLst/>
                <a:latin typeface="Arial" panose="020B0604020202020204" pitchFamily="34" charset="0"/>
              </a:rPr>
              <a:t> Logical/filesystem acquisition, physical acquisition.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Arial" panose="020B0604020202020204" pitchFamily="34" charset="0"/>
              </a:rPr>
              <a:t>   T</a:t>
            </a:r>
            <a:r>
              <a:rPr kumimoji="0" lang="en-US" altLang="en-US" sz="1800" b="1" i="0" u="none" strike="noStrike" cap="none" normalizeH="0" baseline="0" dirty="0">
                <a:ln>
                  <a:noFill/>
                </a:ln>
                <a:solidFill>
                  <a:schemeClr val="tx1"/>
                </a:solidFill>
                <a:effectLst/>
                <a:latin typeface="Arial" panose="020B0604020202020204" pitchFamily="34" charset="0"/>
              </a:rPr>
              <a:t>ools:</a:t>
            </a:r>
            <a:r>
              <a:rPr kumimoji="0" lang="en-US" altLang="en-US" sz="1800" b="0" i="0" u="none" strike="noStrike" cap="none" normalizeH="0" baseline="0" dirty="0">
                <a:ln>
                  <a:noFill/>
                </a:ln>
                <a:solidFill>
                  <a:schemeClr val="tx1"/>
                </a:solidFill>
                <a:effectLst/>
                <a:latin typeface="Arial" panose="020B0604020202020204" pitchFamily="34" charset="0"/>
              </a:rPr>
              <a:t> Commercial forensic suites, browser history parsers, network analysis tools.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068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FC2BF-B02A-3173-6D6B-8906A272E479}"/>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7A1E943A-458D-C440-6B09-149E5D940170}"/>
              </a:ext>
            </a:extLst>
          </p:cNvPr>
          <p:cNvSpPr>
            <a:spLocks noGrp="1"/>
          </p:cNvSpPr>
          <p:nvPr>
            <p:ph idx="1"/>
          </p:nvPr>
        </p:nvSpPr>
        <p:spPr/>
        <p:txBody>
          <a:bodyPr>
            <a:normAutofit fontScale="25000" lnSpcReduction="20000"/>
          </a:bodyPr>
          <a:lstStyle/>
          <a:p>
            <a:pPr marL="0" indent="0">
              <a:buNone/>
            </a:pPr>
            <a:r>
              <a:rPr lang="en-US" sz="6000" b="1" dirty="0"/>
              <a:t>Location Artefacts</a:t>
            </a:r>
          </a:p>
          <a:p>
            <a:pPr marL="0" indent="0">
              <a:buNone/>
            </a:pPr>
            <a:endParaRPr lang="en-US" sz="6000" dirty="0"/>
          </a:p>
          <a:p>
            <a:pPr marL="0" indent="0">
              <a:buNone/>
            </a:pPr>
            <a:r>
              <a:rPr lang="en-US" sz="6000" b="1" dirty="0"/>
              <a:t>   Forensic Value:</a:t>
            </a:r>
            <a:endParaRPr lang="en-US" sz="6000" dirty="0"/>
          </a:p>
          <a:p>
            <a:pPr lvl="1"/>
            <a:r>
              <a:rPr lang="en-US" sz="6000" b="1" dirty="0"/>
              <a:t>Movement Patterns:</a:t>
            </a:r>
            <a:r>
              <a:rPr lang="en-US" sz="6000" dirty="0"/>
              <a:t> Where the user has been.</a:t>
            </a:r>
          </a:p>
          <a:p>
            <a:pPr lvl="1"/>
            <a:r>
              <a:rPr lang="en-US" sz="6000" b="1" dirty="0"/>
              <a:t>Alibi Corroboration/Refutation:</a:t>
            </a:r>
            <a:r>
              <a:rPr lang="en-US" sz="6000" dirty="0"/>
              <a:t> Proving or disproving presence at a location.</a:t>
            </a:r>
          </a:p>
          <a:p>
            <a:pPr lvl="1"/>
            <a:r>
              <a:rPr lang="en-US" sz="6000" b="1" dirty="0"/>
              <a:t>Association:</a:t>
            </a:r>
            <a:r>
              <a:rPr lang="en-US" sz="6000" dirty="0"/>
              <a:t> Linking a device to a crime scene.</a:t>
            </a:r>
          </a:p>
          <a:p>
            <a:pPr lvl="1"/>
            <a:r>
              <a:rPr lang="en-US" sz="6000" b="1" dirty="0"/>
              <a:t>Intent:</a:t>
            </a:r>
            <a:r>
              <a:rPr lang="en-US" sz="6000" dirty="0"/>
              <a:t> Showing travel to specific locations.</a:t>
            </a:r>
          </a:p>
          <a:p>
            <a:pPr marL="457200" lvl="1" indent="0">
              <a:buNone/>
            </a:pPr>
            <a:endParaRPr lang="en-US" sz="6000" dirty="0"/>
          </a:p>
          <a:p>
            <a:pPr marL="0" indent="0">
              <a:buNone/>
            </a:pPr>
            <a:r>
              <a:rPr lang="en-US" sz="6000" b="1" dirty="0"/>
              <a:t>   Types &amp; Locations:</a:t>
            </a:r>
            <a:endParaRPr lang="en-US" sz="6000" dirty="0"/>
          </a:p>
          <a:p>
            <a:pPr lvl="1"/>
            <a:r>
              <a:rPr lang="en-US" sz="6000" b="1" dirty="0"/>
              <a:t>GPS Logs:</a:t>
            </a:r>
            <a:r>
              <a:rPr lang="en-US" sz="6000" dirty="0"/>
              <a:t> Raw GPS coordinates from the device's GPS receiver (often in system databases or specific app data).</a:t>
            </a:r>
          </a:p>
          <a:p>
            <a:pPr lvl="1"/>
            <a:r>
              <a:rPr lang="en-US" sz="6000" b="1" dirty="0"/>
              <a:t>Geotagged Media:</a:t>
            </a:r>
            <a:r>
              <a:rPr lang="en-US" sz="6000" dirty="0"/>
              <a:t> Photos and videos often embed GPS coordinates in EXIF metadata.</a:t>
            </a:r>
          </a:p>
          <a:p>
            <a:pPr lvl="1"/>
            <a:r>
              <a:rPr lang="en-US" sz="6000" b="1" dirty="0"/>
              <a:t>Wi-Fi Location:</a:t>
            </a:r>
            <a:r>
              <a:rPr lang="en-US" sz="6000" dirty="0"/>
              <a:t> Databases of Wi-Fi access points and their known locations.</a:t>
            </a:r>
          </a:p>
          <a:p>
            <a:pPr lvl="1"/>
            <a:r>
              <a:rPr lang="en-US" sz="6000" b="1" dirty="0"/>
              <a:t>Cell Tower Location:</a:t>
            </a:r>
            <a:r>
              <a:rPr lang="en-US" sz="6000" dirty="0"/>
              <a:t> Records of connected cell towers (less precise, but ubiquitous).</a:t>
            </a:r>
          </a:p>
          <a:p>
            <a:pPr lvl="1"/>
            <a:r>
              <a:rPr lang="en-US" sz="6000" b="1" dirty="0"/>
              <a:t>Application-Specific Location Data:</a:t>
            </a:r>
            <a:r>
              <a:rPr lang="en-US" sz="6000" dirty="0"/>
              <a:t> Google Maps history, Apple Maps history, ride-sharing apps, fitness trackers, social media check-ins.</a:t>
            </a:r>
          </a:p>
          <a:p>
            <a:pPr lvl="1"/>
            <a:r>
              <a:rPr lang="en-US" sz="6000" b="1" dirty="0"/>
              <a:t>Bluetooth Beaconing:</a:t>
            </a:r>
            <a:r>
              <a:rPr lang="en-US" sz="6000" dirty="0"/>
              <a:t> Proximity to known Bluetooth devices.</a:t>
            </a:r>
          </a:p>
          <a:p>
            <a:pPr marL="457200" lvl="1" indent="0">
              <a:buNone/>
            </a:pPr>
            <a:endParaRPr lang="en-US" sz="6000" dirty="0"/>
          </a:p>
          <a:p>
            <a:pPr marL="0" indent="0">
              <a:buNone/>
            </a:pPr>
            <a:r>
              <a:rPr lang="en-US" sz="6000" b="1" dirty="0"/>
              <a:t>   Extraction Methods:</a:t>
            </a:r>
            <a:r>
              <a:rPr lang="en-US" sz="6000" dirty="0"/>
              <a:t> Logical/filesystem acquisition, physical acquisition.</a:t>
            </a:r>
          </a:p>
          <a:p>
            <a:pPr marL="0" indent="0">
              <a:buNone/>
            </a:pPr>
            <a:endParaRPr lang="en-US" sz="6000" dirty="0"/>
          </a:p>
          <a:p>
            <a:pPr marL="0" indent="0">
              <a:buNone/>
            </a:pPr>
            <a:r>
              <a:rPr lang="en-US" sz="6000" b="1" dirty="0"/>
              <a:t>   Tools:</a:t>
            </a:r>
            <a:r>
              <a:rPr lang="en-US" sz="6000" dirty="0"/>
              <a:t> Commercial forensic suites, EXIF data viewers, mapping tools (Google Earth).</a:t>
            </a:r>
          </a:p>
          <a:p>
            <a:endParaRPr lang="en-IN" dirty="0"/>
          </a:p>
        </p:txBody>
      </p:sp>
    </p:spTree>
    <p:extLst>
      <p:ext uri="{BB962C8B-B14F-4D97-AF65-F5344CB8AC3E}">
        <p14:creationId xmlns:p14="http://schemas.microsoft.com/office/powerpoint/2010/main" val="112187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1A77-B8B0-07AE-69A8-2F2A8BE747AD}"/>
              </a:ext>
            </a:extLst>
          </p:cNvPr>
          <p:cNvSpPr>
            <a:spLocks noGrp="1"/>
          </p:cNvSpPr>
          <p:nvPr>
            <p:ph type="title"/>
          </p:nvPr>
        </p:nvSpPr>
        <p:spPr>
          <a:xfrm>
            <a:off x="394022" y="98826"/>
            <a:ext cx="8229600" cy="610265"/>
          </a:xfrm>
        </p:spPr>
        <p:txBody>
          <a:bodyPr>
            <a:normAutofit fontScale="90000"/>
          </a:bodyPr>
          <a:lstStyle/>
          <a:p>
            <a:r>
              <a:rPr lang="en-US" dirty="0"/>
              <a:t>Cont.</a:t>
            </a:r>
            <a:endParaRPr lang="en-IN" dirty="0"/>
          </a:p>
        </p:txBody>
      </p:sp>
      <p:sp>
        <p:nvSpPr>
          <p:cNvPr id="4" name="Rectangle 1">
            <a:extLst>
              <a:ext uri="{FF2B5EF4-FFF2-40B4-BE49-F238E27FC236}">
                <a16:creationId xmlns:a16="http://schemas.microsoft.com/office/drawing/2014/main" id="{587D37A4-4FFF-DBD2-4FDA-7D82DD1B8A89}"/>
              </a:ext>
            </a:extLst>
          </p:cNvPr>
          <p:cNvSpPr>
            <a:spLocks noGrp="1" noChangeArrowheads="1"/>
          </p:cNvSpPr>
          <p:nvPr>
            <p:ph idx="1"/>
          </p:nvPr>
        </p:nvSpPr>
        <p:spPr bwMode="auto">
          <a:xfrm>
            <a:off x="457200" y="1231694"/>
            <a:ext cx="834433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System Artefacts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Forensic Value: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Device Context:</a:t>
            </a:r>
            <a:r>
              <a:rPr kumimoji="0" lang="en-US" altLang="en-US" sz="1600" b="0" i="0" u="none" strike="noStrike" cap="none" normalizeH="0" baseline="0" dirty="0">
                <a:ln>
                  <a:noFill/>
                </a:ln>
                <a:solidFill>
                  <a:schemeClr val="tx1"/>
                </a:solidFill>
                <a:effectLst/>
                <a:latin typeface="Arial" panose="020B0604020202020204" pitchFamily="34" charset="0"/>
              </a:rPr>
              <a:t> What kind of device, OS version, build.</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User Activity:</a:t>
            </a:r>
            <a:r>
              <a:rPr kumimoji="0" lang="en-US" altLang="en-US" sz="1600" b="0" i="0" u="none" strike="noStrike" cap="none" normalizeH="0" baseline="0" dirty="0">
                <a:ln>
                  <a:noFill/>
                </a:ln>
                <a:solidFill>
                  <a:schemeClr val="tx1"/>
                </a:solidFill>
                <a:effectLst/>
                <a:latin typeface="Arial" panose="020B0604020202020204" pitchFamily="34" charset="0"/>
              </a:rPr>
              <a:t> When the device was used, which apps were opened.</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Installed Capabilities:</a:t>
            </a:r>
            <a:r>
              <a:rPr kumimoji="0" lang="en-US" altLang="en-US" sz="1600" b="0" i="0" u="none" strike="noStrike" cap="none" normalizeH="0" baseline="0" dirty="0">
                <a:ln>
                  <a:noFill/>
                </a:ln>
                <a:solidFill>
                  <a:schemeClr val="tx1"/>
                </a:solidFill>
                <a:effectLst/>
                <a:latin typeface="Arial" panose="020B0604020202020204" pitchFamily="34" charset="0"/>
              </a:rPr>
              <a:t> What applications were present on the device.</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Security Posture:</a:t>
            </a:r>
            <a:r>
              <a:rPr kumimoji="0" lang="en-US" altLang="en-US" sz="1600" b="0" i="0" u="none" strike="noStrike" cap="none" normalizeH="0" baseline="0" dirty="0">
                <a:ln>
                  <a:noFill/>
                </a:ln>
                <a:solidFill>
                  <a:schemeClr val="tx1"/>
                </a:solidFill>
                <a:effectLst/>
                <a:latin typeface="Arial" panose="020B0604020202020204" pitchFamily="34" charset="0"/>
              </a:rPr>
              <a:t> Patch level, security settings.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Types &amp; Locations: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Device Information:</a:t>
            </a:r>
            <a:r>
              <a:rPr kumimoji="0" lang="en-US" altLang="en-US" sz="1600" b="0" i="0" u="none" strike="noStrike" cap="none" normalizeH="0" baseline="0" dirty="0">
                <a:ln>
                  <a:noFill/>
                </a:ln>
                <a:solidFill>
                  <a:schemeClr val="tx1"/>
                </a:solidFill>
                <a:effectLst/>
                <a:latin typeface="Arial" panose="020B0604020202020204" pitchFamily="34" charset="0"/>
              </a:rPr>
              <a:t> IMEI, MEID, Serial Number, Phone Number, OS version, </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Installed Applications List:</a:t>
            </a:r>
            <a:r>
              <a:rPr kumimoji="0" lang="en-US" altLang="en-US" sz="1600" b="0" i="0" u="none" strike="noStrike" cap="none" normalizeH="0" baseline="0" dirty="0">
                <a:ln>
                  <a:noFill/>
                </a:ln>
                <a:solidFill>
                  <a:schemeClr val="tx1"/>
                </a:solidFill>
                <a:effectLst/>
                <a:latin typeface="Arial" panose="020B0604020202020204" pitchFamily="34" charset="0"/>
              </a:rPr>
              <a:t> List of all apps, their versions, and installation dates.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Application Usage Records:</a:t>
            </a:r>
            <a:r>
              <a:rPr kumimoji="0" lang="en-US" altLang="en-US" sz="1600" b="0" i="0" u="none" strike="noStrike" cap="none" normalizeH="0" baseline="0" dirty="0">
                <a:ln>
                  <a:noFill/>
                </a:ln>
                <a:solidFill>
                  <a:schemeClr val="tx1"/>
                </a:solidFill>
                <a:effectLst/>
                <a:latin typeface="Arial" panose="020B0604020202020204" pitchFamily="34" charset="0"/>
              </a:rPr>
              <a:t> When apps were last opened</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System Logs:</a:t>
            </a:r>
            <a:r>
              <a:rPr kumimoji="0" lang="en-US" altLang="en-US" sz="1600" b="0" i="0" u="none" strike="noStrike" cap="none" normalizeH="0" baseline="0" dirty="0">
                <a:ln>
                  <a:noFill/>
                </a:ln>
                <a:solidFill>
                  <a:schemeClr val="tx1"/>
                </a:solidFill>
                <a:effectLst/>
                <a:latin typeface="Arial" panose="020B0604020202020204" pitchFamily="34" charset="0"/>
              </a:rPr>
              <a:t> Records of system events, errors, crashes, security events </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User Accounts:</a:t>
            </a:r>
            <a:r>
              <a:rPr kumimoji="0" lang="en-US" altLang="en-US" sz="1600" b="0" i="0" u="none" strike="noStrike" cap="none" normalizeH="0" baseline="0" dirty="0">
                <a:ln>
                  <a:noFill/>
                </a:ln>
                <a:solidFill>
                  <a:schemeClr val="tx1"/>
                </a:solidFill>
                <a:effectLst/>
                <a:latin typeface="Arial" panose="020B0604020202020204" pitchFamily="34" charset="0"/>
              </a:rPr>
              <a:t> Information about configured email, social media, and cloud </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Arial" panose="020B0604020202020204" pitchFamily="34" charset="0"/>
              </a:rPr>
              <a:t>accounts.</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al" panose="020B0604020202020204" pitchFamily="34" charset="0"/>
              </a:rPr>
              <a:t>Device State:</a:t>
            </a:r>
            <a:r>
              <a:rPr kumimoji="0" lang="en-US" altLang="en-US" sz="1600" b="0" i="0" u="none" strike="noStrike" cap="none" normalizeH="0" baseline="0" dirty="0">
                <a:ln>
                  <a:noFill/>
                </a:ln>
                <a:solidFill>
                  <a:schemeClr val="tx1"/>
                </a:solidFill>
                <a:effectLst/>
                <a:latin typeface="Arial" panose="020B0604020202020204" pitchFamily="34" charset="0"/>
              </a:rPr>
              <a:t> Battery level, network status at specific times.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Extraction Methods</a:t>
            </a:r>
            <a:r>
              <a:rPr kumimoji="0" lang="en-US" altLang="en-US" sz="1600" b="0" i="0" u="none" strike="noStrike" cap="none" normalizeH="0" baseline="0" dirty="0">
                <a:ln>
                  <a:noFill/>
                </a:ln>
                <a:solidFill>
                  <a:schemeClr val="tx1"/>
                </a:solidFill>
                <a:effectLst/>
                <a:latin typeface="Arial" panose="020B0604020202020204" pitchFamily="34" charset="0"/>
              </a:rPr>
              <a:t> Logical/filesystem acquisition, physical acquisition.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Tools:</a:t>
            </a:r>
            <a:r>
              <a:rPr kumimoji="0" lang="en-US" altLang="en-US" sz="1600" b="0" i="0" u="none" strike="noStrike" cap="none" normalizeH="0" baseline="0" dirty="0">
                <a:ln>
                  <a:noFill/>
                </a:ln>
                <a:solidFill>
                  <a:schemeClr val="tx1"/>
                </a:solidFill>
                <a:effectLst/>
                <a:latin typeface="Arial" panose="020B0604020202020204" pitchFamily="34" charset="0"/>
              </a:rPr>
              <a:t> Commercial forensic suites, log viewers, text editors, custom scripts.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22795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9F6E3-A984-D6D2-46FB-508BADB8AB49}"/>
              </a:ext>
            </a:extLst>
          </p:cNvPr>
          <p:cNvSpPr>
            <a:spLocks noGrp="1"/>
          </p:cNvSpPr>
          <p:nvPr>
            <p:ph type="title"/>
          </p:nvPr>
        </p:nvSpPr>
        <p:spPr>
          <a:xfrm>
            <a:off x="457200" y="-10497"/>
            <a:ext cx="8229600" cy="1143000"/>
          </a:xfrm>
        </p:spPr>
        <p:txBody>
          <a:bodyPr/>
          <a:lstStyle/>
          <a:p>
            <a:r>
              <a:rPr lang="en-US" dirty="0"/>
              <a:t>Cont.</a:t>
            </a:r>
            <a:endParaRPr lang="en-IN" dirty="0"/>
          </a:p>
        </p:txBody>
      </p:sp>
      <p:sp>
        <p:nvSpPr>
          <p:cNvPr id="4" name="Rectangle 1">
            <a:extLst>
              <a:ext uri="{FF2B5EF4-FFF2-40B4-BE49-F238E27FC236}">
                <a16:creationId xmlns:a16="http://schemas.microsoft.com/office/drawing/2014/main" id="{0E3EA5B7-DDB7-715B-EBF6-1B4A39CB3A1A}"/>
              </a:ext>
            </a:extLst>
          </p:cNvPr>
          <p:cNvSpPr>
            <a:spLocks noGrp="1" noChangeArrowheads="1"/>
          </p:cNvSpPr>
          <p:nvPr>
            <p:ph idx="1"/>
          </p:nvPr>
        </p:nvSpPr>
        <p:spPr bwMode="auto">
          <a:xfrm>
            <a:off x="457200" y="923917"/>
            <a:ext cx="8689238"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0" defTabSz="914400" eaLnBrk="0" fontAlgn="base" hangingPunct="0">
              <a:spcBef>
                <a:spcPct val="0"/>
              </a:spcBef>
              <a:spcAft>
                <a:spcPct val="0"/>
              </a:spcAft>
              <a:buNone/>
            </a:pPr>
            <a:r>
              <a:rPr lang="en-US" altLang="en-US" sz="1800" b="1" dirty="0">
                <a:latin typeface="Arial" panose="020B0604020202020204" pitchFamily="34" charset="0"/>
              </a:rPr>
              <a:t>Multimedia Files Artefacts</a:t>
            </a:r>
          </a:p>
          <a:p>
            <a:pPr lvl="0" indent="0" defTabSz="914400" eaLnBrk="0" fontAlgn="base" hangingPunct="0">
              <a:spcBef>
                <a:spcPct val="0"/>
              </a:spcBef>
              <a:spcAft>
                <a:spcPct val="0"/>
              </a:spcAft>
              <a:buNone/>
            </a:pPr>
            <a:endParaRPr lang="en-US" altLang="en-US" sz="1800" b="1" dirty="0">
              <a:latin typeface="Arial" panose="020B0604020202020204" pitchFamily="34" charset="0"/>
            </a:endParaRPr>
          </a:p>
          <a:p>
            <a:pPr lvl="0" indent="0" defTabSz="914400" eaLnBrk="0" fontAlgn="base" hangingPunct="0">
              <a:spcBef>
                <a:spcPct val="0"/>
              </a:spcBef>
              <a:spcAft>
                <a:spcPct val="0"/>
              </a:spcAft>
              <a:buNone/>
            </a:pPr>
            <a:r>
              <a:rPr lang="en-US" altLang="en-US" sz="1800" b="1" dirty="0">
                <a:latin typeface="Arial" panose="020B0604020202020204" pitchFamily="34" charset="0"/>
              </a:rPr>
              <a:t>Forensic Value:</a:t>
            </a:r>
          </a:p>
          <a:p>
            <a:pPr marR="0" lvl="1" defTabSz="914400" eaLnBrk="0" fontAlgn="base" hangingPunct="0">
              <a:lnSpc>
                <a:spcPct val="100000"/>
              </a:lnSpc>
              <a:spcBef>
                <a:spcPct val="0"/>
              </a:spcBef>
              <a:spcAft>
                <a:spcPct val="0"/>
              </a:spcAft>
              <a:buClrTx/>
              <a:buSzTx/>
              <a:buFont typeface="Wingdings" panose="05000000000000000000" pitchFamily="2" charset="2"/>
              <a:buChar char="Ø"/>
              <a:tabLst/>
            </a:pPr>
            <a:r>
              <a:rPr lang="en-US" altLang="en-US" sz="1800" b="1" dirty="0">
                <a:latin typeface="Arial" panose="020B0604020202020204" pitchFamily="34" charset="0"/>
              </a:rPr>
              <a:t>Direct Visual/Audio Evidence: </a:t>
            </a:r>
            <a:r>
              <a:rPr lang="en-US" altLang="en-US" sz="1800" dirty="0">
                <a:latin typeface="Arial" panose="020B0604020202020204" pitchFamily="34" charset="0"/>
              </a:rPr>
              <a:t>Content directly related to the investigation.</a:t>
            </a:r>
          </a:p>
          <a:p>
            <a:pPr marR="0" lvl="1" defTabSz="914400" eaLnBrk="0" fontAlgn="base" hangingPunct="0">
              <a:lnSpc>
                <a:spcPct val="100000"/>
              </a:lnSpc>
              <a:spcBef>
                <a:spcPct val="0"/>
              </a:spcBef>
              <a:spcAft>
                <a:spcPct val="0"/>
              </a:spcAft>
              <a:buClrTx/>
              <a:buSzTx/>
              <a:buFont typeface="Wingdings" panose="05000000000000000000" pitchFamily="2" charset="2"/>
              <a:buChar char="Ø"/>
              <a:tabLst/>
            </a:pPr>
            <a:r>
              <a:rPr lang="en-US" altLang="en-US" sz="1800" b="1" dirty="0">
                <a:latin typeface="Arial" panose="020B0604020202020204" pitchFamily="34" charset="0"/>
              </a:rPr>
              <a:t>Context: </a:t>
            </a:r>
            <a:r>
              <a:rPr lang="en-US" altLang="en-US" sz="1800" dirty="0">
                <a:latin typeface="Arial" panose="020B0604020202020204" pitchFamily="34" charset="0"/>
              </a:rPr>
              <a:t>What was happening, who was present.</a:t>
            </a:r>
          </a:p>
          <a:p>
            <a:pPr marR="0" lvl="1" defTabSz="914400" eaLnBrk="0" fontAlgn="base" hangingPunct="0">
              <a:lnSpc>
                <a:spcPct val="100000"/>
              </a:lnSpc>
              <a:spcBef>
                <a:spcPct val="0"/>
              </a:spcBef>
              <a:spcAft>
                <a:spcPct val="0"/>
              </a:spcAft>
              <a:buClrTx/>
              <a:buSzTx/>
              <a:buFont typeface="Wingdings" panose="05000000000000000000" pitchFamily="2" charset="2"/>
              <a:buChar char="Ø"/>
              <a:tabLst/>
            </a:pPr>
            <a:r>
              <a:rPr lang="en-US" altLang="en-US" sz="1800" b="1" dirty="0">
                <a:latin typeface="Arial" panose="020B0604020202020204" pitchFamily="34" charset="0"/>
              </a:rPr>
              <a:t>EXIF Data (for photos): </a:t>
            </a:r>
            <a:r>
              <a:rPr lang="en-US" altLang="en-US" sz="1800" dirty="0">
                <a:latin typeface="Arial" panose="020B0604020202020204" pitchFamily="34" charset="0"/>
              </a:rPr>
              <a:t>Timestamps, device model, camera settings, </a:t>
            </a:r>
          </a:p>
          <a:p>
            <a:pPr marR="0" lvl="1" defTabSz="914400" eaLnBrk="0" fontAlgn="base" hangingPunct="0">
              <a:lnSpc>
                <a:spcPct val="100000"/>
              </a:lnSpc>
              <a:spcBef>
                <a:spcPct val="0"/>
              </a:spcBef>
              <a:spcAft>
                <a:spcPct val="0"/>
              </a:spcAft>
              <a:buClrTx/>
              <a:buSzTx/>
              <a:buFont typeface="Wingdings" panose="05000000000000000000" pitchFamily="2" charset="2"/>
              <a:buChar char="Ø"/>
              <a:tabLst/>
            </a:pPr>
            <a:r>
              <a:rPr lang="en-US" altLang="en-US" sz="1800" dirty="0">
                <a:latin typeface="Arial" panose="020B0604020202020204" pitchFamily="34" charset="0"/>
              </a:rPr>
              <a:t>                                        GPS coordinates (if enabled).</a:t>
            </a:r>
          </a:p>
          <a:p>
            <a:pPr marR="0" lvl="1" defTabSz="914400" eaLnBrk="0" fontAlgn="base" hangingPunct="0">
              <a:lnSpc>
                <a:spcPct val="100000"/>
              </a:lnSpc>
              <a:spcBef>
                <a:spcPct val="0"/>
              </a:spcBef>
              <a:spcAft>
                <a:spcPct val="0"/>
              </a:spcAft>
              <a:buClrTx/>
              <a:buSzTx/>
              <a:buFont typeface="Wingdings" panose="05000000000000000000" pitchFamily="2" charset="2"/>
              <a:buChar char="Ø"/>
              <a:tabLst/>
            </a:pPr>
            <a:r>
              <a:rPr lang="en-US" altLang="en-US" sz="1800" b="1" dirty="0">
                <a:latin typeface="Arial" panose="020B0604020202020204" pitchFamily="34" charset="0"/>
              </a:rPr>
              <a:t>Metadata: </a:t>
            </a:r>
            <a:r>
              <a:rPr lang="en-US" altLang="en-US" sz="1800" dirty="0">
                <a:latin typeface="Arial" panose="020B0604020202020204" pitchFamily="34" charset="0"/>
              </a:rPr>
              <a:t>Creation/modification dates, file sizes, unique hashes.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Typical Locations: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Android:</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defTabSz="914400" eaLnBrk="0" fontAlgn="base" hangingPunct="0">
              <a:spcBef>
                <a:spcPct val="0"/>
              </a:spcBef>
              <a:spcAft>
                <a:spcPct val="0"/>
              </a:spcAft>
              <a:buFont typeface="Wingdings" panose="05000000000000000000" pitchFamily="2" charset="2"/>
              <a:buChar char="Ø"/>
            </a:pPr>
            <a:r>
              <a:rPr lang="en-US" altLang="en-US" sz="1600" dirty="0">
                <a:latin typeface="Arial Unicode MS"/>
              </a:rPr>
              <a:t>/</a:t>
            </a:r>
            <a:r>
              <a:rPr lang="en-US" altLang="en-US" sz="1600" dirty="0" err="1">
                <a:latin typeface="Arial Unicode MS"/>
              </a:rPr>
              <a:t>sdcard</a:t>
            </a:r>
            <a:r>
              <a:rPr lang="en-US" altLang="en-US" sz="1600" dirty="0">
                <a:latin typeface="Arial Unicode MS"/>
              </a:rPr>
              <a:t>/DCIM/Camera/, /</a:t>
            </a:r>
            <a:r>
              <a:rPr lang="en-US" altLang="en-US" sz="1600" dirty="0" err="1">
                <a:latin typeface="Arial Unicode MS"/>
              </a:rPr>
              <a:t>sdcard</a:t>
            </a:r>
            <a:r>
              <a:rPr lang="en-US" altLang="en-US" sz="1600" dirty="0">
                <a:latin typeface="Arial Unicode MS"/>
              </a:rPr>
              <a:t>/Pictures/, /</a:t>
            </a:r>
            <a:r>
              <a:rPr lang="en-US" altLang="en-US" sz="1600" dirty="0" err="1">
                <a:latin typeface="Arial Unicode MS"/>
              </a:rPr>
              <a:t>sdcard</a:t>
            </a:r>
            <a:r>
              <a:rPr lang="en-US" altLang="en-US" sz="1600" dirty="0">
                <a:latin typeface="Arial Unicode MS"/>
              </a:rPr>
              <a:t>/Downloads/, </a:t>
            </a:r>
          </a:p>
          <a:p>
            <a:pPr lvl="1" defTabSz="914400"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iOS: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/private/var/mobile/Media/DCIM/</a:t>
            </a:r>
            <a:r>
              <a:rPr kumimoji="0" lang="en-US" altLang="en-US" sz="105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/private/var/mobile/Media/</a:t>
            </a:r>
            <a:r>
              <a:rPr kumimoji="0" lang="en-US" altLang="en-US" sz="1600" b="0" i="0" u="none" strike="noStrike" cap="none" normalizeH="0" baseline="0" dirty="0" err="1">
                <a:ln>
                  <a:noFill/>
                </a:ln>
                <a:solidFill>
                  <a:schemeClr val="tx1"/>
                </a:solidFill>
                <a:effectLst/>
                <a:latin typeface="Arial Unicode MS"/>
              </a:rPr>
              <a:t>PhotoData</a:t>
            </a:r>
            <a:r>
              <a:rPr kumimoji="0" lang="en-US" altLang="en-US" sz="1600" b="0" i="0" u="none" strike="noStrike" cap="none" normalizeH="0" baseline="0" dirty="0">
                <a:ln>
                  <a:noFill/>
                </a:ln>
                <a:solidFill>
                  <a:schemeClr val="tx1"/>
                </a:solidFill>
                <a:effectLst/>
                <a:latin typeface="Arial Unicode MS"/>
              </a:rPr>
              <a:t>/</a:t>
            </a:r>
            <a:r>
              <a:rPr kumimoji="0" lang="en-US" altLang="en-US" sz="1050" b="0" i="0" u="none" strike="noStrike" cap="none" normalizeH="0" baseline="0" dirty="0">
                <a:ln>
                  <a:noFill/>
                </a:ln>
                <a:solidFill>
                  <a:schemeClr val="tx1"/>
                </a:solidFill>
                <a:effectLst/>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Cloud Sync:</a:t>
            </a:r>
            <a:r>
              <a:rPr kumimoji="0" lang="en-US" altLang="en-US" sz="1800" b="0" i="0" u="none" strike="noStrike" cap="none" normalizeH="0" baseline="0" dirty="0">
                <a:ln>
                  <a:noFill/>
                </a:ln>
                <a:solidFill>
                  <a:schemeClr val="tx1"/>
                </a:solidFill>
                <a:effectLst/>
                <a:latin typeface="Arial" panose="020B0604020202020204" pitchFamily="34" charset="0"/>
              </a:rPr>
              <a:t> Google Photos, iCloud Photos.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Extraction Methods:</a:t>
            </a:r>
            <a:r>
              <a:rPr kumimoji="0" lang="en-US" altLang="en-US" sz="1800" b="0" i="0" u="none" strike="noStrike" cap="none" normalizeH="0" baseline="0" dirty="0">
                <a:ln>
                  <a:noFill/>
                </a:ln>
                <a:solidFill>
                  <a:schemeClr val="tx1"/>
                </a:solidFill>
                <a:effectLst/>
                <a:latin typeface="Arial" panose="020B0604020202020204" pitchFamily="34" charset="0"/>
              </a:rPr>
              <a:t> Logical acquisition (if accessible), filesystem acquisition,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physical acquisition.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Tools:</a:t>
            </a:r>
            <a:r>
              <a:rPr kumimoji="0" lang="en-US" altLang="en-US" sz="1800" b="0" i="0" u="none" strike="noStrike" cap="none" normalizeH="0" baseline="0" dirty="0">
                <a:ln>
                  <a:noFill/>
                </a:ln>
                <a:solidFill>
                  <a:schemeClr val="tx1"/>
                </a:solidFill>
                <a:effectLst/>
                <a:latin typeface="Arial" panose="020B0604020202020204" pitchFamily="34" charset="0"/>
              </a:rPr>
              <a:t> Commercial forensic suites, image viewers, video players, audio players,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EXIF data viewers/extractors.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1526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3.3 Data and File Carving</a:t>
            </a:r>
          </a:p>
        </p:txBody>
      </p:sp>
      <p:sp>
        <p:nvSpPr>
          <p:cNvPr id="3" name="Content Placeholder 2"/>
          <p:cNvSpPr>
            <a:spLocks noGrp="1"/>
          </p:cNvSpPr>
          <p:nvPr>
            <p:ph idx="1"/>
          </p:nvPr>
        </p:nvSpPr>
        <p:spPr/>
        <p:txBody>
          <a:bodyPr>
            <a:normAutofit fontScale="85000" lnSpcReduction="20000"/>
          </a:bodyPr>
          <a:lstStyle/>
          <a:p>
            <a:pPr marL="0" lvl="0" indent="0" defTabSz="914400" eaLnBrk="0" fontAlgn="base" hangingPunct="0">
              <a:spcBef>
                <a:spcPct val="0"/>
              </a:spcBef>
              <a:spcAft>
                <a:spcPct val="0"/>
              </a:spcAft>
              <a:buNone/>
            </a:pPr>
            <a:r>
              <a:rPr lang="en-US" altLang="en-US" sz="1800" b="1" dirty="0">
                <a:latin typeface="Arial" panose="020B0604020202020204" pitchFamily="34" charset="0"/>
              </a:rPr>
              <a:t>Data and File Carving</a:t>
            </a:r>
          </a:p>
          <a:p>
            <a:pPr marL="0" lvl="0" indent="0" defTabSz="914400" eaLnBrk="0" fontAlgn="base" hangingPunct="0">
              <a:spcBef>
                <a:spcPct val="0"/>
              </a:spcBef>
              <a:spcAft>
                <a:spcPct val="0"/>
              </a:spcAft>
              <a:buNone/>
            </a:pPr>
            <a:r>
              <a:rPr lang="en-US" altLang="en-US" sz="1800" dirty="0">
                <a:latin typeface="Arial" panose="020B0604020202020204" pitchFamily="34" charset="0"/>
              </a:rPr>
              <a:t>The process of recovering files or fragments of files from unallocated (free) space on a storage medium. It works by searching for known file headers and footers (signatures) and attempting to reconstruct the data in between.</a:t>
            </a:r>
          </a:p>
          <a:p>
            <a:pPr marL="0" lvl="0" indent="0" defTabSz="914400" eaLnBrk="0" fontAlgn="base" hangingPunct="0">
              <a:spcBef>
                <a:spcPct val="0"/>
              </a:spcBef>
              <a:spcAft>
                <a:spcPct val="0"/>
              </a:spcAft>
              <a:buNone/>
            </a:pPr>
            <a:endParaRPr lang="en-US" altLang="en-US" sz="1800" dirty="0">
              <a:latin typeface="Arial" panose="020B0604020202020204" pitchFamily="34" charset="0"/>
            </a:endParaRPr>
          </a:p>
          <a:p>
            <a:pPr marL="0" lvl="0" indent="0" defTabSz="914400" eaLnBrk="0" fontAlgn="base" hangingPunct="0">
              <a:spcBef>
                <a:spcPct val="0"/>
              </a:spcBef>
              <a:spcAft>
                <a:spcPct val="0"/>
              </a:spcAft>
              <a:buNone/>
            </a:pPr>
            <a:r>
              <a:rPr lang="en-US" altLang="en-US" sz="1800" b="1" dirty="0">
                <a:latin typeface="Arial" panose="020B0604020202020204" pitchFamily="34" charset="0"/>
              </a:rPr>
              <a:t>Why it's needed:</a:t>
            </a:r>
            <a:endParaRPr lang="en-US" altLang="en-US" sz="1800" dirty="0">
              <a:latin typeface="Arial" panose="020B0604020202020204" pitchFamily="34" charset="0"/>
            </a:endParaRPr>
          </a:p>
          <a:p>
            <a:pPr marL="457200" lvl="1" indent="0" defTabSz="914400" eaLnBrk="0" fontAlgn="base" hangingPunct="0">
              <a:spcBef>
                <a:spcPct val="0"/>
              </a:spcBef>
              <a:spcAft>
                <a:spcPct val="0"/>
              </a:spcAft>
              <a:buFontTx/>
              <a:buChar char="•"/>
            </a:pPr>
            <a:r>
              <a:rPr lang="en-US" altLang="en-US" sz="1800" dirty="0">
                <a:latin typeface="Arial" panose="020B0604020202020204" pitchFamily="34" charset="0"/>
              </a:rPr>
              <a:t>Files that have been "deleted" by the OS are often not immediately overwritten. The OS just removes the pointer to the file in the file system table.</a:t>
            </a:r>
          </a:p>
          <a:p>
            <a:pPr marL="457200" lvl="1" indent="0" defTabSz="914400" eaLnBrk="0" fontAlgn="base" hangingPunct="0">
              <a:spcBef>
                <a:spcPct val="0"/>
              </a:spcBef>
              <a:spcAft>
                <a:spcPct val="0"/>
              </a:spcAft>
              <a:buFontTx/>
              <a:buChar char="•"/>
            </a:pPr>
            <a:r>
              <a:rPr lang="en-US" altLang="en-US" sz="1800" dirty="0">
                <a:latin typeface="Arial" panose="020B0604020202020204" pitchFamily="34" charset="0"/>
              </a:rPr>
              <a:t>File carving can recover data from damaged file systems or raw disk images where the file system metadata is corrupted or missing.</a:t>
            </a:r>
          </a:p>
          <a:p>
            <a:pPr marL="0" lvl="0" indent="0" defTabSz="914400" eaLnBrk="0" fontAlgn="base" hangingPunct="0">
              <a:spcBef>
                <a:spcPct val="0"/>
              </a:spcBef>
              <a:spcAft>
                <a:spcPct val="0"/>
              </a:spcAft>
              <a:buNone/>
            </a:pPr>
            <a:r>
              <a:rPr lang="en-US" altLang="en-US" sz="1800" b="1" dirty="0">
                <a:latin typeface="Arial" panose="020B0604020202020204" pitchFamily="34" charset="0"/>
              </a:rPr>
              <a:t>Process:</a:t>
            </a:r>
            <a:endParaRPr lang="en-US" altLang="en-US" sz="1800" dirty="0">
              <a:latin typeface="Arial" panose="020B0604020202020204" pitchFamily="34" charset="0"/>
            </a:endParaRPr>
          </a:p>
          <a:p>
            <a:pPr marL="457200" lvl="1" indent="0" defTabSz="914400" eaLnBrk="0" fontAlgn="base" hangingPunct="0">
              <a:spcBef>
                <a:spcPct val="0"/>
              </a:spcBef>
              <a:spcAft>
                <a:spcPct val="0"/>
              </a:spcAft>
              <a:buFontTx/>
              <a:buAutoNum type="arabicPeriod"/>
            </a:pPr>
            <a:r>
              <a:rPr lang="en-US" altLang="en-US" sz="1800" dirty="0">
                <a:latin typeface="Arial" panose="020B0604020202020204" pitchFamily="34" charset="0"/>
              </a:rPr>
              <a:t>Acquire a physical or full filesystem image of the mobile device's storage.</a:t>
            </a:r>
          </a:p>
          <a:p>
            <a:pPr marL="457200" lvl="1" indent="0" defTabSz="914400" eaLnBrk="0" fontAlgn="base" hangingPunct="0">
              <a:spcBef>
                <a:spcPct val="0"/>
              </a:spcBef>
              <a:spcAft>
                <a:spcPct val="0"/>
              </a:spcAft>
              <a:buFontTx/>
              <a:buAutoNum type="arabicPeriod" startAt="2"/>
            </a:pPr>
            <a:r>
              <a:rPr lang="en-US" altLang="en-US" sz="1800" dirty="0">
                <a:latin typeface="Arial" panose="020B0604020202020204" pitchFamily="34" charset="0"/>
              </a:rPr>
              <a:t>Scan the raw data for specific file signatures </a:t>
            </a:r>
          </a:p>
          <a:p>
            <a:pPr marL="457200" lvl="1" indent="0" defTabSz="914400" eaLnBrk="0" fontAlgn="base" hangingPunct="0">
              <a:spcBef>
                <a:spcPct val="0"/>
              </a:spcBef>
              <a:spcAft>
                <a:spcPct val="0"/>
              </a:spcAft>
              <a:buFontTx/>
              <a:buAutoNum type="arabicPeriod" startAt="2"/>
            </a:pPr>
            <a:r>
              <a:rPr lang="en-US" altLang="en-US" sz="1800" dirty="0">
                <a:latin typeface="Arial" panose="020B0604020202020204" pitchFamily="34" charset="0"/>
              </a:rPr>
              <a:t>Extract the data blocks between the identified header and footer.</a:t>
            </a:r>
          </a:p>
          <a:p>
            <a:pPr marL="457200" lvl="1" indent="0" defTabSz="914400" eaLnBrk="0" fontAlgn="base" hangingPunct="0">
              <a:spcBef>
                <a:spcPct val="0"/>
              </a:spcBef>
              <a:spcAft>
                <a:spcPct val="0"/>
              </a:spcAft>
              <a:buFontTx/>
              <a:buAutoNum type="arabicPeriod" startAt="4"/>
            </a:pPr>
            <a:r>
              <a:rPr lang="en-US" altLang="en-US" sz="1800" dirty="0">
                <a:latin typeface="Arial" panose="020B0604020202020204" pitchFamily="34" charset="0"/>
              </a:rPr>
              <a:t>Attempt to reconstruct the file.</a:t>
            </a:r>
          </a:p>
          <a:p>
            <a:pPr marL="0" lvl="0" indent="0" defTabSz="914400" eaLnBrk="0" fontAlgn="base" hangingPunct="0">
              <a:spcBef>
                <a:spcPct val="0"/>
              </a:spcBef>
              <a:spcAft>
                <a:spcPct val="0"/>
              </a:spcAft>
              <a:buNone/>
            </a:pPr>
            <a:r>
              <a:rPr lang="en-US" altLang="en-US" sz="1800" b="1" dirty="0">
                <a:latin typeface="Arial" panose="020B0604020202020204" pitchFamily="34" charset="0"/>
              </a:rPr>
              <a:t>Limitations:</a:t>
            </a:r>
            <a:endParaRPr lang="en-US" altLang="en-US" sz="1800" dirty="0">
              <a:latin typeface="Arial" panose="020B0604020202020204" pitchFamily="34" charset="0"/>
            </a:endParaRPr>
          </a:p>
          <a:p>
            <a:pPr marL="457200" lvl="1" indent="0" defTabSz="914400" eaLnBrk="0" fontAlgn="base" hangingPunct="0">
              <a:spcBef>
                <a:spcPct val="0"/>
              </a:spcBef>
              <a:spcAft>
                <a:spcPct val="0"/>
              </a:spcAft>
              <a:buFontTx/>
              <a:buChar char="•"/>
            </a:pPr>
            <a:r>
              <a:rPr lang="en-US" altLang="en-US" sz="1800" dirty="0">
                <a:latin typeface="Arial" panose="020B0604020202020204" pitchFamily="34" charset="0"/>
              </a:rPr>
              <a:t>Fragmented files are harder to carve completely.</a:t>
            </a:r>
          </a:p>
          <a:p>
            <a:pPr marL="457200" lvl="1" indent="0" defTabSz="914400" eaLnBrk="0" fontAlgn="base" hangingPunct="0">
              <a:spcBef>
                <a:spcPct val="0"/>
              </a:spcBef>
              <a:spcAft>
                <a:spcPct val="0"/>
              </a:spcAft>
              <a:buFontTx/>
              <a:buChar char="•"/>
            </a:pPr>
            <a:r>
              <a:rPr lang="en-US" altLang="en-US" sz="1800" dirty="0">
                <a:latin typeface="Arial" panose="020B0604020202020204" pitchFamily="34" charset="0"/>
              </a:rPr>
              <a:t>Encryption makes carving impossible without decryption.</a:t>
            </a:r>
          </a:p>
          <a:p>
            <a:pPr marL="457200" lvl="1" indent="0" defTabSz="914400" eaLnBrk="0" fontAlgn="base" hangingPunct="0">
              <a:spcBef>
                <a:spcPct val="0"/>
              </a:spcBef>
              <a:spcAft>
                <a:spcPct val="0"/>
              </a:spcAft>
              <a:buFontTx/>
              <a:buChar char="•"/>
            </a:pPr>
            <a:r>
              <a:rPr lang="en-US" altLang="en-US" sz="1800" dirty="0">
                <a:latin typeface="Arial" panose="020B0604020202020204" pitchFamily="34" charset="0"/>
              </a:rPr>
              <a:t>Wear leveling and garbage collection on flash memory can make recovery difficult or impossible as data is moved/erased.</a:t>
            </a:r>
          </a:p>
          <a:p>
            <a:pPr marL="0" lvl="0" indent="0" defTabSz="914400" eaLnBrk="0" fontAlgn="base" hangingPunct="0">
              <a:spcBef>
                <a:spcPct val="0"/>
              </a:spcBef>
              <a:spcAft>
                <a:spcPct val="0"/>
              </a:spcAft>
              <a:buNone/>
            </a:pPr>
            <a:r>
              <a:rPr lang="en-US" altLang="en-US" sz="1800" b="1" dirty="0">
                <a:latin typeface="Arial" panose="020B0604020202020204" pitchFamily="34" charset="0"/>
              </a:rPr>
              <a:t>Common Tools:</a:t>
            </a:r>
            <a:endParaRPr lang="en-US" altLang="en-US" sz="1800" dirty="0">
              <a:latin typeface="Arial" panose="020B0604020202020204" pitchFamily="34" charset="0"/>
            </a:endParaRPr>
          </a:p>
          <a:p>
            <a:pPr marL="457200" lvl="1" indent="0" defTabSz="914400" eaLnBrk="0" fontAlgn="base" hangingPunct="0">
              <a:spcBef>
                <a:spcPct val="0"/>
              </a:spcBef>
              <a:spcAft>
                <a:spcPct val="0"/>
              </a:spcAft>
              <a:buFontTx/>
              <a:buChar char="•"/>
            </a:pPr>
            <a:r>
              <a:rPr lang="en-US" altLang="en-US" sz="1800" b="1" dirty="0">
                <a:latin typeface="Arial" panose="020B0604020202020204" pitchFamily="34" charset="0"/>
              </a:rPr>
              <a:t>Foremost:</a:t>
            </a:r>
            <a:r>
              <a:rPr lang="en-US" altLang="en-US" sz="1800" dirty="0">
                <a:latin typeface="Arial" panose="020B0604020202020204" pitchFamily="34" charset="0"/>
              </a:rPr>
              <a:t> Command-line tool for carving various file types.</a:t>
            </a:r>
          </a:p>
          <a:p>
            <a:pPr marL="457200" lvl="1" indent="0" defTabSz="914400" eaLnBrk="0" fontAlgn="base" hangingPunct="0">
              <a:spcBef>
                <a:spcPct val="0"/>
              </a:spcBef>
              <a:spcAft>
                <a:spcPct val="0"/>
              </a:spcAft>
              <a:buFontTx/>
              <a:buChar char="•"/>
            </a:pPr>
            <a:r>
              <a:rPr lang="en-US" altLang="en-US" sz="1800" b="1" dirty="0">
                <a:latin typeface="Arial" panose="020B0604020202020204" pitchFamily="34" charset="0"/>
              </a:rPr>
              <a:t>Scalpel:</a:t>
            </a:r>
            <a:r>
              <a:rPr lang="en-US" altLang="en-US" sz="1800" dirty="0">
                <a:latin typeface="Arial" panose="020B0604020202020204" pitchFamily="34" charset="0"/>
              </a:rPr>
              <a:t> Improved version of Foremost, faster.</a:t>
            </a:r>
          </a:p>
          <a:p>
            <a:pPr marL="457200" lvl="1" indent="0" defTabSz="914400" eaLnBrk="0" fontAlgn="base" hangingPunct="0">
              <a:spcBef>
                <a:spcPct val="0"/>
              </a:spcBef>
              <a:spcAft>
                <a:spcPct val="0"/>
              </a:spcAft>
              <a:buFontTx/>
              <a:buChar char="•"/>
            </a:pPr>
            <a:r>
              <a:rPr lang="en-US" altLang="en-US" sz="1800" b="1" dirty="0" err="1">
                <a:latin typeface="Arial" panose="020B0604020202020204" pitchFamily="34" charset="0"/>
              </a:rPr>
              <a:t>PhotoRec</a:t>
            </a:r>
            <a:r>
              <a:rPr lang="en-US" altLang="en-US" sz="1800" b="1" dirty="0">
                <a:latin typeface="Arial" panose="020B0604020202020204" pitchFamily="34" charset="0"/>
              </a:rPr>
              <a:t>:</a:t>
            </a:r>
            <a:r>
              <a:rPr lang="en-US" altLang="en-US" sz="1800" dirty="0">
                <a:latin typeface="Arial" panose="020B0604020202020204" pitchFamily="34" charset="0"/>
              </a:rPr>
              <a:t> Recovers various file types, often used for multimedia.</a:t>
            </a:r>
          </a:p>
          <a:p>
            <a:pPr marL="0" lvl="0" indent="0" defTabSz="914400" eaLnBrk="0" fontAlgn="base" hangingPunct="0">
              <a:spcBef>
                <a:spcPct val="0"/>
              </a:spcBef>
              <a:spcAft>
                <a:spcPct val="0"/>
              </a:spcAft>
              <a:buNone/>
            </a:pPr>
            <a:endParaRPr lang="en-US" altLang="en-US" sz="1800"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496"/>
            <a:ext cx="8229600" cy="1143000"/>
          </a:xfrm>
        </p:spPr>
        <p:txBody>
          <a:bodyPr/>
          <a:lstStyle/>
          <a:p>
            <a:r>
              <a:rPr dirty="0"/>
              <a:t>3.4 Deleted File Recovery</a:t>
            </a:r>
          </a:p>
        </p:txBody>
      </p:sp>
      <p:sp>
        <p:nvSpPr>
          <p:cNvPr id="3" name="Content Placeholder 2"/>
          <p:cNvSpPr>
            <a:spLocks noGrp="1"/>
          </p:cNvSpPr>
          <p:nvPr>
            <p:ph idx="1"/>
          </p:nvPr>
        </p:nvSpPr>
        <p:spPr>
          <a:xfrm>
            <a:off x="457200" y="1228367"/>
            <a:ext cx="8229600" cy="4525963"/>
          </a:xfrm>
        </p:spPr>
        <p:txBody>
          <a:bodyPr>
            <a:noAutofit/>
          </a:bodyPr>
          <a:lstStyle/>
          <a:p>
            <a:pPr marL="0" indent="0">
              <a:buNone/>
            </a:pPr>
            <a:r>
              <a:rPr lang="en-US" sz="1800" b="1" dirty="0"/>
              <a:t>Deleted Files Recovery</a:t>
            </a:r>
          </a:p>
          <a:p>
            <a:pPr marL="0" indent="0">
              <a:buNone/>
            </a:pPr>
            <a:endParaRPr lang="en-US" sz="1800" dirty="0"/>
          </a:p>
          <a:p>
            <a:r>
              <a:rPr lang="en-US" sz="1800" b="1" dirty="0"/>
              <a:t>Concept of "Deletion":</a:t>
            </a:r>
            <a:r>
              <a:rPr lang="en-US" sz="1800" dirty="0"/>
              <a:t> When a file is "deleted" by the operating system, its data blocks are not immediately erased. Instead, the file system simply marks the space occupied by the file as "available" or "unallocated." The data remains until it is overwritten by new data.</a:t>
            </a:r>
          </a:p>
          <a:p>
            <a:r>
              <a:rPr lang="en-US" sz="1800" b="1" dirty="0"/>
              <a:t>Why it's challenging on Mobile Devices (Flash Memory):</a:t>
            </a:r>
            <a:endParaRPr lang="en-US" sz="1800" dirty="0"/>
          </a:p>
          <a:p>
            <a:pPr lvl="1"/>
            <a:r>
              <a:rPr lang="en-US" sz="1800" b="1" dirty="0"/>
              <a:t>Wear Leveling:</a:t>
            </a:r>
            <a:r>
              <a:rPr lang="en-US" sz="1800" dirty="0"/>
              <a:t> Flash memory (NAND, eMMC, UFS) controllers distribute writes evenly across the memory cells to extend lifespan. This means a "deleted" file's data might be physically moved to a different location without the OS knowing, or its original location might be quickly overwritten.</a:t>
            </a:r>
          </a:p>
          <a:p>
            <a:pPr lvl="1"/>
            <a:r>
              <a:rPr lang="en-US" sz="1800" b="1" dirty="0"/>
              <a:t>Garbage Collection (GC):</a:t>
            </a:r>
            <a:r>
              <a:rPr lang="en-US" sz="1800" dirty="0"/>
              <a:t> Flash memory controllers periodically consolidate valid data and erase invalid (deleted) data blocks to free up space. This process can permanently erase deleted files.</a:t>
            </a:r>
          </a:p>
          <a:p>
            <a:pPr lvl="1"/>
            <a:r>
              <a:rPr lang="en-US" sz="1800" b="1" dirty="0"/>
              <a:t>TRIM Command:</a:t>
            </a:r>
            <a:r>
              <a:rPr lang="en-US" sz="1800" dirty="0"/>
              <a:t> Modern operating systems send TRIM commands to SSDs/flash memory when files are deleted. This command tells the controller that the data blocks are no longer needed and can be erased, leading to faster and more permanent deletion.</a:t>
            </a:r>
          </a:p>
          <a:p>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422C-3452-ABD2-954C-EF75ED0DE15C}"/>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7FC5A0C6-9A19-12D9-F1DA-A1B3D65415AF}"/>
              </a:ext>
            </a:extLst>
          </p:cNvPr>
          <p:cNvSpPr>
            <a:spLocks noGrp="1"/>
          </p:cNvSpPr>
          <p:nvPr>
            <p:ph idx="1"/>
          </p:nvPr>
        </p:nvSpPr>
        <p:spPr/>
        <p:txBody>
          <a:bodyPr>
            <a:normAutofit fontScale="92500"/>
          </a:bodyPr>
          <a:lstStyle/>
          <a:p>
            <a:r>
              <a:rPr lang="en-US" sz="1800" b="1" dirty="0"/>
              <a:t>Methods for Recovery:</a:t>
            </a:r>
            <a:endParaRPr lang="en-US" sz="1800" dirty="0"/>
          </a:p>
          <a:p>
            <a:pPr lvl="1"/>
            <a:r>
              <a:rPr lang="en-US" sz="1800" b="1" dirty="0"/>
              <a:t>Physical Acquisition:</a:t>
            </a:r>
            <a:r>
              <a:rPr lang="en-US" sz="1800" dirty="0"/>
              <a:t> The most effective method. Creates a bit-for-bit copy of the raw flash memory, allowing carving tools to work on the unallocated space.</a:t>
            </a:r>
          </a:p>
          <a:p>
            <a:pPr lvl="1"/>
            <a:r>
              <a:rPr lang="en-US" sz="1800" b="1" dirty="0"/>
              <a:t>Filesystem Acquisition:</a:t>
            </a:r>
            <a:r>
              <a:rPr lang="en-US" sz="1800" dirty="0"/>
              <a:t> Can sometimes recover recently deleted files if they haven't been overwritten or garbage collected yet, especially if the file system metadata still points to them.</a:t>
            </a:r>
          </a:p>
          <a:p>
            <a:pPr lvl="1"/>
            <a:r>
              <a:rPr lang="en-US" sz="1800" b="1" dirty="0"/>
              <a:t>File </a:t>
            </a:r>
            <a:r>
              <a:rPr lang="en-US" sz="1800" b="1"/>
              <a:t>Carving: </a:t>
            </a:r>
            <a:r>
              <a:rPr lang="en-US" sz="1800"/>
              <a:t>Applied </a:t>
            </a:r>
            <a:r>
              <a:rPr lang="en-US" sz="1800" dirty="0"/>
              <a:t>to the unallocated space recovered from physical or full filesystem images.</a:t>
            </a:r>
          </a:p>
          <a:p>
            <a:r>
              <a:rPr lang="en-US" sz="1800" b="1" dirty="0"/>
              <a:t>Factors Affecting Success:</a:t>
            </a:r>
            <a:endParaRPr lang="en-US" sz="1800" dirty="0"/>
          </a:p>
          <a:p>
            <a:pPr lvl="1"/>
            <a:r>
              <a:rPr lang="en-US" sz="1800" b="1" dirty="0"/>
              <a:t>Time Since Deletion:</a:t>
            </a:r>
            <a:r>
              <a:rPr lang="en-US" sz="1800" dirty="0"/>
              <a:t> Shorter time, higher chance.</a:t>
            </a:r>
          </a:p>
          <a:p>
            <a:pPr lvl="1"/>
            <a:r>
              <a:rPr lang="en-US" sz="1800" b="1" dirty="0"/>
              <a:t>Device Usage:</a:t>
            </a:r>
            <a:r>
              <a:rPr lang="en-US" sz="1800" dirty="0"/>
              <a:t> Less activity after deletion means less chance of overwriting.</a:t>
            </a:r>
          </a:p>
          <a:p>
            <a:pPr lvl="1"/>
            <a:r>
              <a:rPr lang="en-US" sz="1800" b="1" dirty="0"/>
              <a:t>TRIM Support:</a:t>
            </a:r>
            <a:r>
              <a:rPr lang="en-US" sz="1800" dirty="0"/>
              <a:t> If TRIM is active, recovery likelihood decreases significantly.</a:t>
            </a:r>
          </a:p>
          <a:p>
            <a:pPr lvl="1"/>
            <a:r>
              <a:rPr lang="en-US" sz="1800" b="1" dirty="0"/>
              <a:t>Flash Memory Type &amp; Controller:</a:t>
            </a:r>
            <a:r>
              <a:rPr lang="en-US" sz="1800" dirty="0"/>
              <a:t> Different controllers handle wear leveling/GC differently.</a:t>
            </a:r>
          </a:p>
          <a:p>
            <a:pPr lvl="1"/>
            <a:r>
              <a:rPr lang="en-US" sz="1800" b="1" dirty="0"/>
              <a:t>Acquisition Method:</a:t>
            </a:r>
            <a:r>
              <a:rPr lang="en-US" sz="1800" dirty="0"/>
              <a:t> Physical acquisition offers the best chance.</a:t>
            </a:r>
          </a:p>
          <a:p>
            <a:endParaRPr lang="en-IN" sz="4800" dirty="0"/>
          </a:p>
        </p:txBody>
      </p:sp>
    </p:spTree>
    <p:extLst>
      <p:ext uri="{BB962C8B-B14F-4D97-AF65-F5344CB8AC3E}">
        <p14:creationId xmlns:p14="http://schemas.microsoft.com/office/powerpoint/2010/main" val="446929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3.5 Bypassing Security Controls</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Bypassing Security Controls</a:t>
            </a:r>
          </a:p>
          <a:p>
            <a:r>
              <a:rPr lang="en-US" b="1" dirty="0"/>
              <a:t>Purpose:</a:t>
            </a:r>
            <a:r>
              <a:rPr lang="en-US" dirty="0"/>
              <a:t> In forensic investigations, bypassing security controls (screen locks, encryption) is often necessary to access evidence.</a:t>
            </a:r>
          </a:p>
          <a:p>
            <a:r>
              <a:rPr lang="en-US" b="1" dirty="0"/>
              <a:t>Legal &amp; Ethical:</a:t>
            </a:r>
            <a:r>
              <a:rPr lang="en-US" dirty="0"/>
              <a:t> Crucially, such actions must always be performed with proper legal authorization (e.g., search warrant, consent) and within ethical guidelines. Unauthorized bypass attempts are illegal.</a:t>
            </a:r>
          </a:p>
          <a:p>
            <a:r>
              <a:rPr lang="en-US" b="1" dirty="0"/>
              <a:t>Risks:</a:t>
            </a:r>
            <a:r>
              <a:rPr lang="en-US" dirty="0"/>
              <a:t> Improper bypass attempts can lead to data loss, device damage, or alteration of evidence.</a:t>
            </a:r>
          </a:p>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96</TotalTime>
  <Words>2265</Words>
  <Application>Microsoft Office PowerPoint</Application>
  <PresentationFormat>On-screen Show (4:3)</PresentationFormat>
  <Paragraphs>241</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Unicode MS</vt:lpstr>
      <vt:lpstr>Calibri</vt:lpstr>
      <vt:lpstr>Wingdings</vt:lpstr>
      <vt:lpstr>Office Theme</vt:lpstr>
      <vt:lpstr>Chapter 3: Mobile Device Forensics</vt:lpstr>
      <vt:lpstr>Introduction</vt:lpstr>
      <vt:lpstr>PowerPoint Presentation</vt:lpstr>
      <vt:lpstr>3.1 Mobile OS Forensics</vt:lpstr>
      <vt:lpstr>Cont.</vt:lpstr>
      <vt:lpstr>Cont.</vt:lpstr>
      <vt:lpstr>Cont.</vt:lpstr>
      <vt:lpstr>3.2 Artefact Extraction</vt:lpstr>
      <vt:lpstr>Cont.</vt:lpstr>
      <vt:lpstr>Cont.</vt:lpstr>
      <vt:lpstr>Cont.</vt:lpstr>
      <vt:lpstr>Cont.</vt:lpstr>
      <vt:lpstr>Cont.</vt:lpstr>
      <vt:lpstr>Cont.</vt:lpstr>
      <vt:lpstr>3.3 Data and File Carving</vt:lpstr>
      <vt:lpstr>3.4 Deleted File Recovery</vt:lpstr>
      <vt:lpstr>Cont.</vt:lpstr>
      <vt:lpstr>3.5 Bypassing Security Controls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Jai Girawale</cp:lastModifiedBy>
  <cp:revision>43</cp:revision>
  <dcterms:created xsi:type="dcterms:W3CDTF">2013-01-27T09:14:16Z</dcterms:created>
  <dcterms:modified xsi:type="dcterms:W3CDTF">2025-08-21T09:16:58Z</dcterms:modified>
  <cp:category/>
</cp:coreProperties>
</file>