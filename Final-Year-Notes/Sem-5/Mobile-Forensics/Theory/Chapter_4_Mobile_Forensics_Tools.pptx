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0" r:id="rId3"/>
    <p:sldId id="257" r:id="rId4"/>
    <p:sldId id="259" r:id="rId5"/>
    <p:sldId id="271" r:id="rId6"/>
    <p:sldId id="261" r:id="rId7"/>
    <p:sldId id="263" r:id="rId8"/>
    <p:sldId id="264" r:id="rId9"/>
    <p:sldId id="265" r:id="rId10"/>
    <p:sldId id="267" r:id="rId11"/>
    <p:sldId id="268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Chapter 4: Mobile Forensics Tools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Overview of tools used in mobile forensics investigations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B0BD0-1177-061B-5808-635FEFA2C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Mobile Forensics Tools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B3DEC-642A-279B-F35D-F7A381E0F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Why Specialized Tools?</a:t>
            </a:r>
          </a:p>
          <a:p>
            <a:pPr lvl="1"/>
            <a:r>
              <a:rPr lang="en-US" dirty="0"/>
              <a:t>Complexity of mobile OS (Android, iOS).</a:t>
            </a:r>
          </a:p>
          <a:p>
            <a:pPr lvl="1"/>
            <a:r>
              <a:rPr lang="en-US" dirty="0"/>
              <a:t>Proprietary file systems and data structures.</a:t>
            </a:r>
          </a:p>
          <a:p>
            <a:pPr lvl="1"/>
            <a:r>
              <a:rPr lang="en-US" dirty="0"/>
              <a:t>Encryption and security measures.</a:t>
            </a:r>
          </a:p>
          <a:p>
            <a:pPr lvl="1"/>
            <a:r>
              <a:rPr lang="en-US" dirty="0"/>
              <a:t>Need for forensically sound acquisition.</a:t>
            </a:r>
          </a:p>
          <a:p>
            <a:pPr lvl="1"/>
            <a:r>
              <a:rPr lang="en-US" dirty="0"/>
              <a:t>Vast amount and variety of data.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Categories of Tools:</a:t>
            </a:r>
          </a:p>
          <a:p>
            <a:pPr lvl="1"/>
            <a:r>
              <a:rPr lang="en-US" b="1" dirty="0"/>
              <a:t>Commercial Tools: </a:t>
            </a:r>
            <a:r>
              <a:rPr lang="en-US" dirty="0"/>
              <a:t>Generally all-in-one solutions with broad device support, advanced extraction, decoding, and reporting capabilities. Require licensing.</a:t>
            </a:r>
          </a:p>
          <a:p>
            <a:pPr lvl="1"/>
            <a:r>
              <a:rPr lang="en-US" b="1" dirty="0"/>
              <a:t>Open-Source Tools: </a:t>
            </a:r>
            <a:r>
              <a:rPr lang="en-US" dirty="0"/>
              <a:t>Free, often command-line based, may require more technical expertise, but highly customizable and valuable for specific tasks.</a:t>
            </a:r>
          </a:p>
          <a:p>
            <a:pPr lvl="1"/>
            <a:r>
              <a:rPr lang="en-US" b="1" dirty="0"/>
              <a:t>Hardware Tools: </a:t>
            </a:r>
            <a:r>
              <a:rPr lang="en-US" dirty="0"/>
              <a:t>For physical extraction (e.g., JTAG, Chip-Off).</a:t>
            </a:r>
          </a:p>
          <a:p>
            <a:pPr lvl="1"/>
            <a:r>
              <a:rPr lang="en-US" b="1" dirty="0"/>
              <a:t>Software Tools: </a:t>
            </a:r>
            <a:r>
              <a:rPr lang="en-US" dirty="0"/>
              <a:t>For logical, filesystem, and limited physical extractions.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6568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Cellebrite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100" b="1" dirty="0"/>
              <a:t>Cellebrite</a:t>
            </a:r>
            <a:r>
              <a:rPr lang="en-IN" sz="1100" dirty="0"/>
              <a:t> is a global leader in digital intelligence solutions, widely used by law enforcement, military, intelligence agencies, and corporate investigators.</a:t>
            </a:r>
          </a:p>
          <a:p>
            <a:pPr marL="0" indent="0">
              <a:buNone/>
            </a:pPr>
            <a:r>
              <a:rPr lang="en-IN" sz="1100" b="1" dirty="0"/>
              <a:t>Cellebrite</a:t>
            </a:r>
            <a:r>
              <a:rPr lang="en-IN" sz="1100" dirty="0"/>
              <a:t> offers a comprehensive suite of tools, with UFED (Universal Forensic Extraction Device) being their flagship for mobile forensics.</a:t>
            </a:r>
          </a:p>
          <a:p>
            <a:pPr marL="0" indent="0">
              <a:buNone/>
            </a:pPr>
            <a:endParaRPr lang="en-IN" sz="1100" dirty="0"/>
          </a:p>
          <a:p>
            <a:pPr marL="0" indent="0">
              <a:buNone/>
            </a:pPr>
            <a:r>
              <a:rPr lang="en-IN" sz="1100" b="1" dirty="0"/>
              <a:t>Features of Cellebrite UFED Physical Analyzer</a:t>
            </a:r>
          </a:p>
          <a:p>
            <a:pPr marL="0" indent="0">
              <a:buNone/>
            </a:pPr>
            <a:endParaRPr lang="en-IN" sz="1100" b="1" dirty="0"/>
          </a:p>
          <a:p>
            <a:r>
              <a:rPr lang="en-IN" sz="1100" b="1" dirty="0"/>
              <a:t>Comprehensive Data Extraction:</a:t>
            </a:r>
            <a:endParaRPr lang="en-IN" sz="1100" dirty="0"/>
          </a:p>
          <a:p>
            <a:pPr lvl="1"/>
            <a:r>
              <a:rPr lang="en-IN" sz="1000" b="1" dirty="0"/>
              <a:t>Physical Extraction:</a:t>
            </a:r>
            <a:r>
              <a:rPr lang="en-IN" sz="1000" dirty="0"/>
              <a:t> Bit-for-bit copies of data from the device, including unallocated space. Often bypasses locks and encryption.</a:t>
            </a:r>
          </a:p>
          <a:p>
            <a:pPr lvl="1"/>
            <a:r>
              <a:rPr lang="en-IN" sz="1000" b="1" dirty="0"/>
              <a:t>File System Extraction:</a:t>
            </a:r>
            <a:r>
              <a:rPr lang="en-IN" sz="1000" dirty="0"/>
              <a:t> Accesses the logical file structure of the device.</a:t>
            </a:r>
          </a:p>
          <a:p>
            <a:pPr lvl="1"/>
            <a:r>
              <a:rPr lang="en-IN" sz="1000" b="1" dirty="0"/>
              <a:t>Logical Extraction:</a:t>
            </a:r>
            <a:r>
              <a:rPr lang="en-IN" sz="1000" dirty="0"/>
              <a:t> Acquires user-level data (contacts, SMS, call logs, photos) via device APIs or backups (e.g., iTunes backups).</a:t>
            </a:r>
          </a:p>
          <a:p>
            <a:r>
              <a:rPr lang="en-IN" sz="1100" b="1" dirty="0"/>
              <a:t>Advanced Decoding &amp; Parsing:</a:t>
            </a:r>
            <a:endParaRPr lang="en-IN" sz="1100" dirty="0"/>
          </a:p>
          <a:p>
            <a:pPr lvl="1"/>
            <a:r>
              <a:rPr lang="en-IN" sz="1000" dirty="0"/>
              <a:t>Automatically decodes and presents data from various mobile OS.</a:t>
            </a:r>
          </a:p>
          <a:p>
            <a:pPr lvl="1"/>
            <a:r>
              <a:rPr lang="en-IN" sz="1000" dirty="0"/>
              <a:t>Parses data from thousands of applications (e.g., WhatsApp, Signal, Facebook, Snapchat).</a:t>
            </a:r>
          </a:p>
          <a:p>
            <a:pPr lvl="1"/>
            <a:r>
              <a:rPr lang="en-IN" sz="1000" dirty="0"/>
              <a:t>Recovers deleted data (SMS, contacts, call logs, photos) through carving and database analysis.</a:t>
            </a:r>
          </a:p>
          <a:p>
            <a:pPr lvl="1"/>
            <a:r>
              <a:rPr lang="en-IN" sz="1000" dirty="0"/>
              <a:t>Decryption capabilities for encrypted backups and some devices (dependent on specific device/OS versions).</a:t>
            </a:r>
          </a:p>
          <a:p>
            <a:r>
              <a:rPr lang="en-IN" sz="1100" b="1" dirty="0"/>
              <a:t>Analysis &amp; Visualization Tools:</a:t>
            </a:r>
            <a:endParaRPr lang="en-IN" sz="1100" dirty="0"/>
          </a:p>
          <a:p>
            <a:pPr lvl="1"/>
            <a:r>
              <a:rPr lang="en-IN" sz="1000" b="1" dirty="0"/>
              <a:t>Timeline View:</a:t>
            </a:r>
            <a:r>
              <a:rPr lang="en-IN" sz="1000" dirty="0"/>
              <a:t> Reconstructs events chronologically across different data types.</a:t>
            </a:r>
          </a:p>
          <a:p>
            <a:pPr lvl="1"/>
            <a:r>
              <a:rPr lang="en-IN" sz="1000" b="1" dirty="0"/>
              <a:t>Link Analysis:</a:t>
            </a:r>
            <a:r>
              <a:rPr lang="en-IN" sz="1000" dirty="0"/>
              <a:t> Visualizes connections between contacts, calls, messages.</a:t>
            </a:r>
          </a:p>
          <a:p>
            <a:pPr lvl="1"/>
            <a:r>
              <a:rPr lang="en-IN" sz="1000" b="1" dirty="0"/>
              <a:t>Geolocational Analysis:</a:t>
            </a:r>
            <a:r>
              <a:rPr lang="en-IN" sz="1000" dirty="0"/>
              <a:t> Maps locations from various sources (GPS, Wi-Fi, cell towers, geotagged media).</a:t>
            </a:r>
          </a:p>
          <a:p>
            <a:pPr lvl="1"/>
            <a:r>
              <a:rPr lang="en-IN" sz="1000" b="1" dirty="0"/>
              <a:t>Watch Lists/Keyword Search:</a:t>
            </a:r>
            <a:r>
              <a:rPr lang="en-IN" sz="1000" dirty="0"/>
              <a:t> Automates searching for specific terms or identifying persons of interest.</a:t>
            </a:r>
          </a:p>
          <a:p>
            <a:pPr lvl="1"/>
            <a:r>
              <a:rPr lang="en-IN" sz="1000" b="1" dirty="0"/>
              <a:t>Image &amp; Video Categorization:</a:t>
            </a:r>
            <a:r>
              <a:rPr lang="en-IN" sz="1000" dirty="0"/>
              <a:t> AI-powered classification of media content.</a:t>
            </a:r>
          </a:p>
          <a:p>
            <a:pPr lvl="1"/>
            <a:r>
              <a:rPr lang="en-IN" sz="1000" b="1" dirty="0"/>
              <a:t>SQLite Wizard &amp; Hex Viewer:</a:t>
            </a:r>
            <a:r>
              <a:rPr lang="en-IN" sz="1000" dirty="0"/>
              <a:t> For in-depth manual analysis of databases and raw data.</a:t>
            </a:r>
          </a:p>
          <a:p>
            <a:r>
              <a:rPr lang="en-IN" sz="1100" b="1" dirty="0"/>
              <a:t>Reporting:</a:t>
            </a:r>
            <a:r>
              <a:rPr lang="en-IN" sz="1100" dirty="0"/>
              <a:t> Generates comprehensive and customizable reports in various formats (PDF, HTML, XML, Excel) for legal proceedings.</a:t>
            </a:r>
          </a:p>
          <a:p>
            <a:r>
              <a:rPr lang="en-IN" sz="1100" b="1" dirty="0"/>
              <a:t>Integrations:</a:t>
            </a:r>
            <a:r>
              <a:rPr lang="en-IN" sz="1100" dirty="0"/>
              <a:t> Integrates with other Cellebrite products like UFED Cloud Analyzer (for cloud data) and Pathfinder (for advanced intelligence analysis).</a:t>
            </a:r>
          </a:p>
          <a:p>
            <a:endParaRPr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Usage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8734FA-750E-0E0D-2E93-C5F576DCD9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62525"/>
            <a:ext cx="856741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Acquisition Process: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Device Connection: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Connect the mobile device to the UFED via cable.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Choose the device model and desired extraction method (logical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Bypass/Unlock (if necessary):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UFED attempts to bypass screen locks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Extraction: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tool performs the chosen extraction.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Forensic Image Creation: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forensically sound image is created.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 Workflow: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 Data: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Load the extracted image into UFED Physical Analyzer.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Decoding: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software automatically decodes recognized artifacts.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 Data: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Navigate through categories (calls, messages, apps, locations).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 &amp; Filter: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Apply keywords, date ranges, or other filters.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Analysis: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timeline, link analysis, or carving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 reports based on findings.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Base: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Primarily used by law enforcement, military, intelligence, and large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corporate investigative units due to its comprehensive capabilities and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D5382-770A-E9E0-6D19-AB62C2262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Supported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C3F97-AF2F-94B1-FA08-C8A2A8648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Broadest Support in the Industry:</a:t>
            </a:r>
          </a:p>
          <a:p>
            <a:endParaRPr lang="en-IN" dirty="0"/>
          </a:p>
          <a:p>
            <a:r>
              <a:rPr lang="en-IN" dirty="0"/>
              <a:t>    Supports thousands of mobile devices: Smartphones, feature phones, GPS devices, tablets, drones.</a:t>
            </a:r>
          </a:p>
          <a:p>
            <a:r>
              <a:rPr lang="en-IN" dirty="0"/>
              <a:t>    Covers major operating systems: </a:t>
            </a:r>
            <a:r>
              <a:rPr lang="en-IN" b="1" dirty="0"/>
              <a:t>Android</a:t>
            </a:r>
            <a:r>
              <a:rPr lang="en-IN" dirty="0"/>
              <a:t> (vast range of manufacturers like Samsung, Huawei, Xiaomi, etc.), </a:t>
            </a:r>
            <a:r>
              <a:rPr lang="en-IN" b="1" dirty="0"/>
              <a:t>Apple iOS </a:t>
            </a:r>
            <a:r>
              <a:rPr lang="en-IN" dirty="0"/>
              <a:t>(iPhones, iPads, iPod Touch), BlackBerry, Windows Mobile, Symbian, Palm OS.</a:t>
            </a:r>
          </a:p>
          <a:p>
            <a:r>
              <a:rPr lang="en-IN" dirty="0"/>
              <a:t>Continuous Updates: Cellebrite is known for frequent updates to support newly released devices and OS versions, as well as new applications and security bypasses.</a:t>
            </a:r>
          </a:p>
          <a:p>
            <a:r>
              <a:rPr lang="en-IN" dirty="0"/>
              <a:t>Specific Access Levels: Support varies by device and OS version (e.g., full file system extraction for some Androids, advanced logical for newer iOS, physical for older/vulnerable devices).</a:t>
            </a:r>
          </a:p>
        </p:txBody>
      </p:sp>
    </p:spTree>
    <p:extLst>
      <p:ext uri="{BB962C8B-B14F-4D97-AF65-F5344CB8AC3E}">
        <p14:creationId xmlns:p14="http://schemas.microsoft.com/office/powerpoint/2010/main" val="670749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Oxygen Forensics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100" b="1" dirty="0"/>
              <a:t>Oxygen Forensics </a:t>
            </a:r>
            <a:r>
              <a:rPr lang="en-IN" sz="1100" dirty="0"/>
              <a:t>is another leading developer of mobile and cloud forensics software, offering comprehensive tools for digital investigations.</a:t>
            </a:r>
          </a:p>
          <a:p>
            <a:pPr marL="0" indent="0">
              <a:buNone/>
            </a:pPr>
            <a:endParaRPr lang="en-IN" sz="1100" b="1" dirty="0"/>
          </a:p>
          <a:p>
            <a:pPr marL="0" indent="0">
              <a:buNone/>
            </a:pPr>
            <a:r>
              <a:rPr lang="en-IN" sz="1100" b="1" dirty="0"/>
              <a:t>Features of Oxygen Forensics Suite</a:t>
            </a:r>
          </a:p>
          <a:p>
            <a:pPr marL="0" indent="0">
              <a:buNone/>
            </a:pPr>
            <a:endParaRPr lang="en-IN" sz="1100" b="1" dirty="0"/>
          </a:p>
          <a:p>
            <a:r>
              <a:rPr lang="en-IN" sz="1100" b="1" dirty="0"/>
              <a:t>Multi-Source Data Extraction:</a:t>
            </a:r>
            <a:endParaRPr lang="en-IN" sz="1100" dirty="0"/>
          </a:p>
          <a:p>
            <a:pPr lvl="1"/>
            <a:r>
              <a:rPr lang="en-IN" sz="1000" b="1" dirty="0"/>
              <a:t>Mobile &amp; IoT Devices:</a:t>
            </a:r>
            <a:r>
              <a:rPr lang="en-IN" sz="1000" dirty="0"/>
              <a:t> Logical, file system, and physical extraction from smartphones, tablets, smartwatches, drones, etc.</a:t>
            </a:r>
          </a:p>
          <a:p>
            <a:pPr lvl="1"/>
            <a:r>
              <a:rPr lang="en-IN" sz="1000" b="1" dirty="0"/>
              <a:t>Cloud Services:</a:t>
            </a:r>
            <a:r>
              <a:rPr lang="en-IN" sz="1000" dirty="0"/>
              <a:t> Connects to over 100 cloud services (e.g., Google, iCloud, WhatsApp, Instagram, Telegram) with legal authorization to extract data.</a:t>
            </a:r>
          </a:p>
          <a:p>
            <a:pPr lvl="1"/>
            <a:r>
              <a:rPr lang="en-IN" sz="1000" b="1" dirty="0"/>
              <a:t>Computer Forensics:</a:t>
            </a:r>
            <a:r>
              <a:rPr lang="en-IN" sz="1000" dirty="0"/>
              <a:t> Extracts artifacts from Windows, macOS, and Linux machines (e.g., web browser data, system files, credentials).</a:t>
            </a:r>
          </a:p>
          <a:p>
            <a:pPr lvl="1"/>
            <a:r>
              <a:rPr lang="en-IN" sz="1000" b="1" dirty="0"/>
              <a:t>Backup &amp; Image Import:</a:t>
            </a:r>
            <a:r>
              <a:rPr lang="en-IN" sz="1000" dirty="0"/>
              <a:t> Imports iTunes backups, Android backups, raw disk images, and extractions from other forensic tools.</a:t>
            </a:r>
          </a:p>
          <a:p>
            <a:r>
              <a:rPr lang="en-IN" sz="1100" b="1" dirty="0"/>
              <a:t>Advanced Data Decoding &amp; Analysis:</a:t>
            </a:r>
            <a:endParaRPr lang="en-IN" sz="1100" dirty="0"/>
          </a:p>
          <a:p>
            <a:pPr lvl="1"/>
            <a:r>
              <a:rPr lang="en-IN" sz="1000" b="1" dirty="0"/>
              <a:t>App Data Parsing:</a:t>
            </a:r>
            <a:r>
              <a:rPr lang="en-IN" sz="1000" dirty="0"/>
              <a:t> Supports over 50,000 app versions, including social media, messaging, navigation, and gaming apps.</a:t>
            </a:r>
          </a:p>
          <a:p>
            <a:pPr lvl="1"/>
            <a:r>
              <a:rPr lang="en-IN" sz="1000" b="1" dirty="0"/>
              <a:t>Deleted Data Recovery:</a:t>
            </a:r>
            <a:r>
              <a:rPr lang="en-IN" sz="1000" dirty="0"/>
              <a:t> Advanced algorithms to recover deleted messages, contacts, files, and more.</a:t>
            </a:r>
          </a:p>
          <a:p>
            <a:pPr lvl="1"/>
            <a:r>
              <a:rPr lang="en-IN" sz="1000" b="1" dirty="0"/>
              <a:t>Encryption Bypass &amp; Password Recovery:</a:t>
            </a:r>
            <a:r>
              <a:rPr lang="en-IN" sz="1000" dirty="0"/>
              <a:t> Tools to bypass screen locks, decrypt encrypted backups, and recover passwords.</a:t>
            </a:r>
          </a:p>
          <a:p>
            <a:pPr lvl="1"/>
            <a:r>
              <a:rPr lang="en-IN" sz="1000" b="1" dirty="0"/>
              <a:t>Malware Detection:</a:t>
            </a:r>
            <a:r>
              <a:rPr lang="en-IN" sz="1000" dirty="0"/>
              <a:t> Identifies malicious applications or artifacts.</a:t>
            </a:r>
          </a:p>
          <a:p>
            <a:r>
              <a:rPr lang="en-IN" sz="1100" b="1" dirty="0"/>
              <a:t>Integrated Analytical Tools:</a:t>
            </a:r>
            <a:endParaRPr lang="en-IN" sz="1100" dirty="0"/>
          </a:p>
          <a:p>
            <a:pPr lvl="1"/>
            <a:r>
              <a:rPr lang="en-IN" sz="1000" b="1" dirty="0"/>
              <a:t>Timeline:</a:t>
            </a:r>
            <a:r>
              <a:rPr lang="en-IN" sz="1000" dirty="0"/>
              <a:t> Consolidates events from various sources into a unified chronological view.</a:t>
            </a:r>
          </a:p>
          <a:p>
            <a:pPr lvl="1"/>
            <a:r>
              <a:rPr lang="en-IN" sz="1000" b="1" dirty="0"/>
              <a:t>Link Analysis:</a:t>
            </a:r>
            <a:r>
              <a:rPr lang="en-IN" sz="1000" dirty="0"/>
              <a:t> Visualizes communication networks and social connections.</a:t>
            </a:r>
          </a:p>
          <a:p>
            <a:pPr lvl="1"/>
            <a:r>
              <a:rPr lang="en-IN" sz="1000" b="1" dirty="0"/>
              <a:t>Mapping:</a:t>
            </a:r>
            <a:r>
              <a:rPr lang="en-IN" sz="1000" dirty="0"/>
              <a:t> Plots geo-coordinates from all extracted sources on maps.</a:t>
            </a:r>
          </a:p>
          <a:p>
            <a:pPr lvl="1"/>
            <a:r>
              <a:rPr lang="en-IN" sz="1000" b="1" dirty="0"/>
              <a:t>Image &amp; Video Categorization:</a:t>
            </a:r>
            <a:r>
              <a:rPr lang="en-IN" sz="1000" dirty="0"/>
              <a:t> AI-powered media analysis, including facial recognition and object detection.</a:t>
            </a:r>
          </a:p>
          <a:p>
            <a:pPr lvl="1"/>
            <a:r>
              <a:rPr lang="en-IN" sz="1000" b="1" dirty="0"/>
              <a:t>Key Evidence Identification:</a:t>
            </a:r>
            <a:r>
              <a:rPr lang="en-IN" sz="1000" dirty="0"/>
              <a:t> Highlights critical artifacts and insights.</a:t>
            </a:r>
          </a:p>
          <a:p>
            <a:pPr lvl="1"/>
            <a:r>
              <a:rPr lang="en-IN" sz="1000" b="1" dirty="0"/>
              <a:t>SQLite Viewer, </a:t>
            </a:r>
            <a:r>
              <a:rPr lang="en-IN" sz="1000" b="1" dirty="0" err="1"/>
              <a:t>Plist</a:t>
            </a:r>
            <a:r>
              <a:rPr lang="en-IN" sz="1000" b="1" dirty="0"/>
              <a:t> Viewer, Hex Viewer:</a:t>
            </a:r>
            <a:r>
              <a:rPr lang="en-IN" sz="1000" dirty="0"/>
              <a:t> For in-depth examination.</a:t>
            </a:r>
          </a:p>
          <a:p>
            <a:r>
              <a:rPr lang="en-IN" sz="1100" b="1" dirty="0"/>
              <a:t>Reporting:</a:t>
            </a:r>
            <a:r>
              <a:rPr lang="en-IN" sz="1100" dirty="0"/>
              <a:t> Customizable reports in multiple formats (PDF, HTML, XML, CSV).</a:t>
            </a:r>
          </a:p>
          <a:p>
            <a:r>
              <a:rPr lang="en-IN" sz="1100" b="1" dirty="0"/>
              <a:t>Enterprise Solutions:</a:t>
            </a:r>
            <a:r>
              <a:rPr lang="en-IN" sz="1100" dirty="0"/>
              <a:t> Offers multi-user, server-based licenses for larger organizations with remote access capabilities.</a:t>
            </a:r>
          </a:p>
          <a:p>
            <a:endParaRPr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Usage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A16894-F9E2-732D-42E8-2C3A84674D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047027"/>
            <a:ext cx="8362335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Flexible Acquisition: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 Device/Select Source: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Choose the mobile device, cloud service, computer, or an existing backup/image.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Extraction Method: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Select the appropriate extraction method (e.g., "Physical," "File System," "iOS Agent," "iTunes Backup," "Cloud Extractor").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tool guides through the acquisition, potentially requiring device interaction or credentials for cloud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 Workflow: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Loading: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Once extracted, data is loaded into the intuitive GUI.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Parsing: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is automatically parsed and categorized.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Forensic Explorer: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Browse through different data categories.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Analysis Features: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Utilize timeline, link analysis, maps, and media categorization to identify connections and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Filtering &amp; Search: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Efficiently filter and search across all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 Generation: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 detailed reports for documentation and presentation.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Base: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Law enforcement, corporate investigators, private forensic                       specialists, and government agencies worldwide.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Supported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Extensive Device and OS Support</a:t>
            </a:r>
            <a:r>
              <a:rPr lang="en-IN" dirty="0"/>
              <a:t>:</a:t>
            </a:r>
          </a:p>
          <a:p>
            <a:endParaRPr lang="en-IN" dirty="0"/>
          </a:p>
          <a:p>
            <a:r>
              <a:rPr lang="en-IN" b="1" dirty="0"/>
              <a:t>Android</a:t>
            </a:r>
            <a:r>
              <a:rPr lang="en-IN" dirty="0"/>
              <a:t>: Wide range of manufacturers and chipsets (MediaTek, UNISOC, Qualcomm, Samsung </a:t>
            </a:r>
            <a:r>
              <a:rPr lang="en-IN" dirty="0" err="1"/>
              <a:t>Exynos</a:t>
            </a:r>
            <a:r>
              <a:rPr lang="en-IN" dirty="0"/>
              <a:t>, Huawei Kirin, Sony). Offers physical, full file system, application downgrade, and Android Agent extractions.</a:t>
            </a:r>
          </a:p>
          <a:p>
            <a:r>
              <a:rPr lang="en-IN" b="1" dirty="0"/>
              <a:t>iOS</a:t>
            </a:r>
            <a:r>
              <a:rPr lang="en-IN" dirty="0"/>
              <a:t>: iPhones, iPads. Supports iOS Agent (for full file system/keychain on specific iOS versions), iTunes backups, and Checkm8 exploit-based extractions (for older devices).</a:t>
            </a:r>
          </a:p>
          <a:p>
            <a:r>
              <a:rPr lang="en-IN" dirty="0"/>
              <a:t>Feature phones, smartwatches, drones, etc.</a:t>
            </a:r>
          </a:p>
          <a:p>
            <a:r>
              <a:rPr lang="en-IN" b="1" dirty="0"/>
              <a:t>Cloud Services</a:t>
            </a:r>
            <a:r>
              <a:rPr lang="en-IN" dirty="0"/>
              <a:t>: 100+ cloud services supported (WhatsApp, Telegram, iCloud, Google, Facebook, etc.).</a:t>
            </a:r>
          </a:p>
          <a:p>
            <a:r>
              <a:rPr lang="en-IN" b="1" dirty="0"/>
              <a:t>Computer Systems</a:t>
            </a:r>
            <a:r>
              <a:rPr lang="en-IN" dirty="0"/>
              <a:t>: Windows, macOS, Linux for local artifact extraction.</a:t>
            </a:r>
          </a:p>
          <a:p>
            <a:r>
              <a:rPr lang="en-IN" b="1" dirty="0"/>
              <a:t>Regular Updates</a:t>
            </a:r>
            <a:r>
              <a:rPr lang="en-IN" dirty="0"/>
              <a:t>: Provides frequent updates to maintain compatibility with new devices, OS versions, and application updates.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 Paraben iRecovery Stick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1600" dirty="0"/>
              <a:t>Designed as a simpler, more user-friendly tool primarily for iOS device data recovery, including deleted data. Often marketed towards consumers and smaller investigative units. </a:t>
            </a:r>
          </a:p>
          <a:p>
            <a:pPr marL="0" indent="0">
              <a:buNone/>
            </a:pPr>
            <a:r>
              <a:rPr lang="en-US" sz="1600" b="1" dirty="0"/>
              <a:t>A USB stick </a:t>
            </a:r>
            <a:r>
              <a:rPr lang="en-US" sz="1600" dirty="0"/>
              <a:t>containing the software.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Features of Paraben </a:t>
            </a:r>
            <a:r>
              <a:rPr lang="en-US" sz="1600" b="1" dirty="0" err="1"/>
              <a:t>iRecovery</a:t>
            </a:r>
            <a:r>
              <a:rPr lang="en-US" sz="1600" b="1" dirty="0"/>
              <a:t> Stick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b="1" dirty="0"/>
              <a:t>Data Recovery Focus:</a:t>
            </a:r>
            <a:endParaRPr lang="en-US" sz="1600" dirty="0"/>
          </a:p>
          <a:p>
            <a:pPr lvl="1"/>
            <a:r>
              <a:rPr lang="en-US" sz="1400" dirty="0"/>
              <a:t>Recovers existing and deleted data: SMS/iMessages, call history, contacts, web history, calendar, notes, photos (including hidden photos from specific apps), voice memos, map history.</a:t>
            </a:r>
          </a:p>
          <a:p>
            <a:pPr lvl="1"/>
            <a:r>
              <a:rPr lang="en-US" sz="1400" dirty="0"/>
              <a:t>Specializes in recovering data from various popular messaging and social media apps (e.g., WhatsApp, Gmail, Kik, Twitter, Facebook Messenger).</a:t>
            </a:r>
          </a:p>
          <a:p>
            <a:r>
              <a:rPr lang="en-US" sz="1600" b="1" dirty="0"/>
              <a:t>User-Friendly Interface:</a:t>
            </a:r>
            <a:r>
              <a:rPr lang="en-US" sz="1600" dirty="0"/>
              <a:t> Designed for ease of use, often with a simple "connect and click" operation.</a:t>
            </a:r>
          </a:p>
          <a:p>
            <a:r>
              <a:rPr lang="en-US" sz="1600" b="1" dirty="0"/>
              <a:t>Stealth Operation:</a:t>
            </a:r>
            <a:r>
              <a:rPr lang="en-US" sz="1600" dirty="0"/>
              <a:t> Runs directly from the USB stick, aiming to leave no trace on the computer or the phone itself (though any acquisition inherently interacts with the device).</a:t>
            </a:r>
          </a:p>
          <a:p>
            <a:r>
              <a:rPr lang="en-US" sz="1600" b="1" dirty="0"/>
              <a:t>iTunes Backup Analysis:</a:t>
            </a:r>
            <a:r>
              <a:rPr lang="en-US" sz="1600" dirty="0"/>
              <a:t> Can analyze and recover data directly from iTunes backup files, even if the physical phone is not present.</a:t>
            </a:r>
          </a:p>
          <a:p>
            <a:r>
              <a:rPr lang="en-US" sz="1600" b="1" dirty="0"/>
              <a:t>Hidden Photo Recovery:</a:t>
            </a:r>
            <a:r>
              <a:rPr lang="en-US" sz="1600" dirty="0"/>
              <a:t> Claims to recover photos hidden in over 30 popular "photo hiding" apps.</a:t>
            </a:r>
          </a:p>
          <a:p>
            <a:r>
              <a:rPr lang="en-US" sz="1600" b="1" dirty="0"/>
              <a:t>Basic Analysis:</a:t>
            </a:r>
            <a:r>
              <a:rPr lang="en-US" sz="1600" dirty="0"/>
              <a:t> Provides keyword search functionality and can generate basic reports (e.g., Excel format).</a:t>
            </a:r>
          </a:p>
          <a:p>
            <a:r>
              <a:rPr lang="en-US" sz="1600" b="1" dirty="0"/>
              <a:t>Lifetime Updates:</a:t>
            </a:r>
            <a:r>
              <a:rPr lang="en-US" sz="1600" dirty="0"/>
              <a:t> Typically includes free lifetime software updates for compatibility with new iOS versions.</a:t>
            </a:r>
          </a:p>
          <a:p>
            <a:endParaRPr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Simple Process: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b="1" dirty="0"/>
              <a:t>Connect</a:t>
            </a:r>
            <a:r>
              <a:rPr lang="en-US" dirty="0"/>
              <a:t>: Plug the </a:t>
            </a:r>
            <a:r>
              <a:rPr lang="en-US" dirty="0" err="1"/>
              <a:t>iRecovery</a:t>
            </a:r>
            <a:r>
              <a:rPr lang="en-US" dirty="0"/>
              <a:t> Stick into a Windows computer.</a:t>
            </a:r>
          </a:p>
          <a:p>
            <a:r>
              <a:rPr lang="en-US" dirty="0"/>
              <a:t>    </a:t>
            </a:r>
            <a:r>
              <a:rPr lang="en-US" b="1" dirty="0"/>
              <a:t>Connect Device</a:t>
            </a:r>
            <a:r>
              <a:rPr lang="en-US" dirty="0"/>
              <a:t>: Connect the iPhone/iPad to the same computer using its compatible data cable.</a:t>
            </a:r>
          </a:p>
          <a:p>
            <a:r>
              <a:rPr lang="en-US" dirty="0"/>
              <a:t>    </a:t>
            </a:r>
            <a:r>
              <a:rPr lang="en-US" b="1" dirty="0"/>
              <a:t>Launch Software</a:t>
            </a:r>
            <a:r>
              <a:rPr lang="en-US" dirty="0"/>
              <a:t>: Run the software directly from the stick.</a:t>
            </a:r>
          </a:p>
          <a:p>
            <a:r>
              <a:rPr lang="en-US" dirty="0"/>
              <a:t>    </a:t>
            </a:r>
            <a:r>
              <a:rPr lang="en-US" b="1" dirty="0"/>
              <a:t>Initiate Recovery</a:t>
            </a:r>
            <a:r>
              <a:rPr lang="en-US" dirty="0"/>
              <a:t>: Click "Start" or "Recover."</a:t>
            </a:r>
          </a:p>
          <a:p>
            <a:r>
              <a:rPr lang="en-US" dirty="0"/>
              <a:t>    </a:t>
            </a:r>
            <a:r>
              <a:rPr lang="en-US" b="1" dirty="0"/>
              <a:t>Review Results</a:t>
            </a:r>
            <a:r>
              <a:rPr lang="en-US" dirty="0"/>
              <a:t>: The software presents the recovered data in an organized, readable format.</a:t>
            </a:r>
          </a:p>
          <a:p>
            <a:endParaRPr lang="en-US" dirty="0"/>
          </a:p>
          <a:p>
            <a:r>
              <a:rPr lang="en-US" b="1" dirty="0"/>
              <a:t>Prerequisites</a:t>
            </a:r>
            <a:r>
              <a:rPr lang="en-US" dirty="0"/>
              <a:t>: For direct device access, the device usually needs to be unlocked, and iTunes trust established. It generally cannot bypass screen locks or device encryption.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Supported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iOS Devices: </a:t>
            </a:r>
            <a:r>
              <a:rPr lang="en-US" dirty="0"/>
              <a:t>Primarily supports Apple iPhones, iPads, and iPod Touch devices.</a:t>
            </a:r>
          </a:p>
          <a:p>
            <a:r>
              <a:rPr lang="en-US" b="1" dirty="0"/>
              <a:t>iOS Versions: </a:t>
            </a:r>
            <a:r>
              <a:rPr lang="en-US" dirty="0"/>
              <a:t>Generally aims to support current and recent iOS versions (e.g., up to iOS 17.x as per recent marketing).</a:t>
            </a:r>
          </a:p>
          <a:p>
            <a:r>
              <a:rPr lang="en-US" b="1" dirty="0"/>
              <a:t>Focus: </a:t>
            </a:r>
            <a:r>
              <a:rPr lang="en-US" dirty="0"/>
              <a:t>Its strength is in logical data extraction and deleted data recovery from SQLite databases and specific app structures, rather than deep physical acquisition from locked or highly encrypted devices.</a:t>
            </a:r>
          </a:p>
          <a:p>
            <a:r>
              <a:rPr lang="en-US" b="1" dirty="0"/>
              <a:t>Limitations: </a:t>
            </a:r>
            <a:r>
              <a:rPr lang="en-US" dirty="0"/>
              <a:t>Does not perform physical acquisition from raw memory chips. Its capabilities are dependent on Apple's security updates and whether it can access data via software means.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4.4 Open-Source Mobile Forensics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b="1" dirty="0"/>
              <a:t>Autopsy: </a:t>
            </a:r>
            <a:r>
              <a:rPr dirty="0"/>
              <a:t>Extensible forensic platform with mobile modules.</a:t>
            </a:r>
          </a:p>
          <a:p>
            <a:r>
              <a:rPr b="1" dirty="0" err="1"/>
              <a:t>MobSF</a:t>
            </a:r>
            <a:r>
              <a:rPr b="1" dirty="0"/>
              <a:t>: </a:t>
            </a:r>
            <a:r>
              <a:rPr dirty="0"/>
              <a:t>Dynamic/static analysis of Android and iOS apps.</a:t>
            </a:r>
          </a:p>
          <a:p>
            <a:r>
              <a:rPr b="1" dirty="0"/>
              <a:t>ADB</a:t>
            </a:r>
            <a:r>
              <a:rPr dirty="0"/>
              <a:t> (Android Debug Bridge): Basic tool for Android data extraction.</a:t>
            </a:r>
          </a:p>
          <a:p>
            <a:r>
              <a:rPr lang="en-US" b="1" dirty="0"/>
              <a:t>Volatility Framework: </a:t>
            </a:r>
            <a:r>
              <a:rPr lang="en-US" dirty="0"/>
              <a:t>An open-source memory forensics framework.</a:t>
            </a:r>
          </a:p>
          <a:p>
            <a:r>
              <a:rPr lang="en-IN" b="1" dirty="0"/>
              <a:t>ExifTool: </a:t>
            </a:r>
            <a:r>
              <a:rPr lang="en-IN" dirty="0"/>
              <a:t>Extracting EXIF data from photos and videos (timestamps, GPS coordinates, camera model), which is crucial for mobile forensics.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1935</Words>
  <Application>Microsoft Office PowerPoint</Application>
  <PresentationFormat>On-screen Show (4:3)</PresentationFormat>
  <Paragraphs>148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Chapter 4: Mobile Forensics Tools</vt:lpstr>
      <vt:lpstr>Introduction to Mobile Forensics Tools</vt:lpstr>
      <vt:lpstr>4.1 Cellebrite</vt:lpstr>
      <vt:lpstr>Usage</vt:lpstr>
      <vt:lpstr>Supported Devices</vt:lpstr>
      <vt:lpstr>4.2 Oxygen Forensics Suite</vt:lpstr>
      <vt:lpstr>Usage</vt:lpstr>
      <vt:lpstr>Supported Devices</vt:lpstr>
      <vt:lpstr>4.3 Paraben iRecovery Stick</vt:lpstr>
      <vt:lpstr>Usage</vt:lpstr>
      <vt:lpstr>Supported Devices</vt:lpstr>
      <vt:lpstr>4.4 Open-Source Mobile Forensics Tools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Jai Girawale</cp:lastModifiedBy>
  <cp:revision>26</cp:revision>
  <dcterms:created xsi:type="dcterms:W3CDTF">2013-01-27T09:14:16Z</dcterms:created>
  <dcterms:modified xsi:type="dcterms:W3CDTF">2025-07-22T03:09:27Z</dcterms:modified>
  <cp:category/>
</cp:coreProperties>
</file>