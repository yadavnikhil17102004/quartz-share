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77" r:id="rId2"/>
    <p:sldId id="263" r:id="rId3"/>
    <p:sldId id="256" r:id="rId4"/>
    <p:sldId id="264" r:id="rId5"/>
    <p:sldId id="265" r:id="rId6"/>
    <p:sldId id="266" r:id="rId7"/>
    <p:sldId id="267" r:id="rId8"/>
    <p:sldId id="281" r:id="rId9"/>
    <p:sldId id="268" r:id="rId10"/>
    <p:sldId id="269" r:id="rId11"/>
    <p:sldId id="278" r:id="rId12"/>
    <p:sldId id="280"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3595" autoAdjust="0"/>
  </p:normalViewPr>
  <p:slideViewPr>
    <p:cSldViewPr snapToGrid="0" snapToObjects="1">
      <p:cViewPr varScale="1">
        <p:scale>
          <a:sx n="77" d="100"/>
          <a:sy n="77" d="100"/>
        </p:scale>
        <p:origin x="1618"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36988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IN" dirty="0"/>
          </a:p>
        </p:txBody>
      </p:sp>
    </p:spTree>
    <p:extLst>
      <p:ext uri="{BB962C8B-B14F-4D97-AF65-F5344CB8AC3E}">
        <p14:creationId xmlns:p14="http://schemas.microsoft.com/office/powerpoint/2010/main" val="18633448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7/16/2025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7/16/2025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7/16/2025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7/16/2025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4FF928-3A90-CB10-2F60-5A98D0BEE310}"/>
              </a:ext>
            </a:extLst>
          </p:cNvPr>
          <p:cNvSpPr>
            <a:spLocks noGrp="1"/>
          </p:cNvSpPr>
          <p:nvPr>
            <p:ph type="title"/>
          </p:nvPr>
        </p:nvSpPr>
        <p:spPr>
          <a:xfrm>
            <a:off x="457200" y="2509838"/>
            <a:ext cx="8229600" cy="1143000"/>
          </a:xfrm>
        </p:spPr>
        <p:txBody>
          <a:bodyPr>
            <a:normAutofit fontScale="90000"/>
          </a:bodyPr>
          <a:lstStyle/>
          <a:p>
            <a:r>
              <a:rPr lang="en-US" b="1" dirty="0"/>
              <a:t>Chapter 2 Mobile Forensics Process</a:t>
            </a:r>
            <a:endParaRPr lang="en-IN" dirty="0"/>
          </a:p>
        </p:txBody>
      </p:sp>
    </p:spTree>
    <p:extLst>
      <p:ext uri="{BB962C8B-B14F-4D97-AF65-F5344CB8AC3E}">
        <p14:creationId xmlns:p14="http://schemas.microsoft.com/office/powerpoint/2010/main" val="25227266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D9057D-CE6F-4B8B-446D-FCD3711A72A4}"/>
              </a:ext>
            </a:extLst>
          </p:cNvPr>
          <p:cNvSpPr>
            <a:spLocks noGrp="1"/>
          </p:cNvSpPr>
          <p:nvPr>
            <p:ph type="title"/>
          </p:nvPr>
        </p:nvSpPr>
        <p:spPr/>
        <p:txBody>
          <a:bodyPr/>
          <a:lstStyle/>
          <a:p>
            <a:r>
              <a:rPr lang="en-US" dirty="0"/>
              <a:t>Index</a:t>
            </a:r>
            <a:endParaRPr lang="en-IN" dirty="0"/>
          </a:p>
        </p:txBody>
      </p:sp>
      <p:sp>
        <p:nvSpPr>
          <p:cNvPr id="3" name="Content Placeholder 2">
            <a:extLst>
              <a:ext uri="{FF2B5EF4-FFF2-40B4-BE49-F238E27FC236}">
                <a16:creationId xmlns:a16="http://schemas.microsoft.com/office/drawing/2014/main" id="{B33C5085-3BCD-AFFA-651A-7381060E9B0D}"/>
              </a:ext>
            </a:extLst>
          </p:cNvPr>
          <p:cNvSpPr>
            <a:spLocks noGrp="1"/>
          </p:cNvSpPr>
          <p:nvPr>
            <p:ph idx="1"/>
          </p:nvPr>
        </p:nvSpPr>
        <p:spPr/>
        <p:txBody>
          <a:bodyPr>
            <a:normAutofit/>
          </a:bodyPr>
          <a:lstStyle/>
          <a:p>
            <a:pPr marL="0" indent="0">
              <a:buNone/>
            </a:pPr>
            <a:r>
              <a:rPr lang="en-IN" dirty="0"/>
              <a:t>2.1. Mobile Forensic and its Challenges. </a:t>
            </a:r>
          </a:p>
          <a:p>
            <a:pPr marL="0" indent="0">
              <a:buNone/>
            </a:pPr>
            <a:r>
              <a:rPr lang="en-IN" dirty="0"/>
              <a:t>2.2. Mobile Forensics Process </a:t>
            </a:r>
          </a:p>
          <a:p>
            <a:pPr marL="0" indent="0">
              <a:buNone/>
            </a:pPr>
            <a:r>
              <a:rPr lang="en-IN" dirty="0"/>
              <a:t>2.3. Acquisition Methods </a:t>
            </a:r>
          </a:p>
          <a:p>
            <a:pPr marL="0" indent="0">
              <a:buNone/>
            </a:pPr>
            <a:r>
              <a:rPr lang="en-IN" dirty="0"/>
              <a:t>2.4. Emerging Techniques in Mobile Forensics</a:t>
            </a:r>
          </a:p>
        </p:txBody>
      </p:sp>
    </p:spTree>
    <p:extLst>
      <p:ext uri="{BB962C8B-B14F-4D97-AF65-F5344CB8AC3E}">
        <p14:creationId xmlns:p14="http://schemas.microsoft.com/office/powerpoint/2010/main" val="17976945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000" b="1" dirty="0"/>
              <a:t>Introduction to Mobile Forensics</a:t>
            </a:r>
            <a:endParaRPr sz="3000" b="1" dirty="0"/>
          </a:p>
        </p:txBody>
      </p:sp>
      <p:sp>
        <p:nvSpPr>
          <p:cNvPr id="3" name="Content Placeholder 2"/>
          <p:cNvSpPr>
            <a:spLocks noGrp="1"/>
          </p:cNvSpPr>
          <p:nvPr>
            <p:ph idx="1"/>
          </p:nvPr>
        </p:nvSpPr>
        <p:spPr>
          <a:xfrm>
            <a:off x="457200" y="1915160"/>
            <a:ext cx="8229600" cy="4525963"/>
          </a:xfrm>
        </p:spPr>
        <p:txBody>
          <a:bodyPr>
            <a:normAutofit fontScale="92500" lnSpcReduction="10000"/>
          </a:bodyPr>
          <a:lstStyle/>
          <a:p>
            <a:pPr marL="0" lvl="0" indent="0" defTabSz="914400" eaLnBrk="0" fontAlgn="base" hangingPunct="0">
              <a:spcBef>
                <a:spcPct val="0"/>
              </a:spcBef>
              <a:spcAft>
                <a:spcPct val="0"/>
              </a:spcAft>
              <a:buFontTx/>
              <a:buChar char="•"/>
            </a:pPr>
            <a:r>
              <a:rPr lang="en-US" altLang="en-US" dirty="0">
                <a:latin typeface="Arial" panose="020B0604020202020204" pitchFamily="34" charset="0"/>
              </a:rPr>
              <a:t> </a:t>
            </a:r>
            <a:r>
              <a:rPr lang="en-US" dirty="0"/>
              <a:t>Mobile forensics is a specialized branch of digital forensics that deals with the scientific extraction, preservation, analysis, and presentation of evidence from mobile devices in a forensically sound manner. </a:t>
            </a:r>
          </a:p>
          <a:p>
            <a:pPr marL="0" lvl="0" indent="0" defTabSz="914400" eaLnBrk="0" fontAlgn="base" hangingPunct="0">
              <a:spcBef>
                <a:spcPct val="0"/>
              </a:spcBef>
              <a:spcAft>
                <a:spcPct val="0"/>
              </a:spcAft>
              <a:buNone/>
            </a:pPr>
            <a:endParaRPr lang="en-US" dirty="0"/>
          </a:p>
          <a:p>
            <a:pPr marL="0" lvl="0" indent="0" defTabSz="914400" eaLnBrk="0" fontAlgn="base" hangingPunct="0">
              <a:spcBef>
                <a:spcPct val="0"/>
              </a:spcBef>
              <a:spcAft>
                <a:spcPct val="0"/>
              </a:spcAft>
              <a:buFontTx/>
              <a:buChar char="•"/>
            </a:pPr>
            <a:r>
              <a:rPr lang="en-US" dirty="0"/>
              <a:t> As mobile phones, smartphones, tablets, and other portable devices become integral to daily life, they increasingly serve as rich repositories of digital evidence relevant to various types of investigations, including criminal, civil, and corporate cases.</a:t>
            </a:r>
            <a:endParaRPr lang="en-IN" dirty="0"/>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F9B319-3F57-CDBF-B279-E6C4BE97C71F}"/>
              </a:ext>
            </a:extLst>
          </p:cNvPr>
          <p:cNvSpPr>
            <a:spLocks noGrp="1"/>
          </p:cNvSpPr>
          <p:nvPr>
            <p:ph type="title"/>
          </p:nvPr>
        </p:nvSpPr>
        <p:spPr/>
        <p:txBody>
          <a:bodyPr/>
          <a:lstStyle/>
          <a:p>
            <a:r>
              <a:rPr lang="en-IN" b="1" dirty="0"/>
              <a:t>2.1 Mobile Forensic Challenges</a:t>
            </a:r>
          </a:p>
        </p:txBody>
      </p:sp>
      <p:sp>
        <p:nvSpPr>
          <p:cNvPr id="3" name="Content Placeholder 2">
            <a:extLst>
              <a:ext uri="{FF2B5EF4-FFF2-40B4-BE49-F238E27FC236}">
                <a16:creationId xmlns:a16="http://schemas.microsoft.com/office/drawing/2014/main" id="{23DBCF6B-47B9-0660-7B02-1655BFCBBA5F}"/>
              </a:ext>
            </a:extLst>
          </p:cNvPr>
          <p:cNvSpPr>
            <a:spLocks noGrp="1"/>
          </p:cNvSpPr>
          <p:nvPr>
            <p:ph idx="1"/>
          </p:nvPr>
        </p:nvSpPr>
        <p:spPr/>
        <p:txBody>
          <a:bodyPr>
            <a:normAutofit fontScale="47500" lnSpcReduction="20000"/>
          </a:bodyPr>
          <a:lstStyle/>
          <a:p>
            <a:pPr marL="0" indent="0">
              <a:buNone/>
            </a:pPr>
            <a:r>
              <a:rPr lang="en-US" dirty="0"/>
              <a:t>Mobile forensics presents several unique and evolving challenges that distinguish it from traditional computer forensics:</a:t>
            </a:r>
          </a:p>
          <a:p>
            <a:pPr marL="0" indent="0">
              <a:buNone/>
            </a:pPr>
            <a:endParaRPr lang="en-US" dirty="0"/>
          </a:p>
          <a:p>
            <a:r>
              <a:rPr lang="en-US" b="1" dirty="0"/>
              <a:t>Device Diversity:</a:t>
            </a:r>
            <a:endParaRPr lang="en-US" dirty="0"/>
          </a:p>
          <a:p>
            <a:pPr lvl="1"/>
            <a:r>
              <a:rPr lang="en-US" b="1" dirty="0"/>
              <a:t>Vast Number of Models:</a:t>
            </a:r>
            <a:r>
              <a:rPr lang="en-US" dirty="0"/>
              <a:t> Hundreds of manufacturers produce thousands of mobile device models, each with distinct hardware, firmware, and internal structures.</a:t>
            </a:r>
          </a:p>
          <a:p>
            <a:pPr lvl="1"/>
            <a:r>
              <a:rPr lang="en-US" b="1" dirty="0"/>
              <a:t>Operating System Fragmentation:</a:t>
            </a:r>
            <a:r>
              <a:rPr lang="en-US" dirty="0"/>
              <a:t> While Android and iOS dominate, varying versions, custom ROMs (Android), and proprietary operating systems (e.g., feature phones) create inconsistencies.</a:t>
            </a:r>
          </a:p>
          <a:p>
            <a:pPr lvl="1"/>
            <a:r>
              <a:rPr lang="en-US" b="1" dirty="0"/>
              <a:t>Hardware Variations:</a:t>
            </a:r>
            <a:r>
              <a:rPr lang="en-US" dirty="0"/>
              <a:t> Different chipsets (Qualcomm, MediaTek, Apple A-series), memory types (eMMC, UFS), and connectivity options require specialized tools and techniques.</a:t>
            </a:r>
          </a:p>
          <a:p>
            <a:pPr marL="457200" lvl="1" indent="0">
              <a:buNone/>
            </a:pPr>
            <a:endParaRPr lang="en-US" dirty="0"/>
          </a:p>
          <a:p>
            <a:r>
              <a:rPr lang="en-US" b="1" dirty="0"/>
              <a:t>Rapid Technological Advancements:</a:t>
            </a:r>
            <a:endParaRPr lang="en-US" dirty="0"/>
          </a:p>
          <a:p>
            <a:pPr lvl="1"/>
            <a:r>
              <a:rPr lang="en-US" b="1" dirty="0"/>
              <a:t>Short Lifespan:</a:t>
            </a:r>
            <a:r>
              <a:rPr lang="en-US" dirty="0"/>
              <a:t> New device models and OS versions are released frequently, often making forensic tools quickly obsolete.</a:t>
            </a:r>
          </a:p>
          <a:p>
            <a:pPr lvl="1"/>
            <a:r>
              <a:rPr lang="en-US" b="1" dirty="0"/>
              <a:t>Evolving Security Features:</a:t>
            </a:r>
            <a:r>
              <a:rPr lang="en-US" dirty="0"/>
              <a:t> Manufacturers constantly enhance security (e.g., stronger encryption, secure boot, hardware-backed security modules, anti-forensics features), making data access more difficult.</a:t>
            </a:r>
          </a:p>
          <a:p>
            <a:pPr marL="457200" lvl="1" indent="0">
              <a:buNone/>
            </a:pPr>
            <a:endParaRPr lang="en-US" dirty="0"/>
          </a:p>
          <a:p>
            <a:r>
              <a:rPr lang="en-US" b="1" dirty="0"/>
              <a:t>Data Volatility:</a:t>
            </a:r>
            <a:endParaRPr lang="en-US" dirty="0"/>
          </a:p>
          <a:p>
            <a:pPr lvl="1"/>
            <a:r>
              <a:rPr lang="en-US" b="1" dirty="0"/>
              <a:t>Live Data:</a:t>
            </a:r>
            <a:r>
              <a:rPr lang="en-US" dirty="0"/>
              <a:t> Information like running processes, active network connections, and temporary files are highly volatile and can be lost if not preserved quickly and correctly.</a:t>
            </a:r>
          </a:p>
          <a:p>
            <a:pPr lvl="1"/>
            <a:r>
              <a:rPr lang="en-US" b="1" dirty="0"/>
              <a:t>Overwriting:</a:t>
            </a:r>
            <a:r>
              <a:rPr lang="en-US" dirty="0"/>
              <a:t> Constant writes to flash memory (e.g., app updates, new messages) can quickly overwrite deleted data, reducing recovery chances.</a:t>
            </a:r>
          </a:p>
          <a:p>
            <a:endParaRPr lang="en-IN" dirty="0"/>
          </a:p>
        </p:txBody>
      </p:sp>
    </p:spTree>
    <p:extLst>
      <p:ext uri="{BB962C8B-B14F-4D97-AF65-F5344CB8AC3E}">
        <p14:creationId xmlns:p14="http://schemas.microsoft.com/office/powerpoint/2010/main" val="38467646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881D80-6196-B24A-FC32-437AF86FAC4F}"/>
              </a:ext>
            </a:extLst>
          </p:cNvPr>
          <p:cNvSpPr>
            <a:spLocks noGrp="1"/>
          </p:cNvSpPr>
          <p:nvPr>
            <p:ph type="title"/>
          </p:nvPr>
        </p:nvSpPr>
        <p:spPr/>
        <p:txBody>
          <a:bodyPr/>
          <a:lstStyle/>
          <a:p>
            <a:r>
              <a:rPr lang="en-US" dirty="0"/>
              <a:t>Cont.</a:t>
            </a:r>
            <a:endParaRPr lang="en-IN" dirty="0"/>
          </a:p>
        </p:txBody>
      </p:sp>
      <p:sp>
        <p:nvSpPr>
          <p:cNvPr id="3" name="Content Placeholder 2">
            <a:extLst>
              <a:ext uri="{FF2B5EF4-FFF2-40B4-BE49-F238E27FC236}">
                <a16:creationId xmlns:a16="http://schemas.microsoft.com/office/drawing/2014/main" id="{3F2AA9D2-A7CB-C330-6527-65BD7367F61E}"/>
              </a:ext>
            </a:extLst>
          </p:cNvPr>
          <p:cNvSpPr>
            <a:spLocks noGrp="1"/>
          </p:cNvSpPr>
          <p:nvPr>
            <p:ph idx="1"/>
          </p:nvPr>
        </p:nvSpPr>
        <p:spPr/>
        <p:txBody>
          <a:bodyPr>
            <a:normAutofit fontScale="47500" lnSpcReduction="20000"/>
          </a:bodyPr>
          <a:lstStyle/>
          <a:p>
            <a:r>
              <a:rPr lang="en-US" b="1" dirty="0"/>
              <a:t>Encryption and Device Locks:</a:t>
            </a:r>
          </a:p>
          <a:p>
            <a:pPr lvl="1"/>
            <a:r>
              <a:rPr lang="en-US" sz="2700" b="1" dirty="0"/>
              <a:t>Full-Disk Encryption (FDE) and File-Based Encryption (FBE): </a:t>
            </a:r>
            <a:r>
              <a:rPr lang="en-US" sz="2700" dirty="0"/>
              <a:t>Modern smartphones typically encrypt user data by default, rendering data unreadable without the correct passcode or biometric unlock.</a:t>
            </a:r>
          </a:p>
          <a:p>
            <a:pPr lvl="1"/>
            <a:r>
              <a:rPr lang="en-US" sz="2700" b="1" dirty="0"/>
              <a:t>Passcodes and Biometrics: </a:t>
            </a:r>
            <a:r>
              <a:rPr lang="en-US" sz="2700" dirty="0"/>
              <a:t>Screen locks, PINs, patterns, fingerprints, and face recognition prevent unauthorized access and complicate acquisition.</a:t>
            </a:r>
          </a:p>
          <a:p>
            <a:pPr lvl="1"/>
            <a:r>
              <a:rPr lang="en-US" sz="2700" b="1" dirty="0"/>
              <a:t>Secure Boot and Hardware-Backed Keys</a:t>
            </a:r>
            <a:r>
              <a:rPr lang="en-US" sz="2700" dirty="0"/>
              <a:t>: These mechanisms make it difficult to bypass OS security or extract encryption keys.</a:t>
            </a:r>
          </a:p>
          <a:p>
            <a:endParaRPr lang="en-US" dirty="0"/>
          </a:p>
          <a:p>
            <a:r>
              <a:rPr lang="en-US" b="1" dirty="0"/>
              <a:t>Anti-Forensics Techniques:</a:t>
            </a:r>
          </a:p>
          <a:p>
            <a:pPr lvl="1"/>
            <a:r>
              <a:rPr lang="en-US" sz="2700" dirty="0"/>
              <a:t>Users can employ methods to hinder forensic analysis, such as wiping data, factory resetting, using encrypted messaging apps, or physically damaging the device.</a:t>
            </a:r>
          </a:p>
          <a:p>
            <a:endParaRPr lang="en-US" dirty="0"/>
          </a:p>
          <a:p>
            <a:r>
              <a:rPr lang="en-US" b="1" dirty="0"/>
              <a:t>Lack of Standardization:</a:t>
            </a:r>
          </a:p>
          <a:p>
            <a:pPr lvl="1"/>
            <a:r>
              <a:rPr lang="en-US" sz="2700" dirty="0"/>
              <a:t>Unlike traditional hard drives, there's no single standard for mobile device storage, file systems, or communication protocols, requiring tools to adapt to numerous variations.</a:t>
            </a:r>
          </a:p>
          <a:p>
            <a:endParaRPr lang="en-US" dirty="0"/>
          </a:p>
          <a:p>
            <a:r>
              <a:rPr lang="en-US" b="1" dirty="0"/>
              <a:t>Physical Damage:</a:t>
            </a:r>
          </a:p>
          <a:p>
            <a:pPr lvl="1"/>
            <a:r>
              <a:rPr lang="en-US" sz="2700" dirty="0"/>
              <a:t>Devices involved in incidents (e.g., accidents, water damage) may be physically compromised, making data extraction challenging or impossible without specialized repair techniques.</a:t>
            </a:r>
          </a:p>
        </p:txBody>
      </p:sp>
    </p:spTree>
    <p:extLst>
      <p:ext uri="{BB962C8B-B14F-4D97-AF65-F5344CB8AC3E}">
        <p14:creationId xmlns:p14="http://schemas.microsoft.com/office/powerpoint/2010/main" val="33202919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911688-54D5-9CA1-137E-615E93B2FF0C}"/>
              </a:ext>
            </a:extLst>
          </p:cNvPr>
          <p:cNvSpPr>
            <a:spLocks noGrp="1"/>
          </p:cNvSpPr>
          <p:nvPr>
            <p:ph type="title"/>
          </p:nvPr>
        </p:nvSpPr>
        <p:spPr/>
        <p:txBody>
          <a:bodyPr>
            <a:normAutofit/>
          </a:bodyPr>
          <a:lstStyle/>
          <a:p>
            <a:r>
              <a:rPr lang="en-IN" b="1" dirty="0"/>
              <a:t>2.2 Mobile Forensics Process </a:t>
            </a:r>
          </a:p>
        </p:txBody>
      </p:sp>
      <p:sp>
        <p:nvSpPr>
          <p:cNvPr id="3" name="Content Placeholder 2">
            <a:extLst>
              <a:ext uri="{FF2B5EF4-FFF2-40B4-BE49-F238E27FC236}">
                <a16:creationId xmlns:a16="http://schemas.microsoft.com/office/drawing/2014/main" id="{EDE50CE8-2417-F785-E681-266E9B6DF65E}"/>
              </a:ext>
            </a:extLst>
          </p:cNvPr>
          <p:cNvSpPr>
            <a:spLocks noGrp="1"/>
          </p:cNvSpPr>
          <p:nvPr>
            <p:ph idx="1"/>
          </p:nvPr>
        </p:nvSpPr>
        <p:spPr/>
        <p:txBody>
          <a:bodyPr>
            <a:normAutofit fontScale="85000" lnSpcReduction="10000"/>
          </a:bodyPr>
          <a:lstStyle/>
          <a:p>
            <a:r>
              <a:rPr lang="en-US" dirty="0"/>
              <a:t>The mobile phone evidence extraction process follows a structured methodology to ensure data integrity, admissibility, and comprehensive analysis. </a:t>
            </a:r>
          </a:p>
          <a:p>
            <a:r>
              <a:rPr lang="en-US" dirty="0"/>
              <a:t>This process is generally aligned with the principles of digital forensics:</a:t>
            </a:r>
          </a:p>
          <a:p>
            <a:pPr marL="0" indent="0">
              <a:buNone/>
            </a:pPr>
            <a:endParaRPr lang="en-US" dirty="0"/>
          </a:p>
          <a:p>
            <a:pPr marL="914400" lvl="1" indent="-514350">
              <a:buFont typeface="+mj-lt"/>
              <a:buAutoNum type="arabicPeriod"/>
            </a:pPr>
            <a:r>
              <a:rPr lang="en-IN" b="1" dirty="0"/>
              <a:t>Identification</a:t>
            </a:r>
          </a:p>
          <a:p>
            <a:pPr marL="914400" lvl="1" indent="-514350">
              <a:buFont typeface="+mj-lt"/>
              <a:buAutoNum type="arabicPeriod"/>
            </a:pPr>
            <a:r>
              <a:rPr lang="en-IN" b="1" dirty="0"/>
              <a:t>Preservation </a:t>
            </a:r>
          </a:p>
          <a:p>
            <a:pPr marL="914400" lvl="1" indent="-514350">
              <a:buFont typeface="+mj-lt"/>
              <a:buAutoNum type="arabicPeriod"/>
            </a:pPr>
            <a:r>
              <a:rPr lang="en-IN" b="1" dirty="0"/>
              <a:t>Acquisition </a:t>
            </a:r>
          </a:p>
          <a:p>
            <a:pPr marL="914400" lvl="1" indent="-514350">
              <a:buFont typeface="+mj-lt"/>
              <a:buAutoNum type="arabicPeriod"/>
            </a:pPr>
            <a:r>
              <a:rPr lang="en-IN" b="1" dirty="0"/>
              <a:t>Analysis</a:t>
            </a:r>
          </a:p>
          <a:p>
            <a:pPr marL="914400" lvl="1" indent="-514350">
              <a:buFont typeface="+mj-lt"/>
              <a:buAutoNum type="arabicPeriod"/>
            </a:pPr>
            <a:r>
              <a:rPr lang="en-IN" b="1" dirty="0"/>
              <a:t>Reporting</a:t>
            </a:r>
          </a:p>
        </p:txBody>
      </p:sp>
    </p:spTree>
    <p:extLst>
      <p:ext uri="{BB962C8B-B14F-4D97-AF65-F5344CB8AC3E}">
        <p14:creationId xmlns:p14="http://schemas.microsoft.com/office/powerpoint/2010/main" val="22215377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B29762-AF21-371F-3008-AF3FC320A511}"/>
              </a:ext>
            </a:extLst>
          </p:cNvPr>
          <p:cNvSpPr>
            <a:spLocks noGrp="1"/>
          </p:cNvSpPr>
          <p:nvPr>
            <p:ph type="title"/>
          </p:nvPr>
        </p:nvSpPr>
        <p:spPr/>
        <p:txBody>
          <a:bodyPr/>
          <a:lstStyle/>
          <a:p>
            <a:r>
              <a:rPr lang="en-US" dirty="0"/>
              <a:t>Cont.</a:t>
            </a:r>
            <a:endParaRPr lang="en-IN" dirty="0"/>
          </a:p>
        </p:txBody>
      </p:sp>
      <p:sp>
        <p:nvSpPr>
          <p:cNvPr id="3" name="Content Placeholder 2">
            <a:extLst>
              <a:ext uri="{FF2B5EF4-FFF2-40B4-BE49-F238E27FC236}">
                <a16:creationId xmlns:a16="http://schemas.microsoft.com/office/drawing/2014/main" id="{15A699C5-DC31-21D6-1FD4-BD79B8284C3E}"/>
              </a:ext>
            </a:extLst>
          </p:cNvPr>
          <p:cNvSpPr>
            <a:spLocks noGrp="1"/>
          </p:cNvSpPr>
          <p:nvPr>
            <p:ph idx="1"/>
          </p:nvPr>
        </p:nvSpPr>
        <p:spPr/>
        <p:txBody>
          <a:bodyPr>
            <a:normAutofit fontScale="70000" lnSpcReduction="20000"/>
          </a:bodyPr>
          <a:lstStyle/>
          <a:p>
            <a:pPr marL="914400" lvl="1" indent="-514350">
              <a:buFont typeface="+mj-lt"/>
              <a:buAutoNum type="arabicPeriod"/>
            </a:pPr>
            <a:r>
              <a:rPr lang="en-IN" b="1" dirty="0"/>
              <a:t>Identification: </a:t>
            </a:r>
            <a:r>
              <a:rPr lang="en-IN" dirty="0"/>
              <a:t>Recognize the Need, Identify the Device, Identify Type of Data</a:t>
            </a:r>
          </a:p>
          <a:p>
            <a:pPr marL="914400" lvl="1" indent="-514350">
              <a:buFont typeface="+mj-lt"/>
              <a:buAutoNum type="arabicPeriod"/>
            </a:pPr>
            <a:endParaRPr lang="en-IN" b="1" dirty="0"/>
          </a:p>
          <a:p>
            <a:pPr marL="914400" lvl="1" indent="-514350">
              <a:buFont typeface="+mj-lt"/>
              <a:buAutoNum type="arabicPeriod"/>
            </a:pPr>
            <a:r>
              <a:rPr lang="en-IN" b="1" dirty="0"/>
              <a:t>Preservation: </a:t>
            </a:r>
            <a:r>
              <a:rPr lang="en-IN" dirty="0"/>
              <a:t>Isolate the Device (Faraday Bag), </a:t>
            </a:r>
            <a:r>
              <a:rPr lang="en-US" dirty="0"/>
              <a:t>Document Device State (Record the date, time, battery level, network status), </a:t>
            </a:r>
            <a:r>
              <a:rPr lang="en-IN" dirty="0"/>
              <a:t>Chain of Custody</a:t>
            </a:r>
          </a:p>
          <a:p>
            <a:pPr marL="914400" lvl="1" indent="-514350">
              <a:buFont typeface="+mj-lt"/>
              <a:buAutoNum type="arabicPeriod"/>
            </a:pPr>
            <a:endParaRPr lang="en-IN" b="1" dirty="0"/>
          </a:p>
          <a:p>
            <a:pPr marL="914400" lvl="1" indent="-514350">
              <a:buFont typeface="+mj-lt"/>
              <a:buAutoNum type="arabicPeriod"/>
            </a:pPr>
            <a:r>
              <a:rPr lang="en-IN" b="1" dirty="0"/>
              <a:t>Acquisition: </a:t>
            </a:r>
            <a:r>
              <a:rPr lang="en-US" dirty="0"/>
              <a:t>process of physically or logically extracting data from the mobile device,</a:t>
            </a:r>
            <a:r>
              <a:rPr lang="en-IN" dirty="0"/>
              <a:t> Tool Selection, Hashing</a:t>
            </a:r>
            <a:r>
              <a:rPr lang="en-US" dirty="0"/>
              <a:t> </a:t>
            </a:r>
          </a:p>
          <a:p>
            <a:pPr marL="914400" lvl="1" indent="-514350">
              <a:buFont typeface="+mj-lt"/>
              <a:buAutoNum type="arabicPeriod"/>
            </a:pPr>
            <a:endParaRPr lang="en-US" dirty="0"/>
          </a:p>
          <a:p>
            <a:pPr marL="914400" lvl="1" indent="-514350">
              <a:buFont typeface="+mj-lt"/>
              <a:buAutoNum type="arabicPeriod"/>
            </a:pPr>
            <a:r>
              <a:rPr lang="en-IN" b="1" dirty="0"/>
              <a:t>Analysis: </a:t>
            </a:r>
            <a:r>
              <a:rPr lang="en-IN" dirty="0"/>
              <a:t>Processing the Data, Timeline Reconstruction, Correlation, Validation</a:t>
            </a:r>
          </a:p>
          <a:p>
            <a:pPr marL="914400" lvl="1" indent="-514350">
              <a:buFont typeface="+mj-lt"/>
              <a:buAutoNum type="arabicPeriod"/>
            </a:pPr>
            <a:endParaRPr lang="en-IN" b="1" dirty="0"/>
          </a:p>
          <a:p>
            <a:pPr marL="914400" lvl="1" indent="-514350">
              <a:buFont typeface="+mj-lt"/>
              <a:buAutoNum type="arabicPeriod"/>
            </a:pPr>
            <a:r>
              <a:rPr lang="en-IN" b="1" dirty="0"/>
              <a:t>Reporting: </a:t>
            </a:r>
            <a:r>
              <a:rPr lang="en-IN" dirty="0"/>
              <a:t>Document Findings, Report Structure, Expert Testimony</a:t>
            </a:r>
          </a:p>
          <a:p>
            <a:endParaRPr lang="en-IN" dirty="0"/>
          </a:p>
        </p:txBody>
      </p:sp>
    </p:spTree>
    <p:extLst>
      <p:ext uri="{BB962C8B-B14F-4D97-AF65-F5344CB8AC3E}">
        <p14:creationId xmlns:p14="http://schemas.microsoft.com/office/powerpoint/2010/main" val="4584918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5D4AC4-F5A0-3719-0EBD-0A78482E66FE}"/>
              </a:ext>
            </a:extLst>
          </p:cNvPr>
          <p:cNvSpPr>
            <a:spLocks noGrp="1"/>
          </p:cNvSpPr>
          <p:nvPr>
            <p:ph type="title"/>
          </p:nvPr>
        </p:nvSpPr>
        <p:spPr/>
        <p:txBody>
          <a:bodyPr/>
          <a:lstStyle/>
          <a:p>
            <a:r>
              <a:rPr lang="en-US" dirty="0"/>
              <a:t>Cont.</a:t>
            </a:r>
            <a:endParaRPr lang="en-IN" dirty="0"/>
          </a:p>
        </p:txBody>
      </p:sp>
      <p:graphicFrame>
        <p:nvGraphicFramePr>
          <p:cNvPr id="4" name="Content Placeholder 3">
            <a:extLst>
              <a:ext uri="{FF2B5EF4-FFF2-40B4-BE49-F238E27FC236}">
                <a16:creationId xmlns:a16="http://schemas.microsoft.com/office/drawing/2014/main" id="{94230801-B470-D113-395D-C76FAF2BD8F2}"/>
              </a:ext>
            </a:extLst>
          </p:cNvPr>
          <p:cNvGraphicFramePr>
            <a:graphicFrameLocks noGrp="1"/>
          </p:cNvGraphicFramePr>
          <p:nvPr>
            <p:ph idx="1"/>
            <p:extLst>
              <p:ext uri="{D42A27DB-BD31-4B8C-83A1-F6EECF244321}">
                <p14:modId xmlns:p14="http://schemas.microsoft.com/office/powerpoint/2010/main" val="2703783169"/>
              </p:ext>
            </p:extLst>
          </p:nvPr>
        </p:nvGraphicFramePr>
        <p:xfrm>
          <a:off x="457200" y="2537301"/>
          <a:ext cx="8229600" cy="2651760"/>
        </p:xfrm>
        <a:graphic>
          <a:graphicData uri="http://schemas.openxmlformats.org/drawingml/2006/table">
            <a:tbl>
              <a:tblPr/>
              <a:tblGrid>
                <a:gridCol w="2743200">
                  <a:extLst>
                    <a:ext uri="{9D8B030D-6E8A-4147-A177-3AD203B41FA5}">
                      <a16:colId xmlns:a16="http://schemas.microsoft.com/office/drawing/2014/main" val="2308943756"/>
                    </a:ext>
                  </a:extLst>
                </a:gridCol>
                <a:gridCol w="2743200">
                  <a:extLst>
                    <a:ext uri="{9D8B030D-6E8A-4147-A177-3AD203B41FA5}">
                      <a16:colId xmlns:a16="http://schemas.microsoft.com/office/drawing/2014/main" val="1511390349"/>
                    </a:ext>
                  </a:extLst>
                </a:gridCol>
                <a:gridCol w="2743200">
                  <a:extLst>
                    <a:ext uri="{9D8B030D-6E8A-4147-A177-3AD203B41FA5}">
                      <a16:colId xmlns:a16="http://schemas.microsoft.com/office/drawing/2014/main" val="741560350"/>
                    </a:ext>
                  </a:extLst>
                </a:gridCol>
              </a:tblGrid>
              <a:tr h="0">
                <a:tc>
                  <a:txBody>
                    <a:bodyPr/>
                    <a:lstStyle/>
                    <a:p>
                      <a:pPr>
                        <a:buNone/>
                      </a:pPr>
                      <a:r>
                        <a:rPr lang="en-IN" b="1" dirty="0"/>
                        <a:t>Phase</a:t>
                      </a:r>
                    </a:p>
                  </a:txBody>
                  <a:tcPr anchor="ctr">
                    <a:lnL>
                      <a:noFill/>
                    </a:lnL>
                    <a:lnR>
                      <a:noFill/>
                    </a:lnR>
                    <a:lnT>
                      <a:noFill/>
                    </a:lnT>
                    <a:lnB>
                      <a:noFill/>
                    </a:lnB>
                    <a:noFill/>
                  </a:tcPr>
                </a:tc>
                <a:tc>
                  <a:txBody>
                    <a:bodyPr/>
                    <a:lstStyle/>
                    <a:p>
                      <a:pPr>
                        <a:buNone/>
                      </a:pPr>
                      <a:r>
                        <a:rPr lang="en-IN" b="1" dirty="0"/>
                        <a:t>Description</a:t>
                      </a:r>
                    </a:p>
                  </a:txBody>
                  <a:tcPr anchor="ctr">
                    <a:lnL>
                      <a:noFill/>
                    </a:lnL>
                    <a:lnR>
                      <a:noFill/>
                    </a:lnR>
                    <a:lnT>
                      <a:noFill/>
                    </a:lnT>
                    <a:lnB>
                      <a:noFill/>
                    </a:lnB>
                    <a:noFill/>
                  </a:tcPr>
                </a:tc>
                <a:tc>
                  <a:txBody>
                    <a:bodyPr/>
                    <a:lstStyle/>
                    <a:p>
                      <a:pPr>
                        <a:buNone/>
                      </a:pPr>
                      <a:r>
                        <a:rPr lang="en-IN" b="1" dirty="0"/>
                        <a:t>Tools Used</a:t>
                      </a:r>
                    </a:p>
                  </a:txBody>
                  <a:tcPr anchor="ctr">
                    <a:lnL>
                      <a:noFill/>
                    </a:lnL>
                    <a:lnR>
                      <a:noFill/>
                    </a:lnR>
                    <a:lnT>
                      <a:noFill/>
                    </a:lnT>
                    <a:lnB>
                      <a:noFill/>
                    </a:lnB>
                    <a:noFill/>
                  </a:tcPr>
                </a:tc>
                <a:extLst>
                  <a:ext uri="{0D108BD9-81ED-4DB2-BD59-A6C34878D82A}">
                    <a16:rowId xmlns:a16="http://schemas.microsoft.com/office/drawing/2014/main" val="2569709721"/>
                  </a:ext>
                </a:extLst>
              </a:tr>
              <a:tr h="0">
                <a:tc>
                  <a:txBody>
                    <a:bodyPr/>
                    <a:lstStyle/>
                    <a:p>
                      <a:pPr>
                        <a:buNone/>
                      </a:pPr>
                      <a:r>
                        <a:rPr lang="en-IN"/>
                        <a:t>Preservation</a:t>
                      </a:r>
                    </a:p>
                  </a:txBody>
                  <a:tcPr anchor="ctr">
                    <a:lnL>
                      <a:noFill/>
                    </a:lnL>
                    <a:lnR>
                      <a:noFill/>
                    </a:lnR>
                    <a:lnT>
                      <a:noFill/>
                    </a:lnT>
                    <a:lnB>
                      <a:noFill/>
                    </a:lnB>
                    <a:noFill/>
                  </a:tcPr>
                </a:tc>
                <a:tc>
                  <a:txBody>
                    <a:bodyPr/>
                    <a:lstStyle/>
                    <a:p>
                      <a:pPr>
                        <a:buNone/>
                      </a:pPr>
                      <a:r>
                        <a:rPr lang="en-US"/>
                        <a:t>Isolate and protect the device</a:t>
                      </a:r>
                    </a:p>
                  </a:txBody>
                  <a:tcPr anchor="ctr">
                    <a:lnL>
                      <a:noFill/>
                    </a:lnL>
                    <a:lnR>
                      <a:noFill/>
                    </a:lnR>
                    <a:lnT>
                      <a:noFill/>
                    </a:lnT>
                    <a:lnB>
                      <a:noFill/>
                    </a:lnB>
                    <a:noFill/>
                  </a:tcPr>
                </a:tc>
                <a:tc>
                  <a:txBody>
                    <a:bodyPr/>
                    <a:lstStyle/>
                    <a:p>
                      <a:pPr>
                        <a:buNone/>
                      </a:pPr>
                      <a:r>
                        <a:rPr lang="en-US"/>
                        <a:t>Faraday bag, Chain of Custody Form</a:t>
                      </a:r>
                    </a:p>
                  </a:txBody>
                  <a:tcPr anchor="ctr">
                    <a:lnL>
                      <a:noFill/>
                    </a:lnL>
                    <a:lnR>
                      <a:noFill/>
                    </a:lnR>
                    <a:lnT>
                      <a:noFill/>
                    </a:lnT>
                    <a:lnB>
                      <a:noFill/>
                    </a:lnB>
                    <a:noFill/>
                  </a:tcPr>
                </a:tc>
                <a:extLst>
                  <a:ext uri="{0D108BD9-81ED-4DB2-BD59-A6C34878D82A}">
                    <a16:rowId xmlns:a16="http://schemas.microsoft.com/office/drawing/2014/main" val="2661216040"/>
                  </a:ext>
                </a:extLst>
              </a:tr>
              <a:tr h="0">
                <a:tc>
                  <a:txBody>
                    <a:bodyPr/>
                    <a:lstStyle/>
                    <a:p>
                      <a:pPr>
                        <a:buNone/>
                      </a:pPr>
                      <a:r>
                        <a:rPr lang="en-IN"/>
                        <a:t>Acquisition</a:t>
                      </a:r>
                    </a:p>
                  </a:txBody>
                  <a:tcPr anchor="ctr">
                    <a:lnL>
                      <a:noFill/>
                    </a:lnL>
                    <a:lnR>
                      <a:noFill/>
                    </a:lnR>
                    <a:lnT>
                      <a:noFill/>
                    </a:lnT>
                    <a:lnB>
                      <a:noFill/>
                    </a:lnB>
                    <a:noFill/>
                  </a:tcPr>
                </a:tc>
                <a:tc>
                  <a:txBody>
                    <a:bodyPr/>
                    <a:lstStyle/>
                    <a:p>
                      <a:pPr>
                        <a:buNone/>
                      </a:pPr>
                      <a:r>
                        <a:rPr lang="en-IN"/>
                        <a:t>Extract data</a:t>
                      </a:r>
                    </a:p>
                  </a:txBody>
                  <a:tcPr anchor="ctr">
                    <a:lnL>
                      <a:noFill/>
                    </a:lnL>
                    <a:lnR>
                      <a:noFill/>
                    </a:lnR>
                    <a:lnT>
                      <a:noFill/>
                    </a:lnT>
                    <a:lnB>
                      <a:noFill/>
                    </a:lnB>
                    <a:noFill/>
                  </a:tcPr>
                </a:tc>
                <a:tc>
                  <a:txBody>
                    <a:bodyPr/>
                    <a:lstStyle/>
                    <a:p>
                      <a:pPr>
                        <a:buNone/>
                      </a:pPr>
                      <a:r>
                        <a:rPr lang="en-IN"/>
                        <a:t>Cellebrite, Magnet AXIOM</a:t>
                      </a:r>
                    </a:p>
                  </a:txBody>
                  <a:tcPr anchor="ctr">
                    <a:lnL>
                      <a:noFill/>
                    </a:lnL>
                    <a:lnR>
                      <a:noFill/>
                    </a:lnR>
                    <a:lnT>
                      <a:noFill/>
                    </a:lnT>
                    <a:lnB>
                      <a:noFill/>
                    </a:lnB>
                    <a:noFill/>
                  </a:tcPr>
                </a:tc>
                <a:extLst>
                  <a:ext uri="{0D108BD9-81ED-4DB2-BD59-A6C34878D82A}">
                    <a16:rowId xmlns:a16="http://schemas.microsoft.com/office/drawing/2014/main" val="3204267915"/>
                  </a:ext>
                </a:extLst>
              </a:tr>
              <a:tr h="0">
                <a:tc>
                  <a:txBody>
                    <a:bodyPr/>
                    <a:lstStyle/>
                    <a:p>
                      <a:pPr>
                        <a:buNone/>
                      </a:pPr>
                      <a:r>
                        <a:rPr lang="en-IN"/>
                        <a:t>Analysis</a:t>
                      </a:r>
                    </a:p>
                  </a:txBody>
                  <a:tcPr anchor="ctr">
                    <a:lnL>
                      <a:noFill/>
                    </a:lnL>
                    <a:lnR>
                      <a:noFill/>
                    </a:lnR>
                    <a:lnT>
                      <a:noFill/>
                    </a:lnT>
                    <a:lnB>
                      <a:noFill/>
                    </a:lnB>
                    <a:noFill/>
                  </a:tcPr>
                </a:tc>
                <a:tc>
                  <a:txBody>
                    <a:bodyPr/>
                    <a:lstStyle/>
                    <a:p>
                      <a:pPr>
                        <a:buNone/>
                      </a:pPr>
                      <a:r>
                        <a:rPr lang="en-IN"/>
                        <a:t>Filter and examine data</a:t>
                      </a:r>
                    </a:p>
                  </a:txBody>
                  <a:tcPr anchor="ctr">
                    <a:lnL>
                      <a:noFill/>
                    </a:lnL>
                    <a:lnR>
                      <a:noFill/>
                    </a:lnR>
                    <a:lnT>
                      <a:noFill/>
                    </a:lnT>
                    <a:lnB>
                      <a:noFill/>
                    </a:lnB>
                    <a:noFill/>
                  </a:tcPr>
                </a:tc>
                <a:tc>
                  <a:txBody>
                    <a:bodyPr/>
                    <a:lstStyle/>
                    <a:p>
                      <a:pPr>
                        <a:buNone/>
                      </a:pPr>
                      <a:r>
                        <a:rPr lang="en-IN"/>
                        <a:t>Autopsy, Oxygen, manual review</a:t>
                      </a:r>
                    </a:p>
                  </a:txBody>
                  <a:tcPr anchor="ctr">
                    <a:lnL>
                      <a:noFill/>
                    </a:lnL>
                    <a:lnR>
                      <a:noFill/>
                    </a:lnR>
                    <a:lnT>
                      <a:noFill/>
                    </a:lnT>
                    <a:lnB>
                      <a:noFill/>
                    </a:lnB>
                    <a:noFill/>
                  </a:tcPr>
                </a:tc>
                <a:extLst>
                  <a:ext uri="{0D108BD9-81ED-4DB2-BD59-A6C34878D82A}">
                    <a16:rowId xmlns:a16="http://schemas.microsoft.com/office/drawing/2014/main" val="2726235616"/>
                  </a:ext>
                </a:extLst>
              </a:tr>
              <a:tr h="0">
                <a:tc>
                  <a:txBody>
                    <a:bodyPr/>
                    <a:lstStyle/>
                    <a:p>
                      <a:pPr>
                        <a:buNone/>
                      </a:pPr>
                      <a:r>
                        <a:rPr lang="en-IN"/>
                        <a:t>Reporting</a:t>
                      </a:r>
                    </a:p>
                  </a:txBody>
                  <a:tcPr anchor="ctr">
                    <a:lnL>
                      <a:noFill/>
                    </a:lnL>
                    <a:lnR>
                      <a:noFill/>
                    </a:lnR>
                    <a:lnT>
                      <a:noFill/>
                    </a:lnT>
                    <a:lnB>
                      <a:noFill/>
                    </a:lnB>
                    <a:noFill/>
                  </a:tcPr>
                </a:tc>
                <a:tc>
                  <a:txBody>
                    <a:bodyPr/>
                    <a:lstStyle/>
                    <a:p>
                      <a:pPr>
                        <a:buNone/>
                      </a:pPr>
                      <a:r>
                        <a:rPr lang="en-IN"/>
                        <a:t>Create legal documentation</a:t>
                      </a:r>
                    </a:p>
                  </a:txBody>
                  <a:tcPr anchor="ctr">
                    <a:lnL>
                      <a:noFill/>
                    </a:lnL>
                    <a:lnR>
                      <a:noFill/>
                    </a:lnR>
                    <a:lnT>
                      <a:noFill/>
                    </a:lnT>
                    <a:lnB>
                      <a:noFill/>
                    </a:lnB>
                    <a:noFill/>
                  </a:tcPr>
                </a:tc>
                <a:tc>
                  <a:txBody>
                    <a:bodyPr/>
                    <a:lstStyle/>
                    <a:p>
                      <a:pPr>
                        <a:buNone/>
                      </a:pPr>
                      <a:r>
                        <a:rPr lang="en-IN" dirty="0"/>
                        <a:t>HTML/PDF Reports, screenshots</a:t>
                      </a:r>
                    </a:p>
                  </a:txBody>
                  <a:tcPr anchor="ctr">
                    <a:lnL>
                      <a:noFill/>
                    </a:lnL>
                    <a:lnR>
                      <a:noFill/>
                    </a:lnR>
                    <a:lnT>
                      <a:noFill/>
                    </a:lnT>
                    <a:lnB>
                      <a:noFill/>
                    </a:lnB>
                    <a:noFill/>
                  </a:tcPr>
                </a:tc>
                <a:extLst>
                  <a:ext uri="{0D108BD9-81ED-4DB2-BD59-A6C34878D82A}">
                    <a16:rowId xmlns:a16="http://schemas.microsoft.com/office/drawing/2014/main" val="3081296970"/>
                  </a:ext>
                </a:extLst>
              </a:tr>
            </a:tbl>
          </a:graphicData>
        </a:graphic>
      </p:graphicFrame>
    </p:spTree>
    <p:extLst>
      <p:ext uri="{BB962C8B-B14F-4D97-AF65-F5344CB8AC3E}">
        <p14:creationId xmlns:p14="http://schemas.microsoft.com/office/powerpoint/2010/main" val="20536452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2DF60-83C5-92E9-2C71-21D5B0AC0440}"/>
              </a:ext>
            </a:extLst>
          </p:cNvPr>
          <p:cNvSpPr>
            <a:spLocks noGrp="1"/>
          </p:cNvSpPr>
          <p:nvPr>
            <p:ph type="title"/>
          </p:nvPr>
        </p:nvSpPr>
        <p:spPr/>
        <p:txBody>
          <a:bodyPr>
            <a:normAutofit/>
          </a:bodyPr>
          <a:lstStyle/>
          <a:p>
            <a:r>
              <a:rPr lang="en-US" b="1" dirty="0"/>
              <a:t>2.3. Acquisition Methods</a:t>
            </a:r>
            <a:endParaRPr lang="en-IN" b="1" dirty="0"/>
          </a:p>
        </p:txBody>
      </p:sp>
      <p:sp>
        <p:nvSpPr>
          <p:cNvPr id="3" name="Content Placeholder 2">
            <a:extLst>
              <a:ext uri="{FF2B5EF4-FFF2-40B4-BE49-F238E27FC236}">
                <a16:creationId xmlns:a16="http://schemas.microsoft.com/office/drawing/2014/main" id="{84414620-31A3-23BC-4913-B43096FBF238}"/>
              </a:ext>
            </a:extLst>
          </p:cNvPr>
          <p:cNvSpPr>
            <a:spLocks noGrp="1"/>
          </p:cNvSpPr>
          <p:nvPr>
            <p:ph idx="1"/>
          </p:nvPr>
        </p:nvSpPr>
        <p:spPr>
          <a:xfrm>
            <a:off x="457200" y="1600200"/>
            <a:ext cx="8229600" cy="4892040"/>
          </a:xfrm>
        </p:spPr>
        <p:txBody>
          <a:bodyPr>
            <a:normAutofit fontScale="32500" lnSpcReduction="20000"/>
          </a:bodyPr>
          <a:lstStyle/>
          <a:p>
            <a:r>
              <a:rPr lang="en-US" sz="4600" dirty="0"/>
              <a:t>Mobile forensic approaches primarily refer to different methods of data acquisition, ranging from basic manual examination to advanced physical extraction. </a:t>
            </a:r>
          </a:p>
          <a:p>
            <a:pPr marL="0" indent="0">
              <a:buNone/>
            </a:pPr>
            <a:endParaRPr lang="en-US" dirty="0"/>
          </a:p>
          <a:p>
            <a:r>
              <a:rPr lang="en-US" sz="5500" b="1" dirty="0"/>
              <a:t>Manual Extraction (Manual Acquisition):</a:t>
            </a:r>
            <a:endParaRPr lang="en-US" sz="5500" dirty="0"/>
          </a:p>
          <a:p>
            <a:pPr lvl="1"/>
            <a:r>
              <a:rPr lang="en-US" sz="4000" b="1" dirty="0"/>
              <a:t>Method:</a:t>
            </a:r>
            <a:r>
              <a:rPr lang="en-US" sz="4000" dirty="0"/>
              <a:t> Involves simply using the device's user interface (UI) to browse and photograph/document visible data (e.g., call logs, messages, contacts displayed on the screen).</a:t>
            </a:r>
          </a:p>
          <a:p>
            <a:pPr lvl="1"/>
            <a:r>
              <a:rPr lang="en-US" sz="4000" b="1" dirty="0"/>
              <a:t>Pros:</a:t>
            </a:r>
            <a:r>
              <a:rPr lang="en-US" sz="4000" dirty="0"/>
              <a:t> Least intrusive, requires no special tools, quick for initial assessment.</a:t>
            </a:r>
          </a:p>
          <a:p>
            <a:pPr lvl="1"/>
            <a:r>
              <a:rPr lang="en-US" sz="4000" b="1" dirty="0"/>
              <a:t>Cons:</a:t>
            </a:r>
            <a:r>
              <a:rPr lang="en-US" sz="4000" dirty="0"/>
              <a:t> Very limited data (only what's visible), no deleted data recovery, not forensically sound (data can be altered), difficult to scale for large amounts of data.</a:t>
            </a:r>
          </a:p>
          <a:p>
            <a:pPr lvl="1"/>
            <a:r>
              <a:rPr lang="en-US" sz="4000" b="1" dirty="0"/>
              <a:t>Use Case:</a:t>
            </a:r>
            <a:r>
              <a:rPr lang="en-US" sz="4000" dirty="0"/>
              <a:t> Initial triage, quick look at an unlocked device in the field, when other methods are unavailable.</a:t>
            </a:r>
          </a:p>
          <a:p>
            <a:pPr marL="457200" lvl="1" indent="0">
              <a:buNone/>
            </a:pPr>
            <a:endParaRPr lang="en-US" sz="5500" dirty="0"/>
          </a:p>
          <a:p>
            <a:r>
              <a:rPr lang="en-US" sz="5500" b="1" dirty="0"/>
              <a:t>Logical Extraction (Logical Acquisition):</a:t>
            </a:r>
            <a:endParaRPr lang="en-US" sz="5500" dirty="0"/>
          </a:p>
          <a:p>
            <a:pPr lvl="1"/>
            <a:r>
              <a:rPr lang="en-US" sz="4000" b="1" dirty="0"/>
              <a:t>Method</a:t>
            </a:r>
            <a:r>
              <a:rPr lang="en-US" sz="4000" dirty="0"/>
              <a:t>: Acquires data that is logically accessible through the device's operating system via standard communication protocols (e.g., USB connection, Wi-Fi). This often involves creating a backup of the device.</a:t>
            </a:r>
          </a:p>
          <a:p>
            <a:pPr lvl="1"/>
            <a:r>
              <a:rPr lang="en-US" sz="4000" b="1" dirty="0"/>
              <a:t>Android</a:t>
            </a:r>
            <a:r>
              <a:rPr lang="en-US" sz="4000" dirty="0"/>
              <a:t>: Using ADB (Android Debug Bridge) for backups or pulling specific user-accessible files.</a:t>
            </a:r>
          </a:p>
          <a:p>
            <a:pPr lvl="1"/>
            <a:r>
              <a:rPr lang="en-US" sz="4000" b="1" dirty="0"/>
              <a:t>iOS</a:t>
            </a:r>
            <a:r>
              <a:rPr lang="en-US" sz="4000" dirty="0"/>
              <a:t>: Using iTunes backup functionality.</a:t>
            </a:r>
          </a:p>
          <a:p>
            <a:pPr lvl="1"/>
            <a:r>
              <a:rPr lang="en-US" sz="4000" b="1" dirty="0"/>
              <a:t>Pros</a:t>
            </a:r>
            <a:r>
              <a:rPr lang="en-US" sz="4000" dirty="0"/>
              <a:t>: Generally non-intrusive, preserves data integrity, relatively quick, recovers a good amount of user data (call logs, SMS, contacts, app data from standard locations).</a:t>
            </a:r>
          </a:p>
          <a:p>
            <a:pPr lvl="1"/>
            <a:r>
              <a:rPr lang="en-US" sz="4000" b="1" dirty="0"/>
              <a:t>Cons</a:t>
            </a:r>
            <a:r>
              <a:rPr lang="en-US" sz="4000" dirty="0"/>
              <a:t>: Does not recover deleted data or data from inaccessible areas of the file system, requires the device to be unlocked or trusted by the computer, dependent on OS version and backup capabilities.</a:t>
            </a:r>
          </a:p>
          <a:p>
            <a:pPr lvl="1"/>
            <a:r>
              <a:rPr lang="en-US" sz="4000" b="1" dirty="0"/>
              <a:t>Tools</a:t>
            </a:r>
            <a:r>
              <a:rPr lang="en-US" sz="4000" dirty="0"/>
              <a:t>: Magnet AXIOM, Cellebrite UFED, Oxygen Forensic Detective, ADB.</a:t>
            </a:r>
          </a:p>
          <a:p>
            <a:pPr lvl="1"/>
            <a:r>
              <a:rPr lang="en-US" sz="4000" b="1" dirty="0"/>
              <a:t>Use Case</a:t>
            </a:r>
            <a:r>
              <a:rPr lang="en-US" sz="4000" dirty="0"/>
              <a:t>: Most common and preferred method when possible, quick triage, initial data acquisition from unlocked devices.</a:t>
            </a:r>
          </a:p>
          <a:p>
            <a:endParaRPr lang="en-IN" dirty="0"/>
          </a:p>
        </p:txBody>
      </p:sp>
    </p:spTree>
    <p:extLst>
      <p:ext uri="{BB962C8B-B14F-4D97-AF65-F5344CB8AC3E}">
        <p14:creationId xmlns:p14="http://schemas.microsoft.com/office/powerpoint/2010/main" val="12535827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749B7F-7C0D-F4C4-1AFB-6E64AF1A8A25}"/>
              </a:ext>
            </a:extLst>
          </p:cNvPr>
          <p:cNvSpPr>
            <a:spLocks noGrp="1"/>
          </p:cNvSpPr>
          <p:nvPr>
            <p:ph type="title"/>
          </p:nvPr>
        </p:nvSpPr>
        <p:spPr>
          <a:xfrm>
            <a:off x="457200" y="40640"/>
            <a:ext cx="8229600" cy="1143000"/>
          </a:xfrm>
        </p:spPr>
        <p:txBody>
          <a:bodyPr/>
          <a:lstStyle/>
          <a:p>
            <a:r>
              <a:rPr lang="en-US" dirty="0"/>
              <a:t>Cont.</a:t>
            </a:r>
            <a:endParaRPr lang="en-IN" dirty="0"/>
          </a:p>
        </p:txBody>
      </p:sp>
      <p:sp>
        <p:nvSpPr>
          <p:cNvPr id="3" name="Content Placeholder 2">
            <a:extLst>
              <a:ext uri="{FF2B5EF4-FFF2-40B4-BE49-F238E27FC236}">
                <a16:creationId xmlns:a16="http://schemas.microsoft.com/office/drawing/2014/main" id="{8F4E8D72-7AE1-B599-482A-033AD274FEA9}"/>
              </a:ext>
            </a:extLst>
          </p:cNvPr>
          <p:cNvSpPr>
            <a:spLocks noGrp="1"/>
          </p:cNvSpPr>
          <p:nvPr>
            <p:ph idx="1"/>
          </p:nvPr>
        </p:nvSpPr>
        <p:spPr>
          <a:xfrm>
            <a:off x="528320" y="1417320"/>
            <a:ext cx="8229600" cy="4719320"/>
          </a:xfrm>
        </p:spPr>
        <p:txBody>
          <a:bodyPr>
            <a:normAutofit fontScale="25000" lnSpcReduction="20000"/>
          </a:bodyPr>
          <a:lstStyle/>
          <a:p>
            <a:r>
              <a:rPr lang="en-US" sz="5500" b="1" dirty="0"/>
              <a:t>File System Extraction (Filesystem Acquisition):</a:t>
            </a:r>
          </a:p>
          <a:p>
            <a:pPr lvl="1"/>
            <a:r>
              <a:rPr lang="en-US" sz="4000" dirty="0"/>
              <a:t>    </a:t>
            </a:r>
            <a:r>
              <a:rPr lang="en-US" sz="5200" b="1" dirty="0"/>
              <a:t>Method</a:t>
            </a:r>
            <a:r>
              <a:rPr lang="en-US" sz="5200" dirty="0"/>
              <a:t>: A more comprehensive logical extraction that acquires the entire accessible file system of the device, often including system files and deeper application data that might not be part of a standard logical backup. This often involves exploiting vulnerabilities or using specialized agents.</a:t>
            </a:r>
          </a:p>
          <a:p>
            <a:pPr lvl="1"/>
            <a:r>
              <a:rPr lang="en-US" sz="5200" dirty="0"/>
              <a:t>    </a:t>
            </a:r>
            <a:r>
              <a:rPr lang="en-US" sz="5200" b="1" dirty="0"/>
              <a:t>Android</a:t>
            </a:r>
            <a:r>
              <a:rPr lang="en-US" sz="5200" dirty="0"/>
              <a:t>: Can be achieved via ADB with root access, custom recovery images (TWRP), or specific forensic tools that bypass OS restrictions.</a:t>
            </a:r>
          </a:p>
          <a:p>
            <a:pPr lvl="1"/>
            <a:r>
              <a:rPr lang="en-US" sz="5200" dirty="0"/>
              <a:t>    </a:t>
            </a:r>
            <a:r>
              <a:rPr lang="en-US" sz="5200" b="1" dirty="0"/>
              <a:t>iOS</a:t>
            </a:r>
            <a:r>
              <a:rPr lang="en-US" sz="5200" dirty="0"/>
              <a:t>: Possible on jailbroken devices or via specific exploits on un-jailbroken devices (e.g., checkm8 exploit for some iPhones).</a:t>
            </a:r>
          </a:p>
          <a:p>
            <a:pPr lvl="1"/>
            <a:r>
              <a:rPr lang="en-US" sz="5200" dirty="0"/>
              <a:t>    </a:t>
            </a:r>
            <a:r>
              <a:rPr lang="en-US" sz="5200" b="1" dirty="0"/>
              <a:t>Pros</a:t>
            </a:r>
            <a:r>
              <a:rPr lang="en-US" sz="5200" dirty="0"/>
              <a:t>: Recovers more data than logical extraction, including some deleted files (if not overwritten) and detailed application databases.</a:t>
            </a:r>
          </a:p>
          <a:p>
            <a:pPr lvl="1"/>
            <a:r>
              <a:rPr lang="en-US" sz="5200" dirty="0"/>
              <a:t>    </a:t>
            </a:r>
            <a:r>
              <a:rPr lang="en-US" sz="5200" b="1" dirty="0"/>
              <a:t>Cons</a:t>
            </a:r>
            <a:r>
              <a:rPr lang="en-US" sz="5200" dirty="0"/>
              <a:t>: More complex, may require device rooting/jailbreaking (which can alter the device), still limited by OS security layers, may not recover truly deleted data from underlying flash memory.</a:t>
            </a:r>
          </a:p>
          <a:p>
            <a:pPr lvl="1"/>
            <a:r>
              <a:rPr lang="en-US" sz="5200" dirty="0"/>
              <a:t>    </a:t>
            </a:r>
            <a:r>
              <a:rPr lang="en-US" sz="5200" b="1" dirty="0"/>
              <a:t>Tools</a:t>
            </a:r>
            <a:r>
              <a:rPr lang="en-US" sz="5200" dirty="0"/>
              <a:t>: Advanced features of Magnet AXIOM, Cellebrite UFED, Oxygen Forensic Detective.</a:t>
            </a:r>
          </a:p>
          <a:p>
            <a:pPr lvl="1"/>
            <a:r>
              <a:rPr lang="en-US" sz="5200" dirty="0"/>
              <a:t>    </a:t>
            </a:r>
            <a:r>
              <a:rPr lang="en-US" sz="5200" b="1" dirty="0"/>
              <a:t>Use Case</a:t>
            </a:r>
            <a:r>
              <a:rPr lang="en-US" sz="5200" dirty="0"/>
              <a:t>: When deeper application data or potentially deleted files are required beyond what logical extraction offers.</a:t>
            </a:r>
          </a:p>
          <a:p>
            <a:endParaRPr lang="en-US" dirty="0"/>
          </a:p>
          <a:p>
            <a:r>
              <a:rPr lang="en-US" sz="5500" b="1" dirty="0"/>
              <a:t>Physical Extraction (Physical Acquisition):</a:t>
            </a:r>
          </a:p>
          <a:p>
            <a:pPr lvl="1"/>
            <a:r>
              <a:rPr lang="en-US" sz="5200" dirty="0"/>
              <a:t>    </a:t>
            </a:r>
            <a:r>
              <a:rPr lang="en-US" sz="5200" b="1" dirty="0"/>
              <a:t>Method</a:t>
            </a:r>
            <a:r>
              <a:rPr lang="en-US" sz="5200" dirty="0"/>
              <a:t>: The most comprehensive but also the most invasive method. It involves creating a bit-for-bit copy of the device's internal memory (flash memory).</a:t>
            </a:r>
          </a:p>
          <a:p>
            <a:pPr lvl="1"/>
            <a:r>
              <a:rPr lang="en-US" sz="5200" b="1" dirty="0"/>
              <a:t>     Pros</a:t>
            </a:r>
            <a:r>
              <a:rPr lang="en-US" sz="5200" dirty="0"/>
              <a:t>: Recovers the maximum amount of data, including deleted files, unallocated space, and low-level system data; bypasses OS and encryption if done correctly and keys can be derived.</a:t>
            </a:r>
          </a:p>
          <a:p>
            <a:pPr lvl="1"/>
            <a:r>
              <a:rPr lang="en-US" sz="5200" dirty="0"/>
              <a:t>     </a:t>
            </a:r>
            <a:r>
              <a:rPr lang="en-US" sz="5200" b="1" dirty="0"/>
              <a:t>Cons</a:t>
            </a:r>
            <a:r>
              <a:rPr lang="en-US" sz="5200" dirty="0"/>
              <a:t>: Highly intrusive, may render the device inoperable, requires specialized equipment and expertise, time-consuming, expensive, and can potentially damage evidence if not performed meticulously.</a:t>
            </a:r>
          </a:p>
          <a:p>
            <a:pPr lvl="1"/>
            <a:r>
              <a:rPr lang="en-US" sz="5200" dirty="0"/>
              <a:t>     </a:t>
            </a:r>
            <a:r>
              <a:rPr lang="en-US" sz="5200" b="1" dirty="0"/>
              <a:t>Tools</a:t>
            </a:r>
            <a:r>
              <a:rPr lang="en-US" sz="5200" dirty="0"/>
              <a:t>: Specialized hardware stations (e.g., ZRT, PC-3000 Flash), chip readers.</a:t>
            </a:r>
          </a:p>
          <a:p>
            <a:pPr lvl="1"/>
            <a:r>
              <a:rPr lang="en-US" sz="5200" dirty="0"/>
              <a:t>     </a:t>
            </a:r>
            <a:r>
              <a:rPr lang="en-US" sz="5200" b="1" dirty="0"/>
              <a:t>Use Case</a:t>
            </a:r>
            <a:r>
              <a:rPr lang="en-US" sz="5200" dirty="0"/>
              <a:t>: When logical or file system extractions are not possible (e.g., damaged device, strong encryption, highly targeted data recovery), or when the most complete data set, including deleted data, is crucial.</a:t>
            </a:r>
            <a:endParaRPr lang="en-IN" sz="5200" dirty="0"/>
          </a:p>
        </p:txBody>
      </p:sp>
    </p:spTree>
    <p:extLst>
      <p:ext uri="{BB962C8B-B14F-4D97-AF65-F5344CB8AC3E}">
        <p14:creationId xmlns:p14="http://schemas.microsoft.com/office/powerpoint/2010/main" val="10926899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E1FDA3-3067-BF99-4568-FE2525A5BFCB}"/>
              </a:ext>
            </a:extLst>
          </p:cNvPr>
          <p:cNvSpPr>
            <a:spLocks noGrp="1"/>
          </p:cNvSpPr>
          <p:nvPr>
            <p:ph type="title"/>
          </p:nvPr>
        </p:nvSpPr>
        <p:spPr/>
        <p:txBody>
          <a:bodyPr/>
          <a:lstStyle/>
          <a:p>
            <a:r>
              <a:rPr lang="en-US" dirty="0"/>
              <a:t>Cont.</a:t>
            </a:r>
            <a:endParaRPr lang="en-IN" dirty="0"/>
          </a:p>
        </p:txBody>
      </p:sp>
      <p:sp>
        <p:nvSpPr>
          <p:cNvPr id="3" name="Content Placeholder 2">
            <a:extLst>
              <a:ext uri="{FF2B5EF4-FFF2-40B4-BE49-F238E27FC236}">
                <a16:creationId xmlns:a16="http://schemas.microsoft.com/office/drawing/2014/main" id="{9147C36F-2A87-10A8-58B7-DD2CF83E72B1}"/>
              </a:ext>
            </a:extLst>
          </p:cNvPr>
          <p:cNvSpPr>
            <a:spLocks noGrp="1"/>
          </p:cNvSpPr>
          <p:nvPr>
            <p:ph idx="1"/>
          </p:nvPr>
        </p:nvSpPr>
        <p:spPr/>
        <p:txBody>
          <a:bodyPr>
            <a:normAutofit/>
          </a:bodyPr>
          <a:lstStyle/>
          <a:p>
            <a:r>
              <a:rPr lang="en-IN" b="1" dirty="0"/>
              <a:t>JTAG and Chip-Off Acquisition:</a:t>
            </a:r>
          </a:p>
          <a:p>
            <a:pPr lvl="1">
              <a:lnSpc>
                <a:spcPct val="90000"/>
              </a:lnSpc>
            </a:pPr>
            <a:r>
              <a:rPr lang="en-US" sz="2000" dirty="0"/>
              <a:t>JTAG </a:t>
            </a:r>
            <a:r>
              <a:rPr lang="en-IN" sz="2000" dirty="0"/>
              <a:t>(Joint Test Action Group)</a:t>
            </a:r>
            <a:r>
              <a:rPr lang="en-US" sz="2000" dirty="0"/>
              <a:t>: Connects to test points on the motherboard to extract memory non-destructively.</a:t>
            </a:r>
          </a:p>
          <a:p>
            <a:pPr lvl="1">
              <a:lnSpc>
                <a:spcPct val="90000"/>
              </a:lnSpc>
            </a:pPr>
            <a:endParaRPr lang="en-US" sz="2000" dirty="0"/>
          </a:p>
          <a:p>
            <a:pPr lvl="1">
              <a:lnSpc>
                <a:spcPct val="90000"/>
              </a:lnSpc>
            </a:pPr>
            <a:r>
              <a:rPr lang="en-US" sz="2000" dirty="0"/>
              <a:t>Chip-off: Physically removes the memory chip and reads it using specialized hardware.</a:t>
            </a:r>
          </a:p>
          <a:p>
            <a:pPr lvl="1">
              <a:lnSpc>
                <a:spcPct val="90000"/>
              </a:lnSpc>
            </a:pPr>
            <a:endParaRPr lang="en-US" sz="2000" dirty="0"/>
          </a:p>
          <a:p>
            <a:pPr lvl="1">
              <a:lnSpc>
                <a:spcPct val="90000"/>
              </a:lnSpc>
            </a:pPr>
            <a:r>
              <a:rPr lang="en-US" sz="2000" dirty="0"/>
              <a:t>Used when the device is damaged, locked, or wiped.</a:t>
            </a:r>
          </a:p>
          <a:p>
            <a:pPr lvl="1">
              <a:lnSpc>
                <a:spcPct val="90000"/>
              </a:lnSpc>
            </a:pPr>
            <a:endParaRPr lang="en-US" sz="2000" dirty="0"/>
          </a:p>
          <a:p>
            <a:pPr lvl="1">
              <a:lnSpc>
                <a:spcPct val="90000"/>
              </a:lnSpc>
            </a:pPr>
            <a:r>
              <a:rPr lang="en-US" sz="2000" dirty="0"/>
              <a:t>Risky, requires expertise, but offers deep data recovery.</a:t>
            </a:r>
            <a:endParaRPr lang="en-IN" sz="2000" dirty="0"/>
          </a:p>
        </p:txBody>
      </p:sp>
    </p:spTree>
    <p:extLst>
      <p:ext uri="{BB962C8B-B14F-4D97-AF65-F5344CB8AC3E}">
        <p14:creationId xmlns:p14="http://schemas.microsoft.com/office/powerpoint/2010/main" val="23249860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D3B48B-1285-997D-68D2-DC6CD0BC6B5F}"/>
              </a:ext>
            </a:extLst>
          </p:cNvPr>
          <p:cNvSpPr>
            <a:spLocks noGrp="1"/>
          </p:cNvSpPr>
          <p:nvPr>
            <p:ph type="title"/>
          </p:nvPr>
        </p:nvSpPr>
        <p:spPr/>
        <p:txBody>
          <a:bodyPr>
            <a:normAutofit fontScale="90000"/>
          </a:bodyPr>
          <a:lstStyle/>
          <a:p>
            <a:r>
              <a:rPr lang="en-IN" b="1" dirty="0"/>
              <a:t>2.4. Emerging Techniques in Mobile Forensics</a:t>
            </a:r>
            <a:endParaRPr lang="en-IN" dirty="0"/>
          </a:p>
        </p:txBody>
      </p:sp>
      <p:sp>
        <p:nvSpPr>
          <p:cNvPr id="3" name="Content Placeholder 2">
            <a:extLst>
              <a:ext uri="{FF2B5EF4-FFF2-40B4-BE49-F238E27FC236}">
                <a16:creationId xmlns:a16="http://schemas.microsoft.com/office/drawing/2014/main" id="{C04E901B-1F69-200B-D5BE-2C05F720BAE5}"/>
              </a:ext>
            </a:extLst>
          </p:cNvPr>
          <p:cNvSpPr>
            <a:spLocks noGrp="1"/>
          </p:cNvSpPr>
          <p:nvPr>
            <p:ph idx="1"/>
          </p:nvPr>
        </p:nvSpPr>
        <p:spPr>
          <a:xfrm>
            <a:off x="457200" y="1818861"/>
            <a:ext cx="8229600" cy="4525963"/>
          </a:xfrm>
        </p:spPr>
        <p:txBody>
          <a:bodyPr>
            <a:normAutofit fontScale="92500" lnSpcReduction="20000"/>
          </a:bodyPr>
          <a:lstStyle/>
          <a:p>
            <a:r>
              <a:rPr lang="en-IN" sz="2000" b="1" dirty="0"/>
              <a:t>Cloud Forensics: </a:t>
            </a:r>
            <a:r>
              <a:rPr lang="en-IN" sz="2000" dirty="0"/>
              <a:t>Extracting data from online services (Google Drive, iCloud).</a:t>
            </a:r>
          </a:p>
          <a:p>
            <a:pPr marL="0" indent="0">
              <a:buNone/>
            </a:pPr>
            <a:endParaRPr lang="en-IN" sz="2000" dirty="0"/>
          </a:p>
          <a:p>
            <a:r>
              <a:rPr lang="en-IN" sz="2000" b="1" dirty="0"/>
              <a:t>IoT Device Forensics: </a:t>
            </a:r>
            <a:r>
              <a:rPr lang="en-IN" sz="2000" dirty="0"/>
              <a:t>Handling smartwatches, wearables, and smart home apps.</a:t>
            </a:r>
          </a:p>
          <a:p>
            <a:endParaRPr lang="en-IN" sz="2000" dirty="0"/>
          </a:p>
          <a:p>
            <a:r>
              <a:rPr lang="en-IN" sz="2000" b="1" dirty="0"/>
              <a:t>AI-based analysis: </a:t>
            </a:r>
            <a:r>
              <a:rPr lang="en-IN" sz="2000" dirty="0"/>
              <a:t>Automatically flagging suspicious chats, content, or </a:t>
            </a:r>
            <a:r>
              <a:rPr lang="en-IN" sz="2000" dirty="0" err="1"/>
              <a:t>behavior</a:t>
            </a:r>
            <a:r>
              <a:rPr lang="en-IN" sz="2000" dirty="0"/>
              <a:t>.</a:t>
            </a:r>
          </a:p>
          <a:p>
            <a:endParaRPr lang="en-IN" sz="2000" dirty="0"/>
          </a:p>
          <a:p>
            <a:r>
              <a:rPr lang="en-IN" sz="2000" b="1" dirty="0"/>
              <a:t>Live forensics: </a:t>
            </a:r>
            <a:r>
              <a:rPr lang="en-IN" sz="2000" dirty="0"/>
              <a:t>Capturing volatile data from running devices before shutdown.</a:t>
            </a:r>
          </a:p>
          <a:p>
            <a:endParaRPr lang="en-IN" sz="2000" b="1" dirty="0"/>
          </a:p>
          <a:p>
            <a:r>
              <a:rPr lang="en-IN" sz="2000" b="1" dirty="0"/>
              <a:t>Mobile Malware Forensics: </a:t>
            </a:r>
            <a:r>
              <a:rPr lang="en-IN" sz="2000" dirty="0"/>
              <a:t>Detecting and </a:t>
            </a:r>
            <a:r>
              <a:rPr lang="en-IN" sz="2000" dirty="0" err="1"/>
              <a:t>analyzing</a:t>
            </a:r>
            <a:r>
              <a:rPr lang="en-IN" sz="2000" dirty="0"/>
              <a:t> malicious code within apps.</a:t>
            </a:r>
          </a:p>
          <a:p>
            <a:endParaRPr lang="en-IN" sz="2000" dirty="0"/>
          </a:p>
          <a:p>
            <a:r>
              <a:rPr lang="en-IN" sz="2000" b="1" dirty="0"/>
              <a:t>Encrypted App Recovery: </a:t>
            </a:r>
            <a:r>
              <a:rPr lang="en-IN" sz="2000" dirty="0"/>
              <a:t>Bypassing or decrypting data from apps like Signal, Telegram.</a:t>
            </a:r>
          </a:p>
        </p:txBody>
      </p:sp>
    </p:spTree>
    <p:extLst>
      <p:ext uri="{BB962C8B-B14F-4D97-AF65-F5344CB8AC3E}">
        <p14:creationId xmlns:p14="http://schemas.microsoft.com/office/powerpoint/2010/main" val="283774084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TotalTime>
  <Words>1521</Words>
  <Application>Microsoft Office PowerPoint</Application>
  <PresentationFormat>On-screen Show (4:3)</PresentationFormat>
  <Paragraphs>128</Paragraphs>
  <Slides>12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Chapter 2 Mobile Forensics Process</vt:lpstr>
      <vt:lpstr>Index</vt:lpstr>
      <vt:lpstr>Introduction to Mobile Forensics</vt:lpstr>
      <vt:lpstr>2.1 Mobile Forensic Challenges</vt:lpstr>
      <vt:lpstr>Cont.</vt:lpstr>
      <vt:lpstr>2.2 Mobile Forensics Process </vt:lpstr>
      <vt:lpstr>Cont.</vt:lpstr>
      <vt:lpstr>Cont.</vt:lpstr>
      <vt:lpstr>2.3. Acquisition Methods</vt:lpstr>
      <vt:lpstr>Cont.</vt:lpstr>
      <vt:lpstr>Cont.</vt:lpstr>
      <vt:lpstr>2.4. Emerging Techniques in Mobile Forensics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Jai Girawale</cp:lastModifiedBy>
  <cp:revision>15</cp:revision>
  <dcterms:created xsi:type="dcterms:W3CDTF">2025-07-15T02:49:17Z</dcterms:created>
  <dcterms:modified xsi:type="dcterms:W3CDTF">2025-07-16T07:35:08Z</dcterms:modified>
  <cp:category/>
</cp:coreProperties>
</file>