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9" r:id="rId4"/>
    <p:sldId id="268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51" autoAdjust="0"/>
  </p:normalViewPr>
  <p:slideViewPr>
    <p:cSldViewPr snapToGrid="0" snapToObjects="1">
      <p:cViewPr varScale="1">
        <p:scale>
          <a:sx n="72" d="100"/>
          <a:sy n="72" d="100"/>
        </p:scale>
        <p:origin x="17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90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235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04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Mobile 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Mobile forensics involves retrieving digital evidence from mobile devices.</a:t>
            </a:r>
          </a:p>
          <a:p>
            <a:r>
              <a:t>Importance has grown due to mobile usage in crimes.</a:t>
            </a:r>
          </a:p>
          <a:p>
            <a:r>
              <a:t>Supports law enforcement and corporate investigations.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D804-3690-A163-470E-E66AA44F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691181-DCEE-2672-2DB1-56D34F499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66869"/>
            <a:ext cx="6719468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Cellular Network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500" dirty="0">
                <a:latin typeface="+mj-lt"/>
              </a:rPr>
              <a:t>Evolution of Cellular Network &amp; its History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dirty="0"/>
              <a:t>Cellular Network Architecture and Technologies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 Device Hardware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Evolution of Mobile Devices &amp; its History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dirty="0"/>
              <a:t>Mobile Device Architecture and Technologies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 Operating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Cards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Subscriber Identification Module (SIM/USIM)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SIM/USIM File Management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SIM/USIM Security</a:t>
            </a:r>
          </a:p>
        </p:txBody>
      </p:sp>
    </p:spTree>
    <p:extLst>
      <p:ext uri="{BB962C8B-B14F-4D97-AF65-F5344CB8AC3E}">
        <p14:creationId xmlns:p14="http://schemas.microsoft.com/office/powerpoint/2010/main" val="576578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5FFB3-F056-489A-E1F3-4DB4E9E9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Cellular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1ABC0-01B1-7156-5133-35536A6D0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Cellular network technology has evolved significantly, transitioning from basic voice communication to high-speed data and advanced applications. </a:t>
            </a:r>
          </a:p>
          <a:p>
            <a:r>
              <a:rPr lang="en-US" dirty="0"/>
              <a:t>The evolution is marked by generations, each bringing new capabilities and features:</a:t>
            </a:r>
          </a:p>
          <a:p>
            <a:r>
              <a:rPr lang="en-US" dirty="0"/>
              <a:t>1G provided analog voice, 2G introduced digital and text, 3G enabled mobile internet, 4G offered broadband speeds, and 5G promises gigabit speeds and enhanced connectivity.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3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6563-5866-5388-6E64-A10750DB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 Evolution of Cellular Network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A2EBA8-8C84-D47D-D7AF-D91A5FF7D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3063" y="1600200"/>
            <a:ext cx="5877874" cy="4525963"/>
          </a:xfrm>
        </p:spPr>
      </p:pic>
    </p:spTree>
    <p:extLst>
      <p:ext uri="{BB962C8B-B14F-4D97-AF65-F5344CB8AC3E}">
        <p14:creationId xmlns:p14="http://schemas.microsoft.com/office/powerpoint/2010/main" val="312835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D811-1BDE-4070-2BA0-211280F3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Cellular Network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F15ABA-8047-65CE-4CFB-510021B54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9203" y="1600200"/>
            <a:ext cx="5665593" cy="4525963"/>
          </a:xfrm>
        </p:spPr>
      </p:pic>
    </p:spTree>
    <p:extLst>
      <p:ext uri="{BB962C8B-B14F-4D97-AF65-F5344CB8AC3E}">
        <p14:creationId xmlns:p14="http://schemas.microsoft.com/office/powerpoint/2010/main" val="271574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BTS (Base Transceiver Station): Connects phones to network.</a:t>
            </a:r>
          </a:p>
          <a:p>
            <a:r>
              <a:rPr dirty="0"/>
              <a:t>MSC (Mobile Switching Center): Routing and call setup.</a:t>
            </a:r>
          </a:p>
          <a:p>
            <a:r>
              <a:rPr dirty="0"/>
              <a:t>HLR (Home Location Register): Stores subscriber data.</a:t>
            </a:r>
          </a:p>
          <a:p>
            <a:r>
              <a:rPr dirty="0"/>
              <a:t>VLR (Visitor Location Register): Temporary data during roaming.</a:t>
            </a:r>
            <a:endParaRPr lang="en-US" dirty="0"/>
          </a:p>
          <a:p>
            <a:r>
              <a:rPr lang="en-IN" dirty="0"/>
              <a:t>BSC (Base Station Controller): central management entity for multiple Base Transceiver Stations (BTS) used in 2G (GSM) </a:t>
            </a:r>
          </a:p>
          <a:p>
            <a:r>
              <a:rPr lang="en-IN" dirty="0"/>
              <a:t>RNC (Radio Network Controller): manage radio resources and facilitate communication between mobile devices used in 3G (UMTS) </a:t>
            </a:r>
          </a:p>
          <a:p>
            <a:r>
              <a:rPr lang="en-IN" dirty="0"/>
              <a:t>MGW (Media Gateway): </a:t>
            </a:r>
            <a:r>
              <a:rPr lang="en-US" dirty="0"/>
              <a:t>bridge between different types of networks </a:t>
            </a:r>
            <a:r>
              <a:rPr lang="en-IN" dirty="0"/>
              <a:t>(like voice or video) in call</a:t>
            </a:r>
          </a:p>
          <a:p>
            <a:r>
              <a:rPr lang="en-US" dirty="0"/>
              <a:t>PSDN (Public Switched Data Network) and ISDN (Integrated Services Digital Network): are technologies that relate to data and voice transmission</a:t>
            </a:r>
            <a:endParaRPr lang="en-IN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M</a:t>
            </a:r>
            <a:r>
              <a:rPr dirty="0" err="1"/>
              <a:t>obile</a:t>
            </a:r>
            <a:r>
              <a:rPr dirty="0"/>
              <a:t> Device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System on Chip (SoC): Integrates CPU, GPU, modem.</a:t>
            </a:r>
          </a:p>
          <a:p>
            <a:r>
              <a:rPr dirty="0"/>
              <a:t>RAM and Flash Memory: Temporary and permanent storage.</a:t>
            </a:r>
          </a:p>
          <a:p>
            <a:r>
              <a:rPr dirty="0"/>
              <a:t>Baseband Processor: Handles radio communication.</a:t>
            </a:r>
          </a:p>
          <a:p>
            <a:r>
              <a:rPr dirty="0"/>
              <a:t>Sensors: Accelerometer, GPS, etc.</a:t>
            </a:r>
          </a:p>
          <a:p>
            <a:r>
              <a:rPr dirty="0"/>
              <a:t>Power IC: Manages power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Mobile Device Evolution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B5237B-4C1D-7DBB-0DDB-702E8FA8E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2181"/>
          <a:stretch>
            <a:fillRect/>
          </a:stretch>
        </p:blipFill>
        <p:spPr>
          <a:xfrm>
            <a:off x="1177528" y="1600201"/>
            <a:ext cx="6788944" cy="397469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dirty="0"/>
              <a:t>Mobile Device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Application Layer:</a:t>
            </a:r>
            <a:r>
              <a:rPr dirty="0"/>
              <a:t> Apps and user data.</a:t>
            </a:r>
          </a:p>
          <a:p>
            <a:r>
              <a:rPr b="1" dirty="0"/>
              <a:t>Operating System Layer: </a:t>
            </a:r>
            <a:r>
              <a:rPr dirty="0"/>
              <a:t>Android/iOS file systems.</a:t>
            </a:r>
          </a:p>
          <a:p>
            <a:r>
              <a:rPr b="1" dirty="0"/>
              <a:t>Hardware Layer: </a:t>
            </a:r>
            <a:r>
              <a:rPr dirty="0"/>
              <a:t>NAND chip, SoC, etc.</a:t>
            </a:r>
          </a:p>
          <a:p>
            <a:r>
              <a:rPr dirty="0"/>
              <a:t>Each layer offers unique data sources for forensics.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dirty="0"/>
              <a:t>Mobile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Android: Open-source, Linux-based, file system varies by version.</a:t>
            </a:r>
          </a:p>
          <a:p>
            <a:r>
              <a:t>iOS: Proprietary, secure boot chain, file system – APFS.</a:t>
            </a:r>
          </a:p>
          <a:p>
            <a:r>
              <a:t>Windows Mobile: Outdated but encountered in legacy cases.</a:t>
            </a:r>
          </a:p>
          <a:p>
            <a:r>
              <a:t>BlackBerry OS: Legacy OS with secure messaging.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dirty="0"/>
              <a:t>Smart Cards in Mobile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 cards are smart cards used in GSM networks.</a:t>
            </a:r>
          </a:p>
          <a:p>
            <a:r>
              <a:t>Store IMSI, authentication keys, and SMS.</a:t>
            </a:r>
          </a:p>
          <a:p>
            <a:r>
              <a:t>Accessing SIM data requires specific tools and permissions.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</a:t>
            </a:r>
            <a:r>
              <a:rPr dirty="0"/>
              <a:t>SIM vs USIM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SIM: Used in 2G/3G networks, limited storage.</a:t>
            </a:r>
          </a:p>
          <a:p>
            <a:r>
              <a:rPr dirty="0"/>
              <a:t>USIM: Used in 3G/4G/5G, better encryption and storage.</a:t>
            </a:r>
          </a:p>
          <a:p>
            <a:r>
              <a:rPr dirty="0"/>
              <a:t>Essential for accessing network credentials and call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</a:t>
            </a:r>
            <a:r>
              <a:rPr dirty="0"/>
              <a:t>SIM File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Files organized as Master File (MF), Dedicated Files (DF), and Elementary Files (EF).</a:t>
            </a:r>
          </a:p>
          <a:p>
            <a:r>
              <a:rPr dirty="0"/>
              <a:t>EFs store SMS, contacts, and other data.</a:t>
            </a:r>
          </a:p>
          <a:p>
            <a:r>
              <a:rPr dirty="0"/>
              <a:t>Some files are protected and need authentication to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</a:t>
            </a:r>
            <a:r>
              <a:rPr dirty="0"/>
              <a:t>SIM/USIM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PIN: Personal Identification Number.</a:t>
            </a:r>
          </a:p>
          <a:p>
            <a:r>
              <a:rPr dirty="0"/>
              <a:t>PUK: Unlock code for blocked SIM.</a:t>
            </a:r>
          </a:p>
          <a:p>
            <a:r>
              <a:rPr dirty="0"/>
              <a:t>Authentication uses challenge-response with A3/A8 algorithms.</a:t>
            </a:r>
          </a:p>
          <a:p>
            <a:r>
              <a:rPr dirty="0"/>
              <a:t>Forensic tools must handle locked or encrypted SIMs.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On-screen Show (4:3)</PresentationFormat>
  <Paragraphs>74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Introduction to Mobile Forensics</vt:lpstr>
      <vt:lpstr>Index</vt:lpstr>
      <vt:lpstr>1. Cellular network</vt:lpstr>
      <vt:lpstr>2. Evolution of Cellular Network</vt:lpstr>
      <vt:lpstr>3. Cellular Network Architecture</vt:lpstr>
      <vt:lpstr>Cont.</vt:lpstr>
      <vt:lpstr>4. Mobile Device Hardware Components</vt:lpstr>
      <vt:lpstr>5. Mobile Device Evolution</vt:lpstr>
      <vt:lpstr>6. Mobile Device Architecture</vt:lpstr>
      <vt:lpstr>7. Mobile Operating Systems</vt:lpstr>
      <vt:lpstr>8. Smart Cards in Mobile Devices</vt:lpstr>
      <vt:lpstr>9. SIM vs USIM</vt:lpstr>
      <vt:lpstr>10. SIM File Management</vt:lpstr>
      <vt:lpstr>11. SIM/USIM Security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2025-07-18T05:23:31Z</dcterms:created>
  <dcterms:modified xsi:type="dcterms:W3CDTF">2025-07-18T05:24:52Z</dcterms:modified>
  <cp:category/>
</cp:coreProperties>
</file>