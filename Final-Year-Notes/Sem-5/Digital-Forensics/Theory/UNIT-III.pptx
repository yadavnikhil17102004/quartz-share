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558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49626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Digital Forensics: Initial Response and First Responder Tasks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96728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comprehensive overview of digital evidence collection, examination processes, and first responder protocols in cybercrime investigations.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97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928" y="3293626"/>
            <a:ext cx="9438561" cy="635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Digital Evidence Types and Locations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55928" y="4252793"/>
            <a:ext cx="6451283" cy="3390543"/>
          </a:xfrm>
          <a:prstGeom prst="roundRect">
            <a:avLst>
              <a:gd name="adj" fmla="val 267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FB8D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2387" y="4499253"/>
            <a:ext cx="25409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Evidence Types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02387" y="4946333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Computer files (text, image, video, audio)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2387" y="5367338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Email communications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2387" y="5788343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Logs (web, system, network)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2387" y="6209347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Mobile phone data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2387" y="6630353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Cloud storage data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2387" y="7051358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IoT device data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23190" y="4252793"/>
            <a:ext cx="6451283" cy="3390543"/>
          </a:xfrm>
          <a:prstGeom prst="roundRect">
            <a:avLst>
              <a:gd name="adj" fmla="val 267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FB8D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69649" y="4499253"/>
            <a:ext cx="25409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Evidence Locations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69649" y="4946333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Hard drives (internal/external)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669649" y="5367338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Mobile devices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669649" y="5788343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Network servers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669649" y="6209347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Cloud services (Google Drive, OneDrive)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669649" y="6630353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USB, memory cards, DVDs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669649" y="7051358"/>
            <a:ext cx="595836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Routers and IoT devices</a:t>
            </a:r>
            <a:endParaRPr lang="en-US" sz="1700" dirty="0"/>
          </a:p>
        </p:txBody>
      </p:sp>
      <p:sp>
        <p:nvSpPr>
          <p:cNvPr id="21" name="Rectangle 20"/>
          <p:cNvSpPr/>
          <p:nvPr/>
        </p:nvSpPr>
        <p:spPr>
          <a:xfrm>
            <a:off x="1" y="7742583"/>
            <a:ext cx="14630400" cy="3975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0036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Challenges in Digital Evidence Collection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00668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597950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Encryption and password protection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447699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Volatility of data (live data)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4914424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Legal constraints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5381149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Physical damage to devices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7724" y="5847874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Anti-forensic techniques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871561" y="3006685"/>
            <a:ext cx="34423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Who Should Collect Evidence?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71561" y="394989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Trained digital forensic investigators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871561" y="4799648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Law enforcement personnel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871561" y="5266373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 professionals with forensic training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871561" y="6247805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Proper training ensures evidence admissibility in court.</a:t>
            </a:r>
            <a:endParaRPr lang="en-US" sz="1850" dirty="0"/>
          </a:p>
        </p:txBody>
      </p:sp>
      <p:sp>
        <p:nvSpPr>
          <p:cNvPr id="15" name="Rectangle 14"/>
          <p:cNvSpPr/>
          <p:nvPr/>
        </p:nvSpPr>
        <p:spPr>
          <a:xfrm>
            <a:off x="1" y="7742583"/>
            <a:ext cx="14630400" cy="3975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9025"/>
            <a:ext cx="1131796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Chain of Custody and Evidence Integrity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310765"/>
            <a:ext cx="6387703" cy="239316"/>
          </a:xfrm>
          <a:prstGeom prst="roundRect">
            <a:avLst>
              <a:gd name="adj" fmla="val 42011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039" y="27893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Documentation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3284934"/>
            <a:ext cx="590907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Record who handled evidence, when, and why from collection to presentation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04854" y="1951792"/>
            <a:ext cx="6387822" cy="239316"/>
          </a:xfrm>
          <a:prstGeom prst="roundRect">
            <a:avLst>
              <a:gd name="adj" fmla="val 42011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44170" y="24304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Cloning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44170" y="2925961"/>
            <a:ext cx="590919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Create exact replicas of storage devices to preserve original evidence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828699"/>
            <a:ext cx="6387703" cy="239316"/>
          </a:xfrm>
          <a:prstGeom prst="roundRect">
            <a:avLst>
              <a:gd name="adj" fmla="val 42011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7039" y="530733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Hashing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7039" y="5802868"/>
            <a:ext cx="590907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Generate hash values (MD5, SHA-1, SHA-256) to verify data integrity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04854" y="4469725"/>
            <a:ext cx="6387822" cy="239316"/>
          </a:xfrm>
          <a:prstGeom prst="roundRect">
            <a:avLst>
              <a:gd name="adj" fmla="val 42011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4170" y="49483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Final Report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44170" y="5443895"/>
            <a:ext cx="590919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Document findings, methodologies, evidence chain, and analysis summary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707743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Chain of custody ensures integrity and admissibility of evidence in court proceedings.</a:t>
            </a:r>
            <a:endParaRPr lang="en-US" sz="1850" dirty="0"/>
          </a:p>
        </p:txBody>
      </p:sp>
      <p:sp>
        <p:nvSpPr>
          <p:cNvPr id="16" name="Rectangle 15"/>
          <p:cNvSpPr/>
          <p:nvPr/>
        </p:nvSpPr>
        <p:spPr>
          <a:xfrm>
            <a:off x="1" y="7742583"/>
            <a:ext cx="14630400" cy="3975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56348"/>
            <a:ext cx="1075991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Digital Forensics Examination Process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72972" y="29478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Seizure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443407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Identify and isolate devices following legal procedures (warrant, consent)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516" y="3183969"/>
            <a:ext cx="358140" cy="4476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1243" y="27562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Acquisition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41243" y="3251835"/>
            <a:ext cx="38514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Image or clone data using write blockers to maintain evidence integrity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388" y="3569732"/>
            <a:ext cx="358140" cy="4476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1243" y="53943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Analysis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41243" y="5889903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Recover deleted files, examine logs, perform keyword searches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5780603"/>
            <a:ext cx="358140" cy="4476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72972" y="53943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Reporting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837724" y="5889903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Document procedures, findings, and tools in clear, legally sound format</a:t>
            </a:r>
            <a:endParaRPr lang="en-US" sz="1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753" y="5394841"/>
            <a:ext cx="358140" cy="4476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" y="7742583"/>
            <a:ext cx="14630400" cy="3975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401" y="599003"/>
            <a:ext cx="7681198" cy="1229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Search and Seizure Legal Framework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731401" y="2141696"/>
            <a:ext cx="7681198" cy="1690330"/>
          </a:xfrm>
          <a:prstGeom prst="roundRect">
            <a:avLst>
              <a:gd name="adj" fmla="val 51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FB8D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4261" y="2164556"/>
            <a:ext cx="835938" cy="1644610"/>
          </a:xfrm>
          <a:prstGeom prst="roundRect">
            <a:avLst>
              <a:gd name="adj" fmla="val 7219"/>
            </a:avLst>
          </a:prstGeom>
          <a:solidFill>
            <a:srgbClr val="F9D2EB"/>
          </a:solidFill>
          <a:ln/>
        </p:spPr>
      </p:sp>
      <p:sp>
        <p:nvSpPr>
          <p:cNvPr id="6" name="Text 3"/>
          <p:cNvSpPr/>
          <p:nvPr/>
        </p:nvSpPr>
        <p:spPr>
          <a:xfrm>
            <a:off x="1011674" y="2790944"/>
            <a:ext cx="313492" cy="39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799153" y="2373511"/>
            <a:ext cx="2458760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Consent to Search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99153" y="2806184"/>
            <a:ext cx="6590586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Voluntary permission from owner/user to examine digital devices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99153" y="3265884"/>
            <a:ext cx="6590586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Must be documented and can be withdrawn at any time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401" y="4040981"/>
            <a:ext cx="7681198" cy="1690330"/>
          </a:xfrm>
          <a:prstGeom prst="roundRect">
            <a:avLst>
              <a:gd name="adj" fmla="val 51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FB8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261" y="4063841"/>
            <a:ext cx="835938" cy="1644610"/>
          </a:xfrm>
          <a:prstGeom prst="roundRect">
            <a:avLst>
              <a:gd name="adj" fmla="val 7219"/>
            </a:avLst>
          </a:prstGeom>
          <a:solidFill>
            <a:srgbClr val="F9D2EB"/>
          </a:solidFill>
          <a:ln/>
        </p:spPr>
      </p:sp>
      <p:sp>
        <p:nvSpPr>
          <p:cNvPr id="12" name="Text 9"/>
          <p:cNvSpPr/>
          <p:nvPr/>
        </p:nvSpPr>
        <p:spPr>
          <a:xfrm>
            <a:off x="1011674" y="4690229"/>
            <a:ext cx="313492" cy="39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1799153" y="4272796"/>
            <a:ext cx="2458760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Subpoena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799153" y="4705469"/>
            <a:ext cx="6590586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Legal document requiring submission of specific evidence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799153" y="5165169"/>
            <a:ext cx="6590586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Less invasive than search warrant but limited in scope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1401" y="5940266"/>
            <a:ext cx="7681198" cy="1690330"/>
          </a:xfrm>
          <a:prstGeom prst="roundRect">
            <a:avLst>
              <a:gd name="adj" fmla="val 51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FB8D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261" y="5963126"/>
            <a:ext cx="835938" cy="1644610"/>
          </a:xfrm>
          <a:prstGeom prst="roundRect">
            <a:avLst>
              <a:gd name="adj" fmla="val 7219"/>
            </a:avLst>
          </a:prstGeom>
          <a:solidFill>
            <a:srgbClr val="F9D2EB"/>
          </a:solidFill>
          <a:ln/>
        </p:spPr>
      </p:sp>
      <p:sp>
        <p:nvSpPr>
          <p:cNvPr id="18" name="Text 15"/>
          <p:cNvSpPr/>
          <p:nvPr/>
        </p:nvSpPr>
        <p:spPr>
          <a:xfrm>
            <a:off x="1011674" y="6589514"/>
            <a:ext cx="313492" cy="39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3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1799153" y="6172081"/>
            <a:ext cx="2458760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Search Warrant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799153" y="6604754"/>
            <a:ext cx="6590586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Judge-approved document specifying what can be searched and seized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99153" y="7064454"/>
            <a:ext cx="6590586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Must demonstrate probable cause and be specific in scope</a:t>
            </a:r>
            <a:endParaRPr lang="en-US" sz="1600" dirty="0"/>
          </a:p>
        </p:txBody>
      </p:sp>
      <p:sp>
        <p:nvSpPr>
          <p:cNvPr id="22" name="Rectangle 21"/>
          <p:cNvSpPr/>
          <p:nvPr/>
        </p:nvSpPr>
        <p:spPr>
          <a:xfrm>
            <a:off x="1" y="7742583"/>
            <a:ext cx="14630400" cy="3975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26611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First Responder Toolkit and Tasks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2724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Essential Toolkit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863697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Evidence collection bags and labels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713446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Gloves and write blockers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180171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Faraday bags for mobile devices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6029920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Camera for documentation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7724" y="6496645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Laptops with forensic software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871561" y="32724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Critical Tasks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71561" y="3863697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Secure the scene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871561" y="4330422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Identify and document digital evidence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871561" y="5180171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Prevent alteration of data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871561" y="5646896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Record everything thoroughly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4871561" y="6113621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Collect evidence in order of volatility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765" y="619958"/>
            <a:ext cx="10142815" cy="66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Order of Volatility and Documentation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024" y="1730693"/>
            <a:ext cx="1615678" cy="1274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2748" y="2327672"/>
            <a:ext cx="316111" cy="395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083493" y="1955483"/>
            <a:ext cx="1558171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RAM/Cache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5083493" y="2420779"/>
            <a:ext cx="155817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 volatile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914900" y="3017996"/>
            <a:ext cx="8872538" cy="15240"/>
          </a:xfrm>
          <a:prstGeom prst="roundRect">
            <a:avLst>
              <a:gd name="adj" fmla="val 619554"/>
            </a:avLst>
          </a:prstGeom>
          <a:solidFill>
            <a:srgbClr val="DFB8D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185" y="3061335"/>
            <a:ext cx="3231475" cy="1274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2748" y="3500914"/>
            <a:ext cx="316111" cy="395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6"/>
          <p:cNvSpPr/>
          <p:nvPr/>
        </p:nvSpPr>
        <p:spPr>
          <a:xfrm>
            <a:off x="5891451" y="3286125"/>
            <a:ext cx="2499955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Running Processes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5891451" y="3751421"/>
            <a:ext cx="249995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Network connections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722858" y="4348639"/>
            <a:ext cx="8064579" cy="15240"/>
          </a:xfrm>
          <a:prstGeom prst="roundRect">
            <a:avLst>
              <a:gd name="adj" fmla="val 619554"/>
            </a:avLst>
          </a:prstGeom>
          <a:solidFill>
            <a:srgbClr val="DFB8D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227" y="4391978"/>
            <a:ext cx="4847273" cy="127444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2748" y="4831556"/>
            <a:ext cx="316111" cy="395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0"/>
          <p:cNvSpPr/>
          <p:nvPr/>
        </p:nvSpPr>
        <p:spPr>
          <a:xfrm>
            <a:off x="6699290" y="4616768"/>
            <a:ext cx="164282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Disk Storage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6699290" y="5082064"/>
            <a:ext cx="164282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File systems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6530697" y="5679281"/>
            <a:ext cx="7256740" cy="15240"/>
          </a:xfrm>
          <a:prstGeom prst="roundRect">
            <a:avLst>
              <a:gd name="adj" fmla="val 619554"/>
            </a:avLst>
          </a:prstGeom>
          <a:solidFill>
            <a:srgbClr val="DFB8D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88" y="5722620"/>
            <a:ext cx="6463070" cy="127444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92868" y="6162199"/>
            <a:ext cx="316111" cy="395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4</a:t>
            </a:r>
            <a:endParaRPr lang="en-US" sz="2450" dirty="0"/>
          </a:p>
        </p:txBody>
      </p:sp>
      <p:sp>
        <p:nvSpPr>
          <p:cNvPr id="20" name="Text 14"/>
          <p:cNvSpPr/>
          <p:nvPr/>
        </p:nvSpPr>
        <p:spPr>
          <a:xfrm>
            <a:off x="7507248" y="5947410"/>
            <a:ext cx="123241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Backups</a:t>
            </a:r>
            <a:endParaRPr lang="en-US" sz="2050" dirty="0"/>
          </a:p>
        </p:txBody>
      </p:sp>
      <p:sp>
        <p:nvSpPr>
          <p:cNvPr id="21" name="Text 15"/>
          <p:cNvSpPr/>
          <p:nvPr/>
        </p:nvSpPr>
        <p:spPr>
          <a:xfrm>
            <a:off x="7507248" y="6412706"/>
            <a:ext cx="1232416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Least volatile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86765" y="7249954"/>
            <a:ext cx="1305687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Document the digital crime scene with sketches, photos, device labels, serial numbers, network configuration, and personnel logs.</a:t>
            </a:r>
            <a:endParaRPr lang="en-US" sz="1750" dirty="0"/>
          </a:p>
        </p:txBody>
      </p:sp>
      <p:sp>
        <p:nvSpPr>
          <p:cNvPr id="23" name="Rectangle 22"/>
          <p:cNvSpPr/>
          <p:nvPr/>
        </p:nvSpPr>
        <p:spPr>
          <a:xfrm>
            <a:off x="1" y="7742583"/>
            <a:ext cx="14630400" cy="3975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796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213" y="3269933"/>
            <a:ext cx="8672870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Evidence Handling and Interviews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50213" y="4436150"/>
            <a:ext cx="2877026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Packaging &amp; Transport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50213" y="4965621"/>
            <a:ext cx="6303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 anti-static bags and Faraday cages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50213" y="5383530"/>
            <a:ext cx="6303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Label everything clearly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0213" y="5801439"/>
            <a:ext cx="6303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Maintain chain of custody documentation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0213" y="6219349"/>
            <a:ext cx="6303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Ensure secure storage and transport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84281" y="4436150"/>
            <a:ext cx="2546033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Interview Questions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584281" y="4965621"/>
            <a:ext cx="6303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incident occurred and when?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584281" y="5383530"/>
            <a:ext cx="6303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systems are affected?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84281" y="5801439"/>
            <a:ext cx="6303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Any suspicious activity observed?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584281" y="6219349"/>
            <a:ext cx="6303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Who was present during the incident?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584281" y="6637258"/>
            <a:ext cx="6303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actions were taken after discovery?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50213" y="7296269"/>
            <a:ext cx="131299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Witness statements should be documented with signatures, dates, and times.</a:t>
            </a:r>
            <a:endParaRPr lang="en-US" sz="1650" dirty="0"/>
          </a:p>
        </p:txBody>
      </p:sp>
      <p:sp>
        <p:nvSpPr>
          <p:cNvPr id="16" name="Rectangle 15"/>
          <p:cNvSpPr/>
          <p:nvPr/>
        </p:nvSpPr>
        <p:spPr>
          <a:xfrm>
            <a:off x="1" y="7742583"/>
            <a:ext cx="14630400" cy="3975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4463" y="548521"/>
            <a:ext cx="7747873" cy="117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Teaching and Assessment Methods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184463" y="2020848"/>
            <a:ext cx="7747873" cy="2732008"/>
          </a:xfrm>
          <a:prstGeom prst="roundRect">
            <a:avLst>
              <a:gd name="adj" fmla="val 306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FB8D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6753" y="2243138"/>
            <a:ext cx="2346603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Teaching Aids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6753" y="2656046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PowerPoint Slides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06753" y="3044904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Case Studies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6753" y="3433763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Lab Activities (Imaging, Hashing, Cloning)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06753" y="3822621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Role-play (Search &amp; Seizure Simulation)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06753" y="4211479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Quiz &amp; MCQs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184463" y="4952286"/>
            <a:ext cx="7747873" cy="2732008"/>
          </a:xfrm>
          <a:prstGeom prst="roundRect">
            <a:avLst>
              <a:gd name="adj" fmla="val 306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FB8D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6753" y="5174575"/>
            <a:ext cx="2449235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Assessment Methods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6753" y="5587484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Assignments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406753" y="5976342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Practical Demonstration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406753" y="6365200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Mid-Term Test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406753" y="6754058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Viva Voce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406753" y="7142917"/>
            <a:ext cx="73032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323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Final Exam</a:t>
            </a:r>
            <a:endParaRPr lang="en-US" sz="1550" dirty="0"/>
          </a:p>
        </p:txBody>
      </p:sp>
      <p:sp>
        <p:nvSpPr>
          <p:cNvPr id="18" name="Rectangle 17"/>
          <p:cNvSpPr/>
          <p:nvPr/>
        </p:nvSpPr>
        <p:spPr>
          <a:xfrm>
            <a:off x="1" y="7742583"/>
            <a:ext cx="14630400" cy="3975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