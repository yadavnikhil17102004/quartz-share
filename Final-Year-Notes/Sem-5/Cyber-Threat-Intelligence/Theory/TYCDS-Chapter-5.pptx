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65" r:id="rId4"/>
    <p:sldId id="258" r:id="rId5"/>
    <p:sldId id="266" r:id="rId6"/>
    <p:sldId id="259" r:id="rId7"/>
    <p:sldId id="267" r:id="rId8"/>
    <p:sldId id="268" r:id="rId9"/>
    <p:sldId id="269" r:id="rId10"/>
    <p:sldId id="270" r:id="rId11"/>
    <p:sldId id="271" r:id="rId12"/>
    <p:sldId id="260" r:id="rId13"/>
    <p:sldId id="272" r:id="rId14"/>
    <p:sldId id="273" r:id="rId15"/>
    <p:sldId id="274" r:id="rId16"/>
    <p:sldId id="261" r:id="rId17"/>
    <p:sldId id="275" r:id="rId18"/>
    <p:sldId id="276" r:id="rId19"/>
    <p:sldId id="277" r:id="rId20"/>
    <p:sldId id="278" r:id="rId21"/>
    <p:sldId id="280" r:id="rId22"/>
    <p:sldId id="279" r:id="rId23"/>
    <p:sldId id="281" r:id="rId24"/>
    <p:sldId id="285" r:id="rId25"/>
    <p:sldId id="286" r:id="rId26"/>
    <p:sldId id="288" r:id="rId27"/>
    <p:sldId id="287" r:id="rId28"/>
    <p:sldId id="289" r:id="rId29"/>
    <p:sldId id="290" r:id="rId30"/>
    <p:sldId id="291" r:id="rId31"/>
    <p:sldId id="292" r:id="rId32"/>
    <p:sldId id="293" r:id="rId33"/>
    <p:sldId id="262" r:id="rId34"/>
    <p:sldId id="294" r:id="rId35"/>
    <p:sldId id="295" r:id="rId36"/>
    <p:sldId id="296" r:id="rId37"/>
    <p:sldId id="297" r:id="rId38"/>
    <p:sldId id="298" r:id="rId39"/>
    <p:sldId id="299" r:id="rId40"/>
    <p:sldId id="301" r:id="rId41"/>
    <p:sldId id="302" r:id="rId42"/>
    <p:sldId id="303" r:id="rId43"/>
    <p:sldId id="304" r:id="rId44"/>
    <p:sldId id="263" r:id="rId45"/>
    <p:sldId id="264" r:id="rId46"/>
    <p:sldId id="305" r:id="rId47"/>
    <p:sldId id="306" r:id="rId48"/>
    <p:sldId id="307" r:id="rId49"/>
    <p:sldId id="308" r:id="rId50"/>
    <p:sldId id="309" r:id="rId51"/>
    <p:sldId id="310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9FBD0-C48C-424E-920F-C2BFD0315388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BC31-00EC-42D9-8CDC-5750408B21C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2490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9FBD0-C48C-424E-920F-C2BFD0315388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BC31-00EC-42D9-8CDC-5750408B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884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9FBD0-C48C-424E-920F-C2BFD0315388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BC31-00EC-42D9-8CDC-5750408B21C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535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9FBD0-C48C-424E-920F-C2BFD0315388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BC31-00EC-42D9-8CDC-5750408B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644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9FBD0-C48C-424E-920F-C2BFD0315388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BC31-00EC-42D9-8CDC-5750408B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605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9FBD0-C48C-424E-920F-C2BFD0315388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BC31-00EC-42D9-8CDC-5750408B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615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9FBD0-C48C-424E-920F-C2BFD0315388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BC31-00EC-42D9-8CDC-5750408B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263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AD9FBD0-C48C-424E-920F-C2BFD0315388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F5BC31-00EC-42D9-8CDC-5750408B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928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9FBD0-C48C-424E-920F-C2BFD0315388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BC31-00EC-42D9-8CDC-5750408B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896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9FBD0-C48C-424E-920F-C2BFD0315388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BC31-00EC-42D9-8CDC-5750408B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129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9FBD0-C48C-424E-920F-C2BFD0315388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5BC31-00EC-42D9-8CDC-5750408B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81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D9FBD0-C48C-424E-920F-C2BFD0315388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BF5BC31-00EC-42D9-8CDC-5750408B21C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752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Cyber Threat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0105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5800" y="2010830"/>
            <a:ext cx="1039688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Evolving Cyber Threats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Cyber attacks have become highly sophisticated, with well-resourced, skilled attackers conducting persistent, targeted attacks.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Shift in Cyber Resilience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Organizations now complement traditional preventive controls with robust monitoring and incident response, recognizing that determined attackers can bypass defenses.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Cyber Threat Intelligence (CTI)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Purpose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Anticipate and prepare for threats instead of just reacting.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Key Elements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Indicators of Compromise (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IoCs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Signs of malicious activity.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Tactics, Techniques, and Procedures (TTPs)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Adversaries' methods and tools.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Threat Actor Profiles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Identities, motivations, and historical attacks.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Attacker Campaigns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Series of related attacks with a strategic goal.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651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841751"/>
            <a:ext cx="100584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Challenges in CTI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With multiple data sources (e.g., FireEye, CERTs), security teams face data overload, lack of context, and delays in critical intelligence.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Threat Intelligence Communities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Function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Networks where organizations share vetted CTI to improve relevance, timeliness, and shared defense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Benefit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Collective insights from trusted members strengthen overall cybersecurity.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52931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Promise of Intelligence Communities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995366"/>
            <a:ext cx="10058400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Benefits of CTI Community Exchange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Reduced Sensitivity Barriers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Trusted relationships foster openness, allowing sharing of sensitive incidents and mitigation experiences.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Meaningful Vetting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Community members validate and verify threat intelligence, enhancing reliability and speeding up response actions.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Expert Collaboration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Experts build on each other’s insights, enriching shared intelligence with observations from individual infrastructures.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Political Support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 and EU Legislation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The U.S. government and EU NIS Directive encourage private-public CTI sharing to improve cybersecurity.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37030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256976"/>
            <a:ext cx="10058400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Traditional Channels and Limitations: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Traditional methods (emails, meetings, IRC) struggle with the pace and volume of emerging threats (e.g., malware, zero-day exploits, DDoS).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Text-based threat info lacks automation capability, hindering analysis and resource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Shift to Dedicated CTI Platforms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handle rapid threat data flow, communities use technical platforms for efficient CTI exchange.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Platforms support automated processing of Indicators of Compromise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IoCs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and integration with security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Standard protocols (e.g., MITRE’s frameworks) support seamless, automated threat intelligence exchange.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791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CTI Community Structures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287753"/>
            <a:ext cx="100584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Automated CTI Exchange in Established Communities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CTI communities are increasingly using standardized, automated channels for information exchange.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Members usually share similar business profiles, creating relevance for shared threat intelligence across the group.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Most communities are partially closed, with membership restricted to trusted organizations to maintain focus and trust.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Community Collaboration Methods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Automated data exchange is often paired with traditional methods like mailing lists and conference calls for detailed analysis and report sharing.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351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287753"/>
            <a:ext cx="100584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Vendor-Driven Cloud-Based CTI Communities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Open to a broader audience, these platforms support large-scale "crowdsourced" threat sharing.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Lacks the high trust level of private communities, as participants are typically vetted only by the vendor.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Allows for ad hoc collaborations focused on specific threats.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Pros and Cons of Cloud-Based Solutions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Pros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Eliminates the need for dedicated infrastructure and allows CTI exchange within closed groups.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Reduced control over sensitive data, as it resides in the cloud and is subject to vendor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Private Cloud Options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Some vendors offer private clouds for organizations needing higher security and trust.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993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CTI Communities That Employ Automated Channels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5244" y="1868335"/>
            <a:ext cx="8279425" cy="409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556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596" y="407625"/>
            <a:ext cx="9889170" cy="523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01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1907" y="1961002"/>
            <a:ext cx="10702415" cy="368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597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Cloud-Based Services for CTI Sharing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4872" y="1824228"/>
            <a:ext cx="7167094" cy="432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031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Organizational Context of a CTI Community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Organizational Requirements for CTI </a:t>
            </a:r>
            <a:r>
              <a:rPr lang="en-US" b="1" dirty="0" err="1"/>
              <a:t>Communities</a:t>
            </a:r>
            <a:r>
              <a:rPr lang="en-US" dirty="0" err="1"/>
              <a:t>:</a:t>
            </a:r>
            <a:r>
              <a:rPr lang="en-US" b="1" dirty="0" err="1"/>
              <a:t>Clear</a:t>
            </a:r>
            <a:r>
              <a:rPr lang="en-US" b="1" dirty="0"/>
              <a:t> Objectives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Define mission, scope, and focus areas (e.g., </a:t>
            </a:r>
            <a:r>
              <a:rPr lang="en-US" dirty="0" err="1"/>
              <a:t>IoCs</a:t>
            </a:r>
            <a:r>
              <a:rPr lang="en-US" dirty="0"/>
              <a:t>, TTPs, campaigns).</a:t>
            </a:r>
          </a:p>
          <a:p>
            <a:pPr lvl="1"/>
            <a:r>
              <a:rPr lang="en-US" dirty="0"/>
              <a:t>Decide between focusing on "vetted" information or unique, community-specific data.</a:t>
            </a:r>
          </a:p>
          <a:p>
            <a:r>
              <a:rPr lang="en-US" b="1" dirty="0"/>
              <a:t>Membership Conditions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Set criteria for industry, region, or CTI capability (e.g., CERT/CSIRT).</a:t>
            </a:r>
          </a:p>
          <a:p>
            <a:pPr lvl="1"/>
            <a:r>
              <a:rPr lang="en-US" dirty="0"/>
              <a:t>May include requirements for regular contributions or periodic reviews of member activity.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9664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010755"/>
            <a:ext cx="100584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Confidentiality Arrangements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 protocols like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Traffic Light Protocol (TLP)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control data sensitivity.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Information Exchange Policy (IEP)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offers further options, like specifying encryption or anonymization for shared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Legal Constraints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Comply with privacy and data protection laws; address concerns about public disclosure, especially with government partners.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Governance and Operations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Establish a board or committee to manage policies, membership, and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Consider a dedicated team to moderate and improve the quality of shared intelligence.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73790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TLP Scheme Definitions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7441" y="1774607"/>
            <a:ext cx="7403954" cy="397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16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IEP Policy Types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5581" y="1837692"/>
            <a:ext cx="8723606" cy="396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860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Tooling and Infrastructure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097280" y="1829693"/>
            <a:ext cx="1016195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Need for Automation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Growing demand for faster, efficient CTI sharing through automation.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Emergence of CTI Platforms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New software solutions support automated CTI exchange, analysis, and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Malware Information Sharing Platform (MISP)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Designed specifically for community CTI exchange.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Cloud-Based CTI Services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Offer options for automated CTI exchange within specific user communities.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Functions of CTI Platforms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Facilitate acquisition, sharing, and management of threat intelligence.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Focus on MISP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MISP highlighted as a key platform used in practical CTI sharing cases.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13004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CTI Sharing </a:t>
            </a:r>
            <a:r>
              <a:rPr lang="en-IN" sz="2400" dirty="0" smtClean="0"/>
              <a:t>Infrastructure</a:t>
            </a:r>
          </a:p>
          <a:p>
            <a:r>
              <a:rPr lang="en-US" b="1" dirty="0"/>
              <a:t>CTI Community Sharing Models</a:t>
            </a:r>
          </a:p>
          <a:p>
            <a:r>
              <a:rPr lang="en-US" b="1" dirty="0" smtClean="0"/>
              <a:t>1. Hub-Spoke </a:t>
            </a:r>
            <a:r>
              <a:rPr lang="en-US" b="1" dirty="0"/>
              <a:t>Model:</a:t>
            </a:r>
            <a:endParaRPr lang="en-US" dirty="0"/>
          </a:p>
          <a:p>
            <a:pPr lvl="1"/>
            <a:r>
              <a:rPr lang="en-US" dirty="0"/>
              <a:t>Central CTI service (hub) connects to all participants (spokes).</a:t>
            </a:r>
          </a:p>
          <a:p>
            <a:pPr lvl="1"/>
            <a:r>
              <a:rPr lang="en-US" dirty="0"/>
              <a:t>Information shared via the central service, which may also store data.</a:t>
            </a:r>
          </a:p>
          <a:p>
            <a:pPr lvl="1"/>
            <a:r>
              <a:rPr lang="en-US" dirty="0"/>
              <a:t>Participants access via a browser or automated exchange protocol.</a:t>
            </a:r>
          </a:p>
          <a:p>
            <a:pPr lvl="1"/>
            <a:r>
              <a:rPr lang="en-US" dirty="0"/>
              <a:t>Example: Dutch National Detection Network (NDN).</a:t>
            </a:r>
          </a:p>
          <a:p>
            <a:pPr lvl="1"/>
            <a:r>
              <a:rPr lang="en-US" dirty="0"/>
              <a:t>Advantages:</a:t>
            </a:r>
          </a:p>
          <a:p>
            <a:pPr lvl="2"/>
            <a:r>
              <a:rPr lang="en-US" dirty="0"/>
              <a:t>No need for participants to set up their own CTI platforms.</a:t>
            </a:r>
          </a:p>
          <a:p>
            <a:pPr lvl="2"/>
            <a:r>
              <a:rPr lang="en-US" dirty="0"/>
              <a:t>Centralized filtering, anonymization, and additional services.</a:t>
            </a:r>
          </a:p>
          <a:p>
            <a:pPr lvl="1"/>
            <a:r>
              <a:rPr lang="en-US" dirty="0"/>
              <a:t>Example Services: Cloud-based CTI, ISACs, and national CERTs.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30379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2. Peer-to-Peer </a:t>
            </a:r>
            <a:r>
              <a:rPr lang="en-US" b="1" dirty="0"/>
              <a:t>Model</a:t>
            </a:r>
            <a:r>
              <a:rPr lang="en-US" b="1" dirty="0" smtClean="0"/>
              <a:t>: </a:t>
            </a:r>
            <a:r>
              <a:rPr lang="en-US" dirty="0" smtClean="0"/>
              <a:t>All </a:t>
            </a:r>
            <a:r>
              <a:rPr lang="en-US" dirty="0"/>
              <a:t>participants have their own CTI sharing platforms with local CTI stores.</a:t>
            </a:r>
          </a:p>
          <a:p>
            <a:r>
              <a:rPr lang="en-US" dirty="0"/>
              <a:t>Automatic exchange of CTI information between members.</a:t>
            </a:r>
          </a:p>
          <a:p>
            <a:r>
              <a:rPr lang="en-US" dirty="0"/>
              <a:t>Example: ETIS CERT-SOC Telco Network.</a:t>
            </a:r>
          </a:p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More equal trust basis, no reliance on a central authority.</a:t>
            </a:r>
          </a:p>
          <a:p>
            <a:pPr lvl="1"/>
            <a:r>
              <a:rPr lang="en-US" dirty="0"/>
              <a:t>Avoids central entities like government or commercial providers.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7023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Managing Multiple Communities:</a:t>
            </a:r>
          </a:p>
          <a:p>
            <a:r>
              <a:rPr lang="en-US" dirty="0"/>
              <a:t>Organizations often participate in multiple CTI communities.</a:t>
            </a:r>
          </a:p>
          <a:p>
            <a:r>
              <a:rPr lang="en-US" dirty="0"/>
              <a:t>Careful management is needed to prevent information spillover across communities.</a:t>
            </a:r>
          </a:p>
          <a:p>
            <a:r>
              <a:rPr lang="en-US" dirty="0"/>
              <a:t>Platforms should support policies like Traffic Light Protocol (TLP) and Information Exchange Policies (IEP).</a:t>
            </a:r>
          </a:p>
          <a:p>
            <a:r>
              <a:rPr lang="en-US" sz="2200" b="1" dirty="0"/>
              <a:t>Security and Privacy Considerations:</a:t>
            </a:r>
          </a:p>
          <a:p>
            <a:r>
              <a:rPr lang="en-US" b="1" dirty="0" smtClean="0"/>
              <a:t>1 Hub-Spoke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Centralized services can provide customizable filtering and anonymization.</a:t>
            </a:r>
          </a:p>
          <a:p>
            <a:pPr lvl="1"/>
            <a:r>
              <a:rPr lang="en-US" dirty="0"/>
              <a:t>Suitable for larger-scale sharing communities.</a:t>
            </a:r>
          </a:p>
          <a:p>
            <a:r>
              <a:rPr lang="en-US" b="1" dirty="0" smtClean="0"/>
              <a:t>2. Peer-to-Peer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More trust-based and decentralized, reducing reliance on central entities.</a:t>
            </a:r>
          </a:p>
          <a:p>
            <a:pPr lvl="1"/>
            <a:r>
              <a:rPr lang="en-US" dirty="0"/>
              <a:t>Preferred when participants don’t trust commercial providers.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7927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Standards &amp; Interoperability:</a:t>
            </a:r>
          </a:p>
          <a:p>
            <a:r>
              <a:rPr lang="en-US" b="1" dirty="0"/>
              <a:t>TAXII and STIX:</a:t>
            </a:r>
            <a:endParaRPr lang="en-US" dirty="0"/>
          </a:p>
          <a:p>
            <a:pPr lvl="1"/>
            <a:r>
              <a:rPr lang="en-US" dirty="0"/>
              <a:t>Both models support standardized CTI data exchange formats (STIX) and protocols (TAXII).</a:t>
            </a:r>
          </a:p>
          <a:p>
            <a:pPr lvl="1"/>
            <a:r>
              <a:rPr lang="en-US" dirty="0"/>
              <a:t>STIX profiles and TAXII support interoperability, but many platforms don’t fully support all STIX constructs.</a:t>
            </a:r>
          </a:p>
          <a:p>
            <a:pPr lvl="1"/>
            <a:r>
              <a:rPr lang="en-US" dirty="0"/>
              <a:t>Some platforms only implement TAXII servers (inbox) for receiving CTI, others use TAXII clients for both receiving and sharing.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Emerging </a:t>
            </a:r>
            <a:r>
              <a:rPr lang="en-US" b="1" dirty="0" smtClean="0"/>
              <a:t>Technologies:</a:t>
            </a:r>
          </a:p>
          <a:p>
            <a:r>
              <a:rPr lang="en-US" b="1" dirty="0" err="1" smtClean="0"/>
              <a:t>Blockchain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dirty="0"/>
              <a:t>Proposed for secure and trustless CTI sharing, but still in research phase.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Takeaways:</a:t>
            </a:r>
          </a:p>
          <a:p>
            <a:r>
              <a:rPr lang="en-US" b="1" dirty="0"/>
              <a:t>Hub-Spoke Model</a:t>
            </a:r>
            <a:r>
              <a:rPr lang="en-US" dirty="0"/>
              <a:t> is centralized and easier to manage, while </a:t>
            </a:r>
            <a:r>
              <a:rPr lang="en-US" b="1" dirty="0"/>
              <a:t>Peer-to-Peer</a:t>
            </a:r>
            <a:r>
              <a:rPr lang="en-US" dirty="0"/>
              <a:t> offers more decentralization and equal trust.</a:t>
            </a:r>
          </a:p>
          <a:p>
            <a:r>
              <a:rPr lang="en-US" b="1" dirty="0"/>
              <a:t>STIX/TAXII standards</a:t>
            </a:r>
            <a:r>
              <a:rPr lang="en-US" dirty="0"/>
              <a:t> help with interoperability, but not all platforms fully support them yet.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6375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0995" y="1981258"/>
            <a:ext cx="6954296" cy="26678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09983" y="5238388"/>
            <a:ext cx="38277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Hub–spoke CTI sharing infrastructure</a:t>
            </a:r>
            <a:r>
              <a:rPr lang="en-IN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95419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2317" y="1876827"/>
            <a:ext cx="6746668" cy="30917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16596" y="5370590"/>
            <a:ext cx="3919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Peer-to-peer CTI sharing infrastructure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8150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Example of simultaneously participating in multiple CTI sharing communities.</a:t>
            </a:r>
            <a:endParaRPr lang="en-IN" sz="2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1766" y="1846263"/>
            <a:ext cx="5228793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354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CTI Sharing </a:t>
            </a:r>
            <a:r>
              <a:rPr lang="en-IN" dirty="0" smtClean="0"/>
              <a:t>Platforms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Basic Functions: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View, Create, Edit CTI Records</a:t>
            </a:r>
            <a:r>
              <a:rPr lang="en-US" dirty="0"/>
              <a:t>: Users can create, view, and modify CTI records.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Import CTI Data</a:t>
            </a:r>
            <a:r>
              <a:rPr lang="en-US" dirty="0"/>
              <a:t>: Allows ingestion of CTI data from external sources (e.g., IDS, SIEM, or other platforms) in formats like </a:t>
            </a:r>
            <a:r>
              <a:rPr lang="en-US" dirty="0" err="1"/>
              <a:t>OpenIOC</a:t>
            </a:r>
            <a:r>
              <a:rPr lang="en-US" dirty="0"/>
              <a:t>, STIX, CSV, PDF, or text files.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CTI Storage and Search</a:t>
            </a:r>
            <a:r>
              <a:rPr lang="en-US" dirty="0"/>
              <a:t>: Stores CTI records in a database with search capabilities.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CTI Exchange</a:t>
            </a:r>
            <a:r>
              <a:rPr lang="en-US" dirty="0"/>
              <a:t>: Secure sharing of CTI with community members, ensuring confidentiality, integrity, and source authentication.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Community Management</a:t>
            </a:r>
            <a:r>
              <a:rPr lang="en-US" dirty="0"/>
              <a:t>: Add/remove members and configure secure sharing.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Notification</a:t>
            </a:r>
            <a:r>
              <a:rPr lang="en-US" dirty="0"/>
              <a:t>: Alerts users when new CTI records are shared (e.g., via email).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CTI Export</a:t>
            </a:r>
            <a:r>
              <a:rPr lang="en-US" dirty="0"/>
              <a:t>: Export CTI records in various formats like STIX, </a:t>
            </a:r>
            <a:r>
              <a:rPr lang="en-US" dirty="0" err="1"/>
              <a:t>OpenIOC</a:t>
            </a:r>
            <a:r>
              <a:rPr lang="en-US" dirty="0"/>
              <a:t>, CSV, or IDS rule formats (e.g., Snort, </a:t>
            </a:r>
            <a:r>
              <a:rPr lang="en-US" dirty="0" err="1"/>
              <a:t>Suricata</a:t>
            </a:r>
            <a:r>
              <a:rPr lang="en-US" dirty="0"/>
              <a:t>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9797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Additional Notes: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Separation from General CTI Platform</a:t>
            </a:r>
            <a:r>
              <a:rPr lang="en-US" dirty="0"/>
              <a:t>: A dedicated CTI sharing platform may be used separately from the organization's primary CTI platform, allowing easier decision-making regarding sensitive information sharing.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Platform Evolution</a:t>
            </a:r>
            <a:r>
              <a:rPr lang="en-US" dirty="0"/>
              <a:t>: As the CTI field develops, the features and functionalities of these platforms will continue to evolve.</a:t>
            </a:r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6780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097280" y="2287753"/>
            <a:ext cx="100584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Functions: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Correlation, Fusion, and Analysis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Automatically correlates CTI data, identifies relationships, and provides analysis tools (e.g., statistical, graphical).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 Enrichment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Enrich CTI data (e.g., geolocation, IP addresses) for better analysis.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Contributing, Liking, and Commenting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Allows members to interact with shared CTI, contributing new data or commenting/liking others’ records.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Consuming CTI Feeds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Integrates external CTI feeds for correlation/fusion (more common in general CTI platforms).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Moderation and Anonymous Sharing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 hub-spoke models, moderates content and supports anonymous sharing for privacy.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964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4840" y="1952625"/>
            <a:ext cx="5778653" cy="424121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530600" y="1125742"/>
            <a:ext cx="34367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Examples of CTI (Sharing Platforms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1572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0146" y="1983169"/>
            <a:ext cx="7225850" cy="393288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86723" y="1011981"/>
            <a:ext cx="54795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Type of CTI Information Stored on a CTI Sharing Platform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11288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Malware Information Sharing Platform </a:t>
            </a:r>
            <a:endParaRPr lang="en-IN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</a:rPr>
              <a:t>Purpose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Open-source platform for sharing malware-related information and indicators.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Developed by Belgian Defense and NATO NCIRC; now community-driven, led by CIRCL (</a:t>
            </a:r>
            <a:r>
              <a:rPr lang="en-US" altLang="en-US" dirty="0" smtClean="0">
                <a:solidFill>
                  <a:schemeClr val="tx1"/>
                </a:solidFill>
              </a:rPr>
              <a:t>Luxembourg’s </a:t>
            </a:r>
            <a:r>
              <a:rPr lang="en-US" altLang="en-US" dirty="0">
                <a:solidFill>
                  <a:schemeClr val="tx1"/>
                </a:solidFill>
              </a:rPr>
              <a:t>CERT</a:t>
            </a:r>
            <a:r>
              <a:rPr lang="en-US" altLang="en-US" dirty="0" smtClean="0">
                <a:solidFill>
                  <a:schemeClr val="tx1"/>
                </a:solidFill>
              </a:rPr>
              <a:t>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</a:rPr>
              <a:t>Data Model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</a:rPr>
              <a:t>Event</a:t>
            </a:r>
            <a:r>
              <a:rPr lang="en-US" altLang="en-US" dirty="0">
                <a:solidFill>
                  <a:schemeClr val="tx1"/>
                </a:solidFill>
              </a:rPr>
              <a:t>: Core object containing metadata (e.g., date, threat level, source).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</a:rPr>
              <a:t>Attribute</a:t>
            </a:r>
            <a:r>
              <a:rPr lang="en-US" altLang="en-US" dirty="0">
                <a:solidFill>
                  <a:schemeClr val="tx1"/>
                </a:solidFill>
              </a:rPr>
              <a:t>: Specific indicators (e.g., IPs, hashes) linked to an Event.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</a:rPr>
              <a:t>Tag</a:t>
            </a:r>
            <a:r>
              <a:rPr lang="en-US" altLang="en-US" dirty="0">
                <a:solidFill>
                  <a:schemeClr val="tx1"/>
                </a:solidFill>
              </a:rPr>
              <a:t>: Additional categorization for an Event (e.g., TLP level</a:t>
            </a:r>
            <a:r>
              <a:rPr lang="en-US" altLang="en-US" dirty="0" smtClean="0">
                <a:solidFill>
                  <a:schemeClr val="tx1"/>
                </a:solidFill>
              </a:rPr>
              <a:t>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Community-Driven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Relies on user-generated content.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Supports both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hub-spoke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and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peer-to-peer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sharing models.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86654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426253"/>
            <a:ext cx="957454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Synchronization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Pull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Download new/modified events from other MISP instances.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Push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Send events to other MISP instances.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Cherry Picking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Select specific events from other instances to pull.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These mechanisms support peer-to-peer CTI sharing.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Sharing Levels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Differentiates sharing among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organization only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community only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connected communities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all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Newer versions allow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granular sharing groups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76488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564753"/>
            <a:ext cx="100584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 &amp; Integration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 Formats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OpenIOC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CSV, STIX (XML/JSON), IDS signatures (Bro,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Suricata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Snort).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automatic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IDS signature generation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selected attributes.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the export of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indicators for IDS integration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Developments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MISP continues to evolve to better support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incident analysis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mitigation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IT community.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7075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5438" y="1962150"/>
            <a:ext cx="3981450" cy="37909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798118" y="1096045"/>
            <a:ext cx="42275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Simplified data model of an event in MISP.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63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Case </a:t>
            </a:r>
            <a:r>
              <a:rPr lang="en-IN" dirty="0"/>
              <a:t>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section discusses the practical experiences and lessons learned from two CTI communities: the ETIS CERT-SOC Telco Network, which includes CERT and CSIRT teams from European telecom providers, and the National Detection Network (NDN) operated by the Dutch NCSC. 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Both </a:t>
            </a:r>
            <a:r>
              <a:rPr lang="en-US" dirty="0"/>
              <a:t>communities exchange threat information using the Malware Information Sharing Platform (MISP), but they differ in structure and challenges. </a:t>
            </a:r>
            <a:endParaRPr lang="en-US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section highlights these differences, their impact on each community, and the key lessons learned from their setups and advancements.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8607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IN" sz="2400" dirty="0" smtClean="0"/>
              <a:t>1. ETIS </a:t>
            </a:r>
            <a:r>
              <a:rPr lang="en-IN" sz="2400" dirty="0"/>
              <a:t>CERT-SOC Telco </a:t>
            </a:r>
            <a:r>
              <a:rPr lang="en-IN" sz="2400" dirty="0" smtClean="0"/>
              <a:t>Network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</a:rPr>
              <a:t>ETIS Overview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Membership-based organization for European telecom providers.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Established CERT-SOC Telco Network in 2013 for collaboration on security and incident response</a:t>
            </a:r>
            <a:r>
              <a:rPr lang="en-US" altLang="en-US" dirty="0" smtClean="0">
                <a:solidFill>
                  <a:schemeClr val="tx1"/>
                </a:solidFill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</a:rPr>
              <a:t>Pilot Launch (2015)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Small-scale pilot project to explore automated threat information exchange.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Focus on malware indicators and vulnerabilities in telecom-specific equipment.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Participants included four member organizations, with TNO as an independent advisor.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7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426253"/>
            <a:ext cx="1077192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Focus Areas for Information Sharing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Malware Indicators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Unique, vetted indicators relevant to the telco industry.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Vulnerabilities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Focus on vulnerabilities discovered through internal security testing, not widely known.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threat information could be shared, but must meet the “vetting” criterion.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MISP Platform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Open-source platform used for automated threat exchange.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telco maintained its own MISP instance (peer-to-peer setup).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Threat data shared in MISP’s XML format and integrated with internal security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59402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287753"/>
            <a:ext cx="863896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Community Governance &amp; Rules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formal governance body or dedicated operations team.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Participants followed a concise 10-point manifesto governing community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sharing was voluntary, and not intended for commercial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Participants free to act upon shared information as they saw fit.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Outcomes &amp; Lessons Learned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Emphasis on practical, low-overhead collaboration.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formal supply quotas, unlike other CTI alliances (e.g., Cyber Threat Alliance).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pilot refined the approach to CTI sharing and automated threat exchange.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1493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6044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IN" sz="2200" b="1" dirty="0" smtClean="0"/>
              <a:t>2. National </a:t>
            </a:r>
            <a:r>
              <a:rPr lang="en-IN" sz="2200" b="1" dirty="0"/>
              <a:t>Detection </a:t>
            </a:r>
            <a:r>
              <a:rPr lang="en-IN" sz="2200" b="1" dirty="0" smtClean="0"/>
              <a:t>Network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</a:rPr>
              <a:t>NDN Overview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Launched by the Dutch NCSC in collaboration with intelligence services in 2012.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Focuses on critical infrastructures (e.g., energy, water, telecommunications) and national government agencies.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Operational since 2014, as part of the second National Cyber Security Strategy.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Initially disseminated high-profile, state-actor threat information; later expanded to include public-source cyber threat data</a:t>
            </a:r>
            <a:r>
              <a:rPr lang="en-US" altLang="en-US" dirty="0" smtClean="0">
                <a:solidFill>
                  <a:schemeClr val="tx1"/>
                </a:solidFill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</a:rPr>
              <a:t>Key Features of NDN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</a:rPr>
              <a:t>Target Groups</a:t>
            </a:r>
            <a:r>
              <a:rPr lang="en-US" altLang="en-US" dirty="0">
                <a:solidFill>
                  <a:schemeClr val="tx1"/>
                </a:solidFill>
              </a:rPr>
              <a:t>: Private companies in critical industries and national government agencies.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</a:rPr>
              <a:t>Platform</a:t>
            </a:r>
            <a:r>
              <a:rPr lang="en-US" altLang="en-US" dirty="0">
                <a:solidFill>
                  <a:schemeClr val="tx1"/>
                </a:solidFill>
              </a:rPr>
              <a:t>: Uses MISP for automated threat information exchange.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</a:rPr>
              <a:t>Centralized Hub-Spoke Architecture</a:t>
            </a:r>
            <a:r>
              <a:rPr lang="en-US" altLang="en-US" dirty="0">
                <a:solidFill>
                  <a:schemeClr val="tx1"/>
                </a:solidFill>
              </a:rPr>
              <a:t>: NDN uses a hub–spoke setup with separate MISP instances for private and government participants.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</a:rPr>
              <a:t>Vetting</a:t>
            </a:r>
            <a:r>
              <a:rPr lang="en-US" altLang="en-US" dirty="0">
                <a:solidFill>
                  <a:schemeClr val="tx1"/>
                </a:solidFill>
              </a:rPr>
              <a:t>: Similar to the telco community, NDN vets threat information to ensure relevance and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17595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19314" y="1782544"/>
            <a:ext cx="100584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Setup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MISP Instances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Private Sector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API integration with SIEMs for automated signature feeding.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Sector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Integration with IDS sensors in government networks for bidirectional data exchange.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Partners can automatically integrate threat data into their security solutions, with the level of integration left to their discretion.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Incident Reporting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Government sensors send "sightings" of threats back to NCSC, enhancing situational awareness.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Governance and Participation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Participation is voluntary for both private and government organizations.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Operated by a dedicated team of analysts.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Steering Committee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Comprised of NCSC and selected public/private partners, governing platform development and addressing operational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5553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8997" y="1871490"/>
            <a:ext cx="6900767" cy="34003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466667" y="5712112"/>
            <a:ext cx="38656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Simple schematic of NDN architecture.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616299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IN" b="1" dirty="0" smtClean="0"/>
              <a:t>3. Lessons Learned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</a:rPr>
              <a:t>Automated CTI Exchange is Viable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Both the European telco group and Dutch NDN demonstrated value from automated CTI sharing.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Threat indicators (</a:t>
            </a:r>
            <a:r>
              <a:rPr lang="en-US" altLang="en-US" dirty="0" err="1">
                <a:solidFill>
                  <a:schemeClr val="tx1"/>
                </a:solidFill>
              </a:rPr>
              <a:t>IoCs</a:t>
            </a:r>
            <a:r>
              <a:rPr lang="en-US" altLang="en-US" dirty="0">
                <a:solidFill>
                  <a:schemeClr val="tx1"/>
                </a:solidFill>
              </a:rPr>
              <a:t>) shared through the community led to significant "sightings" and timely incident response</a:t>
            </a:r>
            <a:r>
              <a:rPr lang="en-US" altLang="en-US" dirty="0" smtClean="0">
                <a:solidFill>
                  <a:schemeClr val="tx1"/>
                </a:solidFill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</a:rPr>
              <a:t>Active Participation Requires Maturity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Many organizations lack the maturity needed for meaningful CTI contribution, especially in early stages.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Organizations with limited CTI capabilities may struggle to provide valuable data, impacting the community’s effectiveness.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</a:rPr>
              <a:t>Successful CTI communities stimulate maturity in their members, especially when starting with more mature organizations.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86200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149254"/>
            <a:ext cx="100584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Unique Threat Information is Rare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Truly unique CTI is scarce and often comes in low volumes.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Focusing solely on unique data results in low community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Vetting publicly available information and ensuring relevance leads to more consistent, automated, and routine sharing.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Trust is Crucial but Challenging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Trust is easier to build in communities with natural peers and fewer participants (e.g., telco community).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Government-supervised communities, like NDN, initially faced trust issues, particularly concerning data disclosure (e.g., FOIA concerns).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Trust requires active management and sometimes special legal or legislative safeguards.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7911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Sustainability Depends on Resourcing and Incentives</a:t>
            </a:r>
            <a:r>
              <a:rPr lang="en-US" dirty="0"/>
              <a:t>:</a:t>
            </a:r>
          </a:p>
          <a:p>
            <a:r>
              <a:rPr lang="en-US" dirty="0"/>
              <a:t>CTI teams prioritize incident handling over information sharing, potentially disrupting community participation.</a:t>
            </a:r>
          </a:p>
          <a:p>
            <a:r>
              <a:rPr lang="en-US" dirty="0"/>
              <a:t>A balance is needed between contributing and receiving threat intelligence.</a:t>
            </a:r>
          </a:p>
          <a:p>
            <a:r>
              <a:rPr lang="en-US" dirty="0"/>
              <a:t>Feedback loops (e.g., whether shared information was useful or acted upon) help maintain community engagement and sustainability.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58679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2122" y="3076518"/>
            <a:ext cx="9269213" cy="184802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92706" y="2125742"/>
            <a:ext cx="51407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Effects of </a:t>
            </a:r>
            <a:r>
              <a:rPr lang="en-US" b="1" dirty="0" err="1"/>
              <a:t>IoC</a:t>
            </a:r>
            <a:r>
              <a:rPr lang="en-US" b="1" dirty="0"/>
              <a:t> Sharing in the Dutch NDN Community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076179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Community Enrichment and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279644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1. Feedback </a:t>
            </a:r>
            <a:r>
              <a:rPr lang="en-IN" dirty="0"/>
              <a:t>and </a:t>
            </a:r>
            <a:r>
              <a:rPr lang="en-IN" dirty="0" smtClean="0"/>
              <a:t>Additions</a:t>
            </a:r>
          </a:p>
          <a:p>
            <a:endParaRPr lang="en-IN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Basic Feedback (e.g., "Like" Button)</a:t>
            </a:r>
            <a:r>
              <a:rPr lang="en-US" altLang="en-US" sz="1800" dirty="0">
                <a:solidFill>
                  <a:schemeClr val="tx1"/>
                </a:solidFill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Indicates how shared CTI was received, but offers limited value</a:t>
            </a:r>
            <a:r>
              <a:rPr lang="en-US" altLang="en-US" sz="18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Valuable Feedback</a:t>
            </a:r>
            <a:r>
              <a:rPr lang="en-US" altLang="en-US" sz="1800" dirty="0">
                <a:solidFill>
                  <a:schemeClr val="tx1"/>
                </a:solidFill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Sightings</a:t>
            </a:r>
            <a:r>
              <a:rPr lang="en-US" altLang="en-US" sz="1800" dirty="0">
                <a:solidFill>
                  <a:schemeClr val="tx1"/>
                </a:solidFill>
              </a:rPr>
              <a:t>: Reporting when a shared indicator results in a successful attack detection.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Negative Feedback</a:t>
            </a:r>
            <a:r>
              <a:rPr lang="en-US" altLang="en-US" sz="1800" dirty="0">
                <a:solidFill>
                  <a:schemeClr val="tx1"/>
                </a:solidFill>
              </a:rPr>
              <a:t>: Reporting false positives or inaccurate information helps improve the quality of shared CTI.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Platforms like MISP and OTX offer such feedback mechanisms</a:t>
            </a:r>
            <a:r>
              <a:rPr lang="en-US" altLang="en-US" sz="1800" dirty="0" smtClean="0">
                <a:solidFill>
                  <a:schemeClr val="tx1"/>
                </a:solidFill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Enriching Shared CTI</a:t>
            </a:r>
            <a:r>
              <a:rPr lang="en-US" altLang="en-US" sz="1800" dirty="0">
                <a:solidFill>
                  <a:schemeClr val="tx1"/>
                </a:solidFill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Suggesting new indicators based on incident response findings can enhance existing CTI.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</a:rPr>
              <a:t>These additions should be moderated to ensure relevance and accuracy, avoiding redundant or off-topic information.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0438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Reporting Sightings and Incidents for </a:t>
            </a:r>
            <a:r>
              <a:rPr lang="en-US" dirty="0" smtClean="0"/>
              <a:t>Creating </a:t>
            </a:r>
            <a:r>
              <a:rPr lang="en-IN" dirty="0" smtClean="0"/>
              <a:t>Situational </a:t>
            </a:r>
            <a:r>
              <a:rPr lang="en-IN" dirty="0"/>
              <a:t>Awareness </a:t>
            </a:r>
            <a:endParaRPr lang="en-IN" dirty="0" smtClean="0"/>
          </a:p>
          <a:p>
            <a:r>
              <a:rPr lang="en-US" b="1" dirty="0"/>
              <a:t>Value of Sightings</a:t>
            </a:r>
            <a:r>
              <a:rPr lang="en-US" dirty="0"/>
              <a:t>:</a:t>
            </a:r>
          </a:p>
          <a:p>
            <a:r>
              <a:rPr lang="en-US" dirty="0"/>
              <a:t>Sharing sightings provides insight into the usefulness of CTI by indicating its value to other members.</a:t>
            </a:r>
          </a:p>
          <a:p>
            <a:r>
              <a:rPr lang="en-US" dirty="0"/>
              <a:t>Sightings help create situational awareness, especially for large-scale or cascading cyber threats.</a:t>
            </a:r>
          </a:p>
          <a:p>
            <a:r>
              <a:rPr lang="en-US" b="1" dirty="0"/>
              <a:t>Current Initiatives</a:t>
            </a:r>
            <a:r>
              <a:rPr lang="en-US" dirty="0"/>
              <a:t>:</a:t>
            </a:r>
          </a:p>
          <a:p>
            <a:r>
              <a:rPr lang="en-US" dirty="0"/>
              <a:t>NDN is already sharing </a:t>
            </a:r>
            <a:r>
              <a:rPr lang="en-US" dirty="0" err="1"/>
              <a:t>IoC</a:t>
            </a:r>
            <a:r>
              <a:rPr lang="en-US" dirty="0"/>
              <a:t> sightings and “counts” but lacks clarity on the actual impact on services.</a:t>
            </a:r>
          </a:p>
          <a:p>
            <a:r>
              <a:rPr lang="en-US" dirty="0"/>
              <a:t>Understanding the </a:t>
            </a:r>
            <a:r>
              <a:rPr lang="en-US" b="1" dirty="0"/>
              <a:t>impact</a:t>
            </a:r>
            <a:r>
              <a:rPr lang="en-US" dirty="0"/>
              <a:t> (analogous to weather radar) is necessary to assess the severity of an attack.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95277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2. National </a:t>
            </a:r>
            <a:r>
              <a:rPr lang="en-US" b="1" dirty="0"/>
              <a:t>CERT Coordination</a:t>
            </a:r>
            <a:r>
              <a:rPr lang="en-US" dirty="0"/>
              <a:t>:</a:t>
            </a:r>
          </a:p>
          <a:p>
            <a:r>
              <a:rPr lang="en-US" dirty="0"/>
              <a:t>National CERTs can coordinate CTI distribution in a hub–spoke model (e.g., NDN).</a:t>
            </a:r>
          </a:p>
          <a:p>
            <a:r>
              <a:rPr lang="en-US" dirty="0"/>
              <a:t>Community members report back to the national CERT with the following:</a:t>
            </a:r>
          </a:p>
          <a:p>
            <a:pPr lvl="1"/>
            <a:r>
              <a:rPr lang="en-US" b="1" dirty="0"/>
              <a:t>Number of Sightings</a:t>
            </a:r>
            <a:r>
              <a:rPr lang="en-US" dirty="0"/>
              <a:t>: Shows the active use of attack methods or malware.</a:t>
            </a:r>
          </a:p>
          <a:p>
            <a:pPr lvl="1"/>
            <a:r>
              <a:rPr lang="en-US" b="1" dirty="0"/>
              <a:t>Potential Impact</a:t>
            </a:r>
            <a:r>
              <a:rPr lang="en-US" dirty="0"/>
              <a:t>: Indicates the threat's severity for the organization, helping assess potential damage.</a:t>
            </a:r>
          </a:p>
          <a:p>
            <a:pPr lvl="1"/>
            <a:r>
              <a:rPr lang="en-US" b="1" dirty="0"/>
              <a:t>Incident Information</a:t>
            </a:r>
            <a:r>
              <a:rPr lang="en-US" dirty="0"/>
              <a:t>: Details successful use of attack methods, enhancing national CERT’s situational awareness.</a:t>
            </a:r>
          </a:p>
          <a:p>
            <a:pPr lvl="1"/>
            <a:r>
              <a:rPr lang="en-US" b="1" dirty="0"/>
              <a:t>Impact and Incident Data</a:t>
            </a:r>
            <a:r>
              <a:rPr lang="en-US" dirty="0"/>
              <a:t>: Provides insights into the damage or disruptions caused by the threat.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61725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2703252"/>
            <a:ext cx="1007382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fontAlgn="base">
              <a:spcBef>
                <a:spcPct val="0"/>
              </a:spcBef>
              <a:spcAft>
                <a:spcPct val="0"/>
              </a:spcAft>
              <a:buSzTx/>
              <a:buFont typeface="Calibri" panose="020F0502020204030204" pitchFamily="34" charset="0"/>
              <a:buChar char="•"/>
              <a:tabLst/>
            </a:pPr>
            <a:r>
              <a:rPr lang="en-US" altLang="en-US" b="1" dirty="0"/>
              <a:t>Challenges</a:t>
            </a:r>
            <a:r>
              <a:rPr lang="en-US" altLang="en-US" b="1" dirty="0"/>
              <a:t> in Reporting Impact</a:t>
            </a:r>
            <a:r>
              <a:rPr lang="en-US" altLang="en-US" b="1" dirty="0" smtClean="0"/>
              <a:t>:</a:t>
            </a:r>
          </a:p>
          <a:p>
            <a:pPr marL="0" marR="0" lvl="0" indent="0" fontAlgn="base">
              <a:spcBef>
                <a:spcPct val="0"/>
              </a:spcBef>
              <a:spcAft>
                <a:spcPct val="0"/>
              </a:spcAft>
              <a:buSzTx/>
              <a:buFont typeface="Calibri" panose="020F0502020204030204" pitchFamily="34" charset="0"/>
              <a:buChar char="•"/>
              <a:tabLst/>
            </a:pPr>
            <a:endParaRPr lang="en-US" altLang="en-US" b="1" dirty="0"/>
          </a:p>
          <a:p>
            <a:pPr marL="457200" marR="0" lvl="1" indent="0" fontAlgn="base">
              <a:spcBef>
                <a:spcPct val="0"/>
              </a:spcBef>
              <a:spcAft>
                <a:spcPct val="0"/>
              </a:spcAft>
              <a:buSzTx/>
              <a:buFont typeface="Calibri" panose="020F0502020204030204" pitchFamily="34" charset="0"/>
              <a:buChar char="•"/>
              <a:tabLst/>
            </a:pPr>
            <a:r>
              <a:rPr lang="en-US" altLang="en-US" sz="2000" b="1" dirty="0"/>
              <a:t>Reporting incidents and impacts is challenging for organizations.</a:t>
            </a:r>
          </a:p>
          <a:p>
            <a:pPr marL="457200" marR="0" lvl="1" indent="0" fontAlgn="base">
              <a:spcBef>
                <a:spcPct val="0"/>
              </a:spcBef>
              <a:spcAft>
                <a:spcPct val="0"/>
              </a:spcAft>
              <a:buSzTx/>
              <a:buFont typeface="Calibri" panose="020F0502020204030204" pitchFamily="34" charset="0"/>
              <a:buChar char="•"/>
              <a:tabLst/>
            </a:pPr>
            <a:r>
              <a:rPr lang="en-US" altLang="en-US" sz="2000" b="1" dirty="0"/>
              <a:t>Breach notification laws (e.g., GDPR) mandate reporting certain incidents but do not always facilitate comprehensive sharing.</a:t>
            </a:r>
          </a:p>
          <a:p>
            <a:pPr marL="457200" marR="0" lvl="1" indent="0" fontAlgn="base">
              <a:spcBef>
                <a:spcPct val="0"/>
              </a:spcBef>
              <a:spcAft>
                <a:spcPct val="0"/>
              </a:spcAft>
              <a:buSzTx/>
              <a:buFont typeface="Calibri" panose="020F0502020204030204" pitchFamily="34" charset="0"/>
              <a:buChar char="•"/>
              <a:tabLst/>
            </a:pPr>
            <a:r>
              <a:rPr lang="en-US" altLang="en-US" sz="2000" b="1" dirty="0"/>
              <a:t>When organizations see direct benefits from sharing, their hesitance may decrease.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4837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3. Collaborative Analysis</a:t>
            </a:r>
          </a:p>
          <a:p>
            <a:pPr lvl="0" fontAlgn="base"/>
            <a:r>
              <a:rPr lang="en-US" altLang="en-US" b="1" dirty="0"/>
              <a:t>Collaborative Workspaces:</a:t>
            </a:r>
          </a:p>
          <a:p>
            <a:pPr lvl="0" fontAlgn="base"/>
            <a:r>
              <a:rPr lang="en-US" altLang="en-US" dirty="0"/>
              <a:t>Community members can create shared spaces to discuss and develop CTI.</a:t>
            </a:r>
          </a:p>
          <a:p>
            <a:pPr lvl="0" fontAlgn="base"/>
            <a:r>
              <a:rPr lang="en-US" altLang="en-US" dirty="0"/>
              <a:t>Members can collaborate to analyze new threats and generate actionable CTI, especially when details are unclear</a:t>
            </a:r>
            <a:r>
              <a:rPr lang="en-US" altLang="en-US" dirty="0"/>
              <a:t>.</a:t>
            </a:r>
          </a:p>
          <a:p>
            <a:pPr lvl="0" fontAlgn="base"/>
            <a:endParaRPr lang="en-US" altLang="en-US" dirty="0"/>
          </a:p>
          <a:p>
            <a:pPr lvl="0" fontAlgn="base"/>
            <a:r>
              <a:rPr lang="en-US" altLang="en-US" b="1" dirty="0"/>
              <a:t>Benefits of Collaboration:</a:t>
            </a:r>
          </a:p>
          <a:p>
            <a:pPr lvl="0" fontAlgn="base"/>
            <a:r>
              <a:rPr lang="en-US" altLang="en-US" dirty="0"/>
              <a:t>Limited resources and expertise can be shared among members to create more accurate and valuable CTI.</a:t>
            </a:r>
          </a:p>
          <a:p>
            <a:pPr lvl="0" fontAlgn="base"/>
            <a:r>
              <a:rPr lang="en-US" altLang="en-US" dirty="0"/>
              <a:t>Helps move beyond sharing basic indicators to higher-value CTI, such as TTPs (Tactics, Techniques, and Procedures), campaigns, threat actors, and course of 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5793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Pyramid of Pain</a:t>
            </a:r>
            <a:r>
              <a:rPr lang="en-US" dirty="0"/>
              <a:t>:</a:t>
            </a:r>
          </a:p>
          <a:p>
            <a:r>
              <a:rPr lang="en-US" dirty="0"/>
              <a:t>Sharing TTPs is more impactful than sharing indicators (e.g., IP addresses, file hashes) because it requires more effort from adversaries to adapt.</a:t>
            </a:r>
          </a:p>
          <a:p>
            <a:r>
              <a:rPr lang="en-US" dirty="0"/>
              <a:t>Collaborative analysis can provide deeper insights into adversary behavior, improving defense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56269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4. Private </a:t>
            </a:r>
            <a:r>
              <a:rPr lang="en-US" dirty="0"/>
              <a:t>and Secure Sharing of Indicators </a:t>
            </a:r>
            <a:r>
              <a:rPr lang="en-US" dirty="0" smtClean="0"/>
              <a:t>and </a:t>
            </a:r>
            <a:r>
              <a:rPr lang="en-IN" dirty="0"/>
              <a:t>Sightings </a:t>
            </a:r>
            <a:endParaRPr lang="en-IN" dirty="0" smtClean="0"/>
          </a:p>
          <a:p>
            <a:r>
              <a:rPr lang="en-US" b="1" dirty="0"/>
              <a:t>Challenges</a:t>
            </a:r>
            <a:r>
              <a:rPr lang="en-US" dirty="0"/>
              <a:t>:</a:t>
            </a:r>
          </a:p>
          <a:p>
            <a:r>
              <a:rPr lang="en-US" dirty="0"/>
              <a:t>Sensitive CTI data, such as indicators or ongoing attacks, may expose attackers or harm the reputation of organizations.</a:t>
            </a:r>
          </a:p>
          <a:p>
            <a:r>
              <a:rPr lang="en-US" dirty="0"/>
              <a:t>Quickly sharing CTI is valuable but could unintentionally reveal too much information.</a:t>
            </a:r>
          </a:p>
          <a:p>
            <a:r>
              <a:rPr lang="en-US" b="1" dirty="0"/>
              <a:t>Attribute-Based Encryption (ABE)</a:t>
            </a:r>
            <a:r>
              <a:rPr lang="en-US" dirty="0"/>
              <a:t>:</a:t>
            </a:r>
          </a:p>
          <a:p>
            <a:r>
              <a:rPr lang="en-US" dirty="0"/>
              <a:t>ABE ensures CTI is shared only with specific community members based on defined attributes.</a:t>
            </a:r>
          </a:p>
          <a:p>
            <a:r>
              <a:rPr lang="en-US" dirty="0"/>
              <a:t>The access policy is encrypted with the CTI and can only be decrypted by members who meet the criteria.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6414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53213" y="1834013"/>
            <a:ext cx="10058400" cy="457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tabLst/>
            </a:pPr>
            <a:r>
              <a:rPr lang="en-US" altLang="en-US" b="1" dirty="0"/>
              <a:t>Enhancements for Secure Sharing:</a:t>
            </a:r>
          </a:p>
          <a:p>
            <a:pPr marR="0" lvl="0" fontAlgn="base">
              <a:tabLst/>
            </a:pPr>
            <a:r>
              <a:rPr lang="en-US" altLang="en-US" b="1" dirty="0"/>
              <a:t>Hashing </a:t>
            </a:r>
            <a:r>
              <a:rPr lang="en-US" altLang="en-US" b="1" dirty="0" err="1"/>
              <a:t>IoCs</a:t>
            </a:r>
            <a:r>
              <a:rPr lang="en-US" altLang="en-US" b="1" dirty="0"/>
              <a:t> (Indicators of Compromise):</a:t>
            </a:r>
          </a:p>
          <a:p>
            <a:pPr marL="91440" marR="0" lvl="1" indent="-91440" fontAlgn="base"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  <a:tabLst/>
            </a:pPr>
            <a:r>
              <a:rPr lang="en-US" altLang="en-US" sz="2000" dirty="0"/>
              <a:t>Hash </a:t>
            </a:r>
            <a:r>
              <a:rPr lang="en-US" altLang="en-US" sz="2000" dirty="0" err="1"/>
              <a:t>IoCs</a:t>
            </a:r>
            <a:r>
              <a:rPr lang="en-US" altLang="en-US" sz="2000" dirty="0"/>
              <a:t> (e.g., IP addresses, ports) to share without revealing actual values.</a:t>
            </a:r>
          </a:p>
          <a:p>
            <a:pPr marL="91440" marR="0" lvl="1" indent="-91440" fontAlgn="base"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  <a:tabLst/>
            </a:pPr>
            <a:r>
              <a:rPr lang="en-US" altLang="en-US" sz="2000" dirty="0"/>
              <a:t>Community members can hash their own observables and match them against the shared, hashed </a:t>
            </a:r>
            <a:r>
              <a:rPr lang="en-US" altLang="en-US" sz="2000" dirty="0" err="1"/>
              <a:t>IoCs</a:t>
            </a:r>
            <a:r>
              <a:rPr lang="en-US" altLang="en-US" sz="2000" dirty="0"/>
              <a:t>.</a:t>
            </a:r>
          </a:p>
          <a:p>
            <a:pPr marL="91440" marR="0" lvl="1" indent="-91440" fontAlgn="base"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  <a:tabLst/>
            </a:pPr>
            <a:r>
              <a:rPr lang="en-US" altLang="en-US" sz="2000" dirty="0"/>
              <a:t>Use a random salt for added security.</a:t>
            </a:r>
          </a:p>
          <a:p>
            <a:pPr marR="0" lvl="0" fontAlgn="base">
              <a:tabLst/>
            </a:pPr>
            <a:r>
              <a:rPr lang="en-US" altLang="en-US" b="1" dirty="0"/>
              <a:t>Privacy-Preserving Aggregation:</a:t>
            </a:r>
          </a:p>
          <a:p>
            <a:pPr marL="91440" marR="0" lvl="1" indent="-91440" fontAlgn="base"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  <a:tabLst/>
            </a:pPr>
            <a:r>
              <a:rPr lang="en-US" altLang="en-US" sz="2000" dirty="0"/>
              <a:t>Community members report the number of sightings of an </a:t>
            </a:r>
            <a:r>
              <a:rPr lang="en-US" altLang="en-US" sz="2000" dirty="0" err="1"/>
              <a:t>IoC</a:t>
            </a:r>
            <a:r>
              <a:rPr lang="en-US" altLang="en-US" sz="2000" dirty="0"/>
              <a:t> without revealing details.</a:t>
            </a:r>
          </a:p>
          <a:p>
            <a:pPr marL="91440" marR="0" lvl="1" indent="-91440" fontAlgn="base"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  <a:tabLst/>
            </a:pPr>
            <a:r>
              <a:rPr lang="en-US" altLang="en-US" sz="2000" dirty="0"/>
              <a:t>Each member encrypts their count and sends it to the source, which can only aggregate the total sightings after decryption.</a:t>
            </a:r>
          </a:p>
          <a:p>
            <a:pPr marR="0" lvl="0" fontAlgn="base">
              <a:tabLst/>
            </a:pPr>
            <a:endParaRPr lang="en-US" altLang="en-US" b="1" dirty="0"/>
          </a:p>
        </p:txBody>
      </p:sp>
    </p:spTree>
    <p:extLst>
      <p:ext uri="{BB962C8B-B14F-4D97-AF65-F5344CB8AC3E}">
        <p14:creationId xmlns:p14="http://schemas.microsoft.com/office/powerpoint/2010/main" val="366333339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124</TotalTime>
  <Words>3305</Words>
  <Application>Microsoft Office PowerPoint</Application>
  <PresentationFormat>Widescreen</PresentationFormat>
  <Paragraphs>321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Calibri</vt:lpstr>
      <vt:lpstr>Calibri Light</vt:lpstr>
      <vt:lpstr>Retrospect</vt:lpstr>
      <vt:lpstr>Cyber Threat Intelligence</vt:lpstr>
      <vt:lpstr>Introduction</vt:lpstr>
      <vt:lpstr>PowerPoint Presentation</vt:lpstr>
      <vt:lpstr>The Promise of Intelligence Communities</vt:lpstr>
      <vt:lpstr>PowerPoint Presentation</vt:lpstr>
      <vt:lpstr>CTI Community Structures</vt:lpstr>
      <vt:lpstr>PowerPoint Presentation</vt:lpstr>
      <vt:lpstr>CTI Communities That Employ Automated Channels</vt:lpstr>
      <vt:lpstr>PowerPoint Presentation</vt:lpstr>
      <vt:lpstr>PowerPoint Presentation</vt:lpstr>
      <vt:lpstr>Cloud-Based Services for CTI Sharing</vt:lpstr>
      <vt:lpstr>Organizational Context of a CTI Community </vt:lpstr>
      <vt:lpstr>PowerPoint Presentation</vt:lpstr>
      <vt:lpstr>TLP Scheme Definitions</vt:lpstr>
      <vt:lpstr>IEP Policy Types</vt:lpstr>
      <vt:lpstr>Tooling and Infrastructure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of simultaneously participating in multiple CTI sharing communities.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Studies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Community Enrichment and Enhancements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LL_PC</dc:creator>
  <cp:lastModifiedBy>LL_PC</cp:lastModifiedBy>
  <cp:revision>101</cp:revision>
  <dcterms:created xsi:type="dcterms:W3CDTF">2024-11-12T06:47:56Z</dcterms:created>
  <dcterms:modified xsi:type="dcterms:W3CDTF">2024-11-14T06:34:28Z</dcterms:modified>
</cp:coreProperties>
</file>