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6" r:id="rId59"/>
    <p:sldId id="314" r:id="rId60"/>
    <p:sldId id="315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6A9C2-ECFC-4C46-B604-4A0FDC62FA31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580F5-1014-45CB-88A0-E7E67C53D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3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580F5-1014-45CB-88A0-E7E67C53DA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01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580F5-1014-45CB-88A0-E7E67C53DA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0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580F5-1014-45CB-88A0-E7E67C53DA1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8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8907427-BE31-47CA-AFE7-E8D521B8A954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18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A6F7-38BD-47A7-97C0-CB11A1EFB4A3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762F-B7E4-452B-9C74-CB09F12D1925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45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E07C6-860E-41E9-8BCB-C159013E7680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73C47-C85C-43E7-9A7B-F0A146DE3201}" type="datetime1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16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5B966-7D46-469D-A39B-7C67DE16DAA6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6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94629-8329-4995-8802-E24225A7F828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7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D72E-EB35-451F-A486-C3816FADBBC1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5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B74F-FAA6-4AD9-958B-7ECE63DAEA74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63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43AD3-6C80-415E-8557-31DA5A7196BD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2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3841-0E22-451F-B16B-1E6E1EA82D89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43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14E03CF-FCC3-4F2F-82E9-862139AD0E38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9C7E36-F3F2-4653-AC8F-C433BB90B83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08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Information Sharing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Introduction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327911"/>
            <a:ext cx="10849424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Importance of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 infrastructures (telecommunications, electricity) face increasing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threats.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Operators struggle due to standard ICT products and network interdependencies.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Need for New Approaches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Exchange of network monitoring data and threat information across organizations is crucial.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Aims to enhance situational awareness for better incident preparedness and response.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Collaboration Benefits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Sharing threat information aids in coordinated countermeasures.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Helps protect against various cyber threats (cybercrime,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cyberwar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hacktivism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terrorism).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0354" y="364775"/>
            <a:ext cx="10917663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Challenges with Current Solutions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Standard antivirus and firewall systems often inadequate against advanced threats (APTs).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Growing network complexity and emerging vulnerabilities contribute to frequent novel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Information Platforms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Existing platforms provide generic security information, lacking industry-specific details.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eoman"/>
              </a:rPr>
              <a:t>Sector-specific insights and experience reports needed for effectiveness.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smtClean="0">
                <a:latin typeface="Times New Reoman"/>
              </a:rPr>
              <a:t>Role of National </a:t>
            </a:r>
            <a:r>
              <a:rPr lang="en-US" sz="2400" b="1" dirty="0" err="1" smtClean="0">
                <a:latin typeface="Times New Reoman"/>
              </a:rPr>
              <a:t>Cybersecurity</a:t>
            </a:r>
            <a:r>
              <a:rPr lang="en-US" sz="2400" b="1" dirty="0" smtClean="0">
                <a:latin typeface="Times New Reoman"/>
              </a:rPr>
              <a:t> Centers</a:t>
            </a:r>
            <a:r>
              <a:rPr lang="en-US" sz="2400" dirty="0" smtClean="0">
                <a:latin typeface="Times New Reoman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 smtClean="0">
                <a:latin typeface="Times New Reoman"/>
              </a:rPr>
              <a:t>Proposed by standardization bodies (NIST, ITU-T, ISO) for coordinated </a:t>
            </a:r>
            <a:r>
              <a:rPr lang="en-US" sz="2000" dirty="0" err="1" smtClean="0">
                <a:latin typeface="Times New Reoman"/>
              </a:rPr>
              <a:t>cybersecurity</a:t>
            </a:r>
            <a:r>
              <a:rPr lang="en-US" sz="2000" dirty="0" smtClean="0">
                <a:latin typeface="Times New Reoman"/>
              </a:rPr>
              <a:t> efforts.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 smtClean="0">
                <a:latin typeface="Times New Reoman"/>
              </a:rPr>
              <a:t>Establishment challenges include technical, legal, and multidisciplinary research needs.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 smtClean="0">
              <a:latin typeface="Times New Reoman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smtClean="0">
                <a:latin typeface="Times New Reoman"/>
              </a:rPr>
              <a:t>Peer-to-Peer (P2P) Sharing</a:t>
            </a:r>
            <a:r>
              <a:rPr lang="en-US" sz="2400" dirty="0" smtClean="0">
                <a:latin typeface="Times New Reoman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 smtClean="0">
                <a:latin typeface="Times New Reoman"/>
              </a:rPr>
              <a:t>Limited experience in P2P information sharing among companies due to risks (low quality info, reputational issues).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 smtClean="0">
                <a:latin typeface="Times New Reoman"/>
              </a:rPr>
              <a:t>Awareness and solutions for these challenges are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eoman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9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Dimensions of Information Sharing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70083" y="2084832"/>
            <a:ext cx="1076608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1.Efficient Cooperation and Coordination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of coordinated cyber defense due to complex systems and sophisticated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Information sharing is essential for stakeholders, covering: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Indicators of Compromise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IoCs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Technical vulnerabilities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Zero-day exploits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Social engineering attacks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Critical service outages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Legal and Regulatory Landscape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sharing requires a strong legal foundation.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EU and US directives and regulations aim to facilitate broader adoption.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7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6833" y="1877533"/>
            <a:ext cx="10699299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Standardization Efforts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Standards must comply with legal requirements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enable effective information sharing.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Organizations like NIST, ENISA, ETSI, and ISO are developing guidelines.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Regional and International Implementations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integration of standards, organizational measures, and sharing structures.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Contributions from CERTs and national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centers are crucial.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Technology Integration in Organizations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 and implementation of sharing protocols and management tools are necessary.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solutions must align with organizational processes and be user-friendly.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3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92" y="122829"/>
            <a:ext cx="11480396" cy="666146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2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Dimension I: Efficient Cooperation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and Coordination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558743"/>
            <a:ext cx="110404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IT Presence: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critical infrastructures are heavily reliant on information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 Threats: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types of global threats are proliferating, shifting in focus and intensity.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Exploitation of Technology: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Threats exploit opportunities created by advancements in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 Measures: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strategies can address these threats, but they require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Needed: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responses necessitate cross-organizational and cross-border collaboration.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6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i="1" dirty="0"/>
              <a:t>Cyber Defense as a Joint </a:t>
            </a:r>
            <a:r>
              <a:rPr lang="en-US" sz="2800" b="1" i="1" dirty="0" smtClean="0"/>
              <a:t>Endeavor</a:t>
            </a:r>
          </a:p>
          <a:p>
            <a:r>
              <a:rPr lang="en-US" sz="2800" b="1" dirty="0"/>
              <a:t>Importance of International Collaboration in </a:t>
            </a:r>
            <a:r>
              <a:rPr lang="en-US" sz="2800" b="1" dirty="0" err="1"/>
              <a:t>Cybersecurity</a:t>
            </a:r>
            <a:endParaRPr lang="en-US" sz="2800" b="1" dirty="0"/>
          </a:p>
          <a:p>
            <a:r>
              <a:rPr lang="en-US" sz="2400" b="1" dirty="0"/>
              <a:t>Digital Boundaries:</a:t>
            </a:r>
            <a:endParaRPr lang="en-US" sz="2400" dirty="0"/>
          </a:p>
          <a:p>
            <a:pPr lvl="1"/>
            <a:r>
              <a:rPr lang="en-US" sz="2000" dirty="0"/>
              <a:t>Cyber threats cross national borders; clear definitions are lacking.</a:t>
            </a:r>
          </a:p>
          <a:p>
            <a:r>
              <a:rPr lang="en-US" sz="2400" b="1" dirty="0"/>
              <a:t>Collective Responsibility:</a:t>
            </a:r>
            <a:endParaRPr lang="en-US" sz="2400" dirty="0"/>
          </a:p>
          <a:p>
            <a:pPr lvl="1"/>
            <a:r>
              <a:rPr lang="en-US" sz="2000" dirty="0" err="1"/>
              <a:t>Cybersecurity</a:t>
            </a:r>
            <a:r>
              <a:rPr lang="en-US" sz="2000" dirty="0"/>
              <a:t> is a social responsibility impacting all sectors </a:t>
            </a:r>
            <a:endParaRPr lang="en-US" sz="2000" dirty="0" smtClean="0"/>
          </a:p>
          <a:p>
            <a:r>
              <a:rPr lang="en-US" sz="2400" b="1" dirty="0" smtClean="0"/>
              <a:t>Established Response Mechanisms:</a:t>
            </a:r>
            <a:endParaRPr lang="en-US" sz="2400" dirty="0" smtClean="0"/>
          </a:p>
          <a:p>
            <a:pPr lvl="1"/>
            <a:r>
              <a:rPr lang="en-US" sz="2000" dirty="0" smtClean="0"/>
              <a:t>Policies </a:t>
            </a:r>
            <a:r>
              <a:rPr lang="en-US" sz="2000" dirty="0"/>
              <a:t>have been in place since early ICT </a:t>
            </a:r>
            <a:r>
              <a:rPr lang="en-US" sz="2000" dirty="0" smtClean="0"/>
              <a:t>development.</a:t>
            </a:r>
            <a:endParaRPr lang="en-US" sz="2000" dirty="0"/>
          </a:p>
          <a:p>
            <a:endParaRPr lang="en-US" b="1" i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9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354" y="1080903"/>
            <a:ext cx="10931312" cy="5777097"/>
          </a:xfrm>
        </p:spPr>
        <p:txBody>
          <a:bodyPr>
            <a:normAutofit/>
          </a:bodyPr>
          <a:lstStyle/>
          <a:p>
            <a:r>
              <a:rPr lang="en-US" sz="2400" b="1" dirty="0"/>
              <a:t>Targeted Threats:</a:t>
            </a:r>
            <a:endParaRPr lang="en-US" sz="2400" dirty="0"/>
          </a:p>
          <a:p>
            <a:pPr lvl="1"/>
            <a:r>
              <a:rPr lang="en-US" sz="2000" dirty="0"/>
              <a:t>Cyber attacks threaten critical infrastructures like online payments and e-government services.</a:t>
            </a:r>
          </a:p>
          <a:p>
            <a:r>
              <a:rPr lang="en-US" sz="2400" b="1" dirty="0"/>
              <a:t>Public Confidence:</a:t>
            </a:r>
            <a:endParaRPr lang="en-US" sz="2400" dirty="0"/>
          </a:p>
          <a:p>
            <a:pPr lvl="1"/>
            <a:r>
              <a:rPr lang="en-US" sz="2000" dirty="0"/>
              <a:t>Increased use of ICT in vandalism, terrorism, and fraud undermines trust and raises risks.</a:t>
            </a:r>
          </a:p>
          <a:p>
            <a:r>
              <a:rPr lang="en-US" sz="2400" b="1" dirty="0"/>
              <a:t>Coherent Security Framework:</a:t>
            </a:r>
            <a:endParaRPr lang="en-US" sz="2400" dirty="0"/>
          </a:p>
          <a:p>
            <a:pPr lvl="1"/>
            <a:r>
              <a:rPr lang="en-US" sz="2000" dirty="0"/>
              <a:t>ICT security must be consistent across borders and sustained over time</a:t>
            </a:r>
            <a:r>
              <a:rPr 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300" b="1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3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300" b="1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b="1" dirty="0" smtClean="0">
                <a:latin typeface="+mj-lt"/>
              </a:rPr>
              <a:t>Key </a:t>
            </a:r>
            <a:r>
              <a:rPr lang="en-US" sz="2800" b="1" dirty="0">
                <a:latin typeface="+mj-lt"/>
              </a:rPr>
              <a:t>Organizations</a:t>
            </a:r>
            <a:endParaRPr lang="en-US" b="1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dirty="0"/>
              <a:t>ENISA</a:t>
            </a:r>
            <a:r>
              <a:rPr lang="en-US" b="1" dirty="0" smtClean="0"/>
              <a:t>:</a:t>
            </a:r>
            <a:r>
              <a:rPr lang="en-US" dirty="0"/>
              <a:t> </a:t>
            </a:r>
            <a:r>
              <a:rPr lang="en-US" dirty="0" smtClean="0"/>
              <a:t>(European </a:t>
            </a:r>
            <a:r>
              <a:rPr lang="en-US" dirty="0"/>
              <a:t>Network and Information Security Agency </a:t>
            </a:r>
            <a:r>
              <a:rPr lang="en-US" dirty="0" smtClean="0"/>
              <a:t>)</a:t>
            </a:r>
            <a:endParaRPr lang="en-US" dirty="0"/>
          </a:p>
          <a:p>
            <a:pPr marL="28346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/>
              <a:t>Promotes cooperation among EU Member States, encourages information exchange, and coordinates security efforts.</a:t>
            </a:r>
            <a:endParaRPr 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smtClean="0"/>
              <a:t>NIST</a:t>
            </a:r>
            <a:r>
              <a:rPr lang="en-US" sz="2400" b="1" dirty="0">
                <a:sym typeface="Wingdings" panose="05000000000000000000" pitchFamily="2" charset="2"/>
              </a:rPr>
              <a:t>:</a:t>
            </a:r>
            <a:r>
              <a:rPr lang="en-US" sz="1800" dirty="0" smtClean="0"/>
              <a:t> (</a:t>
            </a:r>
            <a:r>
              <a:rPr lang="en-US" dirty="0" smtClean="0"/>
              <a:t>National </a:t>
            </a:r>
            <a:r>
              <a:rPr lang="en-US" dirty="0"/>
              <a:t>Institute of Standards and Technology</a:t>
            </a:r>
            <a:r>
              <a:rPr lang="en-US" sz="2000" dirty="0" smtClean="0"/>
              <a:t>.)</a:t>
            </a:r>
            <a:endParaRPr lang="en-US" sz="1800" dirty="0"/>
          </a:p>
          <a:p>
            <a:pPr marL="28346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/>
              <a:t>Supports CSIRTs in incident response by providing standards and guidelines for cooperation and information sharing.</a:t>
            </a:r>
          </a:p>
          <a:p>
            <a:pPr lvl="1"/>
            <a:endParaRPr lang="en-US" dirty="0">
              <a:latin typeface="+mj-lt"/>
            </a:endParaRP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0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064525"/>
            <a:ext cx="9720073" cy="524483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800" b="1" i="1" dirty="0"/>
              <a:t>The Threat </a:t>
            </a:r>
            <a:r>
              <a:rPr lang="en-US" sz="2800" b="1" i="1" dirty="0" smtClean="0"/>
              <a:t>Landscape</a:t>
            </a:r>
            <a:endParaRPr lang="en-US" sz="2800" b="1" i="1" dirty="0"/>
          </a:p>
          <a:p>
            <a:r>
              <a:rPr lang="en-US" sz="2400" b="1" dirty="0"/>
              <a:t>Evolving Cyber Threat Landscape</a:t>
            </a:r>
          </a:p>
          <a:p>
            <a:r>
              <a:rPr lang="en-US" sz="2400" b="1" dirty="0"/>
              <a:t>Rapid Changes:</a:t>
            </a:r>
            <a:endParaRPr lang="en-US" sz="2400" dirty="0"/>
          </a:p>
          <a:p>
            <a:pPr lvl="1"/>
            <a:r>
              <a:rPr lang="en-US" sz="2000" dirty="0"/>
              <a:t>Cyber threats are continuously evolving, with new malicious methods emerging.</a:t>
            </a:r>
          </a:p>
          <a:p>
            <a:r>
              <a:rPr lang="en-US" sz="2400" b="1" dirty="0"/>
              <a:t>Targets:</a:t>
            </a:r>
            <a:endParaRPr lang="en-US" sz="2400" dirty="0"/>
          </a:p>
          <a:p>
            <a:pPr lvl="1"/>
            <a:r>
              <a:rPr lang="en-US" sz="2000" dirty="0"/>
              <a:t>Cyber criminals and nation-states seek valuable data such as financial info, product designs, and user credentials.</a:t>
            </a:r>
          </a:p>
          <a:p>
            <a:r>
              <a:rPr lang="en-US" sz="2400" b="1" dirty="0"/>
              <a:t>Advanced Attack Techniques:</a:t>
            </a:r>
            <a:endParaRPr lang="en-US" sz="2400" dirty="0"/>
          </a:p>
          <a:p>
            <a:pPr lvl="1"/>
            <a:r>
              <a:rPr lang="en-US" sz="2000" dirty="0"/>
              <a:t>Attackers utilize zero-day vulnerabilities, high-quality toolkits, and social engineering for targeted attacks, often employing multistage methods to infiltrate </a:t>
            </a:r>
            <a:r>
              <a:rPr lang="en-US" sz="2000" dirty="0" smtClean="0"/>
              <a:t>networks.</a:t>
            </a:r>
            <a:endParaRPr lang="en-US" sz="2000" dirty="0"/>
          </a:p>
          <a:p>
            <a:r>
              <a:rPr lang="en-US" sz="2400" b="1" dirty="0"/>
              <a:t>Diverse Attack Vectors:</a:t>
            </a:r>
            <a:endParaRPr lang="en-US" sz="2400" dirty="0"/>
          </a:p>
          <a:p>
            <a:pPr lvl="1"/>
            <a:r>
              <a:rPr lang="en-US" sz="2000" dirty="0"/>
              <a:t>Modern threats leverage web, email, and application-based attacks, combining mass-market malware with sophisticated, targeted options.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3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10480" y="1050584"/>
            <a:ext cx="1063106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Motivations: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Attacks are increasingly driven by social and political motives, with groups like Anonymous targeting various entities.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Complexity of Threats: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Comprehensive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analysis of cyber incidents is essential to understand the multifaceted nature of threats, including agents, methods,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Emerging Trends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Shift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from botnets to malicious URLs for malware distribution; increased attacks on popular CMSs (Content management System); rise of P2P botnets and use in 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cryptocurrency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Cyber Espionage(Spying)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Significant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growth in cyber espionage and mass surveillance by nation-states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Identity Theft Tactics: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Exploitation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 financial Trojans on mobile platforms targeting two-factor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7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187314"/>
            <a:ext cx="9907729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Importance of Information Sharing: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Essential for strengthening defenses; collaboration is needed among organizations facing similar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ENISA's Key Message: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Promote knowledge transfer within the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cybersecurity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community to enhance collective defense efforts.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616" y="859809"/>
            <a:ext cx="8042327" cy="583068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7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626" y="736979"/>
            <a:ext cx="11163869" cy="5964072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 sz="3000" b="1" i="1" dirty="0"/>
              <a:t>Incident </a:t>
            </a:r>
            <a:r>
              <a:rPr lang="en-US" sz="3000" b="1" i="1" dirty="0" smtClean="0"/>
              <a:t>Taxonomies</a:t>
            </a:r>
          </a:p>
          <a:p>
            <a:r>
              <a:rPr lang="en-US" sz="2800" b="1" dirty="0"/>
              <a:t>Purpose</a:t>
            </a:r>
            <a:r>
              <a:rPr lang="en-US" sz="3000" b="1" dirty="0"/>
              <a:t>:</a:t>
            </a:r>
            <a:endParaRPr lang="en-US" sz="3000" dirty="0"/>
          </a:p>
          <a:p>
            <a:pPr lvl="1"/>
            <a:r>
              <a:rPr lang="en-US" sz="2400" dirty="0"/>
              <a:t>Taxonomies help uniquely identify and compare events, incidents, and attacks.</a:t>
            </a:r>
          </a:p>
          <a:p>
            <a:r>
              <a:rPr lang="en-US" sz="3000" b="1" dirty="0"/>
              <a:t>Types of Taxonomies:</a:t>
            </a:r>
            <a:endParaRPr lang="en-US" sz="3000" dirty="0"/>
          </a:p>
          <a:p>
            <a:pPr lvl="1"/>
            <a:r>
              <a:rPr lang="en-US" sz="2200" dirty="0"/>
              <a:t>Developed by individual CERTs </a:t>
            </a:r>
            <a:r>
              <a:rPr lang="en-US" sz="2200" dirty="0" smtClean="0"/>
              <a:t>or </a:t>
            </a:r>
            <a:r>
              <a:rPr lang="en-US" sz="2200" dirty="0"/>
              <a:t>universally recognized</a:t>
            </a:r>
            <a:r>
              <a:rPr lang="en-US" sz="2200" dirty="0" smtClean="0"/>
              <a:t>.</a:t>
            </a:r>
          </a:p>
          <a:p>
            <a:pPr lvl="1"/>
            <a:endParaRPr lang="en-US" sz="2200" dirty="0"/>
          </a:p>
          <a:p>
            <a:r>
              <a:rPr lang="en-US" sz="2800" b="1" dirty="0"/>
              <a:t>Common</a:t>
            </a:r>
            <a:r>
              <a:rPr lang="en-US" sz="3000" b="1" dirty="0"/>
              <a:t> </a:t>
            </a:r>
            <a:r>
              <a:rPr lang="en-US" sz="2800" b="1" dirty="0"/>
              <a:t>Language</a:t>
            </a:r>
            <a:r>
              <a:rPr lang="en-US" sz="3000" b="1" dirty="0"/>
              <a:t> </a:t>
            </a:r>
            <a:r>
              <a:rPr lang="en-US" sz="2800" b="1" dirty="0" smtClean="0"/>
              <a:t>Taxonomy</a:t>
            </a:r>
            <a:endParaRPr lang="en-US" sz="3000" b="1" dirty="0"/>
          </a:p>
          <a:p>
            <a:r>
              <a:rPr lang="en-US" sz="2800" b="1" dirty="0"/>
              <a:t>Key</a:t>
            </a:r>
            <a:r>
              <a:rPr lang="en-US" sz="3000" b="1" dirty="0"/>
              <a:t> </a:t>
            </a:r>
            <a:r>
              <a:rPr lang="en-US" sz="2800" b="1" dirty="0"/>
              <a:t>Terms</a:t>
            </a:r>
            <a:r>
              <a:rPr lang="en-US" sz="3000" b="1" dirty="0"/>
              <a:t>:</a:t>
            </a:r>
            <a:endParaRPr lang="en-US" sz="3000" dirty="0"/>
          </a:p>
          <a:p>
            <a:pPr lvl="1"/>
            <a:r>
              <a:rPr lang="en-US" sz="2200" b="1" dirty="0"/>
              <a:t>Event:</a:t>
            </a:r>
            <a:r>
              <a:rPr lang="en-US" sz="2200" dirty="0"/>
              <a:t> Information about a target and action taken.</a:t>
            </a:r>
          </a:p>
          <a:p>
            <a:pPr lvl="1"/>
            <a:r>
              <a:rPr lang="en-US" sz="2200" b="1" dirty="0"/>
              <a:t>Attack:</a:t>
            </a:r>
            <a:r>
              <a:rPr lang="en-US" sz="2200" dirty="0"/>
              <a:t> Detailed description including tools, vulnerabilities, and outcomes.</a:t>
            </a:r>
          </a:p>
          <a:p>
            <a:pPr lvl="1"/>
            <a:r>
              <a:rPr lang="en-US" sz="2200" b="1" dirty="0"/>
              <a:t>Incident:</a:t>
            </a:r>
            <a:r>
              <a:rPr lang="en-US" sz="2200" dirty="0"/>
              <a:t> Requires knowledge of the attack, source, and objective</a:t>
            </a:r>
            <a:r>
              <a:rPr lang="en-US" sz="2200" dirty="0" smtClean="0"/>
              <a:t>.</a:t>
            </a:r>
          </a:p>
          <a:p>
            <a:r>
              <a:rPr lang="en-US" sz="2800" b="1" dirty="0"/>
              <a:t>Pros</a:t>
            </a:r>
            <a:r>
              <a:rPr lang="en-US" sz="3300" b="1" dirty="0"/>
              <a:t>:</a:t>
            </a:r>
            <a:endParaRPr lang="en-US" sz="3300" dirty="0"/>
          </a:p>
          <a:p>
            <a:pPr lvl="1"/>
            <a:r>
              <a:rPr lang="en-US" sz="2400" dirty="0"/>
              <a:t>Extensive and detailed classification.</a:t>
            </a:r>
          </a:p>
          <a:p>
            <a:r>
              <a:rPr lang="en-US" sz="2800" b="1" dirty="0"/>
              <a:t>Cons</a:t>
            </a:r>
            <a:r>
              <a:rPr lang="en-US" sz="3300" b="1" dirty="0"/>
              <a:t>:</a:t>
            </a:r>
            <a:endParaRPr lang="en-US" sz="3300" dirty="0"/>
          </a:p>
          <a:p>
            <a:pPr lvl="1"/>
            <a:r>
              <a:rPr lang="en-US" sz="2400" dirty="0"/>
              <a:t>Time-consuming and may lack complete information; primarily for research and theoretical use.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400" b="1" dirty="0"/>
              <a:t>I</a:t>
            </a:r>
            <a:endParaRPr lang="en-US" sz="33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0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+mj-lt"/>
              </a:rPr>
              <a:t>IDEA Taxonomy (</a:t>
            </a:r>
            <a:r>
              <a:rPr lang="en-US" sz="2400" i="1" dirty="0"/>
              <a:t>Intrusion </a:t>
            </a:r>
            <a:r>
              <a:rPr lang="en-US" sz="2400" i="1" dirty="0" smtClean="0"/>
              <a:t>Detection Extensible </a:t>
            </a:r>
            <a:r>
              <a:rPr lang="en-US" sz="2400" i="1" dirty="0"/>
              <a:t>Alert</a:t>
            </a:r>
            <a:r>
              <a:rPr lang="en-US" sz="2400" dirty="0"/>
              <a:t>)</a:t>
            </a:r>
            <a:endParaRPr lang="en-US" sz="2400" b="1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latin typeface="+mj-lt"/>
              </a:rPr>
              <a:t>Origin:</a:t>
            </a:r>
            <a:endParaRPr lang="en-US" sz="4000" dirty="0"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>
                <a:latin typeface="+mj-lt"/>
              </a:rPr>
              <a:t>Developed within the European </a:t>
            </a:r>
            <a:r>
              <a:rPr lang="en-US" sz="2400" dirty="0" smtClean="0">
                <a:latin typeface="+mj-lt"/>
              </a:rPr>
              <a:t>CSIRT(Computer Security Incident Response Team) </a:t>
            </a:r>
            <a:r>
              <a:rPr lang="en-US" sz="2400" dirty="0">
                <a:latin typeface="+mj-lt"/>
              </a:rPr>
              <a:t>Network, based on Swedish CERT taxonomy (TS-CERT).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latin typeface="+mj-lt"/>
              </a:rPr>
              <a:t>Structure:</a:t>
            </a:r>
            <a:endParaRPr lang="en-US" sz="2400" dirty="0"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b="1" dirty="0">
                <a:latin typeface="+mj-lt"/>
              </a:rPr>
              <a:t>Main Categories:</a:t>
            </a:r>
            <a:r>
              <a:rPr lang="en-US" sz="2400" dirty="0">
                <a:latin typeface="+mj-lt"/>
              </a:rPr>
              <a:t> Eight incident classes.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b="1" dirty="0">
                <a:latin typeface="+mj-lt"/>
              </a:rPr>
              <a:t>Subcategories:</a:t>
            </a:r>
            <a:r>
              <a:rPr lang="en-US" sz="2400" dirty="0">
                <a:latin typeface="+mj-lt"/>
              </a:rPr>
              <a:t> 25 incident types, part of the description rather than strict classification.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latin typeface="+mj-lt"/>
              </a:rPr>
              <a:t>Advantages:</a:t>
            </a:r>
            <a:endParaRPr lang="en-US" sz="2400" dirty="0"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>
                <a:latin typeface="+mj-lt"/>
              </a:rPr>
              <a:t>User-friendly and applicable across various European </a:t>
            </a:r>
            <a:r>
              <a:rPr lang="en-US" sz="2400" dirty="0" smtClean="0">
                <a:latin typeface="+mj-lt"/>
              </a:rPr>
              <a:t>CERTs(Computer emergency Response team).</a:t>
            </a:r>
            <a:endParaRPr lang="en-US" sz="24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808" y="696344"/>
            <a:ext cx="11181700" cy="549974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2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427" y="252750"/>
            <a:ext cx="11066336" cy="622993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9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395" y="696670"/>
            <a:ext cx="11531997" cy="548576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0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030" y="720157"/>
            <a:ext cx="11203043" cy="547592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863" y="1317672"/>
            <a:ext cx="11048261" cy="348634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0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003" y="1276066"/>
            <a:ext cx="10958606" cy="5001904"/>
          </a:xfrm>
        </p:spPr>
        <p:txBody>
          <a:bodyPr>
            <a:normAutofit/>
          </a:bodyPr>
          <a:lstStyle/>
          <a:p>
            <a:pPr algn="ctr"/>
            <a:r>
              <a:rPr lang="en-US" sz="2800" b="1" i="1" dirty="0"/>
              <a:t>Sharing </a:t>
            </a:r>
            <a:r>
              <a:rPr lang="en-US" sz="2800" b="1" i="1" dirty="0" smtClean="0"/>
              <a:t>Scenarios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Given the </a:t>
            </a:r>
            <a:r>
              <a:rPr lang="en-US" sz="2400" dirty="0">
                <a:solidFill>
                  <a:srgbClr val="FF0000"/>
                </a:solidFill>
              </a:rPr>
              <a:t>current threat landscape, sharing resources</a:t>
            </a:r>
            <a:r>
              <a:rPr lang="en-US" sz="2400" dirty="0"/>
              <a:t> can significantly </a:t>
            </a:r>
            <a:r>
              <a:rPr lang="en-US" sz="2400" dirty="0">
                <a:solidFill>
                  <a:srgbClr val="FF0000"/>
                </a:solidFill>
              </a:rPr>
              <a:t>reduce security costs for partners</a:t>
            </a:r>
            <a:r>
              <a:rPr lang="en-US" sz="2400" dirty="0"/>
              <a:t> in an </a:t>
            </a:r>
            <a:r>
              <a:rPr lang="en-US" sz="2400" dirty="0" smtClean="0"/>
              <a:t>alliance.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FF0000"/>
                </a:solidFill>
              </a:rPr>
              <a:t>National </a:t>
            </a:r>
            <a:r>
              <a:rPr lang="en-US" sz="2400" dirty="0">
                <a:solidFill>
                  <a:srgbClr val="FF0000"/>
                </a:solidFill>
              </a:rPr>
              <a:t>initiatives are also establishing </a:t>
            </a:r>
            <a:r>
              <a:rPr lang="en-US" sz="2400" dirty="0" err="1">
                <a:solidFill>
                  <a:srgbClr val="FF0000"/>
                </a:solidFill>
              </a:rPr>
              <a:t>cybersecurity</a:t>
            </a:r>
            <a:r>
              <a:rPr lang="en-US" sz="2400" dirty="0">
                <a:solidFill>
                  <a:srgbClr val="FF0000"/>
                </a:solidFill>
              </a:rPr>
              <a:t> centers to support critical infrastructure providers. </a:t>
            </a:r>
            <a:endParaRPr lang="en-US" sz="2400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We </a:t>
            </a:r>
            <a:r>
              <a:rPr lang="en-US" sz="2400" dirty="0"/>
              <a:t>identified four scenarios illustrating the need for sharing and its economic potential.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This </a:t>
            </a:r>
            <a:r>
              <a:rPr lang="en-US" sz="2400" dirty="0"/>
              <a:t>approach is applicable not only to non-ICT critical infrastructure organizations but also to ICT network service providers, </a:t>
            </a:r>
            <a:r>
              <a:rPr lang="en-US" sz="2400" dirty="0" err="1"/>
              <a:t>cybersecurity</a:t>
            </a:r>
            <a:r>
              <a:rPr lang="en-US" sz="2400" dirty="0"/>
              <a:t> providers, and other infrastructure sectors.</a:t>
            </a:r>
            <a:endParaRPr lang="en-US" sz="2400" b="1" i="1" dirty="0" smtClean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7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i="1" dirty="0" smtClean="0"/>
              <a:t>1. Sharing </a:t>
            </a:r>
            <a:r>
              <a:rPr lang="en-US" sz="2800" b="1" i="1" dirty="0"/>
              <a:t>Information about Recent or Ongoing </a:t>
            </a:r>
            <a:r>
              <a:rPr lang="en-US" sz="2800" b="1" i="1" dirty="0" smtClean="0"/>
              <a:t>Incidents</a:t>
            </a:r>
          </a:p>
          <a:p>
            <a:r>
              <a:rPr lang="en-US" sz="2400" b="1" dirty="0"/>
              <a:t>Scenario Overview</a:t>
            </a:r>
            <a:r>
              <a:rPr lang="en-US" sz="2400" dirty="0"/>
              <a:t>: Enables sharing sensitive information on current incidents,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Service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Organizational impacts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Attack vectors or reasons for malfunctions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Estimated recovery time</a:t>
            </a:r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9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7650" y="349382"/>
            <a:ext cx="10985902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Importance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Critical for mutual aid,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prewarnings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and learning from incidents.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Sensitive information could harm organizational reputations.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Use Cases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Victim Reporting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Organizations report cyber incidents to a national cyber center.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National Center Alerts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National cyber center informs critical-service organizations about relevant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>
                <a:cs typeface="Arial" panose="020B0604020202020204" pitchFamily="34" charset="0"/>
              </a:rPr>
              <a:t>Confederation Communication</a:t>
            </a:r>
            <a:r>
              <a:rPr lang="en-US" sz="2800" dirty="0">
                <a:cs typeface="Arial" panose="020B0604020202020204" pitchFamily="34" charset="0"/>
              </a:rPr>
              <a:t>: </a:t>
            </a:r>
            <a:endParaRPr lang="en-US" sz="2800" dirty="0" smtClean="0">
              <a:cs typeface="Arial" panose="020B0604020202020204" pitchFamily="34" charset="0"/>
            </a:endParaRP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 smtClean="0">
                <a:cs typeface="Arial" panose="020B0604020202020204" pitchFamily="34" charset="0"/>
              </a:rPr>
              <a:t>Organizations </a:t>
            </a:r>
            <a:r>
              <a:rPr lang="en-US" sz="2400" dirty="0">
                <a:cs typeface="Arial" panose="020B0604020202020204" pitchFamily="34" charset="0"/>
              </a:rPr>
              <a:t>share information on major service degradations with each other, particularly business customers</a:t>
            </a:r>
            <a:r>
              <a:rPr lang="en-US" sz="2400" dirty="0" smtClean="0">
                <a:cs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>
                <a:cs typeface="Arial" panose="020B0604020202020204" pitchFamily="34" charset="0"/>
              </a:rPr>
              <a:t>Outcome</a:t>
            </a:r>
            <a:r>
              <a:rPr lang="en-US" sz="2800" dirty="0">
                <a:cs typeface="Arial" panose="020B0604020202020204" pitchFamily="34" charset="0"/>
              </a:rPr>
              <a:t>: </a:t>
            </a:r>
            <a:endParaRPr lang="en-US" sz="2800" dirty="0" smtClean="0">
              <a:cs typeface="Arial" panose="020B0604020202020204" pitchFamily="34" charset="0"/>
            </a:endParaRP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 smtClean="0">
                <a:cs typeface="Arial" panose="020B0604020202020204" pitchFamily="34" charset="0"/>
              </a:rPr>
              <a:t>Enhances </a:t>
            </a:r>
            <a:r>
              <a:rPr lang="en-US" sz="2400" dirty="0">
                <a:cs typeface="Arial" panose="020B0604020202020204" pitchFamily="34" charset="0"/>
              </a:rPr>
              <a:t>overall cyber situational awareness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1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866" y="859809"/>
            <a:ext cx="11136574" cy="5998191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i="1" dirty="0" smtClean="0"/>
              <a:t>2. Sharing Information about Service Dependencies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600" b="1" dirty="0" smtClean="0"/>
              <a:t>Scenario Overview</a:t>
            </a:r>
            <a:r>
              <a:rPr lang="en-US" sz="2600" dirty="0" smtClean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600" dirty="0" smtClean="0"/>
              <a:t>Focuses on </a:t>
            </a:r>
            <a:r>
              <a:rPr lang="en-US" sz="2600" dirty="0" smtClean="0">
                <a:solidFill>
                  <a:srgbClr val="FF0000"/>
                </a:solidFill>
              </a:rPr>
              <a:t>sharing static service dependencies to predict impacts of service degradation or outages.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600" b="1" dirty="0" smtClean="0"/>
              <a:t>Relevance</a:t>
            </a:r>
            <a:r>
              <a:rPr lang="en-US" sz="2600" dirty="0" smtClean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600" dirty="0" smtClean="0"/>
              <a:t>Critical for risk assessment, especially when services from different companies are interdependent (e.g., cloud provider outages affecting other organizations).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600" b="1" dirty="0" smtClean="0"/>
              <a:t>Reporting Cases</a:t>
            </a:r>
            <a:r>
              <a:rPr lang="en-US" sz="2600" dirty="0" smtClean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600" b="1" dirty="0" smtClean="0"/>
              <a:t>1. Consumer Reporting</a:t>
            </a:r>
            <a:r>
              <a:rPr lang="en-US" sz="2600" dirty="0" smtClean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600" dirty="0" smtClean="0"/>
              <a:t> Organizations report their service dependencies to a national cyber center.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600" b="1" dirty="0" smtClean="0"/>
              <a:t>2.National Center Communication</a:t>
            </a:r>
            <a:r>
              <a:rPr lang="en-US" sz="2600" dirty="0" smtClean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600" dirty="0" smtClean="0"/>
              <a:t>The national cyber center informs federated organizations about service dependencies of others.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600" b="1" dirty="0" smtClean="0"/>
              <a:t>3.Peer Communication</a:t>
            </a:r>
            <a:r>
              <a:rPr lang="en-US" sz="2600" dirty="0" smtClean="0"/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600" dirty="0" smtClean="0"/>
              <a:t>Federated organizations share their own service dependencies with each other.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600" b="1" dirty="0" smtClean="0"/>
              <a:t>Goal</a:t>
            </a:r>
            <a:r>
              <a:rPr lang="en-US" sz="2600" dirty="0" smtClean="0"/>
              <a:t>: Improve risk assessment and impact prediction through enhanced visibility of service dependencies.</a:t>
            </a:r>
          </a:p>
          <a:p>
            <a:endParaRPr lang="en-US" i="1" dirty="0" smtClean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i="1" dirty="0" smtClean="0"/>
              <a:t>3. Sharing </a:t>
            </a:r>
            <a:r>
              <a:rPr lang="en-US" sz="3200" b="1" i="1" dirty="0"/>
              <a:t>Information about the Technical Service </a:t>
            </a:r>
            <a:r>
              <a:rPr lang="en-US" sz="3200" b="1" i="1" dirty="0" smtClean="0"/>
              <a:t>Status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b="1" dirty="0"/>
              <a:t>Scenario Overview</a:t>
            </a:r>
            <a:r>
              <a:rPr lang="en-US" sz="2400" dirty="0"/>
              <a:t>: Involves sharing dynamic information on the technical status of services, including: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Availability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Confidentiality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Integrity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Predictions for restore time during outages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sz="2400" b="1" dirty="0"/>
              <a:t>Purpose</a:t>
            </a:r>
            <a:r>
              <a:rPr lang="en-US" sz="2400" dirty="0"/>
              <a:t>: Used for modeling and informing dependent organizations about service status.</a:t>
            </a:r>
          </a:p>
          <a:p>
            <a:endParaRPr lang="en-US" sz="2400" b="1" i="1" dirty="0" smtClean="0"/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95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9" y="2220191"/>
            <a:ext cx="1001901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Reporting Cases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Provider Reporting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Organizations report their service status to the national cyber center.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National Center Communication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national cyber center informs organizations about the status of others'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Peer Communication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Organizations share their service status with one another.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Goal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Enhance awareness of service status to improve coordination and response during outages.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5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91570"/>
            <a:ext cx="10781185" cy="5517790"/>
          </a:xfrm>
        </p:spPr>
        <p:txBody>
          <a:bodyPr>
            <a:normAutofit/>
          </a:bodyPr>
          <a:lstStyle/>
          <a:p>
            <a:r>
              <a:rPr lang="en-US" sz="2800" b="1" i="1" dirty="0" smtClean="0"/>
              <a:t>4. Request </a:t>
            </a:r>
            <a:r>
              <a:rPr lang="en-US" sz="2800" b="1" i="1" dirty="0"/>
              <a:t>Assistance of </a:t>
            </a:r>
            <a:r>
              <a:rPr lang="en-US" sz="2800" b="1" i="1" dirty="0" smtClean="0"/>
              <a:t>Organizations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Internal Handling:</a:t>
            </a:r>
            <a:r>
              <a:rPr lang="en-US" sz="2400" dirty="0"/>
              <a:t> Organization may struggle to manage a cyber incident independently.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Request for Help:</a:t>
            </a: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Organizations can seek assistance from external experts at the national cyber center.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Cyber center can reach out to external organizations or individuals for specific expertise.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Broker Role:</a:t>
            </a:r>
            <a:r>
              <a:rPr lang="en-US" sz="2400" dirty="0"/>
              <a:t> Cyber center connects appropriate experts to address incidents effectively.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Two Scenarios:</a:t>
            </a:r>
            <a:endParaRPr lang="en-US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/>
              <a:t>Direct </a:t>
            </a:r>
            <a:r>
              <a:rPr lang="en-US" b="1" dirty="0"/>
              <a:t>Assistance:</a:t>
            </a:r>
            <a:r>
              <a:rPr lang="en-US" dirty="0"/>
              <a:t> Organization requests help from others with similar past issues.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smtClean="0"/>
              <a:t>Federated </a:t>
            </a:r>
            <a:r>
              <a:rPr lang="en-US" sz="2400" b="1" dirty="0"/>
              <a:t>Support:</a:t>
            </a:r>
            <a:r>
              <a:rPr lang="en-US" sz="2400" dirty="0"/>
              <a:t> Cyber center seeks aid from federated organizations for specific challenges.</a:t>
            </a:r>
          </a:p>
          <a:p>
            <a:endParaRPr lang="en-US" i="1" dirty="0" smtClean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5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Dimension II: Legal and Regulatory Landscape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220188"/>
            <a:ext cx="1096154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Importance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CI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has gained global attention, with the EU and US focusing on secure digital environments for member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EU Initiatives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European Commission released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strategy and a directive to ensure a high level of network and information security (NIS) in 2016.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US Initiatives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 2013, President Obama signed Executive Order 13636 and Presidential Policy Directive 21 to enhance critical infrastructure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Information Sharing Act (CISA) of 2015 facilitates information sharing between private companies and the government regarding cyber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6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081689"/>
            <a:ext cx="10535525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Key Differences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Executive Order (EO)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Focuses on the security of critical infrastructures and emphasizes threat information sharing.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CISA 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(</a:t>
            </a:r>
            <a:r>
              <a:rPr lang="en-US" sz="2400" dirty="0" err="1"/>
              <a:t>Cybersecurity</a:t>
            </a:r>
            <a:r>
              <a:rPr lang="en-US" sz="2400" dirty="0"/>
              <a:t> and Infrastructure Security </a:t>
            </a:r>
            <a:r>
              <a:rPr lang="en-US" sz="2400" dirty="0" smtClean="0"/>
              <a:t>Agency)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Primarily concerns security information sharing across all sectors, not limited to critical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Global Context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Smaller countries, particularly in Latin America (e.g., Argentina, Colombia), are developing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strategies based on best practices from developed 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Asia-Pacific countries have been slow in creating comprehensive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frameworks, but are now prioritizing cooperation among public and private sectors to enhance critical infrastructure protection.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514" y="818866"/>
            <a:ext cx="11204812" cy="5923128"/>
          </a:xfrm>
        </p:spPr>
        <p:txBody>
          <a:bodyPr/>
          <a:lstStyle/>
          <a:p>
            <a:r>
              <a:rPr lang="en-US" sz="2400" b="1" i="1" dirty="0"/>
              <a:t>EU </a:t>
            </a:r>
            <a:r>
              <a:rPr lang="en-US" sz="2400" b="1" i="1" dirty="0" err="1"/>
              <a:t>Cybersecurity</a:t>
            </a:r>
            <a:r>
              <a:rPr lang="en-US" sz="2400" b="1" i="1" dirty="0"/>
              <a:t> Strategy: “An </a:t>
            </a:r>
            <a:r>
              <a:rPr lang="en-US" sz="2400" b="1" i="1" dirty="0" smtClean="0"/>
              <a:t>Open, Safe </a:t>
            </a:r>
            <a:r>
              <a:rPr lang="en-US" sz="2400" b="1" i="1" dirty="0"/>
              <a:t>and Secure Cyberspace</a:t>
            </a:r>
            <a:r>
              <a:rPr lang="en-US" sz="2400" b="1" i="1" dirty="0" smtClean="0"/>
              <a:t>”</a:t>
            </a:r>
            <a:endParaRPr lang="en-US" b="1" i="1" dirty="0"/>
          </a:p>
          <a:p>
            <a:r>
              <a:rPr lang="en-US" b="1" dirty="0"/>
              <a:t>EU </a:t>
            </a:r>
            <a:r>
              <a:rPr lang="en-US" b="1" dirty="0" err="1"/>
              <a:t>Cybersecurity</a:t>
            </a:r>
            <a:r>
              <a:rPr lang="en-US" b="1" dirty="0"/>
              <a:t> Strategy Goals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Protect fundamental rights, freedom of expression, personal data, and privacy.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Ensure the integrity and security of the Internet for safe access.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Promote a </a:t>
            </a:r>
            <a:r>
              <a:rPr lang="en-US" dirty="0" err="1"/>
              <a:t>multistakeholder</a:t>
            </a:r>
            <a:r>
              <a:rPr lang="en-US" dirty="0"/>
              <a:t> governance approach.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Raise awareness of shared responsibilities among public authorities, the private sector, and citizens</a:t>
            </a:r>
            <a:r>
              <a:rPr lang="en-US" dirty="0" smtClean="0"/>
              <a:t>.</a:t>
            </a:r>
          </a:p>
          <a:p>
            <a:r>
              <a:rPr lang="en-US" b="1" dirty="0"/>
              <a:t>Key Initiatives</a:t>
            </a:r>
            <a:r>
              <a:rPr lang="en-US" dirty="0"/>
              <a:t>:</a:t>
            </a:r>
          </a:p>
          <a:p>
            <a:r>
              <a:rPr lang="en-US" b="1" dirty="0"/>
              <a:t>NIS Directive (2016)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Requires Member States to establish effective CERTs.</a:t>
            </a:r>
          </a:p>
          <a:p>
            <a:pPr lvl="1"/>
            <a:r>
              <a:rPr lang="en-US" sz="2000" dirty="0"/>
              <a:t>Mandates the creation of national and international NIS cooperation plans.</a:t>
            </a:r>
          </a:p>
          <a:p>
            <a:pPr lvl="1"/>
            <a:r>
              <a:rPr lang="en-US" sz="2000" dirty="0"/>
              <a:t>Emphasizes information sharing and mutual assistance among national authorities.</a:t>
            </a:r>
          </a:p>
          <a:p>
            <a:pPr lvl="1"/>
            <a:r>
              <a:rPr lang="en-US" sz="2000" dirty="0"/>
              <a:t>Requires reporting of significant incidents affecting core services.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4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4002" y="849499"/>
            <a:ext cx="10931311" cy="6350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Cybercrime Focus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 the European Cybercrime Centre (EC3) for analysis, intelligence, and investigation.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Facilitate cooperation and information sharing among authorities and stakeholders.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Cyber Defense Policy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Develop a framework aligned with the Common Security and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Defence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Policy (CSDP).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Emphasize dynamic risk management, threat analysis, and information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400" dirty="0"/>
          </a:p>
          <a:p>
            <a:r>
              <a:rPr lang="en-US" sz="2400" b="1" dirty="0"/>
              <a:t>Roles and Responsibilities</a:t>
            </a:r>
            <a:r>
              <a:rPr lang="en-US" sz="24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Define the roles of NIS authorities, CERTs, law enforcement, and industry.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National governments lead prevention and response efforts, establishing connections with the private sector.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EU-level involvement is essential for effective national responses to cyber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0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36979"/>
            <a:ext cx="10876720" cy="5827594"/>
          </a:xfrm>
        </p:spPr>
        <p:txBody>
          <a:bodyPr/>
          <a:lstStyle/>
          <a:p>
            <a:r>
              <a:rPr lang="en-US" sz="2800" b="1" i="1" dirty="0"/>
              <a:t>EU Network Information Security </a:t>
            </a:r>
            <a:r>
              <a:rPr lang="en-US" sz="2800" b="1" i="1" dirty="0" smtClean="0"/>
              <a:t>Directive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cs typeface="Arial" panose="020B0604020202020204" pitchFamily="34" charset="0"/>
              </a:rPr>
              <a:t>Objective</a:t>
            </a:r>
            <a:r>
              <a:rPr lang="en-US" sz="2400" dirty="0">
                <a:cs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cs typeface="Arial" panose="020B0604020202020204" pitchFamily="34" charset="0"/>
              </a:rPr>
              <a:t>Ensure a secure and trustworthy digital environment across the EU for Member States, key Internet enablers, and critical infrastructure operators (e.g., e-commerce, energy, transport, banking, healthcare</a:t>
            </a:r>
            <a:r>
              <a:rPr lang="en-US" sz="2400" dirty="0" smtClean="0">
                <a:cs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>
                <a:cs typeface="Arial" panose="020B0604020202020204" pitchFamily="34" charset="0"/>
              </a:rPr>
              <a:t>Role of </a:t>
            </a:r>
            <a:r>
              <a:rPr lang="en-US" sz="2400" b="1" dirty="0" smtClean="0">
                <a:cs typeface="Arial" panose="020B0604020202020204" pitchFamily="34" charset="0"/>
              </a:rPr>
              <a:t>ENISA(</a:t>
            </a:r>
            <a:r>
              <a:rPr lang="en-US" sz="2400" dirty="0"/>
              <a:t>European Network and Information Security Agency</a:t>
            </a:r>
            <a:r>
              <a:rPr lang="en-US" sz="2400" b="1" dirty="0" smtClean="0">
                <a:cs typeface="Arial" panose="020B0604020202020204" pitchFamily="34" charset="0"/>
              </a:rPr>
              <a:t>)</a:t>
            </a:r>
            <a:r>
              <a:rPr lang="en-US" sz="2400" dirty="0" smtClean="0">
                <a:cs typeface="Arial" panose="020B0604020202020204" pitchFamily="34" charset="0"/>
              </a:rPr>
              <a:t>:</a:t>
            </a:r>
            <a:endParaRPr lang="en-US" sz="2400" dirty="0"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cs typeface="Arial" panose="020B0604020202020204" pitchFamily="34" charset="0"/>
              </a:rPr>
              <a:t>Assist Member States and the Commission with expertise and advice.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cs typeface="Arial" panose="020B0604020202020204" pitchFamily="34" charset="0"/>
              </a:rPr>
              <a:t>Facilitate effective information sharing through a cooperation network.</a:t>
            </a:r>
          </a:p>
          <a:p>
            <a:endParaRPr lang="en-US" b="1" dirty="0" smtClean="0"/>
          </a:p>
          <a:p>
            <a:r>
              <a:rPr lang="en-US" sz="2400" b="1" dirty="0" smtClean="0"/>
              <a:t>Information </a:t>
            </a:r>
            <a:r>
              <a:rPr lang="en-US" sz="2400" b="1" dirty="0"/>
              <a:t>Sharing Infrastructure</a:t>
            </a:r>
            <a:r>
              <a:rPr lang="en-US" sz="2400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 a secure infrastructure for exchanging sensitive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Member States meeting high security requirements can access this infrastructure.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7651" y="790711"/>
            <a:ext cx="1034445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Incident Notification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Early warnings are required for severe incidents affecting multiple Member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Preserve informal and trusted information-sharing channels between private and public sectors.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Union NIS Cooperation Plan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Define formats and procedures for collecting and sharing information on risks and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Establish assessment procedures and criteria for incidents.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Personal Data Protection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Incidents involving personal data breaches must comply with data protection laws.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Cooperation between competent authorities and data protection authorities is essential for public interest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3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593" y="1187356"/>
            <a:ext cx="10767538" cy="5936776"/>
          </a:xfrm>
        </p:spPr>
        <p:txBody>
          <a:bodyPr/>
          <a:lstStyle/>
          <a:p>
            <a:r>
              <a:rPr lang="en-US" sz="2400" b="1" i="1" dirty="0"/>
              <a:t>U.S. White House Executive </a:t>
            </a:r>
            <a:r>
              <a:rPr lang="en-US" sz="2400" b="1" i="1" dirty="0" smtClean="0"/>
              <a:t>Order (EO </a:t>
            </a:r>
            <a:r>
              <a:rPr lang="en-US" sz="2400" b="1" i="1" dirty="0"/>
              <a:t>13636): Improving CI </a:t>
            </a:r>
            <a:r>
              <a:rPr lang="en-US" sz="2400" b="1" i="1" dirty="0" err="1" smtClean="0"/>
              <a:t>Cybersecurity</a:t>
            </a:r>
            <a:endParaRPr lang="en-US" sz="24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Objective</a:t>
            </a:r>
            <a:r>
              <a:rPr lang="en-US" sz="2400" dirty="0"/>
              <a:t>: </a:t>
            </a:r>
            <a:endParaRPr lang="en-US" sz="2400" dirty="0" smtClean="0"/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 smtClean="0"/>
              <a:t>Strengthen </a:t>
            </a:r>
            <a:r>
              <a:rPr lang="en-US" sz="2400" dirty="0" err="1"/>
              <a:t>cybersecurity</a:t>
            </a:r>
            <a:r>
              <a:rPr lang="en-US" sz="2400" dirty="0"/>
              <a:t> for critical infrastructure (CI).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Key Components</a:t>
            </a:r>
            <a:r>
              <a:rPr 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Information Sharing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New programs for sharing classified and unclassified threat information with U.S. companies.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 err="1"/>
              <a:t>Cybersecurity</a:t>
            </a:r>
            <a:r>
              <a:rPr lang="en-US" sz="2400" b="1" dirty="0"/>
              <a:t> Framework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Directed NIST to develop a framework to reduce cyber risks for critical infrastructure</a:t>
            </a:r>
            <a:r>
              <a:rPr lang="en-US" sz="24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Federal Agency Reporting</a:t>
            </a:r>
            <a:r>
              <a:rPr lang="en-US" sz="2400" dirty="0"/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Require timely unclassified reports on cyber threats for private sector entities.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Generate classified reports for authorized critical infrastructure entities.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Establish tracking for production and dissemination of classified reports.</a:t>
            </a:r>
          </a:p>
          <a:p>
            <a:pPr marL="28346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 smtClean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820353"/>
            <a:ext cx="997596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Enhanced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Services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Expand program for near real-time sharing of threat information to assist critical infrastructure companies.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Privacy and Civil Liberties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Framework includes provisions for incorporating privacy and civil liberties into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4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96036"/>
            <a:ext cx="10931311" cy="5613324"/>
          </a:xfrm>
        </p:spPr>
        <p:txBody>
          <a:bodyPr/>
          <a:lstStyle/>
          <a:p>
            <a:r>
              <a:rPr lang="en-US" sz="2800" b="1" i="1" dirty="0"/>
              <a:t>U.S. Presidential Policy Directive (PPD-21</a:t>
            </a:r>
            <a:r>
              <a:rPr lang="en-US" sz="2800" b="1" i="1" dirty="0" smtClean="0"/>
              <a:t>): Critical </a:t>
            </a:r>
            <a:r>
              <a:rPr lang="en-US" sz="2800" b="1" i="1" dirty="0"/>
              <a:t>Infrastructure Security and </a:t>
            </a:r>
            <a:r>
              <a:rPr lang="en-US" sz="2800" b="1" i="1" dirty="0" smtClean="0"/>
              <a:t>Resilience</a:t>
            </a:r>
            <a:endParaRPr lang="en-US" sz="2800" b="1" i="1" dirty="0"/>
          </a:p>
          <a:p>
            <a:r>
              <a:rPr lang="en-US" sz="2800" b="1" dirty="0"/>
              <a:t>Objective</a:t>
            </a:r>
            <a:r>
              <a:rPr lang="en-US" sz="2800" dirty="0"/>
              <a:t>: Update national approach to strengthen security and resilience of critical infrastructures.</a:t>
            </a:r>
          </a:p>
          <a:p>
            <a:r>
              <a:rPr lang="en-US" sz="2800" b="1" dirty="0"/>
              <a:t>Three Strategic Imperatives</a:t>
            </a:r>
            <a:r>
              <a:rPr lang="en-US" sz="2800" dirty="0"/>
              <a:t>:</a:t>
            </a:r>
          </a:p>
          <a:p>
            <a:r>
              <a:rPr lang="en-US" sz="2800" b="1" dirty="0" smtClean="0"/>
              <a:t>1. Refine </a:t>
            </a:r>
            <a:r>
              <a:rPr lang="en-US" sz="2800" b="1" dirty="0"/>
              <a:t>Functional Relationships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Enhance collaboration and information exchange among federal government, infrastructure owners, and operators.</a:t>
            </a:r>
          </a:p>
          <a:p>
            <a:pPr lvl="1"/>
            <a:r>
              <a:rPr lang="en-US" sz="2400" dirty="0"/>
              <a:t>Establish two national critical infrastructure centers by the Department of Homeland Security:</a:t>
            </a:r>
          </a:p>
          <a:p>
            <a:pPr lvl="2"/>
            <a:r>
              <a:rPr lang="en-US" sz="2000" dirty="0"/>
              <a:t>One for physical infrastructures.</a:t>
            </a:r>
          </a:p>
          <a:p>
            <a:pPr lvl="2"/>
            <a:r>
              <a:rPr lang="en-US" sz="2000" dirty="0"/>
              <a:t>One for cyber infrastructures.</a:t>
            </a:r>
          </a:p>
          <a:p>
            <a:pPr lvl="1"/>
            <a:r>
              <a:rPr lang="en-US" sz="2400" dirty="0"/>
              <a:t>Serve as focal points for situational awareness and actionable information.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9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55889" y="823232"/>
            <a:ext cx="10808481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2.Enable Effective Information Exchange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Identify baseline data and system requirements for the federal government.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Ensure timely exchange of threat and vulnerability information.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Establish requirements for data formats, system interoperability, and redundancy.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3.Implement Integration and Analysis Function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Conduct operational and strategic analysis on incidents, threats, and emerging risks.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Collate and assess vulnerability and threat information to prioritize assets and manage risks.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Anticipate interdependencies and cascading impacts.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Recommend security and resilience measures before, during, and after incidents.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 incident management and restoration efforts for critical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6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977" y="532263"/>
            <a:ext cx="9163208" cy="592227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232" y="1222280"/>
            <a:ext cx="11174022" cy="4605314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0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Dimension III: Standardization Efforts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99648"/>
            <a:ext cx="10917663" cy="4346812"/>
          </a:xfrm>
        </p:spPr>
        <p:txBody>
          <a:bodyPr/>
          <a:lstStyle/>
          <a:p>
            <a:r>
              <a:rPr lang="en-US" sz="2800" b="1" i="1" dirty="0"/>
              <a:t>ENISA: Proactive Detection of </a:t>
            </a:r>
            <a:r>
              <a:rPr lang="en-US" sz="2800" b="1" i="1" dirty="0" smtClean="0"/>
              <a:t>Network Security Incidents</a:t>
            </a:r>
          </a:p>
          <a:p>
            <a:r>
              <a:rPr lang="en-US" b="1" dirty="0"/>
              <a:t>Key Findings:</a:t>
            </a:r>
          </a:p>
          <a:p>
            <a:r>
              <a:rPr lang="en-US" dirty="0"/>
              <a:t>CERTs underutilize external data sources.</a:t>
            </a:r>
          </a:p>
          <a:p>
            <a:r>
              <a:rPr lang="en-US" dirty="0"/>
              <a:t>Limited data sharing among CERTs.</a:t>
            </a:r>
          </a:p>
          <a:p>
            <a:r>
              <a:rPr lang="en-US" dirty="0"/>
              <a:t>Technical and legal/organizational shortcomings in incident detection.</a:t>
            </a:r>
          </a:p>
          <a:p>
            <a:endParaRPr lang="en-US" b="1" i="1" dirty="0" smtClean="0"/>
          </a:p>
          <a:p>
            <a:endParaRPr lang="en-US" b="1" i="1" dirty="0"/>
          </a:p>
          <a:p>
            <a:endParaRPr lang="en-US" b="1" i="1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5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297" y="771098"/>
            <a:ext cx="10180685" cy="5493224"/>
          </a:xfrm>
        </p:spPr>
        <p:txBody>
          <a:bodyPr>
            <a:normAutofit/>
          </a:bodyPr>
          <a:lstStyle/>
          <a:p>
            <a:r>
              <a:rPr lang="en-US" b="1" dirty="0"/>
              <a:t>Recommendations for Stakeholders:</a:t>
            </a:r>
          </a:p>
          <a:p>
            <a:r>
              <a:rPr lang="en-US" b="1" dirty="0"/>
              <a:t>1. Data Providers: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Enhance outreach to CERTs.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Adopt suitable data formats and distribution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Improve data quality and enrichment.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Screen data recipients for eligibility.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Establish contacts with security institutions.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/>
              <a:t>Use standard protocols (HTTPS, SCP, SFTP</a:t>
            </a:r>
            <a:r>
              <a:rPr lang="en-US" sz="2300" dirty="0" smtClean="0"/>
              <a:t>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300" dirty="0"/>
              <a:t>Include</a:t>
            </a:r>
            <a:r>
              <a:rPr lang="en-US" sz="2600" dirty="0"/>
              <a:t> correlation data (timestamps, ASN, IPs, etc.).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/>
              <a:t>Deliver timely information and include detailed methods.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/>
              <a:t>Enrich incident data with additional metadata.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600" dirty="0"/>
              <a:t>Maintain historical data for research, with aging mechanisms. </a:t>
            </a:r>
          </a:p>
          <a:p>
            <a:endParaRPr lang="en-US" sz="2300" dirty="0" smtClean="0"/>
          </a:p>
          <a:p>
            <a:endParaRPr lang="en-US" sz="2300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Data Consumers: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Guide on accessing datasets and integrating external feeds.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 appropriate data sources and develop monitoring capabilities.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 relationships with security communities (FIRST, TF-CSIRT, APCERT).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 aware of legal issues in data sharing.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automation systems for incident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criteria for assessing data source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feedback mechanisms to improve provider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monitoring mechanisms (sensors, honeypots, etc.).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EU/National Level: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 privacy protection and security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common formats and underused technologies.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statistical incident data on a larger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Research data-leakage reporting.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0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82388"/>
            <a:ext cx="11067788" cy="5964072"/>
          </a:xfrm>
        </p:spPr>
        <p:txBody>
          <a:bodyPr/>
          <a:lstStyle/>
          <a:p>
            <a:r>
              <a:rPr lang="en-US" b="1" i="1" dirty="0"/>
              <a:t>ISO/IEC27010: Information </a:t>
            </a:r>
            <a:r>
              <a:rPr lang="en-US" b="1" i="1" dirty="0" smtClean="0"/>
              <a:t>Technology—Security Techniques—Information-Security </a:t>
            </a:r>
            <a:r>
              <a:rPr lang="en-US" b="1" i="1" dirty="0"/>
              <a:t>Management </a:t>
            </a:r>
            <a:r>
              <a:rPr lang="en-US" b="1" i="1" dirty="0" smtClean="0"/>
              <a:t>for Inter-Sector </a:t>
            </a:r>
            <a:r>
              <a:rPr lang="en-US" b="1" i="1" dirty="0"/>
              <a:t>and Inter-Organizational </a:t>
            </a:r>
            <a:r>
              <a:rPr lang="en-US" b="1" i="1" dirty="0" smtClean="0"/>
              <a:t>Communications</a:t>
            </a:r>
          </a:p>
          <a:p>
            <a:endParaRPr lang="en-US" b="1" i="1" dirty="0"/>
          </a:p>
          <a:p>
            <a:r>
              <a:rPr lang="en-US" b="1" dirty="0"/>
              <a:t>ISO Guidelines on Sharing Confidential IT Security Information (2015)</a:t>
            </a:r>
          </a:p>
          <a:p>
            <a:r>
              <a:rPr lang="en-US" b="1" dirty="0"/>
              <a:t>Purpose:</a:t>
            </a:r>
          </a:p>
          <a:p>
            <a:r>
              <a:rPr lang="en-US" dirty="0"/>
              <a:t>Provides principles for sharing sensitive information on IT security threats, vulnerabilities, and incidents among organizations.</a:t>
            </a:r>
          </a:p>
          <a:p>
            <a:r>
              <a:rPr lang="en-US" dirty="0"/>
              <a:t>Aims to build trust and foster international information-sharing communities.</a:t>
            </a:r>
          </a:p>
          <a:p>
            <a:r>
              <a:rPr lang="en-US" b="1" dirty="0"/>
              <a:t>Key Recommendations:</a:t>
            </a:r>
          </a:p>
          <a:p>
            <a:r>
              <a:rPr lang="en-US" b="1" dirty="0"/>
              <a:t>1. Establish Information-Sharing Communities:</a:t>
            </a:r>
            <a:endParaRPr lang="en-US" dirty="0"/>
          </a:p>
          <a:p>
            <a:r>
              <a:rPr lang="en-US" dirty="0"/>
              <a:t>Define common interests to determine the scope of shared information.</a:t>
            </a:r>
          </a:p>
          <a:p>
            <a:r>
              <a:rPr lang="en-US" dirty="0"/>
              <a:t>Clearly outline organizational structures and management functions.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Information Classification:</a:t>
            </a:r>
            <a:endParaRPr lang="en-US" dirty="0"/>
          </a:p>
          <a:p>
            <a:r>
              <a:rPr lang="en-US" dirty="0"/>
              <a:t>Classify shared information by value, legal requirements, sensitivity, credibility, and criticality.</a:t>
            </a:r>
          </a:p>
          <a:p>
            <a:r>
              <a:rPr lang="en-US" dirty="0"/>
              <a:t>Ensure consistent protection of shared information.</a:t>
            </a:r>
          </a:p>
          <a:p>
            <a:r>
              <a:rPr lang="en-US" b="1" dirty="0"/>
              <a:t>3. Anonymity:</a:t>
            </a:r>
            <a:endParaRPr lang="en-US" dirty="0"/>
          </a:p>
          <a:p>
            <a:r>
              <a:rPr lang="en-US" dirty="0"/>
              <a:t>Remove identifiers if anonymity is requested during information exchange.</a:t>
            </a:r>
          </a:p>
          <a:p>
            <a:r>
              <a:rPr lang="en-US" b="1" dirty="0"/>
              <a:t>4. Secure Information Exchange:</a:t>
            </a:r>
            <a:endParaRPr lang="en-US" dirty="0"/>
          </a:p>
          <a:p>
            <a:r>
              <a:rPr lang="en-US" dirty="0"/>
              <a:t>Design and implement processes for timely and secure information flow.</a:t>
            </a:r>
          </a:p>
          <a:p>
            <a:r>
              <a:rPr lang="en-US" dirty="0"/>
              <a:t>Ensure dissemination to appropriate personnel with assurances against misuse.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914400"/>
            <a:ext cx="10781185" cy="539496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5. Risk Knowledge and Management:</a:t>
            </a:r>
            <a:endParaRPr lang="en-US" dirty="0"/>
          </a:p>
          <a:p>
            <a:r>
              <a:rPr lang="en-US" dirty="0"/>
              <a:t>Include risk management in communications among community members.</a:t>
            </a:r>
          </a:p>
          <a:p>
            <a:r>
              <a:rPr lang="en-US" b="1" dirty="0"/>
              <a:t>6. Sector-Specific Benefits:</a:t>
            </a:r>
            <a:endParaRPr lang="en-US" dirty="0"/>
          </a:p>
          <a:p>
            <a:r>
              <a:rPr lang="en-US" dirty="0"/>
              <a:t>Greater benefits arise from sharing within the same sector or with aligned corporate objectives.</a:t>
            </a:r>
          </a:p>
          <a:p>
            <a:r>
              <a:rPr lang="en-US" dirty="0"/>
              <a:t>Cross-sector sharing can also be effective, especially within geographical or hierarchical communities.</a:t>
            </a:r>
          </a:p>
          <a:p>
            <a:r>
              <a:rPr lang="en-US" b="1" dirty="0"/>
              <a:t>7. Operational Rules and Conditions:</a:t>
            </a:r>
            <a:endParaRPr lang="en-US" dirty="0"/>
          </a:p>
          <a:p>
            <a:r>
              <a:rPr lang="en-US" dirty="0"/>
              <a:t>Define community objectives, membership procedures, obligations, and disciplinary processes.</a:t>
            </a:r>
          </a:p>
          <a:p>
            <a:r>
              <a:rPr lang="en-US" dirty="0"/>
              <a:t>Set rules for the usage of shared information, along with legal and financial responsibilities</a:t>
            </a:r>
            <a:r>
              <a:rPr lang="en-US" dirty="0" smtClean="0"/>
              <a:t>.</a:t>
            </a:r>
          </a:p>
          <a:p>
            <a:r>
              <a:rPr lang="en-US" b="1" dirty="0"/>
              <a:t>8. Information-Exchange Agreement:</a:t>
            </a:r>
            <a:endParaRPr lang="en-US" dirty="0"/>
          </a:p>
          <a:p>
            <a:r>
              <a:rPr lang="en-US" dirty="0"/>
              <a:t>Specify types of exchangeable information (e.g., alerts, incident handling).</a:t>
            </a:r>
          </a:p>
          <a:p>
            <a:r>
              <a:rPr lang="en-US" dirty="0"/>
              <a:t>Implement filtering methods to avoid sharing too much or too little information.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518615"/>
            <a:ext cx="10753890" cy="6141491"/>
          </a:xfrm>
        </p:spPr>
        <p:txBody>
          <a:bodyPr>
            <a:normAutofit/>
          </a:bodyPr>
          <a:lstStyle/>
          <a:p>
            <a:r>
              <a:rPr lang="en-US" sz="2800" b="1" i="1" dirty="0"/>
              <a:t>NIST: Framework for Improving CI </a:t>
            </a:r>
            <a:r>
              <a:rPr lang="en-US" sz="2800" b="1" i="1" dirty="0" err="1" smtClean="0"/>
              <a:t>Cybersecurity</a:t>
            </a:r>
            <a:endParaRPr lang="en-US" sz="28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/>
              <a:t>Purpose:</a:t>
            </a:r>
            <a:r>
              <a:rPr lang="en-US" sz="2000" dirty="0"/>
              <a:t> Develop a voluntary, risk-based </a:t>
            </a:r>
            <a:r>
              <a:rPr lang="en-US" sz="2000" dirty="0" err="1"/>
              <a:t>cybersecurity</a:t>
            </a:r>
            <a:r>
              <a:rPr lang="en-US" sz="2000" dirty="0"/>
              <a:t> framework.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/>
              <a:t>Collaboration:</a:t>
            </a:r>
            <a:r>
              <a:rPr lang="en-US" sz="2000" dirty="0"/>
              <a:t> Created through government and private sector collaboration.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/>
              <a:t>Publication Date:</a:t>
            </a:r>
            <a:r>
              <a:rPr lang="en-US" sz="2000" dirty="0"/>
              <a:t> February 12, 2014.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dirty="0"/>
              <a:t>Focus:</a:t>
            </a:r>
            <a:r>
              <a:rPr lang="en-US" sz="2000" dirty="0"/>
              <a:t> Aligns </a:t>
            </a:r>
            <a:r>
              <a:rPr lang="en-US" sz="2000" dirty="0" err="1"/>
              <a:t>cybersecurity</a:t>
            </a:r>
            <a:r>
              <a:rPr lang="en-US" sz="2000" dirty="0"/>
              <a:t> activities with business needs and risk management.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Key Components</a:t>
            </a:r>
          </a:p>
          <a:p>
            <a:r>
              <a:rPr lang="en-US" b="1" dirty="0" smtClean="0"/>
              <a:t>1. </a:t>
            </a:r>
            <a:r>
              <a:rPr lang="en-US" sz="2800" b="1" dirty="0" smtClean="0"/>
              <a:t>Framework </a:t>
            </a:r>
            <a:r>
              <a:rPr lang="en-US" sz="2800" b="1" dirty="0"/>
              <a:t>Core</a:t>
            </a:r>
            <a:endParaRPr lang="en-US" sz="2800" dirty="0"/>
          </a:p>
          <a:p>
            <a:pPr lvl="1"/>
            <a:r>
              <a:rPr lang="en-US" sz="2400" dirty="0"/>
              <a:t>Set of </a:t>
            </a:r>
            <a:r>
              <a:rPr lang="en-US" sz="2400" dirty="0" err="1"/>
              <a:t>cybersecurity</a:t>
            </a:r>
            <a:r>
              <a:rPr lang="en-US" sz="2400" dirty="0"/>
              <a:t> activities, outcomes, and informative references.</a:t>
            </a:r>
          </a:p>
          <a:p>
            <a:pPr lvl="1"/>
            <a:r>
              <a:rPr lang="en-US" sz="2400" dirty="0"/>
              <a:t>Five functions:</a:t>
            </a:r>
          </a:p>
          <a:p>
            <a:pPr lvl="2"/>
            <a:r>
              <a:rPr lang="en-US" sz="1800" b="1" dirty="0"/>
              <a:t>Identify</a:t>
            </a:r>
            <a:endParaRPr lang="en-US" sz="1800" dirty="0"/>
          </a:p>
          <a:p>
            <a:pPr lvl="2"/>
            <a:r>
              <a:rPr lang="en-US" sz="1800" b="1" dirty="0"/>
              <a:t>Protect</a:t>
            </a:r>
            <a:endParaRPr lang="en-US" sz="1800" dirty="0"/>
          </a:p>
          <a:p>
            <a:pPr lvl="2"/>
            <a:r>
              <a:rPr lang="en-US" sz="1800" b="1" dirty="0"/>
              <a:t>Detect</a:t>
            </a:r>
            <a:endParaRPr lang="en-US" sz="1800" dirty="0"/>
          </a:p>
          <a:p>
            <a:pPr lvl="2"/>
            <a:r>
              <a:rPr lang="en-US" sz="1800" b="1" dirty="0"/>
              <a:t>Respond</a:t>
            </a:r>
            <a:endParaRPr lang="en-US" sz="1800" dirty="0"/>
          </a:p>
          <a:p>
            <a:pPr lvl="2"/>
            <a:r>
              <a:rPr lang="en-US" sz="1800" b="1" dirty="0"/>
              <a:t>Recover</a:t>
            </a:r>
            <a:endParaRPr lang="en-US" sz="1800" dirty="0"/>
          </a:p>
          <a:p>
            <a:pPr lvl="1"/>
            <a:r>
              <a:rPr lang="en-US" sz="2400" dirty="0"/>
              <a:t>Guides organizations in managing </a:t>
            </a:r>
            <a:r>
              <a:rPr lang="en-US" sz="2400" dirty="0" err="1"/>
              <a:t>cybersecurity</a:t>
            </a:r>
            <a:r>
              <a:rPr lang="en-US" sz="2400" dirty="0"/>
              <a:t> risks through categories and subcategories.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9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3184" y="968134"/>
            <a:ext cx="10644708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Framework Profiles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Align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activities with business requirements, risk tolerances, and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Represents outcomes based on selected framework categories/subcategories.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identify improvement opportunities by comparing "current" and "target"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Supports self-assessments and internal/external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3. Framework Implementation Tiers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Describe the organization’s approach to managing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Tiers range from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Partial (Tier 1)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Adaptive (Tier 4)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Reflects progression from informal responses to agile, risk-informed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Considerations: current practices, threat environment, legal/regulatory requirements, and business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0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64419" y="2739308"/>
            <a:ext cx="983949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Additional Considerations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Privacy and Civil Liberties: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Incorporates principles to protect individual privacy in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activities.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Standardization: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Provides structure to various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cybersecurity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approaches by consolidating effective industry standards and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4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73457"/>
            <a:ext cx="10904015" cy="5773003"/>
          </a:xfrm>
        </p:spPr>
        <p:txBody>
          <a:bodyPr/>
          <a:lstStyle/>
          <a:p>
            <a:r>
              <a:rPr lang="en-US" b="1" i="1" dirty="0"/>
              <a:t>Recommendation ITU-T X.1500 </a:t>
            </a:r>
            <a:r>
              <a:rPr lang="en-US" b="1" i="1" dirty="0" err="1" smtClean="0"/>
              <a:t>Cybersecurity</a:t>
            </a:r>
            <a:r>
              <a:rPr lang="en-US" b="1" i="1" dirty="0"/>
              <a:t> </a:t>
            </a:r>
            <a:r>
              <a:rPr lang="en-US" b="1" i="1" dirty="0" smtClean="0"/>
              <a:t>Information-Exchange Techniques</a:t>
            </a:r>
          </a:p>
          <a:p>
            <a:endParaRPr lang="en-US" b="1" i="1" dirty="0"/>
          </a:p>
          <a:p>
            <a:r>
              <a:rPr lang="en-US" b="1" dirty="0"/>
              <a:t>Overview of ITU-T X.1500 Recommendation (2012)</a:t>
            </a:r>
          </a:p>
          <a:p>
            <a:r>
              <a:rPr lang="en-US" b="1" dirty="0"/>
              <a:t>Approval Date:</a:t>
            </a:r>
            <a:r>
              <a:rPr lang="en-US" dirty="0"/>
              <a:t> April 2011</a:t>
            </a:r>
          </a:p>
          <a:p>
            <a:r>
              <a:rPr lang="en-US" b="1" dirty="0"/>
              <a:t>Purpose:</a:t>
            </a:r>
            <a:r>
              <a:rPr lang="en-US" dirty="0"/>
              <a:t> Enhance </a:t>
            </a:r>
            <a:r>
              <a:rPr lang="en-US" dirty="0" err="1"/>
              <a:t>cybersecurity</a:t>
            </a:r>
            <a:r>
              <a:rPr lang="en-US" dirty="0"/>
              <a:t> through effective global information exchange.</a:t>
            </a:r>
          </a:p>
          <a:p>
            <a:r>
              <a:rPr lang="en-US" b="1" dirty="0"/>
              <a:t>Focus:</a:t>
            </a:r>
            <a:r>
              <a:rPr lang="en-US" dirty="0"/>
              <a:t> Coherent, comprehensive, timely, and assured </a:t>
            </a:r>
            <a:r>
              <a:rPr lang="en-US" dirty="0" err="1"/>
              <a:t>cybersecurity</a:t>
            </a:r>
            <a:r>
              <a:rPr lang="en-US" dirty="0"/>
              <a:t> information sharing.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/>
              <a:t>Cybersecurity</a:t>
            </a:r>
            <a:r>
              <a:rPr lang="en-US" sz="2400" b="1" dirty="0"/>
              <a:t> Information Exchange (CYBEX) Model</a:t>
            </a:r>
          </a:p>
          <a:p>
            <a:r>
              <a:rPr lang="en-US" b="1" dirty="0"/>
              <a:t>Basic </a:t>
            </a:r>
            <a:r>
              <a:rPr lang="en-US" b="1" dirty="0" smtClean="0"/>
              <a:t>Functions:</a:t>
            </a:r>
            <a:endParaRPr lang="en-US" b="1" dirty="0"/>
          </a:p>
          <a:p>
            <a:r>
              <a:rPr lang="en-US" b="1" dirty="0" smtClean="0"/>
              <a:t>1.Structuring </a:t>
            </a:r>
            <a:r>
              <a:rPr lang="en-US" b="1" dirty="0"/>
              <a:t>Information:</a:t>
            </a:r>
            <a:r>
              <a:rPr lang="en-US" dirty="0"/>
              <a:t> Organize </a:t>
            </a:r>
            <a:r>
              <a:rPr lang="en-US" dirty="0" err="1"/>
              <a:t>cybersecurity</a:t>
            </a:r>
            <a:r>
              <a:rPr lang="en-US" dirty="0"/>
              <a:t> data for effective exchange.</a:t>
            </a:r>
          </a:p>
          <a:p>
            <a:r>
              <a:rPr lang="en-US" b="1" dirty="0" smtClean="0"/>
              <a:t>2. Identifying </a:t>
            </a:r>
            <a:r>
              <a:rPr lang="en-US" b="1" dirty="0"/>
              <a:t>Information:</a:t>
            </a:r>
            <a:r>
              <a:rPr lang="en-US" dirty="0"/>
              <a:t> Discover relevant </a:t>
            </a:r>
            <a:r>
              <a:rPr lang="en-US" dirty="0" err="1"/>
              <a:t>cybersecurity</a:t>
            </a:r>
            <a:r>
              <a:rPr lang="en-US" dirty="0"/>
              <a:t> information and entities.</a:t>
            </a:r>
          </a:p>
          <a:p>
            <a:r>
              <a:rPr lang="en-US" b="1" dirty="0" smtClean="0"/>
              <a:t>3. Establishing </a:t>
            </a:r>
            <a:r>
              <a:rPr lang="en-US" b="1" dirty="0"/>
              <a:t>Trust:</a:t>
            </a:r>
            <a:r>
              <a:rPr lang="en-US" dirty="0"/>
              <a:t> Create trust and policy agreements for information exchange.</a:t>
            </a:r>
          </a:p>
          <a:p>
            <a:r>
              <a:rPr lang="en-US" b="1" dirty="0" smtClean="0"/>
              <a:t>4. Requesting/Responding</a:t>
            </a:r>
            <a:r>
              <a:rPr lang="en-US" b="1" dirty="0"/>
              <a:t>:</a:t>
            </a:r>
            <a:r>
              <a:rPr lang="en-US" dirty="0"/>
              <a:t> Facilitate requests and responses for </a:t>
            </a:r>
            <a:r>
              <a:rPr lang="en-US" dirty="0" err="1"/>
              <a:t>cybersecurity</a:t>
            </a:r>
            <a:r>
              <a:rPr lang="en-US" dirty="0"/>
              <a:t> information.</a:t>
            </a:r>
          </a:p>
          <a:p>
            <a:r>
              <a:rPr lang="en-US" b="1" dirty="0" smtClean="0"/>
              <a:t>5. Assuring </a:t>
            </a:r>
            <a:r>
              <a:rPr lang="en-US" b="1" dirty="0"/>
              <a:t>Integrity:</a:t>
            </a:r>
            <a:r>
              <a:rPr lang="en-US" dirty="0"/>
              <a:t> Ensure the integrity of the information exchanged.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2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18866"/>
            <a:ext cx="9720073" cy="5490494"/>
          </a:xfrm>
        </p:spPr>
        <p:txBody>
          <a:bodyPr/>
          <a:lstStyle/>
          <a:p>
            <a:r>
              <a:rPr lang="en-US" sz="2400" b="1" dirty="0"/>
              <a:t>Key Characteristics of </a:t>
            </a:r>
            <a:r>
              <a:rPr lang="en-US" sz="2400" b="1" dirty="0" err="1"/>
              <a:t>Cybersecurity</a:t>
            </a:r>
            <a:r>
              <a:rPr lang="en-US" sz="2400" b="1" dirty="0"/>
              <a:t> Information</a:t>
            </a:r>
          </a:p>
          <a:p>
            <a:r>
              <a:rPr lang="en-US" b="1" dirty="0"/>
              <a:t>State of Equipment/Software:</a:t>
            </a:r>
            <a:r>
              <a:rPr lang="en-US" dirty="0"/>
              <a:t> Details on vulnerabilities and system status.</a:t>
            </a:r>
          </a:p>
          <a:p>
            <a:r>
              <a:rPr lang="en-US" b="1" dirty="0"/>
              <a:t>Forensics:</a:t>
            </a:r>
            <a:r>
              <a:rPr lang="en-US" dirty="0"/>
              <a:t> Information related to </a:t>
            </a:r>
            <a:r>
              <a:rPr lang="en-US" dirty="0" err="1"/>
              <a:t>cybersecurity</a:t>
            </a:r>
            <a:r>
              <a:rPr lang="en-US" dirty="0"/>
              <a:t> incidents.</a:t>
            </a:r>
          </a:p>
          <a:p>
            <a:r>
              <a:rPr lang="en-US" b="1" dirty="0"/>
              <a:t>Heuristics/Signatures:</a:t>
            </a:r>
            <a:r>
              <a:rPr lang="en-US" dirty="0"/>
              <a:t> Knowledge from past </a:t>
            </a:r>
            <a:r>
              <a:rPr lang="en-US" dirty="0" err="1"/>
              <a:t>cybersecurity</a:t>
            </a:r>
            <a:r>
              <a:rPr lang="en-US" dirty="0"/>
              <a:t> events.</a:t>
            </a:r>
          </a:p>
          <a:p>
            <a:r>
              <a:rPr lang="en-US" b="1" dirty="0"/>
              <a:t>Specifications:</a:t>
            </a:r>
            <a:r>
              <a:rPr lang="en-US" dirty="0"/>
              <a:t> Modules, schemas, and terms for information exchange.</a:t>
            </a:r>
          </a:p>
          <a:p>
            <a:r>
              <a:rPr lang="en-US" b="1" dirty="0"/>
              <a:t>Identities and Assurance:</a:t>
            </a:r>
            <a:r>
              <a:rPr lang="en-US" dirty="0"/>
              <a:t> Attributes of </a:t>
            </a:r>
            <a:r>
              <a:rPr lang="en-US" dirty="0" err="1"/>
              <a:t>cybersecurity</a:t>
            </a:r>
            <a:r>
              <a:rPr lang="en-US" dirty="0"/>
              <a:t> information and entities.</a:t>
            </a:r>
          </a:p>
          <a:p>
            <a:r>
              <a:rPr lang="en-US" b="1" dirty="0"/>
              <a:t>Implementation Guidelines:</a:t>
            </a:r>
            <a:r>
              <a:rPr lang="en-US" dirty="0"/>
              <a:t> Best practices for effective exchanges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b="1" dirty="0"/>
              <a:t>Structured Information Capabilities</a:t>
            </a:r>
          </a:p>
          <a:p>
            <a:r>
              <a:rPr lang="en-US" dirty="0"/>
              <a:t>Organized into </a:t>
            </a:r>
            <a:r>
              <a:rPr lang="en-US" b="1" dirty="0"/>
              <a:t>six clusters</a:t>
            </a:r>
            <a:r>
              <a:rPr lang="en-US" dirty="0"/>
              <a:t> for distinct </a:t>
            </a:r>
            <a:r>
              <a:rPr lang="en-US" dirty="0" err="1"/>
              <a:t>cybersecurity</a:t>
            </a:r>
            <a:r>
              <a:rPr lang="en-US" dirty="0"/>
              <a:t> information exchange groups.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3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35" y="996286"/>
            <a:ext cx="8955987" cy="541761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2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91569"/>
            <a:ext cx="9720073" cy="5449551"/>
          </a:xfrm>
        </p:spPr>
        <p:txBody>
          <a:bodyPr/>
          <a:lstStyle/>
          <a:p>
            <a:r>
              <a:rPr lang="en-US" sz="2800" b="1" i="1" dirty="0"/>
              <a:t>Overview on </a:t>
            </a:r>
            <a:r>
              <a:rPr lang="en-US" sz="2800" b="1" i="1" dirty="0" smtClean="0"/>
              <a:t>Information-Sharing Standardization Efforts</a:t>
            </a:r>
          </a:p>
          <a:p>
            <a:endParaRPr lang="en-US" sz="28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ENISA Report:</a:t>
            </a:r>
            <a:endParaRPr 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Provides generic recommendations for </a:t>
            </a:r>
            <a:r>
              <a:rPr lang="en-US" sz="2800" dirty="0" smtClean="0"/>
              <a:t>cyber security </a:t>
            </a:r>
            <a:r>
              <a:rPr lang="en-US" sz="2800" dirty="0"/>
              <a:t>information sharing.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Covers a wide range of matters related to information exchange</a:t>
            </a:r>
            <a:r>
              <a:rPr lang="en-US" sz="28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NIST Framework:</a:t>
            </a:r>
            <a:endParaRPr 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Targets American and non-American organizations.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Focuses on risk management and privacy preservation.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9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537" y="1071349"/>
            <a:ext cx="9720073" cy="5042848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ISO/IEC 27010:</a:t>
            </a:r>
            <a:endParaRPr lang="en-US" sz="28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Oriented toward protecting data during information sharing.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Emphasizes collection, analysis, and correlation of cyber incidents for effective mitigation</a:t>
            </a:r>
            <a:r>
              <a:rPr lang="en-US" sz="2800" dirty="0" smtClean="0"/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ITU-T X.1500:</a:t>
            </a:r>
            <a:endParaRPr lang="en-US" sz="28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Analyzes techniques, standards, and protocols for: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Systems monitoring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Threat detection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Vulnerability inventory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Incident exchange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Also referenced by ENISA and NIST for comprehensive guidance.</a:t>
            </a:r>
          </a:p>
          <a:p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600164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5303" y="232012"/>
            <a:ext cx="7305742" cy="643014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64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Dimension IV: Regional and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International Implementations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7200" dirty="0"/>
              <a:t>- </a:t>
            </a:r>
            <a:r>
              <a:rPr lang="en-US" sz="7200" b="1" dirty="0" smtClean="0"/>
              <a:t>Role </a:t>
            </a:r>
            <a:r>
              <a:rPr lang="en-US" sz="7200" b="1" dirty="0"/>
              <a:t>of </a:t>
            </a:r>
            <a:r>
              <a:rPr lang="en-US" sz="7200" b="1" dirty="0" smtClean="0"/>
              <a:t>CERTs</a:t>
            </a:r>
            <a:r>
              <a:rPr lang="en-US" sz="7200" dirty="0" smtClean="0"/>
              <a:t>:  </a:t>
            </a:r>
            <a:endParaRPr lang="en-US" sz="7200" dirty="0"/>
          </a:p>
          <a:p>
            <a:r>
              <a:rPr lang="en-US" sz="7200" dirty="0"/>
              <a:t>  - Vital in regional </a:t>
            </a:r>
            <a:r>
              <a:rPr lang="en-US" sz="7200" dirty="0" err="1"/>
              <a:t>cybersecurity</a:t>
            </a:r>
            <a:r>
              <a:rPr lang="en-US" sz="7200" dirty="0"/>
              <a:t> ecosystems.  </a:t>
            </a:r>
          </a:p>
          <a:p>
            <a:r>
              <a:rPr lang="en-US" sz="7200" dirty="0"/>
              <a:t>  - Collect information on new threats.  </a:t>
            </a:r>
          </a:p>
          <a:p>
            <a:r>
              <a:rPr lang="en-US" sz="7200" dirty="0"/>
              <a:t>  - Issue early warnings through mailing lists.  </a:t>
            </a:r>
          </a:p>
          <a:p>
            <a:r>
              <a:rPr lang="en-US" sz="7200" dirty="0"/>
              <a:t>  - Provide assistance on request.</a:t>
            </a:r>
          </a:p>
          <a:p>
            <a:endParaRPr lang="en-US" sz="11200" dirty="0"/>
          </a:p>
          <a:p>
            <a:r>
              <a:rPr lang="en-US" sz="7200" dirty="0"/>
              <a:t>- </a:t>
            </a:r>
            <a:r>
              <a:rPr lang="en-US" sz="7200" b="1" dirty="0" smtClean="0"/>
              <a:t>Regional Cooperation</a:t>
            </a:r>
            <a:r>
              <a:rPr lang="en-US" sz="7200" dirty="0" smtClean="0"/>
              <a:t>:  </a:t>
            </a:r>
            <a:endParaRPr lang="en-US" sz="7200" dirty="0"/>
          </a:p>
          <a:p>
            <a:r>
              <a:rPr lang="en-US" sz="7200" dirty="0"/>
              <a:t>  - Most effective due to:  </a:t>
            </a:r>
          </a:p>
          <a:p>
            <a:r>
              <a:rPr lang="en-US" sz="7200" dirty="0"/>
              <a:t>    - Short travel times.  </a:t>
            </a:r>
          </a:p>
          <a:p>
            <a:r>
              <a:rPr lang="en-US" sz="7200" dirty="0"/>
              <a:t>    - Lower costs for meetings.  </a:t>
            </a:r>
          </a:p>
          <a:p>
            <a:r>
              <a:rPr lang="en-US" sz="7200" dirty="0"/>
              <a:t>  - Cultural similarities enhance networking and collaboration.</a:t>
            </a:r>
          </a:p>
          <a:p>
            <a:endParaRPr lang="en-US" dirty="0"/>
          </a:p>
          <a:p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881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**Global Collaboration**:  </a:t>
            </a:r>
          </a:p>
          <a:p>
            <a:r>
              <a:rPr lang="en-US" dirty="0"/>
              <a:t>  - Necessitated by the international nature of cyber threats.  </a:t>
            </a:r>
          </a:p>
          <a:p>
            <a:r>
              <a:rPr lang="en-US" dirty="0"/>
              <a:t>  - CERTs maintain strong international connections.  </a:t>
            </a:r>
          </a:p>
          <a:p>
            <a:r>
              <a:rPr lang="en-US" dirty="0"/>
              <a:t>  - Emergence of well-connected national cyber centers.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05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82388"/>
            <a:ext cx="10863072" cy="5626972"/>
          </a:xfrm>
        </p:spPr>
        <p:txBody>
          <a:bodyPr/>
          <a:lstStyle/>
          <a:p>
            <a:pPr algn="ctr"/>
            <a:r>
              <a:rPr lang="en-US" sz="3600" b="1" i="1" dirty="0" smtClean="0"/>
              <a:t>CERTs</a:t>
            </a:r>
          </a:p>
          <a:p>
            <a:r>
              <a:rPr lang="en-US" b="1" dirty="0"/>
              <a:t>Asia: APCERT</a:t>
            </a:r>
          </a:p>
          <a:p>
            <a:r>
              <a:rPr lang="en-US" b="1" dirty="0"/>
              <a:t>Formation</a:t>
            </a:r>
            <a:r>
              <a:rPr lang="en-US" dirty="0"/>
              <a:t>: Established in March 2002 during the APSIRC meeting in Japan.</a:t>
            </a:r>
          </a:p>
          <a:p>
            <a:r>
              <a:rPr lang="en-US" b="1" dirty="0"/>
              <a:t>Purpose</a:t>
            </a:r>
            <a:r>
              <a:rPr lang="en-US" dirty="0"/>
              <a:t>: Enhance cross-border cooperation and information sharing among CERTs.</a:t>
            </a:r>
          </a:p>
          <a:p>
            <a:r>
              <a:rPr lang="en-US" b="1" dirty="0"/>
              <a:t>Membership</a:t>
            </a:r>
            <a:r>
              <a:rPr lang="en-US" dirty="0"/>
              <a:t>: 15 CERT teams from 12 Asia-Pacific economies joined in February 2003.</a:t>
            </a:r>
          </a:p>
          <a:p>
            <a:r>
              <a:rPr lang="en-US" b="1" dirty="0"/>
              <a:t>Goals</a:t>
            </a:r>
            <a:r>
              <a:rPr lang="en-US" dirty="0"/>
              <a:t>:</a:t>
            </a:r>
          </a:p>
          <a:p>
            <a:pPr lvl="1"/>
            <a:r>
              <a:rPr lang="en-US" sz="2400" dirty="0"/>
              <a:t>Maintain a trusted network of security experts.</a:t>
            </a:r>
          </a:p>
          <a:p>
            <a:pPr lvl="1"/>
            <a:r>
              <a:rPr lang="en-US" sz="2400" dirty="0"/>
              <a:t>Improve regional awareness and competency in computer security.</a:t>
            </a:r>
          </a:p>
          <a:p>
            <a:pPr lvl="1"/>
            <a:r>
              <a:rPr lang="en-US" sz="2400" dirty="0"/>
              <a:t>Develop measures for large-scale network incidents.</a:t>
            </a:r>
          </a:p>
          <a:p>
            <a:pPr lvl="1"/>
            <a:r>
              <a:rPr lang="en-US" sz="2400" dirty="0"/>
              <a:t>Promote collaborative research and assist regional CERTs.</a:t>
            </a:r>
          </a:p>
          <a:p>
            <a:pPr lvl="1"/>
            <a:r>
              <a:rPr lang="en-US" sz="2400" dirty="0"/>
              <a:t>Address legal issues in information security.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13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Europe: TERENA's TF-CSIRT</a:t>
            </a:r>
          </a:p>
          <a:p>
            <a:r>
              <a:rPr lang="en-US" sz="2800" b="1" dirty="0"/>
              <a:t>Background</a:t>
            </a:r>
            <a:r>
              <a:rPr lang="en-US" sz="2800" dirty="0"/>
              <a:t>: Established due to diverse interests of European networks.</a:t>
            </a:r>
          </a:p>
          <a:p>
            <a:r>
              <a:rPr lang="en-US" sz="2800" b="1" dirty="0"/>
              <a:t>Focus</a:t>
            </a:r>
            <a:r>
              <a:rPr lang="en-US" sz="2800" dirty="0"/>
              <a:t>: Cooperation on common interests despite lack of a permanent center.</a:t>
            </a:r>
          </a:p>
          <a:p>
            <a:r>
              <a:rPr lang="en-US" sz="2800" b="1" dirty="0"/>
              <a:t>Objectives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Share incident data and observe trends.</a:t>
            </a:r>
          </a:p>
          <a:p>
            <a:pPr lvl="1"/>
            <a:r>
              <a:rPr lang="en-US" sz="2400" dirty="0"/>
              <a:t>Develop European accreditation and training programs.</a:t>
            </a:r>
          </a:p>
          <a:p>
            <a:pPr lvl="1"/>
            <a:r>
              <a:rPr lang="en-US" sz="2400" dirty="0"/>
              <a:t>Assist new CERT teams.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585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Europe: </a:t>
            </a:r>
            <a:r>
              <a:rPr lang="en-US" sz="2800" b="1" dirty="0" err="1"/>
              <a:t>NORDUnet</a:t>
            </a:r>
            <a:r>
              <a:rPr lang="en-US" sz="2800" b="1" dirty="0"/>
              <a:t> CERT</a:t>
            </a:r>
          </a:p>
          <a:p>
            <a:r>
              <a:rPr lang="en-US" sz="2800" b="1" dirty="0"/>
              <a:t>Scope</a:t>
            </a:r>
            <a:r>
              <a:rPr lang="en-US" sz="2800" dirty="0"/>
              <a:t>: Coordinates incident handling among Nordic countries.</a:t>
            </a:r>
          </a:p>
          <a:p>
            <a:r>
              <a:rPr lang="en-US" sz="2800" b="1" dirty="0"/>
              <a:t>Collaboration</a:t>
            </a:r>
            <a:r>
              <a:rPr lang="en-US" sz="2800" dirty="0"/>
              <a:t>: Works with national research networks in Denmark, Finland, Iceland, Norway, and Sweden.</a:t>
            </a:r>
          </a:p>
          <a:p>
            <a:r>
              <a:rPr lang="en-US" sz="2800" b="1" dirty="0"/>
              <a:t>Function</a:t>
            </a:r>
            <a:r>
              <a:rPr lang="en-US" sz="2800" dirty="0"/>
              <a:t>: Acts as a "Web of Trust" among national CERTs and maintains international connections through FIRST and TF-CSIRT.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91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72352"/>
            <a:ext cx="9720073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South America: CLARA</a:t>
            </a:r>
          </a:p>
          <a:p>
            <a:r>
              <a:rPr lang="en-US" sz="2800" b="1" dirty="0"/>
              <a:t>Initiative</a:t>
            </a:r>
            <a:r>
              <a:rPr lang="en-US" sz="2800" dirty="0"/>
              <a:t>: Cooperation among CERTs in South America and the Caribbean.</a:t>
            </a:r>
          </a:p>
          <a:p>
            <a:r>
              <a:rPr lang="en-US" sz="2800" b="1" dirty="0"/>
              <a:t>Focus Areas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Protect critical infrastructure of </a:t>
            </a:r>
            <a:r>
              <a:rPr lang="en-US" sz="2400" dirty="0" err="1"/>
              <a:t>REDClara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Create security working groups (CLARA WG-CSIRT).</a:t>
            </a:r>
          </a:p>
          <a:p>
            <a:r>
              <a:rPr lang="en-US" sz="2800" b="1" dirty="0"/>
              <a:t>Goals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Establish security frameworks for NRENs.</a:t>
            </a:r>
          </a:p>
          <a:p>
            <a:pPr lvl="1"/>
            <a:r>
              <a:rPr lang="en-US" sz="2400" dirty="0"/>
              <a:t>Promote training and data exchange on security incidents.</a:t>
            </a:r>
          </a:p>
          <a:p>
            <a:pPr lvl="1"/>
            <a:r>
              <a:rPr lang="en-US" sz="2400" dirty="0"/>
              <a:t>Coordinate responses to security incidents.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053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/>
              <a:t>North America: USCERT</a:t>
            </a:r>
            <a:endParaRPr lang="en-US" sz="48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Role</a:t>
            </a:r>
            <a:r>
              <a:rPr lang="en-US" sz="4400" dirty="0"/>
              <a:t>:</a:t>
            </a:r>
            <a:r>
              <a:rPr lang="en-US" sz="2800" dirty="0"/>
              <a:t> Organized CSIRT meetings with various stakeholders (vendors, academia, government).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Collaboration</a:t>
            </a:r>
            <a:r>
              <a:rPr lang="en-US" sz="2800" dirty="0"/>
              <a:t>: Works with ISACs for critical infrastructure protection.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IT-ISAC</a:t>
            </a:r>
            <a:r>
              <a:rPr lang="en-US" sz="2800" dirty="0"/>
              <a:t>: A trusted community focused on identifying threats and sharing best practices for IT security.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Objective</a:t>
            </a:r>
            <a:r>
              <a:rPr lang="en-US" sz="2800" dirty="0"/>
              <a:t>: Provide a coherent view of the security landscape for IT infrastructure.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7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59809"/>
            <a:ext cx="10467287" cy="5449551"/>
          </a:xfrm>
        </p:spPr>
        <p:txBody>
          <a:bodyPr/>
          <a:lstStyle/>
          <a:p>
            <a:pPr algn="ctr"/>
            <a:r>
              <a:rPr lang="en-US" sz="3200" b="1" i="1" dirty="0"/>
              <a:t>International </a:t>
            </a:r>
            <a:r>
              <a:rPr lang="en-US" sz="3200" b="1" i="1" dirty="0" err="1" smtClean="0"/>
              <a:t>Cooperations</a:t>
            </a:r>
            <a:endParaRPr lang="en-US" sz="32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Importance of Cooperation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Essential for effective incident handling among countries and CERTs.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Aims to tackle the global nature of Internet security threats.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Dependency on Collaboration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Many CERT services rely on partnerships with global teams.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Role of FIRST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Facilitates the building of an international community among CERTs.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Examples of Sector Cooperation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Various initiatives promoting collaboration within specific sectors.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Cross-Regional Cooperation</a:t>
            </a:r>
            <a:r>
              <a:rPr lang="en-US" sz="24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b="1" dirty="0"/>
              <a:t>Region-to-Region</a:t>
            </a:r>
            <a:r>
              <a:rPr lang="en-US" sz="2400" dirty="0"/>
              <a:t>: Collaborative efforts between different geographic regions.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b="1" dirty="0"/>
              <a:t>Member States Cooperation</a:t>
            </a:r>
            <a:r>
              <a:rPr lang="en-US" sz="2400" dirty="0"/>
              <a:t>: Initiatives among countries from two distinct regions within the same organization.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30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36979"/>
            <a:ext cx="10617412" cy="5572381"/>
          </a:xfrm>
        </p:spPr>
        <p:txBody>
          <a:bodyPr>
            <a:normAutofit fontScale="92500" lnSpcReduction="20000"/>
          </a:bodyPr>
          <a:lstStyle/>
          <a:p>
            <a:r>
              <a:rPr lang="en-US" sz="3500" b="1" i="1" dirty="0" smtClean="0"/>
              <a:t>FIRST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 b="1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 smtClean="0"/>
              <a:t>Overview </a:t>
            </a:r>
            <a:r>
              <a:rPr lang="en-US" sz="2800" b="1" dirty="0"/>
              <a:t>of FIRST</a:t>
            </a:r>
            <a:r>
              <a:rPr lang="en-US" sz="2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Established in 1990 to enhance communication and coordination among incident response teams.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Membership</a:t>
            </a:r>
            <a:r>
              <a:rPr lang="en-US" sz="2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Comprises 286 teams across 61 countries.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Includes organizations from educational, commercial, vendor, government, and military sectors.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Benefits of Membership</a:t>
            </a:r>
            <a:r>
              <a:rPr lang="en-US" sz="2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Access to best practices and tools for effective incident response.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Trusted communication with other member teams.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/>
              <a:t>Activities and Goals</a:t>
            </a:r>
            <a:r>
              <a:rPr lang="en-US" sz="2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Develop and share technical information and methodologies.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Promote quality security products, policies, and services.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800" dirty="0"/>
              <a:t>Encourage the creation and expansion of incident response teams globally.</a:t>
            </a:r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139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36978"/>
            <a:ext cx="10712947" cy="5531438"/>
          </a:xfrm>
        </p:spPr>
        <p:txBody>
          <a:bodyPr>
            <a:normAutofit/>
          </a:bodyPr>
          <a:lstStyle/>
          <a:p>
            <a:r>
              <a:rPr lang="en-US" sz="2800" b="1" i="1" dirty="0"/>
              <a:t>Sector </a:t>
            </a:r>
            <a:r>
              <a:rPr lang="en-US" sz="2800" b="1" i="1" dirty="0" smtClean="0"/>
              <a:t>Cooperation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Sector-Specific CERTs</a:t>
            </a:r>
            <a:r>
              <a:rPr 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Defined by constituency type and responsibilities.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Common interests promote cooperation among teams in the public and private sectors.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European Government CSIRTs Group (EGC)</a:t>
            </a:r>
            <a:r>
              <a:rPr 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An informal group of governmental CERTs.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Aims to develop incident response methods through member cooperation.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EGC Activities</a:t>
            </a:r>
            <a:r>
              <a:rPr 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Develop measures for network security incident response.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Facilitate information-sharing and technology exchange on IT security threats.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Identify areas for shared specialist knowledge and collaborative research.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Communicate common views with other initiatives and organizations.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b="1" dirty="0"/>
              <a:t>International Cooperation</a:t>
            </a:r>
            <a:r>
              <a:rPr 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EGC members engage with global CERT initiatives like FIRST and TF-CSIRT.</a:t>
            </a:r>
          </a:p>
          <a:p>
            <a:endParaRPr lang="en-US" i="1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888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64275"/>
            <a:ext cx="10767538" cy="5545085"/>
          </a:xfrm>
        </p:spPr>
        <p:txBody>
          <a:bodyPr>
            <a:normAutofit/>
          </a:bodyPr>
          <a:lstStyle/>
          <a:p>
            <a:r>
              <a:rPr lang="en-US" i="1" dirty="0"/>
              <a:t>Cross-Regional </a:t>
            </a:r>
            <a:r>
              <a:rPr lang="en-US" i="1" dirty="0" smtClean="0"/>
              <a:t>Cooperation</a:t>
            </a:r>
            <a:endParaRPr lang="en-US" dirty="0"/>
          </a:p>
          <a:p>
            <a:r>
              <a:rPr lang="en-US" b="1" dirty="0"/>
              <a:t>Cross-Regional Cooperation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Based on knowledge and experience exchange at physical meetings.</a:t>
            </a:r>
          </a:p>
          <a:p>
            <a:r>
              <a:rPr lang="en-US" b="1" dirty="0" err="1"/>
              <a:t>CEENet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Comprises 23 national academic, research, and educational organizations from Europe and Asia.</a:t>
            </a:r>
          </a:p>
          <a:p>
            <a:pPr lvl="1"/>
            <a:r>
              <a:rPr lang="en-US" dirty="0"/>
              <a:t>Mission: Coordinate international aspects of academic, research, and education networks in Central and Eastern Europe and adjacent countries.</a:t>
            </a:r>
          </a:p>
          <a:p>
            <a:pPr lvl="1"/>
            <a:r>
              <a:rPr lang="en-US" dirty="0"/>
              <a:t>Focus: Share information to improve ICT security across the region.</a:t>
            </a:r>
          </a:p>
          <a:p>
            <a:r>
              <a:rPr lang="en-US" b="1" dirty="0"/>
              <a:t>NATO Cooperative Cyber </a:t>
            </a:r>
            <a:r>
              <a:rPr lang="en-US" b="1" dirty="0" err="1"/>
              <a:t>Defence</a:t>
            </a:r>
            <a:r>
              <a:rPr lang="en-US" b="1" dirty="0"/>
              <a:t> Centre of Excellence (NATO CCD </a:t>
            </a:r>
            <a:r>
              <a:rPr lang="en-US" b="1" dirty="0" err="1"/>
              <a:t>CoE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Established on May 14, 2008, in Tallinn, Estonia.</a:t>
            </a:r>
          </a:p>
          <a:p>
            <a:pPr lvl="1"/>
            <a:r>
              <a:rPr lang="en-US" dirty="0"/>
              <a:t>Accredited by NATO as an International Military Organization.</a:t>
            </a:r>
          </a:p>
          <a:p>
            <a:pPr lvl="1"/>
            <a:r>
              <a:rPr lang="en-US" dirty="0"/>
              <a:t>Mission: Enhance capability, cooperation, and information sharing in cyber defense among NATO and partner nations.</a:t>
            </a:r>
          </a:p>
          <a:p>
            <a:pPr lvl="1"/>
            <a:r>
              <a:rPr lang="en-US" dirty="0"/>
              <a:t>Activities: Education, research, development, and creation of </a:t>
            </a:r>
            <a:r>
              <a:rPr lang="en-US" dirty="0" err="1"/>
              <a:t>cybersecurity</a:t>
            </a:r>
            <a:r>
              <a:rPr lang="en-US" dirty="0"/>
              <a:t> recommendations, manuals, and guidelines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05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32512"/>
            <a:ext cx="10808481" cy="5476847"/>
          </a:xfrm>
        </p:spPr>
        <p:txBody>
          <a:bodyPr>
            <a:normAutofit/>
          </a:bodyPr>
          <a:lstStyle/>
          <a:p>
            <a:r>
              <a:rPr lang="en-US" sz="2800" b="1" i="1" dirty="0"/>
              <a:t>IT Crisis </a:t>
            </a:r>
            <a:r>
              <a:rPr lang="en-US" sz="2800" b="1" i="1" dirty="0" smtClean="0"/>
              <a:t>Management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Western countries are establishing IT crisis-management centers for </a:t>
            </a:r>
            <a:r>
              <a:rPr lang="en-US" sz="2400" dirty="0" err="1"/>
              <a:t>cybersecurity</a:t>
            </a:r>
            <a:r>
              <a:rPr lang="en-US" sz="240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Purpose: Address </a:t>
            </a:r>
            <a:r>
              <a:rPr lang="en-US" sz="2400" dirty="0" err="1"/>
              <a:t>cybersecurity</a:t>
            </a:r>
            <a:r>
              <a:rPr lang="en-US" sz="2400" dirty="0"/>
              <a:t> issues and generate cyber situational awareness.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These centers serve as key information sources for national </a:t>
            </a:r>
            <a:r>
              <a:rPr lang="en-US" sz="2400" dirty="0" err="1"/>
              <a:t>cybersecurity</a:t>
            </a:r>
            <a:r>
              <a:rPr lang="en-US" sz="2400" dirty="0"/>
              <a:t> regarding critical infrastructures.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They provide 24/7 expertise and advice.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Essential to maintain a reliable picture of the current IT security situation.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Monitoring procedures are implemented for governmental and critical infrastructure networks.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Cooperation with national CERTs ensures close contact with national and international partners.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/>
              <a:t>Germany and the Netherlands were early adopters of national IT crisis-management centers. </a:t>
            </a:r>
          </a:p>
          <a:p>
            <a:endParaRPr lang="en-US" b="1" i="1" dirty="0"/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19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002" y="626159"/>
            <a:ext cx="9720072" cy="1499616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Dimension V: Technology Integration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into Organizations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- </a:t>
            </a:r>
            <a:r>
              <a:rPr lang="en-US" b="1" dirty="0" smtClean="0"/>
              <a:t>National/Governmental </a:t>
            </a:r>
            <a:r>
              <a:rPr lang="en-US" b="1" dirty="0"/>
              <a:t>Cybersecurity </a:t>
            </a:r>
            <a:r>
              <a:rPr lang="en-US" b="1" dirty="0" smtClean="0"/>
              <a:t>Centers</a:t>
            </a:r>
            <a:r>
              <a:rPr lang="en-US" dirty="0" smtClean="0"/>
              <a:t>: </a:t>
            </a:r>
            <a:r>
              <a:rPr lang="en-US" dirty="0"/>
              <a:t>Significant progress in establishing these centers worldwide, but varying maturity levels.</a:t>
            </a:r>
          </a:p>
          <a:p>
            <a:r>
              <a:rPr lang="en-US" dirty="0"/>
              <a:t>- </a:t>
            </a:r>
            <a:r>
              <a:rPr lang="en-US" b="1" dirty="0" smtClean="0"/>
              <a:t>Cross-Border Cooperation</a:t>
            </a:r>
            <a:r>
              <a:rPr lang="en-US" dirty="0" smtClean="0"/>
              <a:t>: </a:t>
            </a:r>
            <a:r>
              <a:rPr lang="en-US" dirty="0"/>
              <a:t>Coordination of global cyberattack responses is a challenge, requiring international collaboration.</a:t>
            </a:r>
          </a:p>
          <a:p>
            <a:r>
              <a:rPr lang="en-US" dirty="0"/>
              <a:t>- </a:t>
            </a:r>
            <a:r>
              <a:rPr lang="en-US" b="1" dirty="0" smtClean="0"/>
              <a:t>Successful Initiatives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  - TF-CSIRT</a:t>
            </a:r>
          </a:p>
          <a:p>
            <a:r>
              <a:rPr lang="en-US" dirty="0"/>
              <a:t>  - CEENET</a:t>
            </a:r>
          </a:p>
          <a:p>
            <a:r>
              <a:rPr lang="en-US" dirty="0"/>
              <a:t>  - North America CSIRT meeting</a:t>
            </a:r>
          </a:p>
          <a:p>
            <a:r>
              <a:rPr lang="en-US" dirty="0"/>
              <a:t>  - FIRST SIGs</a:t>
            </a:r>
          </a:p>
          <a:p>
            <a:r>
              <a:rPr lang="en-US" dirty="0"/>
              <a:t>  - E-COAT</a:t>
            </a:r>
          </a:p>
          <a:p>
            <a:r>
              <a:rPr lang="en-US" dirty="0"/>
              <a:t>- </a:t>
            </a:r>
            <a:r>
              <a:rPr lang="en-US" b="1" dirty="0" smtClean="0"/>
              <a:t>Achievements</a:t>
            </a:r>
            <a:r>
              <a:rPr lang="en-US" dirty="0" smtClean="0"/>
              <a:t>: </a:t>
            </a:r>
            <a:r>
              <a:rPr lang="en-US" dirty="0"/>
              <a:t>Development of best practices, codes of conduct, legislation recommendations through international collaboration (ENISA, 2006).</a:t>
            </a:r>
          </a:p>
          <a:p>
            <a:r>
              <a:rPr lang="en-US" dirty="0"/>
              <a:t>- </a:t>
            </a:r>
            <a:r>
              <a:rPr lang="en-US" b="1" dirty="0" smtClean="0"/>
              <a:t>Challenges</a:t>
            </a:r>
            <a:r>
              <a:rPr lang="en-US" dirty="0" smtClean="0"/>
              <a:t>: </a:t>
            </a:r>
            <a:r>
              <a:rPr lang="en-US" dirty="0"/>
              <a:t>Obstacles to seamless information exchange persist, particularly **technical barriers**.</a:t>
            </a:r>
          </a:p>
          <a:p>
            <a:r>
              <a:rPr lang="en-US" dirty="0"/>
              <a:t>- </a:t>
            </a:r>
            <a:r>
              <a:rPr lang="en-US" b="1" dirty="0" smtClean="0"/>
              <a:t>Focus</a:t>
            </a:r>
            <a:r>
              <a:rPr lang="en-US" dirty="0" smtClean="0"/>
              <a:t>: </a:t>
            </a:r>
            <a:r>
              <a:rPr lang="en-US" dirty="0"/>
              <a:t>State-of-the-art platforms, tools, technology standards, and open protocols for security information exchange and management.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45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26265"/>
            <a:ext cx="10874089" cy="548309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400" b="1" i="1" dirty="0"/>
              <a:t>Open Web-Platforms and Open-Source </a:t>
            </a:r>
            <a:r>
              <a:rPr lang="en-US" sz="2400" b="1" i="1" dirty="0" smtClean="0"/>
              <a:t>Tools</a:t>
            </a:r>
          </a:p>
          <a:p>
            <a:pPr algn="ctr"/>
            <a:endParaRPr lang="en-US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Data Sharing Initiatives</a:t>
            </a:r>
            <a:r>
              <a:rPr lang="en-US" altLang="en-US" sz="2000" dirty="0"/>
              <a:t>: Driven by CERTs, NATO, and private companies, aiming to improve data sharing among CERTs.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Initiatives are user-friendly, flexible, and often open-source.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Attract solid user communities.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 smtClean="0"/>
              <a:t>Challenges </a:t>
            </a:r>
            <a:r>
              <a:rPr lang="en-US" altLang="en-US" sz="2000" b="1" dirty="0"/>
              <a:t>in CERT Operations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Focus is often on responding to single incidents rather than identifying larger, interconnected attacks.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Lack of standard frameworks for fully utilizing available data feeds to identify root causes.</a:t>
            </a:r>
          </a:p>
          <a:p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/>
              <a:t>Incident Correlation</a:t>
            </a:r>
            <a:r>
              <a:rPr lang="en-US" altLang="en-US" sz="24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/>
              <a:t>Involves comparing events from multiple data sources to identify attack patterns and relationships.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/>
              <a:t>Improves understanding of attacks, reduces workload, and automates classification.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/>
              <a:t>Useful for analyzing data from multiple tools and external services.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699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12264" y="1945823"/>
            <a:ext cx="97116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Tools for Incident Correlation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SIEM (Security Information and Event Management)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Commercial solutions available but expensive; open-source solutions are harder to manage.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Emerging solutions (e.g.,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Megatron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AbuseHelper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enable correlation of external incident data but are still maturing.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Current Gaps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 standard framework for comprehensive correlation using all available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Many CERTs recognize the need for these tools but remain underemployed.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786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37282"/>
            <a:ext cx="9720073" cy="5472078"/>
          </a:xfrm>
        </p:spPr>
        <p:txBody>
          <a:bodyPr/>
          <a:lstStyle/>
          <a:p>
            <a:r>
              <a:rPr lang="en-IN" sz="2400" b="1" i="1" dirty="0"/>
              <a:t>Threat-Intelligence </a:t>
            </a:r>
            <a:r>
              <a:rPr lang="en-IN" sz="2400" b="1" i="1" dirty="0" smtClean="0"/>
              <a:t>Sharing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 with Traditional Detection</a:t>
            </a:r>
            <a:r>
              <a:rPr lang="en-US" dirty="0"/>
              <a:t>: Traditional signature-based methods are ineffective against sophisticated attacks that exploit multiple vulnerabilities and evade known signatures.</a:t>
            </a:r>
          </a:p>
          <a:p>
            <a:r>
              <a:rPr lang="en-US" dirty="0"/>
              <a:t>Organizations need to share higher-level threat intelligence in machine-readable formats to quickly adapt to new threats.</a:t>
            </a:r>
          </a:p>
          <a:p>
            <a:r>
              <a:rPr lang="en-US" b="1" dirty="0"/>
              <a:t>Key Threat Intelligence Sharing Tools</a:t>
            </a:r>
            <a:r>
              <a:rPr lang="en-US" dirty="0"/>
              <a:t>:</a:t>
            </a:r>
          </a:p>
          <a:p>
            <a:r>
              <a:rPr lang="en-US" b="1" dirty="0" smtClean="0"/>
              <a:t>1 .</a:t>
            </a:r>
            <a:r>
              <a:rPr lang="en-US" b="1" dirty="0" err="1" smtClean="0"/>
              <a:t>OpenIOC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Open framework for sharing threat intelligence using an XML schema.</a:t>
            </a:r>
          </a:p>
          <a:p>
            <a:pPr lvl="1"/>
            <a:r>
              <a:rPr lang="en-US" dirty="0"/>
              <a:t>Describes technical characteristics of threats, attack methodologies, or artifacts left by intrusions.</a:t>
            </a:r>
          </a:p>
          <a:p>
            <a:pPr lvl="1"/>
            <a:r>
              <a:rPr lang="en-US" b="1" dirty="0"/>
              <a:t>Advantages</a:t>
            </a:r>
            <a:r>
              <a:rPr lang="en-US" dirty="0"/>
              <a:t>: Simple to use and easily </a:t>
            </a:r>
            <a:r>
              <a:rPr lang="en-US" dirty="0" err="1"/>
              <a:t>parsable</a:t>
            </a:r>
            <a:r>
              <a:rPr lang="en-US" dirty="0"/>
              <a:t> into other formats.</a:t>
            </a:r>
          </a:p>
          <a:p>
            <a:pPr lvl="1"/>
            <a:r>
              <a:rPr lang="en-US" b="1" dirty="0"/>
              <a:t>Limitations</a:t>
            </a:r>
            <a:r>
              <a:rPr lang="en-US" dirty="0"/>
              <a:t>: Primarily used with </a:t>
            </a:r>
            <a:r>
              <a:rPr lang="en-US" dirty="0" err="1"/>
              <a:t>Mandiant</a:t>
            </a:r>
            <a:r>
              <a:rPr lang="en-US" dirty="0"/>
              <a:t> products; limited support for network-based </a:t>
            </a:r>
            <a:r>
              <a:rPr lang="en-US" dirty="0" err="1"/>
              <a:t>IoCs</a:t>
            </a:r>
            <a:r>
              <a:rPr lang="en-US" dirty="0"/>
              <a:t>; focuses more on file-based </a:t>
            </a:r>
            <a:r>
              <a:rPr lang="en-US" dirty="0" err="1"/>
              <a:t>IoCs</a:t>
            </a:r>
            <a:r>
              <a:rPr lang="en-US" dirty="0"/>
              <a:t>.</a:t>
            </a:r>
          </a:p>
          <a:p>
            <a:endParaRPr lang="en-US" b="1" i="1" dirty="0" smtClean="0"/>
          </a:p>
          <a:p>
            <a:endParaRPr lang="en-US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727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2. MISP </a:t>
            </a:r>
            <a:r>
              <a:rPr lang="en-US" sz="2000" b="1" dirty="0"/>
              <a:t>(Malware Information Sharing Platform)</a:t>
            </a:r>
            <a:r>
              <a:rPr lang="en-US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Developed by Belgian Defense CERT and NATO NCIRC.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Central database for technical and non-technical malware information and attack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Automatically creates relationships between malware, events, and attributes.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integration with other systems (IDS, </a:t>
            </a:r>
            <a:r>
              <a:rPr lang="en-US" sz="2000" dirty="0" err="1"/>
              <a:t>OpenIOC</a:t>
            </a:r>
            <a:r>
              <a:rPr lang="en-US" sz="2000" dirty="0"/>
              <a:t>, XML,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Enables selective information sharing within trust groups and </a:t>
            </a:r>
            <a:r>
              <a:rPr lang="en-US" sz="2000" dirty="0" err="1"/>
              <a:t>subcommunities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Includes an automatic notification system using PGP.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565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043" y="782197"/>
            <a:ext cx="10532566" cy="5538179"/>
          </a:xfrm>
        </p:spPr>
        <p:txBody>
          <a:bodyPr/>
          <a:lstStyle/>
          <a:p>
            <a:r>
              <a:rPr lang="en-IN" b="1" i="1" dirty="0"/>
              <a:t>Data Correlation </a:t>
            </a:r>
            <a:r>
              <a:rPr lang="en-IN" b="1" i="1" dirty="0" smtClean="0"/>
              <a:t>Tools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b="1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 smtClean="0"/>
              <a:t>Recommendations </a:t>
            </a:r>
            <a:r>
              <a:rPr lang="en-US" altLang="en-US" sz="2000" b="1" dirty="0"/>
              <a:t>from ENISA (2013a)</a:t>
            </a:r>
            <a:r>
              <a:rPr lang="en-US" altLang="en-US" sz="2000" dirty="0"/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Data Providers</a:t>
            </a:r>
            <a:r>
              <a:rPr lang="en-US" altLang="en-US" sz="2000" dirty="0"/>
              <a:t>: Use correlation methods to reduce false positives and data duplication.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Data Consumers</a:t>
            </a:r>
            <a:r>
              <a:rPr lang="en-US" altLang="en-US" sz="2000" dirty="0"/>
              <a:t>: Implement solutions to verify datasets and improve data quality before sharing</a:t>
            </a:r>
            <a:r>
              <a:rPr lang="en-US" altLang="en-US" sz="2000" dirty="0" smtClean="0"/>
              <a:t>.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Challenges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Extracting common patterns and relationships between incidents is complex, especially when correlating data from different sources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Open-Source Data Correlation Tools</a:t>
            </a:r>
            <a:r>
              <a:rPr lang="en-US" altLang="en-US" sz="2000" dirty="0"/>
              <a:t>:</a:t>
            </a:r>
          </a:p>
          <a:p>
            <a:pPr marL="173736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/>
              <a:t>Categorized into Three Groups</a:t>
            </a:r>
            <a:r>
              <a:rPr lang="en-US" altLang="en-US" sz="20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2000" b="1" dirty="0"/>
              <a:t>Generic Correlation Tools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2000" b="1" dirty="0"/>
              <a:t>SIEM (Security Information and Event Management) Tools</a:t>
            </a:r>
            <a:endParaRPr lang="en-US" altLang="en-US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2000" b="1" dirty="0"/>
              <a:t>Incident Handling Tools with Information Correlation Features</a:t>
            </a:r>
            <a:endParaRPr lang="en-US" altLang="en-US" sz="2000" dirty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102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546" y="0"/>
            <a:ext cx="6767319" cy="665418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759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683045"/>
            <a:ext cx="10984258" cy="6037243"/>
          </a:xfrm>
        </p:spPr>
        <p:txBody>
          <a:bodyPr>
            <a:normAutofit/>
          </a:bodyPr>
          <a:lstStyle/>
          <a:p>
            <a:pPr algn="ctr"/>
            <a:r>
              <a:rPr lang="en-IN" sz="2400" b="1" i="1" dirty="0"/>
              <a:t>Technical Standards and </a:t>
            </a:r>
            <a:r>
              <a:rPr lang="en-IN" sz="2400" b="1" i="1" dirty="0" smtClean="0"/>
              <a:t>Protocols</a:t>
            </a:r>
          </a:p>
          <a:p>
            <a:endParaRPr lang="en-US" sz="2400" dirty="0" smtClean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b="1" dirty="0" smtClean="0"/>
              <a:t>Need </a:t>
            </a:r>
            <a:r>
              <a:rPr lang="en-US" altLang="en-US" sz="2000" b="1" dirty="0"/>
              <a:t>for Automation</a:t>
            </a:r>
            <a:r>
              <a:rPr lang="en-US" altLang="en-US" sz="2000" dirty="0"/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Human analysis alone is insufficient due to the complexity of cyber threats and growing data volumes.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/>
              <a:t>Automation is key to improving defensive capabilities and handling large-scale data in threat intelligence and information sharing.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000" b="1" dirty="0"/>
              <a:t>Human and Machine Collaboration</a:t>
            </a:r>
            <a:r>
              <a:rPr lang="en-US" altLang="en-US" sz="2000" dirty="0"/>
              <a:t>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Machine Role</a:t>
            </a:r>
            <a:r>
              <a:rPr lang="en-US" altLang="en-US" sz="2000" dirty="0"/>
              <a:t>: Automate basic data collection, categorization, and correlation.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Human Role</a:t>
            </a:r>
            <a:r>
              <a:rPr lang="en-US" altLang="en-US" sz="2000" dirty="0"/>
              <a:t>: Analysts generate intelligence by performing complex analyses unsuitable for automation.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/>
              <a:t>Two-Stage Process</a:t>
            </a:r>
            <a:r>
              <a:rPr lang="en-US" altLang="en-US" sz="2000" dirty="0"/>
              <a:t>: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Machine processes raw data (collection, parsing, filtering).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Human experts analyze the data to generate intelligence, reducing false positives and identifying critical information.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Structured Threat Information</a:t>
            </a:r>
            <a:r>
              <a:rPr lang="en-US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Standardized, structured representations are needed for interoperability across organizations.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Threat information should be </a:t>
            </a:r>
            <a:r>
              <a:rPr lang="en-US" sz="2000" b="1" dirty="0"/>
              <a:t>expressive, flexible, extensible, automatable, and human-readable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731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2094" y="615564"/>
            <a:ext cx="10918156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Threat Information Categories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(Figure 4.2 overview):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Standards are grouped into six areas: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Asset definition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Configuration guidance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Vulnerability alerts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Threat alerts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Risk/attack indicators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Incident reports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Some standards cover multiple areas, while others focus on specific domains.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IoC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Standardization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Indicators of Compromise (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IoCs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Key for early detection and automated processing of future attacks.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Efforts to standardize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IoC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formats for more efficient automated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Prominent Initiatives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OASIS (formerly MITRE)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IETF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Leading efforts to standardize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IoC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descriptions for better automated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390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653" y="899405"/>
            <a:ext cx="8904641" cy="538192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697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859316"/>
            <a:ext cx="10874089" cy="5450044"/>
          </a:xfrm>
        </p:spPr>
        <p:txBody>
          <a:bodyPr>
            <a:normAutofit/>
          </a:bodyPr>
          <a:lstStyle/>
          <a:p>
            <a:r>
              <a:rPr lang="en-US" b="1" i="1" dirty="0"/>
              <a:t>OASIS Standards: STIX, TAXII, and Others </a:t>
            </a:r>
            <a:endParaRPr lang="en-US" b="1" i="1" dirty="0" smtClean="0"/>
          </a:p>
          <a:p>
            <a:endParaRPr lang="en-US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OASIS Cyber Threat Intelligence (CTI)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U.S. standardization committee supporting community-driven security information sharing standards.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Transitioned from MITRE to OASIS in June 2015.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Focuses on non-commercial solutions for threat modeling and transport protocols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STIX (Structured Threat Information </a:t>
            </a:r>
            <a:r>
              <a:rPr lang="en-US" altLang="en-US" sz="2000" b="1" dirty="0" err="1"/>
              <a:t>eXpression</a:t>
            </a:r>
            <a:r>
              <a:rPr lang="en-US" altLang="en-US" sz="2000" b="1" dirty="0"/>
              <a:t>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Standardized language for structured cyber threat information representation.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Provides comprehensive cyber threat data for diverse use cases.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Includes classes for indicators, incidents, adversary tactics, techniques, procedures, exploit targets, and more.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Integrates with other structured languages (e.g., </a:t>
            </a:r>
            <a:r>
              <a:rPr lang="en-US" altLang="en-US" sz="2000" dirty="0" err="1"/>
              <a:t>CybOX</a:t>
            </a:r>
            <a:r>
              <a:rPr lang="en-US" altLang="en-US" sz="2000" dirty="0"/>
              <a:t>, MAEC, CAPEC) to address specific use cases.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Flexible design for customizable use based on relevance.</a:t>
            </a:r>
          </a:p>
          <a:p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214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3791" y="1909095"/>
            <a:ext cx="100777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TAXII (Trusted Automated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eXchange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 Indicator Information)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Defines services and message-exchange mechanisms for sharing cyber threat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Enhances situational awareness and enables selective information sharing across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Preferred method for securely exchanging STIX-represented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 cases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include public/private alerts, push/pull content dissemination, and data sharing setup.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TAXII Sharing Models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Source-subscriber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One entity publishes data to multiple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P2P (Peer-to-Peer)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Direct sharing between producers and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Hub-and-spoke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Central hub distributes data to multiple consumers.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Push/Pull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Push (automatic updates) or Pull (consumer requests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380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903383"/>
            <a:ext cx="9720073" cy="5405977"/>
          </a:xfrm>
        </p:spPr>
        <p:txBody>
          <a:bodyPr/>
          <a:lstStyle/>
          <a:p>
            <a:r>
              <a:rPr lang="en-US" b="1" i="1" dirty="0"/>
              <a:t>IETF Standards: IODEF and </a:t>
            </a:r>
            <a:r>
              <a:rPr lang="en-US" b="1" i="1" dirty="0" smtClean="0"/>
              <a:t>RID (Real-Time Internetworked </a:t>
            </a:r>
            <a:r>
              <a:rPr lang="en-US" b="1" i="1" dirty="0" err="1" smtClean="0"/>
              <a:t>Defence</a:t>
            </a:r>
            <a:r>
              <a:rPr lang="en-US" b="1" i="1" dirty="0" smtClean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 smtClean="0"/>
              <a:t>MILE(</a:t>
            </a:r>
            <a:r>
              <a:rPr lang="en-IN" sz="1800" dirty="0"/>
              <a:t>Managed Incident Lightweight </a:t>
            </a:r>
            <a:r>
              <a:rPr lang="en-IN" sz="1800" dirty="0" smtClean="0"/>
              <a:t>Exchange)</a:t>
            </a:r>
            <a:r>
              <a:rPr lang="en-US" altLang="en-US" sz="1800" b="1" dirty="0" smtClean="0"/>
              <a:t> </a:t>
            </a:r>
            <a:r>
              <a:rPr lang="en-US" altLang="en-US" sz="1800" b="1" dirty="0"/>
              <a:t>IETF Working Group</a:t>
            </a:r>
            <a:r>
              <a:rPr lang="en-US" altLang="en-US" sz="1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Defines standards for describing and exchanging cyber incident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IODEF (Incident Object Description Exchange Format)</a:t>
            </a:r>
            <a:r>
              <a:rPr lang="en-US" altLang="en-US" sz="1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/>
              <a:t>RFC 5070</a:t>
            </a:r>
            <a:r>
              <a:rPr lang="en-US" altLang="en-US" dirty="0"/>
              <a:t>: XML format for sharing incident information across domains.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Includes data on hosts, networks, services, attack methods, forensic evidence, and impact.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Used for documenting incident workflows.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/>
              <a:t>RID (Real-time Inter-network Defense)</a:t>
            </a:r>
            <a:r>
              <a:rPr lang="en-US" altLang="en-US" sz="1800" dirty="0"/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/>
              <a:t>RFC 6545</a:t>
            </a:r>
            <a:r>
              <a:rPr lang="en-US" altLang="en-US" dirty="0"/>
              <a:t>: Protocol for transporting IODEF cybersecurity data.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Flexible for exchanging other schemas or data models within or independent of IODEF.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Uses </a:t>
            </a:r>
            <a:r>
              <a:rPr lang="en-US" altLang="en-US" b="1" dirty="0"/>
              <a:t>HTTP/TLS</a:t>
            </a:r>
            <a:r>
              <a:rPr lang="en-US" altLang="en-US" dirty="0"/>
              <a:t> for transport.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/>
              <a:t>Preferred for </a:t>
            </a:r>
            <a:r>
              <a:rPr lang="en-US" altLang="en-US" b="1" dirty="0"/>
              <a:t>P2P models</a:t>
            </a:r>
            <a:r>
              <a:rPr lang="en-US" altLang="en-US" dirty="0"/>
              <a:t> requiring high security and privacy.</a:t>
            </a:r>
          </a:p>
          <a:p>
            <a:endParaRPr lang="en-US" b="1" i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710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297" y="870333"/>
            <a:ext cx="10819004" cy="5383943"/>
          </a:xfrm>
        </p:spPr>
        <p:txBody>
          <a:bodyPr>
            <a:normAutofit/>
          </a:bodyPr>
          <a:lstStyle/>
          <a:p>
            <a:pPr algn="ctr"/>
            <a:r>
              <a:rPr lang="en-US" b="1" i="1" dirty="0"/>
              <a:t>Organizational Aspects of Tools </a:t>
            </a:r>
            <a:r>
              <a:rPr lang="en-US" b="1" i="1" dirty="0" smtClean="0"/>
              <a:t>Application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No One-Size-Fits-All Solution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Powerful solutions often require significant resources, which may be unaffordable for small/medium-sized enterprises (SMEs).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Organizations must carefully evaluate the cost-benefit ratio when selecting tools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Open-Source Solutions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Open-source tools with large user communities can be installed quickly and operated at manageable costs, making them viable for SMEs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Standards Comparison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IETF Standards</a:t>
            </a:r>
            <a:r>
              <a:rPr lang="en-US" altLang="en-US" sz="2000" dirty="0"/>
              <a:t>: Easier to learn and apply.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OASIS Standards</a:t>
            </a:r>
            <a:r>
              <a:rPr lang="en-US" altLang="en-US" sz="2000" dirty="0"/>
              <a:t>: More complex but more powerful, with a larger community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Impact of STIX 2.0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STIX 2.0 (with JSON instead of XML) may accelerate adoption of technical standards and integration into products.</a:t>
            </a:r>
          </a:p>
          <a:p>
            <a:endParaRPr lang="en-US" sz="2000" b="1" i="1" dirty="0"/>
          </a:p>
          <a:p>
            <a:pPr algn="ctr"/>
            <a:endParaRPr lang="en-US" b="1" i="1" dirty="0" smtClean="0"/>
          </a:p>
          <a:p>
            <a:endParaRPr lang="en-US" b="1" i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425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Review of Cyber Incident </a:t>
            </a:r>
            <a:r>
              <a:rPr lang="en-US" dirty="0" smtClean="0">
                <a:solidFill>
                  <a:srgbClr val="002060"/>
                </a:solidFill>
              </a:rPr>
              <a:t>Information SHARING ASPECT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312522"/>
            <a:ext cx="109291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Importance of Incident Information Sharing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Crucial for future infrastructures to enhance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Considerations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Technical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Need for interoperable, standardized formats and automation in data collection, correlation, and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Non-technical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Cost-benefit analysis, organizational readiness, and the balance between security and resource availability (especially for SMEs).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Recommendations for Future Developments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Develop more flexible, scalable, and cost-effective solutions for incident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Prioritize standards that are easier to adopt (like IETF) while leveraging the power of more complex standards (like OASIS) where applicable.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Continue the evolution of tools and standards (e.g., STIX 2.0 with JSON) to improve automation and interoperability.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122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05080"/>
            <a:ext cx="10885106" cy="5604280"/>
          </a:xfrm>
        </p:spPr>
        <p:txBody>
          <a:bodyPr/>
          <a:lstStyle/>
          <a:p>
            <a:pPr algn="ctr"/>
            <a:r>
              <a:rPr lang="en-US" sz="2400" b="1" i="1" dirty="0"/>
              <a:t>Public and Private Sector </a:t>
            </a:r>
            <a:r>
              <a:rPr lang="en-US" sz="2400" b="1" i="1" dirty="0" smtClean="0"/>
              <a:t>Cooperation</a:t>
            </a:r>
          </a:p>
          <a:p>
            <a:pPr algn="ctr"/>
            <a:endParaRPr lang="en-US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Regulatory Efforts for Cyber Resilience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Both the </a:t>
            </a:r>
            <a:r>
              <a:rPr lang="en-US" altLang="en-US" sz="2000" b="1" dirty="0"/>
              <a:t>U.S.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EU</a:t>
            </a:r>
            <a:r>
              <a:rPr lang="en-US" altLang="en-US" sz="2000" dirty="0"/>
              <a:t> aim to enhance cooperation between public and private sectors to improve cybersecurity for critical infrastructures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U.S. Initiatives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Enhanced Cybersecurity Services (ECS)</a:t>
            </a:r>
            <a:r>
              <a:rPr lang="en-US" altLang="en-US" sz="2000" dirty="0"/>
              <a:t>: Expands information-sharing programs for near real-time cyber threat data exchange between critical infrastructure and government entities.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CISA (Cybersecurity Information Sharing Act)</a:t>
            </a:r>
            <a:r>
              <a:rPr lang="en-US" altLang="en-US" sz="2000" dirty="0"/>
              <a:t>: Facilitates sharing of personal information for cybersecurity threats and enables notifications to affected entities, with privacy protections.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Cyber Threat Indicators</a:t>
            </a:r>
            <a:r>
              <a:rPr lang="en-US" altLang="en-US" sz="2000" dirty="0"/>
              <a:t>: Shared data can be used in prosecuting cybercrimes and related physical crimes.</a:t>
            </a:r>
          </a:p>
          <a:p>
            <a:endParaRPr lang="en-IN" sz="20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959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9" y="2281743"/>
            <a:ext cx="972007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European Strategy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International Cooperation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Focus on exchanging best practices, sharing early warnings, and conducting joint incident management exercises.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CIIP Cooperation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Strengthening cooperation networks involving governments, private sector, and academia.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Civilian &amp; Military Synergies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Promotes R&amp;D programs to protect critical cyber assets and enhance public-private collaboration.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Lack of Focus on ICT Supply Chain Vulnerabilities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No specific focus on sharing information about vulnerabilities in the ICT supply chain.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Legal frameworks are needed to address potential threats like hardware backdoors in IT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956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38130"/>
            <a:ext cx="11039342" cy="5571230"/>
          </a:xfrm>
        </p:spPr>
        <p:txBody>
          <a:bodyPr>
            <a:normAutofit/>
          </a:bodyPr>
          <a:lstStyle/>
          <a:p>
            <a:pPr algn="ctr"/>
            <a:r>
              <a:rPr lang="en-IN" sz="2400" b="1" i="1" dirty="0"/>
              <a:t>International </a:t>
            </a:r>
            <a:r>
              <a:rPr lang="en-IN" sz="2400" b="1" i="1" dirty="0" smtClean="0"/>
              <a:t>Cooperation</a:t>
            </a:r>
          </a:p>
          <a:p>
            <a:pPr algn="ctr"/>
            <a:endParaRPr lang="en-IN" sz="24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Current Cooperation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Primarily through sporadic physical meetings, conferences, and mailing lists (ENISA, 2006).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More structured collaboration is needed for tighter, extensive cooperation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Barriers to Cooperation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Confidence Issues</a:t>
            </a:r>
            <a:r>
              <a:rPr lang="en-US" altLang="en-US" sz="2000" dirty="0"/>
              <a:t>: International regulations limit sensitive information exchange.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Financial Constraints</a:t>
            </a:r>
            <a:r>
              <a:rPr lang="en-US" altLang="en-US" sz="2000" dirty="0"/>
              <a:t>: Real-life meetings are costly.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Lack of SLAs</a:t>
            </a:r>
            <a:r>
              <a:rPr lang="en-US" altLang="en-US" sz="2000" dirty="0"/>
              <a:t>: Absence of Service Level Agreements slows team-to-team cooperation.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Legal Challenges</a:t>
            </a:r>
            <a:r>
              <a:rPr lang="en-US" altLang="en-US" sz="2000" dirty="0"/>
              <a:t>: Different countries have varying legal environments impacting cooperation.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No Standardized CERT Operations</a:t>
            </a:r>
            <a:r>
              <a:rPr lang="en-US" altLang="en-US" sz="2000" dirty="0"/>
              <a:t>: Lack of global CERT operational standards hinders information exchange.</a:t>
            </a:r>
          </a:p>
          <a:p>
            <a:endParaRPr lang="en-IN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820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420243"/>
            <a:ext cx="1015799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Benefits of International Cooperation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Joint incident handling, resource and information sharing.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Improved project collaboration and social networking.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Ecosystem Benefits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(Kaufmann et al., 2014):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Facilitates situational awareness of cybersecurity across infrastructures.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Access to critical security information (best practices, vulnerabilities, resolved issues).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Enhances defense against cyber threats through shared knowledge and coordinated response.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Greater effectiveness due to diverse resources and skills within the cooperative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846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804231"/>
            <a:ext cx="10896123" cy="5905041"/>
          </a:xfrm>
        </p:spPr>
        <p:txBody>
          <a:bodyPr>
            <a:normAutofit/>
          </a:bodyPr>
          <a:lstStyle/>
          <a:p>
            <a:pPr algn="ctr"/>
            <a:r>
              <a:rPr lang="en-IN" b="1" i="1" dirty="0"/>
              <a:t>Incident Information-Sharing </a:t>
            </a:r>
            <a:r>
              <a:rPr lang="en-IN" b="1" i="1" dirty="0" smtClean="0"/>
              <a:t>Architecture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European Directive (2016)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Requires each Member State to create national CERTs.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CERTs must be interconnected via a secure, interoperable information-sharing infrastructure.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U.S. Strategy (White House, 2013)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Proposes two national critical infrastructure centers (DHS-operated):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One for physical infrastructure.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One for cyber infrastructure.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Centers work together to ensure situational awareness and protect both physical and cyber infrastructure.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European Directive (2016)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Requires each Member State to create national CERTs.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CERTs must be interconnected via a secure, interoperable information-sharing infrastructure.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U.S. Strategy (White House, 2013)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Proposes two national critical infrastructure centers (DHS-operated):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One for physical infrastructure.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/>
              <a:t>One for cyber infrastructure.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Centers work together to ensure situational awareness and protect both physical and cyber infrastructure.</a:t>
            </a:r>
          </a:p>
          <a:p>
            <a:endParaRPr lang="en-IN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225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49147"/>
            <a:ext cx="9720073" cy="556021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Centralized vs. P2P Information Sharing</a:t>
            </a:r>
            <a:r>
              <a:rPr lang="en-US" dirty="0"/>
              <a:t>:</a:t>
            </a:r>
          </a:p>
          <a:p>
            <a:r>
              <a:rPr lang="en-US" sz="1900" b="1" dirty="0"/>
              <a:t>Centralized Architecture</a:t>
            </a:r>
            <a:r>
              <a:rPr lang="en-US" sz="1900" dirty="0"/>
              <a:t>:</a:t>
            </a:r>
          </a:p>
          <a:p>
            <a:pPr lvl="1"/>
            <a:r>
              <a:rPr lang="en-US" sz="1900" dirty="0"/>
              <a:t>Single point of collection, analysis, and distribution of incident data.</a:t>
            </a:r>
          </a:p>
          <a:p>
            <a:pPr lvl="1"/>
            <a:r>
              <a:rPr lang="en-US" sz="1900" dirty="0"/>
              <a:t>Risk of slow response and single point of failure.</a:t>
            </a:r>
          </a:p>
          <a:p>
            <a:r>
              <a:rPr lang="en-US" sz="1900" b="1" dirty="0"/>
              <a:t>P2P Sharing Models</a:t>
            </a:r>
            <a:r>
              <a:rPr lang="en-US" sz="1900" dirty="0"/>
              <a:t>:</a:t>
            </a:r>
          </a:p>
          <a:p>
            <a:pPr lvl="1"/>
            <a:r>
              <a:rPr lang="en-US" sz="1900" dirty="0"/>
              <a:t>More responsive, resilient, and trustworthy.</a:t>
            </a:r>
          </a:p>
          <a:p>
            <a:pPr lvl="1"/>
            <a:r>
              <a:rPr lang="en-US" sz="1900" dirty="0"/>
              <a:t>Allows ad-hoc incident response with tailored, anonymous support from trusted peers.</a:t>
            </a:r>
          </a:p>
          <a:p>
            <a:pPr lvl="1"/>
            <a:r>
              <a:rPr lang="en-US" sz="1900" dirty="0"/>
              <a:t>Reduces dependency on a central entity</a:t>
            </a:r>
            <a:r>
              <a:rPr lang="en-US" sz="1900" dirty="0" smtClean="0"/>
              <a:t>.</a:t>
            </a:r>
          </a:p>
          <a:p>
            <a:pPr lvl="1"/>
            <a:endParaRPr 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b="1" dirty="0"/>
              <a:t>Private Sector Preferences</a:t>
            </a:r>
            <a:r>
              <a:rPr lang="en-US" altLang="en-US" sz="19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Private organizations prefer sharing sensitive information with trusted parties rather than a centralized entity.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Sector-specific cooperation groups and P2P collaboration infrastructures are increasingly common</a:t>
            </a:r>
            <a:r>
              <a:rPr lang="en-US" altLang="en-US" sz="19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b="1" dirty="0"/>
              <a:t>Security Considerations</a:t>
            </a:r>
            <a:r>
              <a:rPr lang="en-US" altLang="en-US" sz="19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P2P sharing increases the sensitivity and value of the information.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900" dirty="0"/>
              <a:t>Requires a more secure and reliable communication infrastructure to ensure safe information exchange.</a:t>
            </a:r>
          </a:p>
          <a:p>
            <a:endParaRPr lang="en-IN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117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71181"/>
            <a:ext cx="10907139" cy="5538179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b="1" i="1" dirty="0"/>
              <a:t>Data Collection, Information Analysis, and Intelligence Disclosure </a:t>
            </a:r>
            <a:endParaRPr lang="en-US" b="1" i="1" dirty="0" smtClean="0"/>
          </a:p>
          <a:p>
            <a:pPr algn="ctr"/>
            <a:endParaRPr lang="en-US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Data Collection for Cyber Defense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Cyber defense centers should collect data from multiple sources (e.g., CERTs, OSINT).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Combining traditional data sources with open-source intelligence (OSINT) improves situational awareness.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Both German and Dutch cybersecurity centers analyze both confidential and open-source data</a:t>
            </a:r>
            <a:r>
              <a:rPr lang="en-US" alt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Big Data Analytics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Big data analytics techniques should be used to process large volumes of data for situational awareness (</a:t>
            </a:r>
            <a:r>
              <a:rPr lang="en-US" altLang="en-US" sz="2000" dirty="0" err="1"/>
              <a:t>Maltby</a:t>
            </a:r>
            <a:r>
              <a:rPr lang="en-US" altLang="en-US" sz="2000" dirty="0"/>
              <a:t>, 2011).</a:t>
            </a:r>
          </a:p>
          <a:p>
            <a:r>
              <a:rPr lang="en-US" b="1" dirty="0"/>
              <a:t>Automated vs. Manual Information Sharing</a:t>
            </a:r>
            <a:r>
              <a:rPr lang="en-US" dirty="0"/>
              <a:t>:</a:t>
            </a:r>
          </a:p>
          <a:p>
            <a:r>
              <a:rPr lang="en-US" b="1" dirty="0"/>
              <a:t>Automated Sharing</a:t>
            </a:r>
            <a:r>
              <a:rPr lang="en-US" dirty="0"/>
              <a:t>: High data transfer rate but poses risks like unsupervised transmission and potential regulatory concerns.</a:t>
            </a:r>
          </a:p>
          <a:p>
            <a:r>
              <a:rPr lang="en-US" b="1" dirty="0"/>
              <a:t>Manual Sharing</a:t>
            </a:r>
            <a:r>
              <a:rPr lang="en-US" dirty="0"/>
              <a:t>: Necessary when data is too complex or ambiguous for automation (e.g., free-text reports).</a:t>
            </a:r>
          </a:p>
          <a:p>
            <a:r>
              <a:rPr lang="en-US" b="1" dirty="0"/>
              <a:t>Recommended Approach</a:t>
            </a:r>
            <a:r>
              <a:rPr lang="en-US" dirty="0"/>
              <a:t>: Combine automated and manual sharing for comprehensive incident analysis (</a:t>
            </a:r>
            <a:r>
              <a:rPr lang="en-US" dirty="0" err="1"/>
              <a:t>Settanni</a:t>
            </a:r>
            <a:r>
              <a:rPr lang="en-US" dirty="0"/>
              <a:t> et al., 2015).</a:t>
            </a:r>
          </a:p>
          <a:p>
            <a:endParaRPr lang="en-IN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536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035523"/>
            <a:ext cx="97200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Disclosure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Selective Warning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Critical to warn organizations about vulnerabilities, bugs, and threats.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disclosure of vulnerabilities should be done responsibly—only after vendor solutions (patches,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bugfixes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are provided.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Disclosure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Prioritize vendor contact before public release to avoid exposing organizations (Shepherd, 2003).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Frameworks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 NIS Directive (2016)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public disclosure of vulnerabilities if vendors are contacted and solutions are provided.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U.S. Executive Order (2013)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Requires sharing of vetted cyber threat information with qualified commercial service providers (CSPs), not directly with critical infrastructure entities.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10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79" y="793214"/>
            <a:ext cx="10741886" cy="5802585"/>
          </a:xfrm>
        </p:spPr>
        <p:txBody>
          <a:bodyPr>
            <a:normAutofit/>
          </a:bodyPr>
          <a:lstStyle/>
          <a:p>
            <a:pPr algn="ctr"/>
            <a:r>
              <a:rPr lang="en-US" sz="2400" b="1" i="1" dirty="0"/>
              <a:t>Data Format and Exchange </a:t>
            </a:r>
            <a:r>
              <a:rPr lang="en-US" sz="2400" b="1" i="1" dirty="0" smtClean="0"/>
              <a:t>Protocols</a:t>
            </a:r>
          </a:p>
          <a:p>
            <a:pPr algn="ctr"/>
            <a:endParaRPr lang="en-US" sz="2400" b="1" i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Quality and Timeliness of Information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Timely and accurate information exchange is crucial for incident-sharing between expert centers, organizations, agencies, and critical infrastructure owners.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Current Information Sharing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A mix of standard and proprietary mechanisms is used to exchange indicators across different data types and protocols.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/>
              <a:t>European Directive (2016)</a:t>
            </a:r>
            <a:r>
              <a:rPr lang="en-US" altLang="en-US" sz="20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/>
              <a:t>Requires the definition of formats and procedures for collecting and sharing compatible information on risks and incidents by competent authorities.</a:t>
            </a:r>
          </a:p>
          <a:p>
            <a:r>
              <a:rPr lang="en-US" sz="2000" b="1" dirty="0"/>
              <a:t>U.S. Cybersecurity Policy</a:t>
            </a:r>
            <a:r>
              <a:rPr lang="en-US" sz="2000" dirty="0"/>
              <a:t>:</a:t>
            </a:r>
          </a:p>
          <a:p>
            <a:r>
              <a:rPr lang="en-US" sz="2000" dirty="0"/>
              <a:t>The U.S. PPD aims to enable efficient information exchange through standardized data formats, system requirements, and accessibility.</a:t>
            </a:r>
          </a:p>
          <a:p>
            <a:endParaRPr lang="en-IN" sz="20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483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9" y="2728020"/>
            <a:ext cx="97200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Information Sharing Act (CISA, 2015)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processes for receiving, handling, and disseminating shared information via DHS Automated Indicator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STIX and TAXII specifications for machine-to-machine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U.S. Cybersecurity Framework (NIST, 2014)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the development of standardized data exchange mechanisms for sector-wide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technologies should be able to detect past attacks, identify compromised systems, and support future attack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357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749147"/>
            <a:ext cx="10841038" cy="5905041"/>
          </a:xfrm>
        </p:spPr>
        <p:txBody>
          <a:bodyPr>
            <a:normAutofit/>
          </a:bodyPr>
          <a:lstStyle/>
          <a:p>
            <a:pPr algn="ctr"/>
            <a:r>
              <a:rPr lang="en-IN" sz="2400" b="1" i="1" dirty="0"/>
              <a:t>Future Research and </a:t>
            </a:r>
            <a:r>
              <a:rPr lang="en-IN" sz="2400" b="1" i="1" dirty="0" smtClean="0"/>
              <a:t>Development</a:t>
            </a:r>
          </a:p>
          <a:p>
            <a:pPr algn="ctr"/>
            <a:endParaRPr lang="en-IN" sz="2400" b="1" i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Need for Investment in R&amp;D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Highlighted in EU, U.S., and international initiatives as essential for cybersecurity development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European Union (2013)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R&amp;D will support industrial policy, promote a trustworthy ICT industry, reduce dependence on foreign technologies, and strengthen the internal market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U.S. Strategy (White House, 2013b)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Directs authorities to develop a comprehensive R&amp;D plan to align federal and federally funded activities focused on critical infrastructure security and resilience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Tallinn Manual (NATO, 2013)</a:t>
            </a:r>
            <a:r>
              <a:rPr lang="en-US" altLang="en-US" sz="18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Launched in 2009 as a leading international cyber law research initiative.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Focuses on: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A comprehensive research agenda.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Practitioner-oriented training opportunities.</a:t>
            </a:r>
          </a:p>
          <a:p>
            <a:endParaRPr lang="en-IN" sz="2400" b="1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Asst. Prof. Rushikesh CHikane, MIT ACSC, Alandi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C7E36-F3F2-4653-AC8F-C433BB90B83A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078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970</TotalTime>
  <Words>8048</Words>
  <Application>Microsoft Office PowerPoint</Application>
  <PresentationFormat>Widescreen</PresentationFormat>
  <Paragraphs>1024</Paragraphs>
  <Slides>94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Arial</vt:lpstr>
      <vt:lpstr>Calibri</vt:lpstr>
      <vt:lpstr>Times New Reoman</vt:lpstr>
      <vt:lpstr>Tw Cen MT</vt:lpstr>
      <vt:lpstr>Tw Cen MT Condensed</vt:lpstr>
      <vt:lpstr>Wingdings</vt:lpstr>
      <vt:lpstr>Wingdings 3</vt:lpstr>
      <vt:lpstr>Integral</vt:lpstr>
      <vt:lpstr>Information Sharing</vt:lpstr>
      <vt:lpstr>Introduction</vt:lpstr>
      <vt:lpstr>PowerPoint Presentation</vt:lpstr>
      <vt:lpstr>The Dimensions of Information Sharing</vt:lpstr>
      <vt:lpstr>PowerPoint Presentation</vt:lpstr>
      <vt:lpstr>PowerPoint Presentation</vt:lpstr>
      <vt:lpstr>Dimension I: Efficient Cooperation and Coordination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 II: Legal and Regulatory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 III: Standardization Efforts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 IV: Regional and International Implementations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Dimension V: Technology Integration into Organizations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of Cyber Incident Information SHARING ASPECT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Sharing</dc:title>
  <dc:creator>Rushikesh</dc:creator>
  <cp:lastModifiedBy>Admin</cp:lastModifiedBy>
  <cp:revision>248</cp:revision>
  <dcterms:created xsi:type="dcterms:W3CDTF">2024-09-23T11:35:42Z</dcterms:created>
  <dcterms:modified xsi:type="dcterms:W3CDTF">2024-11-11T10:33:35Z</dcterms:modified>
</cp:coreProperties>
</file>