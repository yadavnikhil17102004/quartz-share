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74" r:id="rId6"/>
    <p:sldId id="260" r:id="rId7"/>
    <p:sldId id="261" r:id="rId8"/>
    <p:sldId id="276" r:id="rId9"/>
    <p:sldId id="262" r:id="rId10"/>
    <p:sldId id="263" r:id="rId11"/>
    <p:sldId id="275" r:id="rId12"/>
    <p:sldId id="264" r:id="rId13"/>
    <p:sldId id="265" r:id="rId14"/>
    <p:sldId id="277" r:id="rId15"/>
    <p:sldId id="278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307" r:id="rId24"/>
    <p:sldId id="308" r:id="rId25"/>
    <p:sldId id="285" r:id="rId26"/>
    <p:sldId id="309" r:id="rId27"/>
    <p:sldId id="279" r:id="rId28"/>
    <p:sldId id="280" r:id="rId29"/>
    <p:sldId id="281" r:id="rId30"/>
    <p:sldId id="282" r:id="rId31"/>
    <p:sldId id="283" r:id="rId32"/>
    <p:sldId id="284" r:id="rId33"/>
    <p:sldId id="286" r:id="rId34"/>
    <p:sldId id="287" r:id="rId35"/>
    <p:sldId id="288" r:id="rId36"/>
    <p:sldId id="289" r:id="rId37"/>
    <p:sldId id="310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41E81-F761-4776-B4A7-BC732914B218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EA27F-8962-4C5A-92D3-DE6D9B2DC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10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6EA27F-8962-4C5A-92D3-DE6D9B2DC99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639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92492-2BA6-45CC-B05F-116DF92B1246}" type="datetime1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85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2DAA4-E9C5-4208-8F7B-F7AAF60AB2F0}" type="datetime1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39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4E102-638B-4D00-B7ED-BAD66507B70C}" type="datetime1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208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C862-32B9-4318-B9CE-28A5D2930295}" type="datetime1">
              <a:rPr lang="en-US" smtClean="0"/>
              <a:t>8/6/2024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29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3DC5-7408-4C03-8B57-C2E2F20CE9CB}" type="datetime1">
              <a:rPr lang="en-US" smtClean="0"/>
              <a:t>8/6/2024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784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8F13-99C8-48F1-ACF9-811C300664FF}" type="datetime1">
              <a:rPr lang="en-US" smtClean="0"/>
              <a:t>8/6/2024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95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ED813-2AF6-4017-821A-F5A62F835B6C}" type="datetime1">
              <a:rPr lang="en-US" smtClean="0"/>
              <a:t>8/6/2024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74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5A026BA-09A3-4C5F-A992-A52D21642C17}" type="datetime1">
              <a:rPr lang="en-US" smtClean="0"/>
              <a:t>8/6/2024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F8714CF-8381-425A-AF9E-EDE11611E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226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7CAF-8CAF-417F-904B-21CE64C235AE}" type="datetime1">
              <a:rPr lang="en-US" smtClean="0"/>
              <a:t>8/6/2024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95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70669-A87B-4267-AC14-D5B3845D21F0}" type="datetime1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39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B6818-9BA5-4B41-910C-50899B4F9278}" type="datetime1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99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E7D8178-D43F-421A-9B78-19517DA6B11B}" type="datetime1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F8714CF-8381-425A-AF9E-EDE11611E5A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107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9" r:id="rId1"/>
    <p:sldLayoutId id="2147483960" r:id="rId2"/>
    <p:sldLayoutId id="2147483961" r:id="rId3"/>
    <p:sldLayoutId id="2147483962" r:id="rId4"/>
    <p:sldLayoutId id="2147483963" r:id="rId5"/>
    <p:sldLayoutId id="2147483964" r:id="rId6"/>
    <p:sldLayoutId id="2147483965" r:id="rId7"/>
    <p:sldLayoutId id="2147483966" r:id="rId8"/>
    <p:sldLayoutId id="2147483967" r:id="rId9"/>
    <p:sldLayoutId id="2147483968" r:id="rId10"/>
    <p:sldLayoutId id="214748396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14688" y="977316"/>
            <a:ext cx="5248929" cy="2038839"/>
          </a:xfrm>
        </p:spPr>
        <p:txBody>
          <a:bodyPr>
            <a:normAutofit/>
          </a:bodyPr>
          <a:lstStyle/>
          <a:p>
            <a:r>
              <a:rPr lang="en-US" sz="8800" b="1" dirty="0" smtClean="0"/>
              <a:t>Chapter 2</a:t>
            </a:r>
            <a:endParaRPr lang="en-US" sz="8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95535" y="3082208"/>
            <a:ext cx="7196465" cy="1655762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</a:rPr>
              <a:t>Attack Scenarios and Involved </a:t>
            </a:r>
            <a:r>
              <a:rPr lang="en-US" sz="4400" b="1" dirty="0" smtClean="0">
                <a:solidFill>
                  <a:srgbClr val="7030A0"/>
                </a:solidFill>
              </a:rPr>
              <a:t>Threat Actors</a:t>
            </a:r>
            <a:endParaRPr lang="en-US" sz="4400" b="1" dirty="0">
              <a:solidFill>
                <a:srgbClr val="7030A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Organizations and companies face a </a:t>
            </a:r>
            <a:r>
              <a:rPr lang="en-US" dirty="0">
                <a:solidFill>
                  <a:srgbClr val="FF0000"/>
                </a:solidFill>
              </a:rPr>
              <a:t>new worldwide level of sophistication in </a:t>
            </a:r>
            <a:r>
              <a:rPr lang="en-US" dirty="0" smtClean="0">
                <a:solidFill>
                  <a:srgbClr val="FF0000"/>
                </a:solidFill>
              </a:rPr>
              <a:t>cyber attacks </a:t>
            </a:r>
            <a:r>
              <a:rPr lang="en-US" dirty="0">
                <a:solidFill>
                  <a:srgbClr val="FF0000"/>
                </a:solidFill>
              </a:rPr>
              <a:t>due to the continuous evolution of technology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Technological </a:t>
            </a:r>
            <a:r>
              <a:rPr lang="en-US" dirty="0">
                <a:solidFill>
                  <a:srgbClr val="FF0000"/>
                </a:solidFill>
              </a:rPr>
              <a:t>changes</a:t>
            </a:r>
            <a:r>
              <a:rPr lang="en-US" dirty="0"/>
              <a:t>, </a:t>
            </a:r>
            <a:r>
              <a:rPr lang="en-US" dirty="0" smtClean="0"/>
              <a:t>such as </a:t>
            </a:r>
            <a:r>
              <a:rPr lang="en-US" dirty="0"/>
              <a:t>the rise of cloud technology, widely available low-priced bandwidth, and </a:t>
            </a:r>
            <a:r>
              <a:rPr lang="en-US" dirty="0" err="1" smtClean="0"/>
              <a:t>cryptocurrency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bring </a:t>
            </a:r>
            <a:r>
              <a:rPr lang="en-US" dirty="0">
                <a:solidFill>
                  <a:srgbClr val="FF0000"/>
                </a:solidFill>
              </a:rPr>
              <a:t>new security threats.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resulting threat </a:t>
            </a:r>
            <a:r>
              <a:rPr lang="en-US" dirty="0"/>
              <a:t>landscape calls for </a:t>
            </a:r>
            <a:r>
              <a:rPr lang="en-US" dirty="0" smtClean="0"/>
              <a:t>a paradigm </a:t>
            </a:r>
            <a:r>
              <a:rPr lang="en-US" dirty="0"/>
              <a:t>shift and for </a:t>
            </a:r>
            <a:r>
              <a:rPr lang="en-US" dirty="0">
                <a:solidFill>
                  <a:srgbClr val="FF0000"/>
                </a:solidFill>
              </a:rPr>
              <a:t>fundamentally new approaches in cyber defense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Security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breaches </a:t>
            </a:r>
            <a:r>
              <a:rPr lang="en-US" dirty="0">
                <a:solidFill>
                  <a:srgbClr val="FF0000"/>
                </a:solidFill>
              </a:rPr>
              <a:t>and cyber attacks of all kinds are becoming more professional, </a:t>
            </a:r>
            <a:r>
              <a:rPr lang="en-US" dirty="0" smtClean="0">
                <a:solidFill>
                  <a:srgbClr val="FF0000"/>
                </a:solidFill>
              </a:rPr>
              <a:t>stealthy, automated</a:t>
            </a:r>
            <a:r>
              <a:rPr lang="en-US" dirty="0">
                <a:solidFill>
                  <a:srgbClr val="FF0000"/>
                </a:solidFill>
              </a:rPr>
              <a:t>, and complex.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These </a:t>
            </a:r>
            <a:r>
              <a:rPr lang="en-US" dirty="0"/>
              <a:t>advanced forms of cyber attacks and threat </a:t>
            </a:r>
            <a:r>
              <a:rPr lang="en-US" dirty="0" smtClean="0"/>
              <a:t>actors beat </a:t>
            </a:r>
            <a:r>
              <a:rPr lang="en-US" dirty="0"/>
              <a:t>traditional defense methods and techniques.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9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Definitions of </a:t>
            </a:r>
            <a:r>
              <a:rPr lang="en-US" dirty="0" smtClean="0"/>
              <a:t>Cyber security </a:t>
            </a:r>
            <a:r>
              <a:rPr lang="en-US" dirty="0"/>
              <a:t>in a Nutshell.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823917" cy="4729920"/>
          </a:xfrm>
        </p:spPr>
        <p:txBody>
          <a:bodyPr>
            <a:normAutofit/>
          </a:bodyPr>
          <a:lstStyle/>
          <a:p>
            <a:r>
              <a:rPr lang="en-US" dirty="0"/>
              <a:t>Security in general covers the protection of critical assets from numerous </a:t>
            </a:r>
            <a:r>
              <a:rPr lang="en-US" dirty="0" smtClean="0"/>
              <a:t>threats posed </a:t>
            </a:r>
            <a:r>
              <a:rPr lang="en-US" dirty="0"/>
              <a:t>by various </a:t>
            </a:r>
            <a:r>
              <a:rPr lang="en-US" dirty="0" smtClean="0"/>
              <a:t>vulnerabilities. </a:t>
            </a:r>
          </a:p>
          <a:p>
            <a:r>
              <a:rPr lang="en-US" dirty="0" smtClean="0"/>
              <a:t>Therefore, the </a:t>
            </a:r>
            <a:r>
              <a:rPr lang="en-US" dirty="0"/>
              <a:t>determination of assets deserving protection from threats helps to </a:t>
            </a:r>
            <a:r>
              <a:rPr lang="en-US" dirty="0" smtClean="0"/>
              <a:t>distinguish among </a:t>
            </a:r>
            <a:r>
              <a:rPr lang="en-US" dirty="0"/>
              <a:t>the commonly used terms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 </a:t>
            </a:r>
            <a:r>
              <a:rPr lang="en-US" dirty="0">
                <a:solidFill>
                  <a:srgbClr val="FF0000"/>
                </a:solidFill>
              </a:rPr>
              <a:t>information security, 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ICT </a:t>
            </a:r>
            <a:r>
              <a:rPr lang="en-US" dirty="0">
                <a:solidFill>
                  <a:srgbClr val="FF0000"/>
                </a:solidFill>
              </a:rPr>
              <a:t>security, and 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cyber security.</a:t>
            </a:r>
          </a:p>
          <a:p>
            <a:r>
              <a:rPr lang="en-US" dirty="0"/>
              <a:t>The aim of </a:t>
            </a:r>
            <a:r>
              <a:rPr lang="en-US" i="1" dirty="0">
                <a:solidFill>
                  <a:srgbClr val="FF0000"/>
                </a:solidFill>
              </a:rPr>
              <a:t>information security </a:t>
            </a:r>
            <a:r>
              <a:rPr lang="en-US" dirty="0">
                <a:solidFill>
                  <a:srgbClr val="FF0000"/>
                </a:solidFill>
              </a:rPr>
              <a:t>(IS) is to preserve business continuity and </a:t>
            </a:r>
            <a:r>
              <a:rPr lang="en-US" dirty="0" smtClean="0">
                <a:solidFill>
                  <a:srgbClr val="FF0000"/>
                </a:solidFill>
              </a:rPr>
              <a:t>to minimize </a:t>
            </a:r>
            <a:r>
              <a:rPr lang="en-US" dirty="0">
                <a:solidFill>
                  <a:srgbClr val="FF0000"/>
                </a:solidFill>
              </a:rPr>
              <a:t>business damage by limiting the impact of security incidents.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According</a:t>
            </a:r>
            <a:r>
              <a:rPr lang="en-US" dirty="0"/>
              <a:t> </a:t>
            </a:r>
            <a:r>
              <a:rPr lang="en-US" dirty="0" smtClean="0"/>
              <a:t>to </a:t>
            </a:r>
            <a:r>
              <a:rPr lang="en-US" dirty="0"/>
              <a:t>the international standards, such as the ISO 27002, </a:t>
            </a:r>
            <a:r>
              <a:rPr lang="en-US" dirty="0">
                <a:solidFill>
                  <a:srgbClr val="FF0000"/>
                </a:solidFill>
              </a:rPr>
              <a:t>information security </a:t>
            </a:r>
            <a:r>
              <a:rPr lang="en-US" dirty="0" smtClean="0">
                <a:solidFill>
                  <a:srgbClr val="FF0000"/>
                </a:solidFill>
              </a:rPr>
              <a:t>deals with </a:t>
            </a:r>
            <a:r>
              <a:rPr lang="en-US" dirty="0">
                <a:solidFill>
                  <a:srgbClr val="FF0000"/>
                </a:solidFill>
              </a:rPr>
              <a:t>the protection of confidentiality, integrity, and availability of </a:t>
            </a:r>
            <a:r>
              <a:rPr lang="en-US" dirty="0" smtClean="0">
                <a:solidFill>
                  <a:srgbClr val="FF0000"/>
                </a:solidFill>
              </a:rPr>
              <a:t>information stored </a:t>
            </a:r>
            <a:r>
              <a:rPr lang="en-US" dirty="0">
                <a:solidFill>
                  <a:srgbClr val="FF0000"/>
                </a:solidFill>
              </a:rPr>
              <a:t>electronically or on paper.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term </a:t>
            </a:r>
            <a:r>
              <a:rPr lang="en-US" i="1" dirty="0" smtClean="0">
                <a:solidFill>
                  <a:srgbClr val="FF0000"/>
                </a:solidFill>
              </a:rPr>
              <a:t>cyber security </a:t>
            </a:r>
            <a:r>
              <a:rPr lang="en-US" dirty="0">
                <a:solidFill>
                  <a:srgbClr val="FF0000"/>
                </a:solidFill>
              </a:rPr>
              <a:t>is usually understood as an all-inclusive term </a:t>
            </a:r>
            <a:r>
              <a:rPr lang="en-US" dirty="0" smtClean="0">
                <a:solidFill>
                  <a:srgbClr val="FF0000"/>
                </a:solidFill>
              </a:rPr>
              <a:t>covering information </a:t>
            </a:r>
            <a:r>
              <a:rPr lang="en-US" dirty="0">
                <a:solidFill>
                  <a:srgbClr val="FF0000"/>
                </a:solidFill>
              </a:rPr>
              <a:t>security, ICT security, and their combination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prefix cyber is </a:t>
            </a:r>
            <a:r>
              <a:rPr lang="en-US" dirty="0" smtClean="0"/>
              <a:t>used to </a:t>
            </a:r>
            <a:r>
              <a:rPr lang="en-US" dirty="0"/>
              <a:t>describe terms relating to ICT security and information security, but with a </a:t>
            </a:r>
            <a:r>
              <a:rPr lang="en-US" dirty="0" smtClean="0"/>
              <a:t>strong “cyber </a:t>
            </a:r>
            <a:r>
              <a:rPr lang="en-US" dirty="0"/>
              <a:t>component.” </a:t>
            </a:r>
            <a:endParaRPr lang="en-US" dirty="0" smtClean="0"/>
          </a:p>
          <a:p>
            <a:r>
              <a:rPr lang="en-US" dirty="0" smtClean="0"/>
              <a:t>Thus</a:t>
            </a:r>
            <a:r>
              <a:rPr lang="en-US" dirty="0"/>
              <a:t>, </a:t>
            </a:r>
            <a:r>
              <a:rPr lang="en-US" dirty="0" smtClean="0"/>
              <a:t>cyber security </a:t>
            </a:r>
            <a:r>
              <a:rPr lang="en-US" dirty="0"/>
              <a:t>describes the </a:t>
            </a:r>
            <a:r>
              <a:rPr lang="en-US" dirty="0">
                <a:solidFill>
                  <a:srgbClr val="FF0000"/>
                </a:solidFill>
              </a:rPr>
              <a:t>protection of persons, </a:t>
            </a:r>
            <a:r>
              <a:rPr lang="en-US" dirty="0" smtClean="0">
                <a:solidFill>
                  <a:srgbClr val="FF0000"/>
                </a:solidFill>
              </a:rPr>
              <a:t>societies, and </a:t>
            </a:r>
            <a:r>
              <a:rPr lang="en-US" dirty="0">
                <a:solidFill>
                  <a:srgbClr val="FF0000"/>
                </a:solidFill>
              </a:rPr>
              <a:t>nations, including their information- and non-information-based assets </a:t>
            </a:r>
            <a:r>
              <a:rPr lang="en-US" dirty="0" smtClean="0">
                <a:solidFill>
                  <a:srgbClr val="FF0000"/>
                </a:solidFill>
              </a:rPr>
              <a:t>via tools</a:t>
            </a:r>
            <a:r>
              <a:rPr lang="en-US" dirty="0">
                <a:solidFill>
                  <a:srgbClr val="FF0000"/>
                </a:solidFill>
              </a:rPr>
              <a:t>, security concepts, guidelines, risk management approaches, best </a:t>
            </a:r>
            <a:r>
              <a:rPr lang="en-US" dirty="0" smtClean="0">
                <a:solidFill>
                  <a:srgbClr val="FF0000"/>
                </a:solidFill>
              </a:rPr>
              <a:t>practices, and </a:t>
            </a:r>
            <a:r>
              <a:rPr lang="en-US" dirty="0">
                <a:solidFill>
                  <a:srgbClr val="FF0000"/>
                </a:solidFill>
              </a:rPr>
              <a:t>technologies in order to protect the interest of a person, society, or nation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/>
              <a:t>It aims to </a:t>
            </a:r>
            <a:r>
              <a:rPr lang="en-US" dirty="0">
                <a:solidFill>
                  <a:srgbClr val="FF0000"/>
                </a:solidFill>
              </a:rPr>
              <a:t>protect all information-based and </a:t>
            </a:r>
            <a:r>
              <a:rPr lang="en-US" dirty="0" smtClean="0">
                <a:solidFill>
                  <a:srgbClr val="FF0000"/>
                </a:solidFill>
              </a:rPr>
              <a:t>non-information-based assets</a:t>
            </a:r>
            <a:r>
              <a:rPr lang="en-US" dirty="0">
                <a:solidFill>
                  <a:srgbClr val="FF0000"/>
                </a:solidFill>
              </a:rPr>
              <a:t>, including persons and knowledge, that are threatened via exploited ICT.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964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general, </a:t>
            </a:r>
            <a:r>
              <a:rPr lang="en-US" dirty="0" smtClean="0">
                <a:solidFill>
                  <a:srgbClr val="FF0000"/>
                </a:solidFill>
              </a:rPr>
              <a:t>cyber security </a:t>
            </a:r>
            <a:r>
              <a:rPr lang="en-US" dirty="0">
                <a:solidFill>
                  <a:srgbClr val="FF0000"/>
                </a:solidFill>
              </a:rPr>
              <a:t>is used as an umbrella term </a:t>
            </a:r>
            <a:r>
              <a:rPr lang="en-US" dirty="0" smtClean="0"/>
              <a:t>whereas </a:t>
            </a:r>
            <a:r>
              <a:rPr lang="en-US" dirty="0">
                <a:solidFill>
                  <a:srgbClr val="FF0000"/>
                </a:solidFill>
              </a:rPr>
              <a:t>information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security</a:t>
            </a:r>
            <a:r>
              <a:rPr lang="en-US" dirty="0"/>
              <a:t> sets its </a:t>
            </a:r>
            <a:r>
              <a:rPr lang="en-US" dirty="0">
                <a:solidFill>
                  <a:srgbClr val="FF0000"/>
                </a:solidFill>
              </a:rPr>
              <a:t>focus on the preservation </a:t>
            </a:r>
            <a:r>
              <a:rPr lang="en-US" dirty="0" smtClean="0">
                <a:solidFill>
                  <a:srgbClr val="FF0000"/>
                </a:solidFill>
              </a:rPr>
              <a:t>of the </a:t>
            </a:r>
            <a:r>
              <a:rPr lang="en-US" dirty="0">
                <a:solidFill>
                  <a:srgbClr val="FF0000"/>
                </a:solidFill>
              </a:rPr>
              <a:t>CIA triad—confidentiality, integrity, and availability</a:t>
            </a:r>
            <a:r>
              <a:rPr lang="en-US" dirty="0"/>
              <a:t>—of information,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FF0000"/>
                </a:solidFill>
              </a:rPr>
              <a:t>ICT </a:t>
            </a:r>
            <a:r>
              <a:rPr lang="en-US" dirty="0">
                <a:solidFill>
                  <a:srgbClr val="FF0000"/>
                </a:solidFill>
              </a:rPr>
              <a:t>security focuses on the underlying technical infrastructure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Cyber security </a:t>
            </a:r>
            <a:r>
              <a:rPr lang="en-US" dirty="0"/>
              <a:t>takes a </a:t>
            </a:r>
            <a:r>
              <a:rPr lang="en-US" dirty="0" smtClean="0"/>
              <a:t>broader view </a:t>
            </a:r>
            <a:r>
              <a:rPr lang="en-US" dirty="0"/>
              <a:t>and includes the human dimension in its operating and protection range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3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2038" y="2790825"/>
            <a:ext cx="5048250" cy="2133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58831" y="817739"/>
            <a:ext cx="43893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i="0" u="none" strike="noStrike" baseline="0" dirty="0" smtClean="0">
                <a:latin typeface="OptimaLTStd-Bold"/>
              </a:rPr>
              <a:t>Notions of Security</a:t>
            </a: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1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 Cyber Attacks, Cybercrime, and </a:t>
            </a:r>
            <a:r>
              <a:rPr lang="en-US" dirty="0" err="1"/>
              <a:t>Cyberwar</a:t>
            </a:r>
            <a:r>
              <a:rPr lang="en-US" dirty="0"/>
              <a:t>: Emerging Trends and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133407" cy="481432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Cyber security </a:t>
            </a:r>
            <a:r>
              <a:rPr lang="en-US" dirty="0">
                <a:solidFill>
                  <a:srgbClr val="FF0000"/>
                </a:solidFill>
              </a:rPr>
              <a:t>aims to prevent, detect, and respond to cyber incidents and </a:t>
            </a:r>
            <a:r>
              <a:rPr lang="en-US" dirty="0" smtClean="0">
                <a:solidFill>
                  <a:srgbClr val="FF0000"/>
                </a:solidFill>
              </a:rPr>
              <a:t>attacks, and </a:t>
            </a:r>
            <a:r>
              <a:rPr lang="en-US" dirty="0">
                <a:solidFill>
                  <a:srgbClr val="FF0000"/>
                </a:solidFill>
              </a:rPr>
              <a:t>mitigate cyber threats.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Unlike </a:t>
            </a:r>
            <a:r>
              <a:rPr lang="en-US" dirty="0"/>
              <a:t>physical threats, they are mainly stealthy, </a:t>
            </a:r>
            <a:r>
              <a:rPr lang="en-US" dirty="0" smtClean="0"/>
              <a:t>and the </a:t>
            </a:r>
            <a:r>
              <a:rPr lang="en-US" dirty="0">
                <a:solidFill>
                  <a:srgbClr val="FF0000"/>
                </a:solidFill>
              </a:rPr>
              <a:t>threat actors </a:t>
            </a:r>
            <a:r>
              <a:rPr lang="en-US" dirty="0"/>
              <a:t>usually </a:t>
            </a:r>
            <a:r>
              <a:rPr lang="en-US" dirty="0">
                <a:solidFill>
                  <a:srgbClr val="FF0000"/>
                </a:solidFill>
              </a:rPr>
              <a:t>manage to remain anonymous</a:t>
            </a:r>
            <a:r>
              <a:rPr lang="en-US" dirty="0"/>
              <a:t>. </a:t>
            </a:r>
            <a:r>
              <a:rPr lang="en-US" dirty="0">
                <a:solidFill>
                  <a:srgbClr val="FF0000"/>
                </a:solidFill>
              </a:rPr>
              <a:t>The spectrum of risks </a:t>
            </a:r>
            <a:r>
              <a:rPr lang="en-US" dirty="0" smtClean="0">
                <a:solidFill>
                  <a:srgbClr val="FF0000"/>
                </a:solidFill>
              </a:rPr>
              <a:t>is limitless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i="1" dirty="0" smtClean="0">
                <a:solidFill>
                  <a:srgbClr val="FF0000"/>
                </a:solidFill>
              </a:rPr>
              <a:t>A cyber </a:t>
            </a:r>
            <a:r>
              <a:rPr lang="en-US" i="1" dirty="0">
                <a:solidFill>
                  <a:srgbClr val="FF0000"/>
                </a:solidFill>
              </a:rPr>
              <a:t>attack refers to an attack that </a:t>
            </a:r>
            <a:r>
              <a:rPr lang="en-US" i="1" dirty="0" smtClean="0">
                <a:solidFill>
                  <a:srgbClr val="FF0000"/>
                </a:solidFill>
              </a:rPr>
              <a:t>is carried </a:t>
            </a:r>
            <a:r>
              <a:rPr lang="en-US" i="1" dirty="0">
                <a:solidFill>
                  <a:srgbClr val="FF0000"/>
                </a:solidFill>
              </a:rPr>
              <a:t>out through ICT and compromises the </a:t>
            </a:r>
            <a:r>
              <a:rPr lang="en-US" i="1" dirty="0" smtClean="0">
                <a:solidFill>
                  <a:srgbClr val="FF0000"/>
                </a:solidFill>
              </a:rPr>
              <a:t>cyber security </a:t>
            </a:r>
            <a:r>
              <a:rPr lang="en-US" i="1" dirty="0">
                <a:solidFill>
                  <a:srgbClr val="FF0000"/>
                </a:solidFill>
              </a:rPr>
              <a:t>of persons, societies, </a:t>
            </a:r>
            <a:r>
              <a:rPr lang="en-US" i="1" dirty="0" smtClean="0">
                <a:solidFill>
                  <a:srgbClr val="FF0000"/>
                </a:solidFill>
              </a:rPr>
              <a:t>or nation-states</a:t>
            </a:r>
            <a:r>
              <a:rPr lang="en-US" i="1" dirty="0">
                <a:solidFill>
                  <a:srgbClr val="FF0000"/>
                </a:solidFill>
              </a:rPr>
              <a:t>, targeting their information- and </a:t>
            </a:r>
            <a:r>
              <a:rPr lang="en-US" i="1" dirty="0" smtClean="0">
                <a:solidFill>
                  <a:srgbClr val="FF0000"/>
                </a:solidFill>
              </a:rPr>
              <a:t>non information-based </a:t>
            </a:r>
            <a:r>
              <a:rPr lang="en-US" i="1" dirty="0">
                <a:solidFill>
                  <a:srgbClr val="FF0000"/>
                </a:solidFill>
              </a:rPr>
              <a:t>assets. </a:t>
            </a:r>
            <a:endParaRPr lang="en-US" i="1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Cyber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attacks </a:t>
            </a:r>
            <a:r>
              <a:rPr lang="en-US" dirty="0"/>
              <a:t>may include various </a:t>
            </a:r>
            <a:r>
              <a:rPr lang="en-US" dirty="0" smtClean="0">
                <a:solidFill>
                  <a:srgbClr val="FF0000"/>
                </a:solidFill>
              </a:rPr>
              <a:t>consequences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>
                <a:solidFill>
                  <a:schemeClr val="accent5">
                    <a:lumMod val="50000"/>
                  </a:schemeClr>
                </a:solidFill>
              </a:rPr>
              <a:t>breach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of access, data </a:t>
            </a:r>
            <a:r>
              <a:rPr lang="en-US" dirty="0" smtClean="0">
                <a:solidFill>
                  <a:schemeClr val="accent5">
                    <a:lumMod val="50000"/>
                  </a:schemeClr>
                </a:solidFill>
              </a:rPr>
              <a:t>exfiltration, identity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theft, fraud, intellectual property theft, denial of service, and malware infection.</a:t>
            </a:r>
          </a:p>
          <a:p>
            <a:r>
              <a:rPr lang="en-US" dirty="0"/>
              <a:t>Not every single cyber attack has the potential to escalate into serious conflicts.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70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6222" y="1846263"/>
            <a:ext cx="5959881" cy="402272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77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 </a:t>
            </a:r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cyber campaign </a:t>
            </a:r>
            <a:r>
              <a:rPr lang="en-US" dirty="0">
                <a:solidFill>
                  <a:srgbClr val="FF0000"/>
                </a:solidFill>
              </a:rPr>
              <a:t>refers to a series of planned cyber attacks and other </a:t>
            </a:r>
            <a:r>
              <a:rPr lang="en-US" dirty="0" smtClean="0">
                <a:solidFill>
                  <a:srgbClr val="FF0000"/>
                </a:solidFill>
              </a:rPr>
              <a:t>supporting operations. 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Cyber </a:t>
            </a:r>
            <a:r>
              <a:rPr lang="en-US" dirty="0">
                <a:solidFill>
                  <a:srgbClr val="FF0000"/>
                </a:solidFill>
              </a:rPr>
              <a:t>attacks </a:t>
            </a:r>
            <a:r>
              <a:rPr lang="en-US" dirty="0"/>
              <a:t>are becoming more sophisticated, and their tactics, </a:t>
            </a:r>
            <a:r>
              <a:rPr lang="en-US" dirty="0" smtClean="0"/>
              <a:t>techniques, and </a:t>
            </a:r>
            <a:r>
              <a:rPr lang="en-US" dirty="0"/>
              <a:t>procedures </a:t>
            </a:r>
            <a:r>
              <a:rPr lang="en-US" dirty="0">
                <a:solidFill>
                  <a:srgbClr val="FF0000"/>
                </a:solidFill>
              </a:rPr>
              <a:t>(TTPs) are continuously developing</a:t>
            </a:r>
            <a:r>
              <a:rPr lang="en-US" dirty="0" smtClean="0"/>
              <a:t>.</a:t>
            </a:r>
          </a:p>
          <a:p>
            <a:r>
              <a:rPr lang="en-US" dirty="0"/>
              <a:t>Due to the variety of exploitable technologies and applied techniques, it </a:t>
            </a:r>
            <a:r>
              <a:rPr lang="en-US" dirty="0" smtClean="0"/>
              <a:t>has become </a:t>
            </a:r>
            <a:r>
              <a:rPr lang="en-US" dirty="0">
                <a:solidFill>
                  <a:srgbClr val="FF0000"/>
                </a:solidFill>
              </a:rPr>
              <a:t>quite hard to maintain a consistent categorization of cyber attacks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 smtClean="0"/>
              <a:t> The </a:t>
            </a:r>
            <a:r>
              <a:rPr lang="en-US" dirty="0" smtClean="0">
                <a:solidFill>
                  <a:srgbClr val="FF0000"/>
                </a:solidFill>
              </a:rPr>
              <a:t>documentations </a:t>
            </a:r>
            <a:r>
              <a:rPr lang="en-US" dirty="0">
                <a:solidFill>
                  <a:srgbClr val="FF0000"/>
                </a:solidFill>
              </a:rPr>
              <a:t>of cyber attacks use confusing categories </a:t>
            </a:r>
            <a:r>
              <a:rPr lang="en-US" dirty="0"/>
              <a:t>that are partly </a:t>
            </a:r>
            <a:r>
              <a:rPr lang="en-US" dirty="0" smtClean="0"/>
              <a:t>overlapping with </a:t>
            </a:r>
            <a:r>
              <a:rPr lang="en-US" dirty="0"/>
              <a:t>each other, such as </a:t>
            </a:r>
            <a:r>
              <a:rPr lang="en-US" dirty="0">
                <a:solidFill>
                  <a:srgbClr val="FF0000"/>
                </a:solidFill>
              </a:rPr>
              <a:t>cybercrime, data breaches, </a:t>
            </a:r>
            <a:r>
              <a:rPr lang="en-US" dirty="0" err="1">
                <a:solidFill>
                  <a:srgbClr val="FF0000"/>
                </a:solidFill>
              </a:rPr>
              <a:t>cyberwarfare</a:t>
            </a:r>
            <a:r>
              <a:rPr lang="en-US" dirty="0">
                <a:solidFill>
                  <a:srgbClr val="FF0000"/>
                </a:solidFill>
              </a:rPr>
              <a:t>, and </a:t>
            </a:r>
            <a:r>
              <a:rPr lang="en-US" dirty="0" smtClean="0">
                <a:solidFill>
                  <a:srgbClr val="FF0000"/>
                </a:solidFill>
              </a:rPr>
              <a:t>government and </a:t>
            </a:r>
            <a:r>
              <a:rPr lang="en-US" dirty="0">
                <a:solidFill>
                  <a:srgbClr val="FF0000"/>
                </a:solidFill>
              </a:rPr>
              <a:t>corporate espionage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1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175609" cy="477212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One preferable </a:t>
            </a:r>
            <a:r>
              <a:rPr lang="en-US" dirty="0"/>
              <a:t>option is the </a:t>
            </a:r>
            <a:r>
              <a:rPr lang="en-US" dirty="0">
                <a:solidFill>
                  <a:srgbClr val="FF0000"/>
                </a:solidFill>
              </a:rPr>
              <a:t>categorization</a:t>
            </a:r>
            <a:r>
              <a:rPr lang="en-US" dirty="0"/>
              <a:t> of cyber </a:t>
            </a:r>
            <a:r>
              <a:rPr lang="en-US" dirty="0" smtClean="0"/>
              <a:t>attacks </a:t>
            </a:r>
            <a:r>
              <a:rPr lang="en-US" dirty="0" smtClean="0">
                <a:solidFill>
                  <a:srgbClr val="FF0000"/>
                </a:solidFill>
              </a:rPr>
              <a:t>by </a:t>
            </a:r>
            <a:r>
              <a:rPr lang="en-US" dirty="0">
                <a:solidFill>
                  <a:srgbClr val="FF0000"/>
                </a:solidFill>
              </a:rPr>
              <a:t>their targets, for example, government facilities, corporate facilities, or </a:t>
            </a:r>
            <a:r>
              <a:rPr lang="en-US" dirty="0" smtClean="0">
                <a:solidFill>
                  <a:srgbClr val="FF0000"/>
                </a:solidFill>
              </a:rPr>
              <a:t>military facilities</a:t>
            </a:r>
            <a:r>
              <a:rPr lang="en-US" dirty="0">
                <a:solidFill>
                  <a:srgbClr val="FF0000"/>
                </a:solidFill>
              </a:rPr>
              <a:t>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However</a:t>
            </a:r>
            <a:r>
              <a:rPr lang="en-US" dirty="0"/>
              <a:t>, the borderlines between these target categories are also blurred</a:t>
            </a:r>
            <a:r>
              <a:rPr lang="en-US" dirty="0" smtClean="0"/>
              <a:t>.</a:t>
            </a:r>
          </a:p>
          <a:p>
            <a:r>
              <a:rPr lang="en-US" dirty="0">
                <a:solidFill>
                  <a:srgbClr val="FF0000"/>
                </a:solidFill>
              </a:rPr>
              <a:t>From a legal and law enforcement aspect, cyber attacks can be divided </a:t>
            </a:r>
            <a:r>
              <a:rPr lang="en-US" dirty="0" smtClean="0">
                <a:solidFill>
                  <a:srgbClr val="FF0000"/>
                </a:solidFill>
              </a:rPr>
              <a:t>into two </a:t>
            </a:r>
            <a:r>
              <a:rPr lang="en-US" dirty="0">
                <a:solidFill>
                  <a:srgbClr val="FF0000"/>
                </a:solidFill>
              </a:rPr>
              <a:t>large categories: 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>
                <a:solidFill>
                  <a:schemeClr val="tx2"/>
                </a:solidFill>
              </a:rPr>
              <a:t>cybercrime</a:t>
            </a:r>
          </a:p>
          <a:p>
            <a:pPr lvl="1"/>
            <a:r>
              <a:rPr lang="en-US" dirty="0" err="1" smtClean="0">
                <a:solidFill>
                  <a:schemeClr val="tx2"/>
                </a:solidFill>
              </a:rPr>
              <a:t>cyberwar</a:t>
            </a:r>
            <a:r>
              <a:rPr lang="en-US" dirty="0">
                <a:solidFill>
                  <a:srgbClr val="FF0000"/>
                </a:solidFill>
              </a:rPr>
              <a:t>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In </a:t>
            </a:r>
            <a:r>
              <a:rPr lang="en-US" dirty="0"/>
              <a:t>this categorization, </a:t>
            </a:r>
            <a:r>
              <a:rPr lang="en-US" dirty="0">
                <a:solidFill>
                  <a:srgbClr val="FF0000"/>
                </a:solidFill>
              </a:rPr>
              <a:t>cyber </a:t>
            </a:r>
            <a:r>
              <a:rPr lang="en-US" dirty="0" smtClean="0">
                <a:solidFill>
                  <a:srgbClr val="FF0000"/>
                </a:solidFill>
              </a:rPr>
              <a:t>espionage </a:t>
            </a:r>
            <a:r>
              <a:rPr lang="en-US" dirty="0" smtClean="0"/>
              <a:t>(the </a:t>
            </a:r>
            <a:r>
              <a:rPr lang="en-US" dirty="0"/>
              <a:t>malicious theft of data, information, or intellectual property from and/or through computer </a:t>
            </a:r>
            <a:r>
              <a:rPr lang="en-US" dirty="0" smtClean="0"/>
              <a:t>systems) </a:t>
            </a:r>
            <a:r>
              <a:rPr lang="en-US" dirty="0" smtClean="0">
                <a:solidFill>
                  <a:srgbClr val="FF0000"/>
                </a:solidFill>
              </a:rPr>
              <a:t>and cyber terrorism </a:t>
            </a:r>
            <a:r>
              <a:rPr lang="en-US" dirty="0">
                <a:solidFill>
                  <a:srgbClr val="FF0000"/>
                </a:solidFill>
              </a:rPr>
              <a:t>belong to cybercrime. The main difference is the </a:t>
            </a:r>
            <a:r>
              <a:rPr lang="en-US" dirty="0" smtClean="0">
                <a:solidFill>
                  <a:srgbClr val="FF0000"/>
                </a:solidFill>
              </a:rPr>
              <a:t>attacker’s motivation</a:t>
            </a:r>
            <a:r>
              <a:rPr lang="en-US" dirty="0">
                <a:solidFill>
                  <a:srgbClr val="FF0000"/>
                </a:solidFill>
              </a:rPr>
              <a:t>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In </a:t>
            </a:r>
            <a:r>
              <a:rPr lang="en-US" dirty="0"/>
              <a:t>case of </a:t>
            </a:r>
            <a:r>
              <a:rPr lang="en-US" dirty="0" smtClean="0">
                <a:solidFill>
                  <a:srgbClr val="FF0000"/>
                </a:solidFill>
              </a:rPr>
              <a:t>cyber terrorism</a:t>
            </a:r>
            <a:r>
              <a:rPr lang="en-US" dirty="0"/>
              <a:t>, the threat actors have </a:t>
            </a:r>
            <a:r>
              <a:rPr lang="en-US" dirty="0">
                <a:solidFill>
                  <a:srgbClr val="FF0000"/>
                </a:solidFill>
              </a:rPr>
              <a:t>political, </a:t>
            </a:r>
            <a:r>
              <a:rPr lang="en-US" dirty="0" smtClean="0">
                <a:solidFill>
                  <a:srgbClr val="FF0000"/>
                </a:solidFill>
              </a:rPr>
              <a:t>religious, or </a:t>
            </a:r>
            <a:r>
              <a:rPr lang="en-US" dirty="0">
                <a:solidFill>
                  <a:srgbClr val="FF0000"/>
                </a:solidFill>
              </a:rPr>
              <a:t>ideological motivation</a:t>
            </a:r>
            <a:r>
              <a:rPr lang="en-US" dirty="0"/>
              <a:t>, </a:t>
            </a:r>
            <a:endParaRPr lang="en-US" dirty="0" smtClean="0"/>
          </a:p>
          <a:p>
            <a:r>
              <a:rPr lang="en-US" dirty="0" smtClean="0"/>
              <a:t>Motivation </a:t>
            </a:r>
            <a:r>
              <a:rPr lang="en-US" dirty="0"/>
              <a:t>behind </a:t>
            </a:r>
            <a:r>
              <a:rPr lang="en-US" i="1" dirty="0" err="1">
                <a:solidFill>
                  <a:srgbClr val="FF0000"/>
                </a:solidFill>
              </a:rPr>
              <a:t>cyberwar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is related </a:t>
            </a:r>
            <a:r>
              <a:rPr lang="en-US" dirty="0" smtClean="0"/>
              <a:t>to the </a:t>
            </a:r>
            <a:r>
              <a:rPr lang="en-US" dirty="0">
                <a:solidFill>
                  <a:srgbClr val="FF0000"/>
                </a:solidFill>
              </a:rPr>
              <a:t>protection of homeland and national assets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9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Currently, the term </a:t>
            </a:r>
            <a:r>
              <a:rPr lang="en-US" dirty="0" err="1"/>
              <a:t>cyberwar</a:t>
            </a:r>
            <a:r>
              <a:rPr lang="en-US" dirty="0"/>
              <a:t> has no official or generally accepted definition.</a:t>
            </a:r>
          </a:p>
          <a:p>
            <a:r>
              <a:rPr lang="en-US" dirty="0"/>
              <a:t>After analyzing a great number of definitions of </a:t>
            </a:r>
            <a:r>
              <a:rPr lang="en-US" dirty="0" err="1"/>
              <a:t>cyberwar</a:t>
            </a:r>
            <a:r>
              <a:rPr lang="en-US" dirty="0"/>
              <a:t>, the following </a:t>
            </a:r>
            <a:r>
              <a:rPr lang="en-US" dirty="0" smtClean="0"/>
              <a:t>definition presents </a:t>
            </a:r>
            <a:r>
              <a:rPr lang="en-US" dirty="0"/>
              <a:t>a trade-off among the diverse approaches (Uma and </a:t>
            </a:r>
            <a:r>
              <a:rPr lang="en-US" dirty="0" err="1"/>
              <a:t>Padmavathi</a:t>
            </a:r>
            <a:r>
              <a:rPr lang="en-US" dirty="0"/>
              <a:t>, 2013</a:t>
            </a:r>
            <a:r>
              <a:rPr lang="en-US" dirty="0" smtClean="0"/>
              <a:t>):</a:t>
            </a:r>
          </a:p>
          <a:p>
            <a:pPr lvl="1"/>
            <a:r>
              <a:rPr lang="en-US" sz="2600" i="1" dirty="0" err="1" smtClean="0">
                <a:solidFill>
                  <a:srgbClr val="FF0000"/>
                </a:solidFill>
              </a:rPr>
              <a:t>cyberwar</a:t>
            </a:r>
            <a:r>
              <a:rPr lang="en-US" sz="2600" i="1" dirty="0" smtClean="0">
                <a:solidFill>
                  <a:srgbClr val="FF0000"/>
                </a:solidFill>
              </a:rPr>
              <a:t> </a:t>
            </a:r>
            <a:r>
              <a:rPr lang="en-US" sz="2600" dirty="0">
                <a:solidFill>
                  <a:srgbClr val="FF0000"/>
                </a:solidFill>
              </a:rPr>
              <a:t>is an escalated state of </a:t>
            </a:r>
            <a:r>
              <a:rPr lang="en-US" sz="2600" dirty="0">
                <a:solidFill>
                  <a:schemeClr val="tx2"/>
                </a:solidFill>
              </a:rPr>
              <a:t>conflict between or among nation-states in </a:t>
            </a:r>
            <a:r>
              <a:rPr lang="en-US" sz="2600" dirty="0" smtClean="0">
                <a:solidFill>
                  <a:schemeClr val="tx2"/>
                </a:solidFill>
              </a:rPr>
              <a:t>which cyber </a:t>
            </a:r>
            <a:r>
              <a:rPr lang="en-US" sz="2600" dirty="0">
                <a:solidFill>
                  <a:schemeClr val="tx2"/>
                </a:solidFill>
              </a:rPr>
              <a:t>attacks are carried out against ICT systems of critical infrastructures as </a:t>
            </a:r>
            <a:r>
              <a:rPr lang="en-US" sz="2600" dirty="0" smtClean="0">
                <a:solidFill>
                  <a:schemeClr val="tx2"/>
                </a:solidFill>
              </a:rPr>
              <a:t>part of </a:t>
            </a:r>
            <a:r>
              <a:rPr lang="en-US" sz="2600" dirty="0">
                <a:solidFill>
                  <a:schemeClr val="tx2"/>
                </a:solidFill>
              </a:rPr>
              <a:t>a military campaign </a:t>
            </a:r>
            <a:r>
              <a:rPr lang="en-US" sz="2600" dirty="0">
                <a:solidFill>
                  <a:srgbClr val="FF0000"/>
                </a:solidFill>
              </a:rPr>
              <a:t>(</a:t>
            </a:r>
            <a:r>
              <a:rPr lang="en-US" sz="2600" dirty="0" smtClean="0">
                <a:solidFill>
                  <a:srgbClr val="FF0000"/>
                </a:solidFill>
              </a:rPr>
              <a:t>NATO -</a:t>
            </a:r>
            <a:r>
              <a:rPr lang="en-US" sz="2600" dirty="0">
                <a:solidFill>
                  <a:srgbClr val="FF0000"/>
                </a:solidFill>
              </a:rPr>
              <a:t>North Atlantic Treaty </a:t>
            </a:r>
            <a:r>
              <a:rPr lang="en-US" sz="2600" dirty="0" smtClean="0">
                <a:solidFill>
                  <a:srgbClr val="FF0000"/>
                </a:solidFill>
              </a:rPr>
              <a:t>Organization  </a:t>
            </a:r>
            <a:r>
              <a:rPr lang="en-US" sz="2600" dirty="0">
                <a:solidFill>
                  <a:srgbClr val="FF0000"/>
                </a:solidFill>
              </a:rPr>
              <a:t>CCDCOE, 2016).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10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Although there is </a:t>
            </a:r>
            <a:r>
              <a:rPr lang="en-US" dirty="0">
                <a:solidFill>
                  <a:srgbClr val="FF0000"/>
                </a:solidFill>
              </a:rPr>
              <a:t>no universal definition of </a:t>
            </a:r>
            <a:r>
              <a:rPr lang="en-US" i="1" dirty="0">
                <a:solidFill>
                  <a:srgbClr val="FF0000"/>
                </a:solidFill>
              </a:rPr>
              <a:t>cybercrime</a:t>
            </a:r>
            <a:r>
              <a:rPr lang="en-US" dirty="0"/>
              <a:t>, it is becoming </a:t>
            </a:r>
            <a:r>
              <a:rPr lang="en-US" dirty="0" smtClean="0"/>
              <a:t>increasingly accepted </a:t>
            </a:r>
            <a:r>
              <a:rPr lang="en-US" dirty="0"/>
              <a:t>that the </a:t>
            </a:r>
            <a:r>
              <a:rPr lang="en-US" dirty="0">
                <a:solidFill>
                  <a:schemeClr val="tx2"/>
                </a:solidFill>
              </a:rPr>
              <a:t>term is used to describe crime and other illicit </a:t>
            </a:r>
            <a:r>
              <a:rPr lang="en-US" dirty="0" smtClean="0">
                <a:solidFill>
                  <a:schemeClr val="tx2"/>
                </a:solidFill>
              </a:rPr>
              <a:t>activities (</a:t>
            </a:r>
            <a:r>
              <a:rPr lang="en-US" dirty="0" err="1" smtClean="0">
                <a:solidFill>
                  <a:schemeClr val="tx2"/>
                </a:solidFill>
              </a:rPr>
              <a:t>Hunton</a:t>
            </a:r>
            <a:r>
              <a:rPr lang="en-US" dirty="0" smtClean="0">
                <a:solidFill>
                  <a:schemeClr val="tx2"/>
                </a:solidFill>
              </a:rPr>
              <a:t>, 2009) that </a:t>
            </a:r>
            <a:r>
              <a:rPr lang="en-US" dirty="0">
                <a:solidFill>
                  <a:schemeClr val="tx2"/>
                </a:solidFill>
              </a:rPr>
              <a:t>involve the use of ICT</a:t>
            </a:r>
            <a:r>
              <a:rPr lang="en-US" dirty="0" smtClean="0">
                <a:solidFill>
                  <a:schemeClr val="tx2"/>
                </a:solidFill>
              </a:rPr>
              <a:t>.</a:t>
            </a:r>
          </a:p>
          <a:p>
            <a:r>
              <a:rPr lang="en-US" dirty="0"/>
              <a:t>Some organizations </a:t>
            </a:r>
            <a:r>
              <a:rPr lang="en-US" dirty="0" smtClean="0">
                <a:solidFill>
                  <a:srgbClr val="FF0000"/>
                </a:solidFill>
              </a:rPr>
              <a:t>distinguish between </a:t>
            </a:r>
            <a:r>
              <a:rPr lang="en-US" dirty="0">
                <a:solidFill>
                  <a:srgbClr val="FF0000"/>
                </a:solidFill>
              </a:rPr>
              <a:t>advanced cybercrime and cyber-enabled crime (Interpol, 2016).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Advanced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cybercrime </a:t>
            </a:r>
            <a:r>
              <a:rPr lang="en-US" dirty="0">
                <a:solidFill>
                  <a:srgbClr val="FF0000"/>
                </a:solidFill>
              </a:rPr>
              <a:t>covers </a:t>
            </a:r>
            <a:r>
              <a:rPr lang="en-US" dirty="0">
                <a:solidFill>
                  <a:schemeClr val="tx2"/>
                </a:solidFill>
              </a:rPr>
              <a:t>sophisticated attacks executed within cyberspace, </a:t>
            </a:r>
            <a:endParaRPr lang="en-US" dirty="0" smtClean="0">
              <a:solidFill>
                <a:schemeClr val="tx2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Cyber enabled crime </a:t>
            </a:r>
            <a:r>
              <a:rPr lang="en-US" dirty="0">
                <a:solidFill>
                  <a:srgbClr val="FF0000"/>
                </a:solidFill>
              </a:rPr>
              <a:t>includes “</a:t>
            </a:r>
            <a:r>
              <a:rPr lang="en-US" dirty="0">
                <a:solidFill>
                  <a:schemeClr val="tx2"/>
                </a:solidFill>
              </a:rPr>
              <a:t>traditional” crimes enabled by technological</a:t>
            </a:r>
            <a:r>
              <a:rPr lang="en-US" dirty="0">
                <a:solidFill>
                  <a:srgbClr val="FF0000"/>
                </a:solidFill>
              </a:rPr>
              <a:t> (or </a:t>
            </a:r>
            <a:r>
              <a:rPr lang="en-US" dirty="0" smtClean="0">
                <a:solidFill>
                  <a:srgbClr val="FF0000"/>
                </a:solidFill>
              </a:rPr>
              <a:t>ICT) achievements</a:t>
            </a:r>
            <a:r>
              <a:rPr lang="en-US" dirty="0">
                <a:solidFill>
                  <a:srgbClr val="FF0000"/>
                </a:solidFill>
              </a:rPr>
              <a:t>, such as </a:t>
            </a:r>
            <a:r>
              <a:rPr lang="en-US" dirty="0">
                <a:solidFill>
                  <a:schemeClr val="tx2"/>
                </a:solidFill>
              </a:rPr>
              <a:t>financial crimes, online fraud, and even terrorism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5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90880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885227" cy="469800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Cybercrime is so fast growing</a:t>
            </a:r>
            <a:r>
              <a:rPr lang="en-US" dirty="0"/>
              <a:t> that international law enforcement </a:t>
            </a:r>
            <a:r>
              <a:rPr lang="en-US" dirty="0" smtClean="0"/>
              <a:t>agencies </a:t>
            </a:r>
            <a:r>
              <a:rPr lang="en-US" dirty="0" smtClean="0">
                <a:solidFill>
                  <a:srgbClr val="FF0000"/>
                </a:solidFill>
              </a:rPr>
              <a:t>opened an additional category for the most wanted cyber criminals</a:t>
            </a:r>
            <a:r>
              <a:rPr lang="en-US" dirty="0" smtClean="0"/>
              <a:t>.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nature </a:t>
            </a:r>
            <a:r>
              <a:rPr lang="en-US" dirty="0" smtClean="0"/>
              <a:t>of cybercrime </a:t>
            </a:r>
            <a:r>
              <a:rPr lang="en-US" dirty="0"/>
              <a:t>has evolved remarkably in its quite short history.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the past, </a:t>
            </a:r>
            <a:r>
              <a:rPr lang="en-US" dirty="0" smtClean="0">
                <a:solidFill>
                  <a:srgbClr val="FF0000"/>
                </a:solidFill>
              </a:rPr>
              <a:t>cybercrime</a:t>
            </a:r>
            <a:r>
              <a:rPr lang="en-US" dirty="0" smtClean="0"/>
              <a:t> was </a:t>
            </a:r>
            <a:r>
              <a:rPr lang="en-US" dirty="0"/>
              <a:t>committed mainly by individuals (Interpol, 2016). Today, it is </a:t>
            </a:r>
            <a:r>
              <a:rPr lang="en-US" dirty="0">
                <a:solidFill>
                  <a:srgbClr val="FF0000"/>
                </a:solidFill>
              </a:rPr>
              <a:t>committed </a:t>
            </a:r>
            <a:r>
              <a:rPr lang="en-US" dirty="0" smtClean="0">
                <a:solidFill>
                  <a:srgbClr val="FF0000"/>
                </a:solidFill>
              </a:rPr>
              <a:t>by highly </a:t>
            </a:r>
            <a:r>
              <a:rPr lang="en-US" dirty="0">
                <a:solidFill>
                  <a:srgbClr val="FF0000"/>
                </a:solidFill>
              </a:rPr>
              <a:t>organized and professional groups from all over the world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/>
              <a:t>The crimes </a:t>
            </a:r>
            <a:r>
              <a:rPr lang="en-US" dirty="0" smtClean="0"/>
              <a:t>are not </a:t>
            </a:r>
            <a:r>
              <a:rPr lang="en-US" dirty="0"/>
              <a:t>necessarily new, but the </a:t>
            </a:r>
            <a:r>
              <a:rPr lang="en-US" dirty="0">
                <a:solidFill>
                  <a:srgbClr val="FF0000"/>
                </a:solidFill>
              </a:rPr>
              <a:t>TTPs are continuously evolving </a:t>
            </a:r>
            <a:r>
              <a:rPr lang="en-US" dirty="0"/>
              <a:t>with the </a:t>
            </a:r>
            <a:r>
              <a:rPr lang="en-US" dirty="0" smtClean="0"/>
              <a:t>opportunities presented </a:t>
            </a:r>
            <a:r>
              <a:rPr lang="en-US" dirty="0"/>
              <a:t>by the evolving </a:t>
            </a:r>
            <a:r>
              <a:rPr lang="en-US" dirty="0" smtClean="0"/>
              <a:t>ICT.</a:t>
            </a:r>
          </a:p>
          <a:p>
            <a:r>
              <a:rPr lang="en-US" dirty="0">
                <a:solidFill>
                  <a:srgbClr val="FF0000"/>
                </a:solidFill>
              </a:rPr>
              <a:t>Cybercrime often falls still into a regulatory gray area</a:t>
            </a:r>
            <a:r>
              <a:rPr lang="en-US" dirty="0"/>
              <a:t>, and </a:t>
            </a:r>
            <a:r>
              <a:rPr lang="en-US" dirty="0" smtClean="0"/>
              <a:t>the ability </a:t>
            </a:r>
            <a:r>
              <a:rPr lang="en-US" dirty="0"/>
              <a:t>to categorize the true scale and </a:t>
            </a:r>
            <a:r>
              <a:rPr lang="en-US" dirty="0">
                <a:solidFill>
                  <a:srgbClr val="FF0000"/>
                </a:solidFill>
              </a:rPr>
              <a:t>criminal nature of cybercrime remains </a:t>
            </a:r>
            <a:r>
              <a:rPr lang="en-US" dirty="0" smtClean="0">
                <a:solidFill>
                  <a:srgbClr val="FF0000"/>
                </a:solidFill>
              </a:rPr>
              <a:t>difficult.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6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 CYBERWAR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 2007, the highly networked Estonian government was the target </a:t>
            </a:r>
            <a:r>
              <a:rPr lang="en-US" dirty="0" smtClean="0"/>
              <a:t>of cyber </a:t>
            </a:r>
            <a:r>
              <a:rPr lang="en-US" dirty="0"/>
              <a:t>attacks. The </a:t>
            </a:r>
            <a:r>
              <a:rPr lang="en-US" dirty="0" err="1" smtClean="0"/>
              <a:t>DoS</a:t>
            </a:r>
            <a:r>
              <a:rPr lang="en-US" dirty="0" smtClean="0"/>
              <a:t> </a:t>
            </a:r>
            <a:r>
              <a:rPr lang="en-US" dirty="0"/>
              <a:t>attacks began on the foreign minister’s </a:t>
            </a:r>
            <a:r>
              <a:rPr lang="en-US" dirty="0" smtClean="0"/>
              <a:t>website but </a:t>
            </a:r>
            <a:r>
              <a:rPr lang="en-US" dirty="0"/>
              <a:t>spread to all government institutions and key businesses, </a:t>
            </a:r>
            <a:r>
              <a:rPr lang="en-US" dirty="0" smtClean="0"/>
              <a:t>such as </a:t>
            </a:r>
            <a:r>
              <a:rPr lang="en-US" dirty="0"/>
              <a:t>banks. The large-scale attack had a significant effect on public life </a:t>
            </a:r>
            <a:r>
              <a:rPr lang="en-US" dirty="0" smtClean="0"/>
              <a:t>in the </a:t>
            </a:r>
            <a:r>
              <a:rPr lang="en-US" dirty="0"/>
              <a:t>small country (</a:t>
            </a:r>
            <a:r>
              <a:rPr lang="en-US" dirty="0" err="1"/>
              <a:t>Lesk</a:t>
            </a:r>
            <a:r>
              <a:rPr lang="en-US" dirty="0"/>
              <a:t>, 2007</a:t>
            </a:r>
            <a:r>
              <a:rPr lang="en-US" dirty="0" smtClean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There were also conflicts between Bangladesh and Myanmar (</a:t>
            </a:r>
            <a:r>
              <a:rPr lang="en-US" dirty="0" smtClean="0"/>
              <a:t>Burma) that </a:t>
            </a:r>
            <a:r>
              <a:rPr lang="en-US" dirty="0"/>
              <a:t>escalated in continuous cyber attack, such as defacing </a:t>
            </a:r>
            <a:r>
              <a:rPr lang="en-US" dirty="0" smtClean="0"/>
              <a:t>governmental websites</a:t>
            </a:r>
            <a:r>
              <a:rPr lang="en-US" dirty="0"/>
              <a:t>, by national </a:t>
            </a:r>
            <a:r>
              <a:rPr lang="en-US" dirty="0" err="1"/>
              <a:t>hacktivists</a:t>
            </a:r>
            <a:r>
              <a:rPr lang="en-US" dirty="0"/>
              <a:t> from both sides (Gandhi et al</a:t>
            </a:r>
            <a:r>
              <a:rPr lang="en-US" dirty="0" smtClean="0"/>
              <a:t>., 2011).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4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 startAt="3"/>
            </a:pPr>
            <a:r>
              <a:rPr lang="en-US" dirty="0" smtClean="0"/>
              <a:t>The </a:t>
            </a:r>
            <a:r>
              <a:rPr lang="en-US" dirty="0"/>
              <a:t>Russian-Georgian </a:t>
            </a:r>
            <a:r>
              <a:rPr lang="en-US" dirty="0" err="1"/>
              <a:t>cyberwar</a:t>
            </a:r>
            <a:r>
              <a:rPr lang="en-US" dirty="0"/>
              <a:t> in August 2008 represented a </a:t>
            </a:r>
            <a:r>
              <a:rPr lang="en-US" dirty="0" smtClean="0"/>
              <a:t>long</a:t>
            </a:r>
          </a:p>
          <a:p>
            <a:pPr marL="0" indent="0">
              <a:buNone/>
            </a:pPr>
            <a:r>
              <a:rPr lang="en-US" dirty="0" smtClean="0"/>
              <a:t>history </a:t>
            </a:r>
            <a:r>
              <a:rPr lang="en-US" dirty="0"/>
              <a:t>of geostrategic conflicts between the two nations; it was </a:t>
            </a:r>
            <a:r>
              <a:rPr lang="en-US" dirty="0" smtClean="0"/>
              <a:t>based on </a:t>
            </a:r>
            <a:r>
              <a:rPr lang="en-US" dirty="0"/>
              <a:t>many complex factors, such as geopolitical, legal, cultural, and </a:t>
            </a:r>
            <a:r>
              <a:rPr lang="en-US" dirty="0" smtClean="0"/>
              <a:t>economic (Hollis</a:t>
            </a:r>
            <a:r>
              <a:rPr lang="en-US" dirty="0"/>
              <a:t>, 2015). Synchronized with the physical attack, </a:t>
            </a:r>
            <a:r>
              <a:rPr lang="en-US" dirty="0" smtClean="0"/>
              <a:t>Russia started </a:t>
            </a:r>
            <a:r>
              <a:rPr lang="en-US" dirty="0"/>
              <a:t>attacking Georgia’s military and government networks </a:t>
            </a:r>
            <a:r>
              <a:rPr lang="en-US" dirty="0" smtClean="0"/>
              <a:t>and assaulting </a:t>
            </a:r>
            <a:r>
              <a:rPr lang="en-US" dirty="0"/>
              <a:t>websites related to communications, finance, and </a:t>
            </a:r>
            <a:r>
              <a:rPr lang="en-US" dirty="0" smtClean="0"/>
              <a:t>government to </a:t>
            </a:r>
            <a:r>
              <a:rPr lang="en-US" dirty="0"/>
              <a:t>block communication with the citizens (</a:t>
            </a:r>
            <a:r>
              <a:rPr lang="en-US" dirty="0" err="1"/>
              <a:t>Oltsik</a:t>
            </a:r>
            <a:r>
              <a:rPr lang="en-US" dirty="0"/>
              <a:t>, 2009).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7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Emerging Technologies and Threat Trends in Cyberspace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908" y="1811978"/>
            <a:ext cx="11465825" cy="4820834"/>
          </a:xfrm>
        </p:spPr>
        <p:txBody>
          <a:bodyPr>
            <a:normAutofit/>
          </a:bodyPr>
          <a:lstStyle/>
          <a:p>
            <a:r>
              <a:rPr lang="en-US" dirty="0" smtClean="0"/>
              <a:t>There is still no common definition of </a:t>
            </a:r>
            <a:r>
              <a:rPr lang="en-US" i="1" dirty="0" smtClean="0"/>
              <a:t>cyberspace</a:t>
            </a:r>
            <a:r>
              <a:rPr lang="en-US" dirty="0" smtClean="0"/>
              <a:t>, but </a:t>
            </a:r>
            <a:r>
              <a:rPr lang="en-US" dirty="0" smtClean="0">
                <a:solidFill>
                  <a:srgbClr val="FF0000"/>
                </a:solidFill>
              </a:rPr>
              <a:t>militaries especially usually treat it as an own domain, namely, as the fifth one after land, sea, air, and space. </a:t>
            </a:r>
          </a:p>
          <a:p>
            <a:r>
              <a:rPr lang="en-US" dirty="0" smtClean="0"/>
              <a:t>The fundamental difference between cyberspace and the other domains is that the hierarchy of the other domains is geophysical by nature.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Cyberspace is embedded in all domains and it is transforming continuously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NATO definition states that </a:t>
            </a:r>
            <a:r>
              <a:rPr lang="en-US" dirty="0" smtClean="0">
                <a:solidFill>
                  <a:srgbClr val="FF0000"/>
                </a:solidFill>
              </a:rPr>
              <a:t>cyberspace is the name given to the global and dynamic domain composed of ICT</a:t>
            </a:r>
            <a:r>
              <a:rPr lang="en-US" dirty="0" smtClean="0"/>
              <a:t>. </a:t>
            </a:r>
          </a:p>
          <a:p>
            <a:r>
              <a:rPr lang="en-US" dirty="0" smtClean="0"/>
              <a:t>It has blurred borders, involving users in an unprecedented globalization that provides new opportunities but also entails new challenges, risks, and threats (NATO CCDCOE, 2017).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5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commonly described property is that </a:t>
            </a:r>
            <a:r>
              <a:rPr lang="en-US" dirty="0">
                <a:solidFill>
                  <a:schemeClr val="accent1"/>
                </a:solidFill>
              </a:rPr>
              <a:t>cyberspace is in a continuous state </a:t>
            </a:r>
            <a:r>
              <a:rPr lang="en-US" dirty="0" smtClean="0">
                <a:solidFill>
                  <a:schemeClr val="accent1"/>
                </a:solidFill>
              </a:rPr>
              <a:t>of change</a:t>
            </a:r>
            <a:r>
              <a:rPr lang="en-US" dirty="0">
                <a:solidFill>
                  <a:schemeClr val="accent1"/>
                </a:solidFill>
              </a:rPr>
              <a:t>. </a:t>
            </a:r>
            <a:r>
              <a:rPr lang="en-US" dirty="0">
                <a:solidFill>
                  <a:srgbClr val="FF0000"/>
                </a:solidFill>
              </a:rPr>
              <a:t>Cyberspace is still in expansion, as well as the resulting attack surface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 smtClean="0"/>
              <a:t>There </a:t>
            </a:r>
            <a:r>
              <a:rPr lang="en-US" dirty="0"/>
              <a:t>are </a:t>
            </a:r>
            <a:r>
              <a:rPr lang="en-US" dirty="0" smtClean="0">
                <a:solidFill>
                  <a:srgbClr val="FF0000"/>
                </a:solidFill>
              </a:rPr>
              <a:t>hundreds of </a:t>
            </a:r>
            <a:r>
              <a:rPr lang="en-US" dirty="0">
                <a:solidFill>
                  <a:srgbClr val="FF0000"/>
                </a:solidFill>
              </a:rPr>
              <a:t>technological, societal, economic, and regulatory/legal trends that </a:t>
            </a:r>
            <a:r>
              <a:rPr lang="en-US" dirty="0" smtClean="0">
                <a:solidFill>
                  <a:srgbClr val="FF0000"/>
                </a:solidFill>
              </a:rPr>
              <a:t>constantly shape </a:t>
            </a:r>
            <a:r>
              <a:rPr lang="en-US" dirty="0">
                <a:solidFill>
                  <a:srgbClr val="FF0000"/>
                </a:solidFill>
              </a:rPr>
              <a:t>the appearance of cyberspace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>
                <a:solidFill>
                  <a:srgbClr val="FF0000"/>
                </a:solidFill>
              </a:rPr>
              <a:t>One of the most significant technology trends with impact on security is </a:t>
            </a:r>
            <a:r>
              <a:rPr lang="en-US" dirty="0" smtClean="0">
                <a:solidFill>
                  <a:srgbClr val="FF0000"/>
                </a:solidFill>
              </a:rPr>
              <a:t>the </a:t>
            </a:r>
            <a:r>
              <a:rPr lang="en-US" i="1" dirty="0" smtClean="0">
                <a:solidFill>
                  <a:srgbClr val="FF0000"/>
                </a:solidFill>
              </a:rPr>
              <a:t>Internet </a:t>
            </a:r>
            <a:r>
              <a:rPr lang="en-US" i="1" dirty="0">
                <a:solidFill>
                  <a:srgbClr val="FF0000"/>
                </a:solidFill>
              </a:rPr>
              <a:t>of Things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IoT</a:t>
            </a:r>
            <a:r>
              <a:rPr lang="en-US" dirty="0">
                <a:solidFill>
                  <a:srgbClr val="FF0000"/>
                </a:solidFill>
              </a:rPr>
              <a:t>). It multiplies exploitation </a:t>
            </a:r>
            <a:r>
              <a:rPr lang="en-US" dirty="0" smtClean="0">
                <a:solidFill>
                  <a:srgbClr val="FF0000"/>
                </a:solidFill>
              </a:rPr>
              <a:t>opportunities.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Internet connected devices </a:t>
            </a:r>
            <a:r>
              <a:rPr lang="en-US" dirty="0" smtClean="0"/>
              <a:t>are being </a:t>
            </a:r>
            <a:r>
              <a:rPr lang="en-US" dirty="0"/>
              <a:t>rapidly adopted by both consumers and businesses, particularly in </a:t>
            </a:r>
            <a:r>
              <a:rPr lang="en-US" dirty="0" smtClean="0"/>
              <a:t>sectors such </a:t>
            </a:r>
            <a:r>
              <a:rPr lang="en-US" dirty="0"/>
              <a:t>as </a:t>
            </a:r>
            <a:r>
              <a:rPr lang="en-US" dirty="0">
                <a:solidFill>
                  <a:srgbClr val="FF0000"/>
                </a:solidFill>
              </a:rPr>
              <a:t>manufacturing, healthcare, and entertainment.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0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21704" cy="4834482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IoT</a:t>
            </a:r>
            <a:r>
              <a:rPr lang="en-US" dirty="0">
                <a:solidFill>
                  <a:srgbClr val="FF0000"/>
                </a:solidFill>
              </a:rPr>
              <a:t> has begun to change the </a:t>
            </a:r>
            <a:r>
              <a:rPr lang="en-US" dirty="0" smtClean="0">
                <a:solidFill>
                  <a:srgbClr val="FF0000"/>
                </a:solidFill>
              </a:rPr>
              <a:t>virtual but </a:t>
            </a:r>
            <a:r>
              <a:rPr lang="en-US" dirty="0">
                <a:solidFill>
                  <a:srgbClr val="FF0000"/>
                </a:solidFill>
              </a:rPr>
              <a:t>also the real world. On the one hand, the growing use of smart equipment </a:t>
            </a:r>
            <a:r>
              <a:rPr lang="en-US" dirty="0" smtClean="0">
                <a:solidFill>
                  <a:srgbClr val="FF0000"/>
                </a:solidFill>
              </a:rPr>
              <a:t>in private </a:t>
            </a:r>
            <a:r>
              <a:rPr lang="en-US" dirty="0">
                <a:solidFill>
                  <a:srgbClr val="FF0000"/>
                </a:solidFill>
              </a:rPr>
              <a:t>and public life leads to the </a:t>
            </a:r>
            <a:r>
              <a:rPr lang="en-US" i="1" dirty="0">
                <a:solidFill>
                  <a:schemeClr val="accent1"/>
                </a:solidFill>
              </a:rPr>
              <a:t>continuous tracking </a:t>
            </a:r>
            <a:r>
              <a:rPr lang="en-US" dirty="0">
                <a:solidFill>
                  <a:srgbClr val="FF0000"/>
                </a:solidFill>
              </a:rPr>
              <a:t>of its users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 err="1">
                <a:solidFill>
                  <a:srgbClr val="FF0000"/>
                </a:solidFill>
              </a:rPr>
              <a:t>IoT</a:t>
            </a:r>
            <a:r>
              <a:rPr lang="en-US" dirty="0">
                <a:solidFill>
                  <a:srgbClr val="FF0000"/>
                </a:solidFill>
              </a:rPr>
              <a:t> generates a huge amount of data</a:t>
            </a:r>
            <a:r>
              <a:rPr lang="en-US" dirty="0"/>
              <a:t>, sometimes referred to as </a:t>
            </a:r>
            <a:r>
              <a:rPr lang="en-US" i="1" dirty="0" smtClean="0">
                <a:solidFill>
                  <a:srgbClr val="FF0000"/>
                </a:solidFill>
              </a:rPr>
              <a:t>Big Data</a:t>
            </a:r>
            <a:endParaRPr lang="en-US" dirty="0" smtClean="0"/>
          </a:p>
          <a:p>
            <a:r>
              <a:rPr lang="en-US" dirty="0"/>
              <a:t>Big Data is compiled from an </a:t>
            </a:r>
            <a:r>
              <a:rPr lang="en-US" dirty="0" smtClean="0"/>
              <a:t>increasing amount </a:t>
            </a:r>
            <a:r>
              <a:rPr lang="en-US" dirty="0"/>
              <a:t>of </a:t>
            </a:r>
            <a:r>
              <a:rPr lang="en-US" dirty="0">
                <a:solidFill>
                  <a:srgbClr val="FF0000"/>
                </a:solidFill>
              </a:rPr>
              <a:t>data from sensors, smart systems, entertainment products, and </a:t>
            </a:r>
            <a:r>
              <a:rPr lang="en-US" dirty="0" smtClean="0">
                <a:solidFill>
                  <a:srgbClr val="FF0000"/>
                </a:solidFill>
              </a:rPr>
              <a:t>social media applications </a:t>
            </a:r>
          </a:p>
          <a:p>
            <a:r>
              <a:rPr lang="en-US" dirty="0"/>
              <a:t>The data volume will continue to </a:t>
            </a:r>
            <a:r>
              <a:rPr lang="en-US" dirty="0" smtClean="0"/>
              <a:t>grow and </a:t>
            </a:r>
            <a:r>
              <a:rPr lang="en-US" dirty="0"/>
              <a:t>the analysis techniques must (and certainly will) improve. 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Processing </a:t>
            </a:r>
            <a:r>
              <a:rPr lang="en-US" dirty="0">
                <a:solidFill>
                  <a:srgbClr val="FF0000"/>
                </a:solidFill>
              </a:rPr>
              <a:t>Big </a:t>
            </a:r>
            <a:r>
              <a:rPr lang="en-US" dirty="0" smtClean="0">
                <a:solidFill>
                  <a:srgbClr val="FF0000"/>
                </a:solidFill>
              </a:rPr>
              <a:t>Data, especially </a:t>
            </a:r>
            <a:r>
              <a:rPr lang="en-US" dirty="0">
                <a:solidFill>
                  <a:srgbClr val="FF0000"/>
                </a:solidFill>
              </a:rPr>
              <a:t>the merging of different large databases, faces already huge </a:t>
            </a:r>
            <a:r>
              <a:rPr lang="en-US" dirty="0" smtClean="0">
                <a:solidFill>
                  <a:srgbClr val="FF0000"/>
                </a:solidFill>
              </a:rPr>
              <a:t>challenges— on </a:t>
            </a:r>
            <a:r>
              <a:rPr lang="en-US" dirty="0">
                <a:solidFill>
                  <a:srgbClr val="FF0000"/>
                </a:solidFill>
              </a:rPr>
              <a:t>the one side with privacy regulation and on the other side with security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1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first </a:t>
            </a:r>
            <a:r>
              <a:rPr lang="en-US" dirty="0">
                <a:solidFill>
                  <a:srgbClr val="FF0000"/>
                </a:solidFill>
              </a:rPr>
              <a:t>wave of smart vehicles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Leading </a:t>
            </a:r>
            <a:r>
              <a:rPr lang="en-US" dirty="0"/>
              <a:t>manufacturers have to </a:t>
            </a:r>
            <a:r>
              <a:rPr lang="en-US" dirty="0" smtClean="0"/>
              <a:t>deal with </a:t>
            </a:r>
            <a:r>
              <a:rPr lang="en-US" dirty="0"/>
              <a:t>numerous privacy problems because of </a:t>
            </a:r>
            <a:r>
              <a:rPr lang="en-US" dirty="0">
                <a:solidFill>
                  <a:schemeClr val="accent1"/>
                </a:solidFill>
              </a:rPr>
              <a:t>continuous tracking of the </a:t>
            </a:r>
            <a:r>
              <a:rPr lang="en-US" dirty="0" smtClean="0">
                <a:solidFill>
                  <a:schemeClr val="accent1"/>
                </a:solidFill>
              </a:rPr>
              <a:t>physical car </a:t>
            </a:r>
            <a:r>
              <a:rPr lang="en-US" dirty="0">
                <a:solidFill>
                  <a:schemeClr val="accent1"/>
                </a:solidFill>
              </a:rPr>
              <a:t>and its </a:t>
            </a:r>
            <a:r>
              <a:rPr lang="en-US" dirty="0" err="1">
                <a:solidFill>
                  <a:schemeClr val="accent1"/>
                </a:solidFill>
              </a:rPr>
              <a:t>geolocation</a:t>
            </a:r>
            <a:r>
              <a:rPr lang="en-US" dirty="0"/>
              <a:t>. The first published cyber incidents targeting smart </a:t>
            </a:r>
            <a:r>
              <a:rPr lang="en-US" dirty="0" smtClean="0"/>
              <a:t>cars took </a:t>
            </a:r>
            <a:r>
              <a:rPr lang="en-US" dirty="0"/>
              <a:t>place in summer 2015 (Ring, 2015). </a:t>
            </a:r>
            <a:r>
              <a:rPr lang="en-US" dirty="0">
                <a:solidFill>
                  <a:schemeClr val="accent1"/>
                </a:solidFill>
              </a:rPr>
              <a:t>Hackers succeeded in intruding </a:t>
            </a:r>
            <a:r>
              <a:rPr lang="en-US" dirty="0" smtClean="0">
                <a:solidFill>
                  <a:schemeClr val="accent1"/>
                </a:solidFill>
              </a:rPr>
              <a:t>into some cars’ systems via mobile telephone networks and were able to take over vital functions </a:t>
            </a:r>
            <a:r>
              <a:rPr lang="en-US" dirty="0">
                <a:solidFill>
                  <a:schemeClr val="accent1"/>
                </a:solidFill>
              </a:rPr>
              <a:t>such as the brake system and engine</a:t>
            </a:r>
            <a:r>
              <a:rPr lang="en-US" dirty="0"/>
              <a:t> (</a:t>
            </a:r>
            <a:r>
              <a:rPr lang="en-US" dirty="0" err="1"/>
              <a:t>Schellekens</a:t>
            </a:r>
            <a:r>
              <a:rPr lang="en-US" dirty="0"/>
              <a:t>, 2016). </a:t>
            </a:r>
            <a:endParaRPr lang="en-US" dirty="0" smtClean="0"/>
          </a:p>
          <a:p>
            <a:r>
              <a:rPr lang="en-US" i="1" dirty="0" smtClean="0">
                <a:solidFill>
                  <a:srgbClr val="FF0000"/>
                </a:solidFill>
              </a:rPr>
              <a:t>wireless technology</a:t>
            </a:r>
            <a:endParaRPr lang="en-US" dirty="0" smtClean="0"/>
          </a:p>
          <a:p>
            <a:pPr lvl="1"/>
            <a:r>
              <a:rPr lang="en-US" dirty="0" smtClean="0"/>
              <a:t>such </a:t>
            </a:r>
            <a:r>
              <a:rPr lang="en-US" dirty="0"/>
              <a:t>as smart home platforms and </a:t>
            </a:r>
            <a:r>
              <a:rPr lang="en-US" dirty="0" smtClean="0"/>
              <a:t>fitness trackers</a:t>
            </a:r>
            <a:r>
              <a:rPr lang="en-US" dirty="0"/>
              <a:t>. Generally speaking, the use of </a:t>
            </a:r>
            <a:r>
              <a:rPr lang="en-US" dirty="0">
                <a:solidFill>
                  <a:schemeClr val="accent1"/>
                </a:solidFill>
              </a:rPr>
              <a:t>wireless devices increases the risk </a:t>
            </a:r>
            <a:r>
              <a:rPr lang="en-US" dirty="0" smtClean="0">
                <a:solidFill>
                  <a:schemeClr val="accent1"/>
                </a:solidFill>
              </a:rPr>
              <a:t>of potential </a:t>
            </a:r>
            <a:r>
              <a:rPr lang="en-US" dirty="0" err="1">
                <a:solidFill>
                  <a:schemeClr val="accent1"/>
                </a:solidFill>
              </a:rPr>
              <a:t>cybersecurity</a:t>
            </a:r>
            <a:r>
              <a:rPr lang="en-US" dirty="0">
                <a:solidFill>
                  <a:schemeClr val="accent1"/>
                </a:solidFill>
              </a:rPr>
              <a:t> threats</a:t>
            </a:r>
            <a:r>
              <a:rPr lang="en-US" dirty="0"/>
              <a:t>. The increasing use of wireless office devices, </a:t>
            </a:r>
            <a:r>
              <a:rPr lang="en-US" dirty="0" smtClean="0"/>
              <a:t>such as </a:t>
            </a:r>
            <a:r>
              <a:rPr lang="en-US" dirty="0"/>
              <a:t>the wireless keyboard and mouse, opens new opportunities for </a:t>
            </a:r>
            <a:r>
              <a:rPr lang="en-US" dirty="0">
                <a:solidFill>
                  <a:schemeClr val="accent1"/>
                </a:solidFill>
              </a:rPr>
              <a:t>gaining access </a:t>
            </a:r>
            <a:r>
              <a:rPr lang="en-US" dirty="0" smtClean="0">
                <a:solidFill>
                  <a:schemeClr val="accent1"/>
                </a:solidFill>
              </a:rPr>
              <a:t>to potential </a:t>
            </a:r>
            <a:r>
              <a:rPr lang="en-US" dirty="0">
                <a:solidFill>
                  <a:schemeClr val="accent1"/>
                </a:solidFill>
              </a:rPr>
              <a:t>target systems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cryptocurrencies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err="1" smtClean="0"/>
              <a:t>Cryptocurrencies</a:t>
            </a:r>
            <a:r>
              <a:rPr lang="en-US" dirty="0" smtClean="0"/>
              <a:t> such as </a:t>
            </a:r>
            <a:r>
              <a:rPr lang="en-US" dirty="0" err="1"/>
              <a:t>Bitcoin</a:t>
            </a:r>
            <a:r>
              <a:rPr lang="en-US" dirty="0"/>
              <a:t>, Ether, or Solar Coin have the potential to significantly change </a:t>
            </a:r>
            <a:r>
              <a:rPr lang="en-US" dirty="0" smtClean="0"/>
              <a:t>the finance </a:t>
            </a:r>
            <a:r>
              <a:rPr lang="en-US" dirty="0"/>
              <a:t>sector and the cyber domain by reviving the </a:t>
            </a:r>
            <a:r>
              <a:rPr lang="en-US" dirty="0" smtClean="0"/>
              <a:t>business </a:t>
            </a:r>
            <a:r>
              <a:rPr lang="en-US" dirty="0"/>
              <a:t>of cyber </a:t>
            </a:r>
            <a:r>
              <a:rPr lang="en-US" dirty="0" smtClean="0"/>
              <a:t>attacks, especially </a:t>
            </a:r>
            <a:r>
              <a:rPr lang="en-US" dirty="0" err="1"/>
              <a:t>ransomware</a:t>
            </a:r>
            <a:r>
              <a:rPr lang="en-US" dirty="0">
                <a:solidFill>
                  <a:schemeClr val="accent1"/>
                </a:solidFill>
              </a:rPr>
              <a:t>. The news in 2015 and 2016 was full of stories about </a:t>
            </a:r>
            <a:r>
              <a:rPr lang="en-US" dirty="0" smtClean="0">
                <a:solidFill>
                  <a:schemeClr val="accent1"/>
                </a:solidFill>
              </a:rPr>
              <a:t>cyber attacks </a:t>
            </a:r>
            <a:r>
              <a:rPr lang="en-US" dirty="0">
                <a:solidFill>
                  <a:schemeClr val="accent1"/>
                </a:solidFill>
              </a:rPr>
              <a:t>using </a:t>
            </a:r>
            <a:r>
              <a:rPr lang="en-US" dirty="0" err="1">
                <a:solidFill>
                  <a:schemeClr val="accent1"/>
                </a:solidFill>
              </a:rPr>
              <a:t>ransomware</a:t>
            </a:r>
            <a:r>
              <a:rPr lang="en-US" dirty="0">
                <a:solidFill>
                  <a:schemeClr val="accent1"/>
                </a:solidFill>
              </a:rPr>
              <a:t> focusing on public and private facilities </a:t>
            </a:r>
            <a:r>
              <a:rPr lang="en-US" dirty="0"/>
              <a:t>(Pathak </a:t>
            </a:r>
            <a:r>
              <a:rPr lang="en-US" dirty="0" smtClean="0"/>
              <a:t>and </a:t>
            </a:r>
            <a:r>
              <a:rPr lang="en-US" dirty="0" err="1" smtClean="0"/>
              <a:t>Nanded</a:t>
            </a:r>
            <a:r>
              <a:rPr lang="en-US" dirty="0"/>
              <a:t>, 2016</a:t>
            </a:r>
            <a:r>
              <a:rPr lang="en-US" dirty="0">
                <a:solidFill>
                  <a:schemeClr val="accent1"/>
                </a:solidFill>
              </a:rPr>
              <a:t>). </a:t>
            </a:r>
            <a:r>
              <a:rPr lang="en-US" dirty="0" smtClean="0">
                <a:solidFill>
                  <a:schemeClr val="accent1"/>
                </a:solidFill>
              </a:rPr>
              <a:t>Main </a:t>
            </a:r>
            <a:r>
              <a:rPr lang="en-US" dirty="0">
                <a:solidFill>
                  <a:schemeClr val="accent1"/>
                </a:solidFill>
              </a:rPr>
              <a:t>advantages of </a:t>
            </a:r>
            <a:r>
              <a:rPr lang="en-US" dirty="0" err="1">
                <a:solidFill>
                  <a:schemeClr val="accent1"/>
                </a:solidFill>
              </a:rPr>
              <a:t>ransomware</a:t>
            </a:r>
            <a:r>
              <a:rPr lang="en-US" dirty="0">
                <a:solidFill>
                  <a:schemeClr val="accent1"/>
                </a:solidFill>
              </a:rPr>
              <a:t> business for criminals are the </a:t>
            </a:r>
            <a:r>
              <a:rPr lang="en-US" dirty="0" err="1">
                <a:solidFill>
                  <a:schemeClr val="accent1"/>
                </a:solidFill>
              </a:rPr>
              <a:t>t</a:t>
            </a:r>
            <a:r>
              <a:rPr lang="en-US" dirty="0" err="1" smtClean="0">
                <a:solidFill>
                  <a:schemeClr val="accent1"/>
                </a:solidFill>
              </a:rPr>
              <a:t>he</a:t>
            </a:r>
            <a:r>
              <a:rPr lang="en-US" dirty="0" smtClean="0">
                <a:solidFill>
                  <a:schemeClr val="accent1"/>
                </a:solidFill>
              </a:rPr>
              <a:t> low-maintenance </a:t>
            </a:r>
            <a:r>
              <a:rPr lang="en-US" dirty="0">
                <a:solidFill>
                  <a:schemeClr val="accent1"/>
                </a:solidFill>
              </a:rPr>
              <a:t>and operation costs and the short path to anonymous </a:t>
            </a:r>
            <a:r>
              <a:rPr lang="en-US" dirty="0" smtClean="0">
                <a:solidFill>
                  <a:schemeClr val="accent1"/>
                </a:solidFill>
              </a:rPr>
              <a:t>monetization thanks </a:t>
            </a:r>
            <a:r>
              <a:rPr lang="en-US" dirty="0">
                <a:solidFill>
                  <a:schemeClr val="accent1"/>
                </a:solidFill>
              </a:rPr>
              <a:t>to </a:t>
            </a:r>
            <a:r>
              <a:rPr lang="en-US" dirty="0" err="1" smtClean="0">
                <a:solidFill>
                  <a:schemeClr val="accent1"/>
                </a:solidFill>
              </a:rPr>
              <a:t>Bitcoin</a:t>
            </a:r>
            <a:r>
              <a:rPr lang="en-US" dirty="0" smtClean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575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>
                <a:solidFill>
                  <a:schemeClr val="accent1"/>
                </a:solidFill>
              </a:rPr>
              <a:t>The anonymity provided by </a:t>
            </a:r>
            <a:r>
              <a:rPr lang="en-US" dirty="0" err="1">
                <a:solidFill>
                  <a:schemeClr val="accent1"/>
                </a:solidFill>
              </a:rPr>
              <a:t>cryptocurrency</a:t>
            </a:r>
            <a:r>
              <a:rPr lang="en-US" dirty="0">
                <a:solidFill>
                  <a:schemeClr val="accent1"/>
                </a:solidFill>
              </a:rPr>
              <a:t>, especially by </a:t>
            </a:r>
            <a:r>
              <a:rPr lang="en-US" dirty="0" err="1">
                <a:solidFill>
                  <a:schemeClr val="accent1"/>
                </a:solidFill>
              </a:rPr>
              <a:t>Bitcoin</a:t>
            </a:r>
            <a:r>
              <a:rPr lang="en-US" dirty="0">
                <a:solidFill>
                  <a:schemeClr val="accent1"/>
                </a:solidFill>
              </a:rPr>
              <a:t>, led to </a:t>
            </a:r>
            <a:r>
              <a:rPr lang="en-US" dirty="0" smtClean="0">
                <a:solidFill>
                  <a:schemeClr val="accent1"/>
                </a:solidFill>
              </a:rPr>
              <a:t>a rising </a:t>
            </a:r>
            <a:r>
              <a:rPr lang="en-US" dirty="0">
                <a:solidFill>
                  <a:schemeClr val="accent1"/>
                </a:solidFill>
              </a:rPr>
              <a:t>number of </a:t>
            </a:r>
            <a:r>
              <a:rPr lang="en-US" dirty="0" err="1">
                <a:solidFill>
                  <a:schemeClr val="accent1"/>
                </a:solidFill>
              </a:rPr>
              <a:t>ransomware</a:t>
            </a:r>
            <a:r>
              <a:rPr lang="en-US" dirty="0">
                <a:solidFill>
                  <a:schemeClr val="accent1"/>
                </a:solidFill>
              </a:rPr>
              <a:t> attacks on soft target organizations.</a:t>
            </a:r>
            <a:r>
              <a:rPr lang="en-US" dirty="0"/>
              <a:t> Modern </a:t>
            </a:r>
            <a:r>
              <a:rPr lang="en-US" dirty="0" err="1" smtClean="0"/>
              <a:t>ransomware</a:t>
            </a:r>
            <a:r>
              <a:rPr lang="en-US" dirty="0"/>
              <a:t> </a:t>
            </a:r>
            <a:r>
              <a:rPr lang="en-US" dirty="0" smtClean="0"/>
              <a:t>attacks </a:t>
            </a:r>
            <a:r>
              <a:rPr lang="en-US" dirty="0"/>
              <a:t>increasingly target small businesses, local government, and </a:t>
            </a:r>
            <a:r>
              <a:rPr lang="en-US" dirty="0" smtClean="0"/>
              <a:t>medical institutions </a:t>
            </a:r>
            <a:r>
              <a:rPr lang="en-US" dirty="0"/>
              <a:t>due to their historically often poor information security </a:t>
            </a:r>
            <a:r>
              <a:rPr lang="en-US" dirty="0" smtClean="0"/>
              <a:t>maturity levels</a:t>
            </a:r>
            <a:r>
              <a:rPr lang="en-US" dirty="0"/>
              <a:t>. </a:t>
            </a:r>
            <a:r>
              <a:rPr lang="en-US" dirty="0">
                <a:solidFill>
                  <a:schemeClr val="accent1"/>
                </a:solidFill>
              </a:rPr>
              <a:t>Because of the lack of regular backups and suitable protective measures </a:t>
            </a:r>
            <a:r>
              <a:rPr lang="en-US" dirty="0" smtClean="0">
                <a:solidFill>
                  <a:schemeClr val="accent1"/>
                </a:solidFill>
              </a:rPr>
              <a:t>in these </a:t>
            </a:r>
            <a:r>
              <a:rPr lang="en-US" dirty="0">
                <a:solidFill>
                  <a:schemeClr val="accent1"/>
                </a:solidFill>
              </a:rPr>
              <a:t>organizations, different </a:t>
            </a:r>
            <a:r>
              <a:rPr lang="en-US" dirty="0" err="1">
                <a:solidFill>
                  <a:schemeClr val="accent1"/>
                </a:solidFill>
              </a:rPr>
              <a:t>ransomware</a:t>
            </a:r>
            <a:r>
              <a:rPr lang="en-US" dirty="0">
                <a:solidFill>
                  <a:schemeClr val="accent1"/>
                </a:solidFill>
              </a:rPr>
              <a:t> tactics have evolved</a:t>
            </a:r>
            <a:r>
              <a:rPr lang="en-US" dirty="0" smtClean="0">
                <a:solidFill>
                  <a:schemeClr val="accent1"/>
                </a:solidFill>
              </a:rPr>
              <a:t>.</a:t>
            </a:r>
          </a:p>
          <a:p>
            <a:r>
              <a:rPr lang="en-US" dirty="0">
                <a:solidFill>
                  <a:srgbClr val="FF0000"/>
                </a:solidFill>
              </a:rPr>
              <a:t>Distributed denial-of-service (</a:t>
            </a:r>
            <a:r>
              <a:rPr lang="en-US" dirty="0" err="1">
                <a:solidFill>
                  <a:srgbClr val="FF0000"/>
                </a:solidFill>
              </a:rPr>
              <a:t>DDoS</a:t>
            </a:r>
            <a:r>
              <a:rPr lang="en-US" dirty="0">
                <a:solidFill>
                  <a:srgbClr val="FF0000"/>
                </a:solidFill>
              </a:rPr>
              <a:t>) 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err="1" smtClean="0"/>
              <a:t>DDoS</a:t>
            </a:r>
            <a:r>
              <a:rPr lang="en-US" dirty="0" smtClean="0"/>
              <a:t> attacks </a:t>
            </a:r>
            <a:r>
              <a:rPr lang="en-US" dirty="0"/>
              <a:t>continue to increase in frequency, complexity, and size and focus </a:t>
            </a:r>
            <a:r>
              <a:rPr lang="en-US" dirty="0" smtClean="0">
                <a:solidFill>
                  <a:schemeClr val="accent1"/>
                </a:solidFill>
              </a:rPr>
              <a:t>mainly on </a:t>
            </a:r>
            <a:r>
              <a:rPr lang="en-US" dirty="0">
                <a:solidFill>
                  <a:schemeClr val="accent1"/>
                </a:solidFill>
              </a:rPr>
              <a:t>cloud services, financial services, and the public sector</a:t>
            </a:r>
            <a:r>
              <a:rPr lang="en-US" dirty="0"/>
              <a:t> (</a:t>
            </a:r>
            <a:r>
              <a:rPr lang="en-US" dirty="0" err="1"/>
              <a:t>Verisign</a:t>
            </a:r>
            <a:r>
              <a:rPr lang="en-US" dirty="0"/>
              <a:t>, 2016).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22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Deep and Dark web.</a:t>
            </a:r>
          </a:p>
          <a:p>
            <a:pPr lvl="1"/>
            <a:r>
              <a:rPr lang="en-US" dirty="0"/>
              <a:t>Deep Web (the </a:t>
            </a:r>
            <a:r>
              <a:rPr lang="en-US" dirty="0">
                <a:solidFill>
                  <a:srgbClr val="FF0000"/>
                </a:solidFill>
              </a:rPr>
              <a:t>part of the Internet that </a:t>
            </a:r>
            <a:r>
              <a:rPr lang="en-US" dirty="0" smtClean="0">
                <a:solidFill>
                  <a:srgbClr val="FF0000"/>
                </a:solidFill>
              </a:rPr>
              <a:t>cannot be </a:t>
            </a:r>
            <a:r>
              <a:rPr lang="en-US" dirty="0">
                <a:solidFill>
                  <a:srgbClr val="FF0000"/>
                </a:solidFill>
              </a:rPr>
              <a:t>discovered by using traditional search engines. It contains web pages, </a:t>
            </a:r>
            <a:r>
              <a:rPr lang="en-US" dirty="0" smtClean="0">
                <a:solidFill>
                  <a:srgbClr val="FF0000"/>
                </a:solidFill>
              </a:rPr>
              <a:t>databases, networks</a:t>
            </a:r>
            <a:r>
              <a:rPr lang="en-US" dirty="0">
                <a:solidFill>
                  <a:srgbClr val="FF0000"/>
                </a:solidFill>
              </a:rPr>
              <a:t>, and online communities that are hidden from average users</a:t>
            </a:r>
            <a:r>
              <a:rPr lang="en-US" dirty="0"/>
              <a:t>). </a:t>
            </a:r>
            <a:r>
              <a:rPr lang="en-US" dirty="0" smtClean="0"/>
              <a:t>Dark </a:t>
            </a:r>
            <a:r>
              <a:rPr lang="en-US" dirty="0"/>
              <a:t>Web is a part of </a:t>
            </a:r>
            <a:r>
              <a:rPr lang="en-US" dirty="0" smtClean="0"/>
              <a:t>the </a:t>
            </a:r>
            <a:r>
              <a:rPr lang="en-US" dirty="0"/>
              <a:t>Deep Web. </a:t>
            </a:r>
            <a:r>
              <a:rPr lang="en-US" dirty="0">
                <a:solidFill>
                  <a:schemeClr val="accent1"/>
                </a:solidFill>
              </a:rPr>
              <a:t>The Dark Web is based on secured networks where connections </a:t>
            </a:r>
            <a:r>
              <a:rPr lang="en-US" dirty="0" smtClean="0">
                <a:solidFill>
                  <a:schemeClr val="accent1"/>
                </a:solidFill>
              </a:rPr>
              <a:t>are made </a:t>
            </a:r>
            <a:r>
              <a:rPr lang="en-US" dirty="0">
                <a:solidFill>
                  <a:schemeClr val="accent1"/>
                </a:solidFill>
              </a:rPr>
              <a:t>between trusted peers</a:t>
            </a:r>
            <a:r>
              <a:rPr lang="en-US" dirty="0"/>
              <a:t> (</a:t>
            </a:r>
            <a:r>
              <a:rPr lang="en-US" dirty="0" err="1"/>
              <a:t>Ciancaglini</a:t>
            </a:r>
            <a:r>
              <a:rPr lang="en-US" dirty="0"/>
              <a:t> et al., 2016), using </a:t>
            </a:r>
            <a:r>
              <a:rPr lang="en-US" dirty="0" smtClean="0"/>
              <a:t>TOR, </a:t>
            </a:r>
            <a:r>
              <a:rPr lang="en-US" dirty="0" err="1" smtClean="0"/>
              <a:t>Freenet</a:t>
            </a:r>
            <a:r>
              <a:rPr lang="en-US" dirty="0" smtClean="0"/>
              <a:t>, or I2P. </a:t>
            </a:r>
          </a:p>
          <a:p>
            <a:pPr lvl="1"/>
            <a:r>
              <a:rPr lang="en-US" dirty="0" smtClean="0"/>
              <a:t>Nowadays </a:t>
            </a:r>
            <a:r>
              <a:rPr lang="en-US" dirty="0"/>
              <a:t>information located on the Deep Web is estimated to be </a:t>
            </a:r>
            <a:r>
              <a:rPr lang="en-US" dirty="0" smtClean="0"/>
              <a:t>400–550 times </a:t>
            </a:r>
            <a:r>
              <a:rPr lang="en-US" dirty="0"/>
              <a:t>larger than the information on the Surface Web. Hence, the </a:t>
            </a:r>
            <a:r>
              <a:rPr lang="en-US" dirty="0">
                <a:solidFill>
                  <a:schemeClr val="accent1"/>
                </a:solidFill>
              </a:rPr>
              <a:t>Deep Web is </a:t>
            </a:r>
            <a:r>
              <a:rPr lang="en-US" dirty="0" smtClean="0">
                <a:solidFill>
                  <a:schemeClr val="accent1"/>
                </a:solidFill>
              </a:rPr>
              <a:t>the largest </a:t>
            </a:r>
            <a:r>
              <a:rPr lang="en-US" dirty="0">
                <a:solidFill>
                  <a:schemeClr val="accent1"/>
                </a:solidFill>
              </a:rPr>
              <a:t>growing part of the Internet (Bergman, 2001) and massively increases </a:t>
            </a:r>
            <a:r>
              <a:rPr lang="en-US" dirty="0" smtClean="0">
                <a:solidFill>
                  <a:schemeClr val="accent1"/>
                </a:solidFill>
              </a:rPr>
              <a:t>the number </a:t>
            </a:r>
            <a:r>
              <a:rPr lang="en-US" dirty="0">
                <a:solidFill>
                  <a:schemeClr val="accent1"/>
                </a:solidFill>
              </a:rPr>
              <a:t>of threats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76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63" y="0"/>
            <a:ext cx="9241573" cy="6858000"/>
          </a:xfr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006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50" y="0"/>
            <a:ext cx="9716173" cy="6858000"/>
          </a:xfr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3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A series of new off-the-shelf tools are commoditizing the </a:t>
            </a:r>
            <a:r>
              <a:rPr lang="en-US" dirty="0" smtClean="0"/>
              <a:t>art of </a:t>
            </a:r>
            <a:r>
              <a:rPr lang="en-US" dirty="0"/>
              <a:t>hacking. This makes it possible for everybody, even with little know-how, </a:t>
            </a:r>
            <a:r>
              <a:rPr lang="en-US" dirty="0" smtClean="0"/>
              <a:t>to launch </a:t>
            </a:r>
            <a:r>
              <a:rPr lang="en-US" dirty="0"/>
              <a:t>attacks by renting services from the Dark Web. </a:t>
            </a:r>
            <a:endParaRPr lang="en-US" dirty="0" smtClean="0"/>
          </a:p>
          <a:p>
            <a:pPr lvl="1"/>
            <a:r>
              <a:rPr lang="en-US" dirty="0" smtClean="0"/>
              <a:t>Available </a:t>
            </a:r>
            <a:r>
              <a:rPr lang="en-US" dirty="0"/>
              <a:t>services allow, </a:t>
            </a:r>
            <a:r>
              <a:rPr lang="en-US" dirty="0" smtClean="0"/>
              <a:t>for instance</a:t>
            </a:r>
            <a:r>
              <a:rPr lang="en-US" dirty="0"/>
              <a:t>, the renting of botnets for a small fee from botnet owners for the </a:t>
            </a:r>
            <a:r>
              <a:rPr lang="en-US" dirty="0" smtClean="0"/>
              <a:t>purpose of </a:t>
            </a:r>
            <a:r>
              <a:rPr lang="en-US" dirty="0"/>
              <a:t>launching </a:t>
            </a:r>
            <a:r>
              <a:rPr lang="en-US" dirty="0" err="1"/>
              <a:t>DDoS</a:t>
            </a:r>
            <a:r>
              <a:rPr lang="en-US" dirty="0"/>
              <a:t> attacks</a:t>
            </a:r>
            <a:r>
              <a:rPr lang="en-US" dirty="0" smtClean="0"/>
              <a:t>.</a:t>
            </a:r>
          </a:p>
          <a:p>
            <a:r>
              <a:rPr lang="en-US" i="1" dirty="0">
                <a:solidFill>
                  <a:srgbClr val="FF0000"/>
                </a:solidFill>
              </a:rPr>
              <a:t>Industrial control systems </a:t>
            </a:r>
            <a:r>
              <a:rPr lang="en-US" dirty="0">
                <a:solidFill>
                  <a:srgbClr val="FF0000"/>
                </a:solidFill>
              </a:rPr>
              <a:t>(ICS).</a:t>
            </a:r>
          </a:p>
          <a:p>
            <a:pPr lvl="1"/>
            <a:r>
              <a:rPr lang="en-US" dirty="0"/>
              <a:t>There is an </a:t>
            </a:r>
            <a:r>
              <a:rPr lang="en-US" dirty="0">
                <a:solidFill>
                  <a:schemeClr val="tx2"/>
                </a:solidFill>
              </a:rPr>
              <a:t>increasing interest in industrial products as targets</a:t>
            </a:r>
            <a:r>
              <a:rPr lang="en-US" dirty="0"/>
              <a:t>. A significant incident was the </a:t>
            </a:r>
            <a:r>
              <a:rPr lang="en-US" dirty="0">
                <a:solidFill>
                  <a:schemeClr val="tx2"/>
                </a:solidFill>
              </a:rPr>
              <a:t>successful attack on the Ukrainian power grid, which resulted in a large-scale power outage</a:t>
            </a:r>
            <a:r>
              <a:rPr lang="en-US" dirty="0"/>
              <a:t> (U.S. DHS ICS-CERT, 2016). Countless organizations have fallen prey to cyber attacks, even large companies with advanced defense methods.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7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8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4132" y="2177317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In recent years,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FF0000"/>
                </a:solidFill>
              </a:rPr>
              <a:t>new </a:t>
            </a:r>
            <a:r>
              <a:rPr lang="en-US" sz="2400" dirty="0">
                <a:solidFill>
                  <a:srgbClr val="FF0000"/>
                </a:solidFill>
              </a:rPr>
              <a:t>category of cyber threats </a:t>
            </a:r>
            <a:r>
              <a:rPr lang="en-US" sz="2400" dirty="0"/>
              <a:t>hit the mainstream, namely, the </a:t>
            </a:r>
            <a:r>
              <a:rPr lang="en-US" sz="2400" i="1" dirty="0">
                <a:solidFill>
                  <a:srgbClr val="C00000"/>
                </a:solidFill>
              </a:rPr>
              <a:t>advance </a:t>
            </a:r>
            <a:r>
              <a:rPr lang="en-US" sz="2400" i="1" dirty="0" smtClean="0">
                <a:solidFill>
                  <a:srgbClr val="C00000"/>
                </a:solidFill>
              </a:rPr>
              <a:t>persistent threats </a:t>
            </a:r>
            <a:r>
              <a:rPr lang="en-US" sz="2400" i="1" dirty="0">
                <a:solidFill>
                  <a:srgbClr val="C00000"/>
                </a:solidFill>
              </a:rPr>
              <a:t>(APTs</a:t>
            </a:r>
            <a:r>
              <a:rPr lang="en-US" sz="2400" dirty="0"/>
              <a:t>). </a:t>
            </a:r>
            <a:endParaRPr lang="en-US" sz="2400" dirty="0" smtClean="0"/>
          </a:p>
          <a:p>
            <a:r>
              <a:rPr lang="en-US" sz="2400" dirty="0" smtClean="0"/>
              <a:t>APTs </a:t>
            </a:r>
            <a:r>
              <a:rPr lang="en-US" sz="2400" dirty="0"/>
              <a:t>are </a:t>
            </a:r>
            <a:r>
              <a:rPr lang="en-US" sz="2400" dirty="0">
                <a:solidFill>
                  <a:srgbClr val="C00000"/>
                </a:solidFill>
              </a:rPr>
              <a:t>carried out by sophisticated and well-resourced </a:t>
            </a:r>
            <a:r>
              <a:rPr lang="en-US" sz="2400" dirty="0" smtClean="0">
                <a:solidFill>
                  <a:srgbClr val="C00000"/>
                </a:solidFill>
              </a:rPr>
              <a:t>adversaries targeting </a:t>
            </a:r>
            <a:r>
              <a:rPr lang="en-US" sz="2400" dirty="0">
                <a:solidFill>
                  <a:srgbClr val="C00000"/>
                </a:solidFill>
              </a:rPr>
              <a:t>specific information in high-profile companies and </a:t>
            </a:r>
            <a:r>
              <a:rPr lang="en-US" sz="2400" dirty="0" smtClean="0">
                <a:solidFill>
                  <a:srgbClr val="C00000"/>
                </a:solidFill>
              </a:rPr>
              <a:t>governments</a:t>
            </a:r>
            <a:r>
              <a:rPr lang="en-US" sz="2400" dirty="0"/>
              <a:t>.</a:t>
            </a:r>
            <a:r>
              <a:rPr lang="en-US" sz="2400" dirty="0" smtClean="0"/>
              <a:t> </a:t>
            </a:r>
          </a:p>
          <a:p>
            <a:r>
              <a:rPr lang="en-US" sz="2400" dirty="0"/>
              <a:t>U</a:t>
            </a:r>
            <a:r>
              <a:rPr lang="en-US" sz="2400" dirty="0" smtClean="0"/>
              <a:t>sually in </a:t>
            </a:r>
            <a:r>
              <a:rPr lang="en-US" sz="2400" dirty="0"/>
              <a:t>a long-term campaign involving different methods and tools, such as the </a:t>
            </a:r>
            <a:r>
              <a:rPr lang="en-US" sz="2400" dirty="0" smtClean="0"/>
              <a:t>latest zero-day </a:t>
            </a:r>
            <a:r>
              <a:rPr lang="en-US" sz="2400" dirty="0"/>
              <a:t>vulnerabilities, sophisticated toolkits, and social engineering techniques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A</a:t>
            </a:r>
            <a:r>
              <a:rPr lang="en-US" sz="2400" dirty="0" smtClean="0"/>
              <a:t>n </a:t>
            </a:r>
            <a:r>
              <a:rPr lang="en-US" sz="2400" dirty="0"/>
              <a:t>APT is carried out by “</a:t>
            </a:r>
            <a:r>
              <a:rPr lang="en-US" sz="2400" dirty="0">
                <a:solidFill>
                  <a:srgbClr val="C00000"/>
                </a:solidFill>
              </a:rPr>
              <a:t>an </a:t>
            </a:r>
            <a:r>
              <a:rPr lang="en-US" sz="2400" dirty="0" smtClean="0">
                <a:solidFill>
                  <a:srgbClr val="C00000"/>
                </a:solidFill>
              </a:rPr>
              <a:t>adversary that </a:t>
            </a:r>
            <a:r>
              <a:rPr lang="en-US" sz="2400" dirty="0">
                <a:solidFill>
                  <a:srgbClr val="C00000"/>
                </a:solidFill>
              </a:rPr>
              <a:t>possesses sophisticated levels of expertise and significant resources which </a:t>
            </a:r>
            <a:r>
              <a:rPr lang="en-US" sz="2400" dirty="0" smtClean="0">
                <a:solidFill>
                  <a:srgbClr val="C00000"/>
                </a:solidFill>
              </a:rPr>
              <a:t>allow it </a:t>
            </a:r>
            <a:r>
              <a:rPr lang="en-US" sz="2400" dirty="0">
                <a:solidFill>
                  <a:srgbClr val="C00000"/>
                </a:solidFill>
              </a:rPr>
              <a:t>to create opportunities to achieve its objectives by using multiple attack </a:t>
            </a:r>
            <a:r>
              <a:rPr lang="en-US" sz="2400" dirty="0" smtClean="0">
                <a:solidFill>
                  <a:srgbClr val="C00000"/>
                </a:solidFill>
              </a:rPr>
              <a:t>vectors </a:t>
            </a:r>
            <a:r>
              <a:rPr lang="en-US" sz="2400" dirty="0" smtClean="0"/>
              <a:t>(e.g</a:t>
            </a:r>
            <a:r>
              <a:rPr lang="en-US" sz="2400" dirty="0"/>
              <a:t>., cyber, physical, and deception).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79" y="117523"/>
            <a:ext cx="5577487" cy="178581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37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advanced persistent threat</a:t>
            </a:r>
            <a:r>
              <a:rPr lang="en-US" sz="2400" dirty="0" smtClean="0"/>
              <a:t>:</a:t>
            </a:r>
          </a:p>
          <a:p>
            <a:pPr marL="571500" indent="-571500">
              <a:buAutoNum type="romanLcParenBoth"/>
            </a:pPr>
            <a:r>
              <a:rPr lang="en-US" sz="2400" dirty="0" smtClean="0">
                <a:solidFill>
                  <a:srgbClr val="C00000"/>
                </a:solidFill>
              </a:rPr>
              <a:t>pursues </a:t>
            </a:r>
            <a:r>
              <a:rPr lang="en-US" sz="2400" dirty="0">
                <a:solidFill>
                  <a:srgbClr val="C00000"/>
                </a:solidFill>
              </a:rPr>
              <a:t>its objectives repeatedly over an extended period of time</a:t>
            </a:r>
            <a:r>
              <a:rPr lang="en-US" sz="2400" dirty="0" smtClean="0">
                <a:solidFill>
                  <a:srgbClr val="C00000"/>
                </a:solidFill>
              </a:rPr>
              <a:t>;</a:t>
            </a:r>
          </a:p>
          <a:p>
            <a:pPr marL="571500" indent="-571500">
              <a:buAutoNum type="romanLcParenBoth"/>
            </a:pPr>
            <a:r>
              <a:rPr lang="en-US" sz="2400" dirty="0" smtClean="0">
                <a:solidFill>
                  <a:srgbClr val="C00000"/>
                </a:solidFill>
              </a:rPr>
              <a:t>adapts to defenders</a:t>
            </a:r>
            <a:r>
              <a:rPr lang="en-US" sz="2400" dirty="0">
                <a:solidFill>
                  <a:srgbClr val="C00000"/>
                </a:solidFill>
              </a:rPr>
              <a:t>’ efforts to resist it; and </a:t>
            </a:r>
            <a:endParaRPr lang="en-US" sz="2400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(</a:t>
            </a:r>
            <a:r>
              <a:rPr lang="en-US" sz="2400" dirty="0">
                <a:solidFill>
                  <a:srgbClr val="C00000"/>
                </a:solidFill>
              </a:rPr>
              <a:t>iii) </a:t>
            </a:r>
            <a:r>
              <a:rPr lang="en-US" sz="2400" dirty="0" smtClean="0">
                <a:solidFill>
                  <a:srgbClr val="C00000"/>
                </a:solidFill>
              </a:rPr>
              <a:t> is </a:t>
            </a:r>
            <a:r>
              <a:rPr lang="en-US" sz="2400" dirty="0">
                <a:solidFill>
                  <a:srgbClr val="C00000"/>
                </a:solidFill>
              </a:rPr>
              <a:t>determined to maintain the level of </a:t>
            </a:r>
            <a:r>
              <a:rPr lang="en-US" sz="2400" dirty="0" smtClean="0">
                <a:solidFill>
                  <a:srgbClr val="C00000"/>
                </a:solidFill>
              </a:rPr>
              <a:t>interaction needed </a:t>
            </a:r>
            <a:r>
              <a:rPr lang="en-US" sz="2400" dirty="0">
                <a:solidFill>
                  <a:srgbClr val="C00000"/>
                </a:solidFill>
              </a:rPr>
              <a:t>to execute its objectives” </a:t>
            </a:r>
            <a:endParaRPr lang="en-US" sz="2400" dirty="0" smtClean="0">
              <a:solidFill>
                <a:srgbClr val="C00000"/>
              </a:solidFill>
            </a:endParaRPr>
          </a:p>
          <a:p>
            <a:r>
              <a:rPr lang="en-US" sz="2400" dirty="0"/>
              <a:t>APTs </a:t>
            </a:r>
            <a:r>
              <a:rPr lang="en-US" sz="2400" dirty="0">
                <a:solidFill>
                  <a:srgbClr val="C00000"/>
                </a:solidFill>
              </a:rPr>
              <a:t>focus on specific high-value </a:t>
            </a:r>
            <a:r>
              <a:rPr lang="en-US" sz="2400" dirty="0" smtClean="0">
                <a:solidFill>
                  <a:srgbClr val="C00000"/>
                </a:solidFill>
              </a:rPr>
              <a:t>targets </a:t>
            </a:r>
            <a:r>
              <a:rPr lang="en-US" sz="2400" dirty="0" smtClean="0"/>
              <a:t>and </a:t>
            </a:r>
            <a:r>
              <a:rPr lang="en-US" sz="2400" dirty="0"/>
              <a:t>their intellectual property or classified information </a:t>
            </a:r>
            <a:r>
              <a:rPr lang="en-US" sz="2400" dirty="0">
                <a:solidFill>
                  <a:srgbClr val="C00000"/>
                </a:solidFill>
              </a:rPr>
              <a:t>in order to gain </a:t>
            </a:r>
            <a:r>
              <a:rPr lang="en-US" sz="2400" dirty="0" smtClean="0">
                <a:solidFill>
                  <a:srgbClr val="C00000"/>
                </a:solidFill>
              </a:rPr>
              <a:t>strategic benefits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i</a:t>
            </a:r>
            <a:r>
              <a:rPr lang="en-US" sz="2400" dirty="0" smtClean="0"/>
              <a:t>n </a:t>
            </a:r>
            <a:r>
              <a:rPr lang="en-US" sz="2400" dirty="0"/>
              <a:t>APTs an attacker carries out </a:t>
            </a:r>
            <a:r>
              <a:rPr lang="en-US" sz="2400" dirty="0">
                <a:solidFill>
                  <a:srgbClr val="C00000"/>
                </a:solidFill>
              </a:rPr>
              <a:t>multiple steps over a </a:t>
            </a:r>
            <a:r>
              <a:rPr lang="en-US" sz="2400" dirty="0" smtClean="0">
                <a:solidFill>
                  <a:srgbClr val="C00000"/>
                </a:solidFill>
              </a:rPr>
              <a:t>longer time </a:t>
            </a:r>
            <a:r>
              <a:rPr lang="en-US" sz="2400" dirty="0">
                <a:solidFill>
                  <a:srgbClr val="C00000"/>
                </a:solidFill>
              </a:rPr>
              <a:t>span.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806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APTs start repeated attempts to access the target system </a:t>
            </a:r>
            <a:r>
              <a:rPr lang="en-US" sz="2400" dirty="0" smtClean="0">
                <a:solidFill>
                  <a:srgbClr val="C00000"/>
                </a:solidFill>
              </a:rPr>
              <a:t>within long-term </a:t>
            </a:r>
            <a:r>
              <a:rPr lang="en-US" sz="2400" dirty="0">
                <a:solidFill>
                  <a:srgbClr val="C00000"/>
                </a:solidFill>
              </a:rPr>
              <a:t>campaigns</a:t>
            </a:r>
            <a:r>
              <a:rPr lang="en-US" sz="2400" dirty="0" smtClean="0">
                <a:solidFill>
                  <a:srgbClr val="C00000"/>
                </a:solidFill>
              </a:rPr>
              <a:t>.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As </a:t>
            </a:r>
            <a:r>
              <a:rPr lang="en-US" sz="2400" dirty="0">
                <a:solidFill>
                  <a:srgbClr val="C00000"/>
                </a:solidFill>
              </a:rPr>
              <a:t>APTs target </a:t>
            </a:r>
            <a:r>
              <a:rPr lang="en-US" sz="2400" dirty="0"/>
              <a:t>advanced victims, mainly </a:t>
            </a:r>
            <a:r>
              <a:rPr lang="en-US" sz="2400" dirty="0" smtClean="0">
                <a:solidFill>
                  <a:srgbClr val="C00000"/>
                </a:solidFill>
              </a:rPr>
              <a:t>governmental organizations</a:t>
            </a:r>
            <a:r>
              <a:rPr lang="en-US" sz="2400" dirty="0">
                <a:solidFill>
                  <a:srgbClr val="C00000"/>
                </a:solidFill>
              </a:rPr>
              <a:t>, finance, high-tech, and consulting companies </a:t>
            </a:r>
            <a:r>
              <a:rPr lang="en-US" sz="2400" dirty="0"/>
              <a:t>(</a:t>
            </a:r>
            <a:r>
              <a:rPr lang="en-US" sz="2400" dirty="0" err="1"/>
              <a:t>FireEye</a:t>
            </a:r>
            <a:r>
              <a:rPr lang="en-US" sz="2400" dirty="0"/>
              <a:t>, 2016), </a:t>
            </a:r>
            <a:r>
              <a:rPr lang="en-US" sz="2400" dirty="0" smtClean="0"/>
              <a:t>they may </a:t>
            </a:r>
            <a:r>
              <a:rPr lang="en-US" sz="2400" dirty="0"/>
              <a:t>need more time and advanced tools to penetrate the company’s defense </a:t>
            </a:r>
            <a:r>
              <a:rPr lang="en-US" sz="2400" dirty="0" smtClean="0"/>
              <a:t>line while </a:t>
            </a:r>
            <a:r>
              <a:rPr lang="en-US" sz="2400" dirty="0"/>
              <a:t>remaining undetected. </a:t>
            </a:r>
            <a:endParaRPr lang="en-US" sz="2400" dirty="0" smtClean="0"/>
          </a:p>
          <a:p>
            <a:r>
              <a:rPr lang="en-US" sz="2400" dirty="0" smtClean="0"/>
              <a:t>Therefore</a:t>
            </a:r>
            <a:r>
              <a:rPr lang="en-US" sz="2400" dirty="0"/>
              <a:t>, the </a:t>
            </a:r>
            <a:r>
              <a:rPr lang="en-US" sz="2400" dirty="0">
                <a:solidFill>
                  <a:srgbClr val="C00000"/>
                </a:solidFill>
              </a:rPr>
              <a:t>threat actors of APTs are usually </a:t>
            </a:r>
            <a:r>
              <a:rPr lang="en-US" sz="2400" dirty="0" smtClean="0">
                <a:solidFill>
                  <a:srgbClr val="C00000"/>
                </a:solidFill>
              </a:rPr>
              <a:t>well resourced and </a:t>
            </a:r>
            <a:r>
              <a:rPr lang="en-US" sz="2400" dirty="0">
                <a:solidFill>
                  <a:srgbClr val="C00000"/>
                </a:solidFill>
              </a:rPr>
              <a:t>organized groups with deep technical know-how.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9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Attack Characteristics</a:t>
            </a:r>
            <a:endParaRPr lang="en-US" sz="32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737360"/>
            <a:ext cx="9530884" cy="4408747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09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Cyber Kill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552" y="1673216"/>
            <a:ext cx="11431364" cy="4023360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A kill chain is a systematic process to target and engage an </a:t>
            </a:r>
            <a:r>
              <a:rPr lang="en-US" sz="2200" dirty="0" smtClean="0">
                <a:solidFill>
                  <a:srgbClr val="FF0000"/>
                </a:solidFill>
              </a:rPr>
              <a:t>adversary to </a:t>
            </a:r>
            <a:r>
              <a:rPr lang="en-US" sz="2200" dirty="0">
                <a:solidFill>
                  <a:srgbClr val="FF0000"/>
                </a:solidFill>
              </a:rPr>
              <a:t>create desired effects</a:t>
            </a:r>
            <a:r>
              <a:rPr lang="en-US" sz="2200" dirty="0" smtClean="0"/>
              <a:t>”</a:t>
            </a:r>
          </a:p>
          <a:p>
            <a:r>
              <a:rPr lang="en-US" sz="2200" dirty="0"/>
              <a:t>Basically, it is a simplified approach of the </a:t>
            </a:r>
            <a:r>
              <a:rPr lang="en-US" sz="2200" dirty="0" smtClean="0"/>
              <a:t>cyber kill </a:t>
            </a:r>
            <a:r>
              <a:rPr lang="en-US" sz="2200" dirty="0"/>
              <a:t>chain model </a:t>
            </a:r>
            <a:r>
              <a:rPr lang="en-US" sz="2200" dirty="0">
                <a:solidFill>
                  <a:srgbClr val="FF0000"/>
                </a:solidFill>
              </a:rPr>
              <a:t>proposed by Lockheed (2014). </a:t>
            </a:r>
          </a:p>
          <a:p>
            <a:r>
              <a:rPr lang="en-US" sz="2200" dirty="0" smtClean="0">
                <a:solidFill>
                  <a:srgbClr val="FF0000"/>
                </a:solidFill>
              </a:rPr>
              <a:t>It is part </a:t>
            </a:r>
            <a:r>
              <a:rPr lang="en-US" sz="2200" dirty="0">
                <a:solidFill>
                  <a:srgbClr val="FF0000"/>
                </a:solidFill>
              </a:rPr>
              <a:t>of the </a:t>
            </a:r>
            <a:r>
              <a:rPr lang="en-US" sz="2200" b="1" dirty="0">
                <a:solidFill>
                  <a:srgbClr val="FF0000"/>
                </a:solidFill>
              </a:rPr>
              <a:t>Intelligence Driven </a:t>
            </a:r>
            <a:r>
              <a:rPr lang="en-US" sz="2200" b="1" dirty="0" smtClean="0">
                <a:solidFill>
                  <a:srgbClr val="FF0000"/>
                </a:solidFill>
              </a:rPr>
              <a:t>Defense</a:t>
            </a:r>
            <a:r>
              <a:rPr lang="en-US" sz="2200" dirty="0">
                <a:solidFill>
                  <a:srgbClr val="FF0000"/>
                </a:solidFill>
              </a:rPr>
              <a:t> model for identification and prevention of cyber intrusions activity</a:t>
            </a:r>
            <a:r>
              <a:rPr lang="en-US" sz="2200" dirty="0"/>
              <a:t>. </a:t>
            </a:r>
            <a:endParaRPr lang="en-US" sz="2200" dirty="0" smtClean="0"/>
          </a:p>
          <a:p>
            <a:r>
              <a:rPr lang="en-US" sz="2200" dirty="0" smtClean="0"/>
              <a:t>The </a:t>
            </a:r>
            <a:r>
              <a:rPr lang="en-US" sz="2200" dirty="0"/>
              <a:t>model identifies what the adversaries must complete in order to achieve their objective.</a:t>
            </a:r>
            <a:endParaRPr lang="en-US" sz="2200" dirty="0" smtClean="0"/>
          </a:p>
          <a:p>
            <a:r>
              <a:rPr lang="en-US" sz="2200" dirty="0" smtClean="0"/>
              <a:t>APTs </a:t>
            </a:r>
            <a:r>
              <a:rPr lang="en-US" sz="2200" dirty="0"/>
              <a:t>generally follow the </a:t>
            </a:r>
            <a:r>
              <a:rPr lang="en-US" sz="2200" dirty="0" smtClean="0"/>
              <a:t>following common </a:t>
            </a:r>
            <a:r>
              <a:rPr lang="en-US" sz="2200" dirty="0"/>
              <a:t>phases in the cyber kill </a:t>
            </a:r>
            <a:r>
              <a:rPr lang="en-US" sz="2200" dirty="0" smtClean="0"/>
              <a:t>chain:</a:t>
            </a:r>
          </a:p>
          <a:p>
            <a:pPr lvl="1"/>
            <a:r>
              <a:rPr lang="en-US" sz="2200" dirty="0" smtClean="0">
                <a:solidFill>
                  <a:srgbClr val="FF0000"/>
                </a:solidFill>
              </a:rPr>
              <a:t>(</a:t>
            </a:r>
            <a:r>
              <a:rPr lang="en-US" sz="2200" dirty="0">
                <a:solidFill>
                  <a:srgbClr val="FF0000"/>
                </a:solidFill>
              </a:rPr>
              <a:t>1) reconnaissance, </a:t>
            </a:r>
            <a:r>
              <a:rPr lang="en-US" sz="2200" dirty="0" smtClean="0">
                <a:solidFill>
                  <a:srgbClr val="FF0000"/>
                </a:solidFill>
              </a:rPr>
              <a:t>	(</a:t>
            </a:r>
            <a:r>
              <a:rPr lang="en-US" sz="2200" dirty="0">
                <a:solidFill>
                  <a:srgbClr val="FF0000"/>
                </a:solidFill>
              </a:rPr>
              <a:t>2) </a:t>
            </a:r>
            <a:r>
              <a:rPr lang="en-US" sz="2200" dirty="0" err="1">
                <a:solidFill>
                  <a:srgbClr val="FF0000"/>
                </a:solidFill>
              </a:rPr>
              <a:t>weaponization</a:t>
            </a:r>
            <a:r>
              <a:rPr lang="en-US" sz="2200" dirty="0" smtClean="0">
                <a:solidFill>
                  <a:srgbClr val="FF0000"/>
                </a:solidFill>
              </a:rPr>
              <a:t>, 		(</a:t>
            </a:r>
            <a:r>
              <a:rPr lang="en-US" sz="2200" dirty="0">
                <a:solidFill>
                  <a:srgbClr val="FF0000"/>
                </a:solidFill>
              </a:rPr>
              <a:t>3) delivery, </a:t>
            </a:r>
            <a:endParaRPr lang="en-US" sz="2200" dirty="0" smtClean="0">
              <a:solidFill>
                <a:srgbClr val="FF0000"/>
              </a:solidFill>
            </a:endParaRPr>
          </a:p>
          <a:p>
            <a:pPr lvl="1"/>
            <a:r>
              <a:rPr lang="en-US" sz="2200" dirty="0" smtClean="0">
                <a:solidFill>
                  <a:srgbClr val="FF0000"/>
                </a:solidFill>
              </a:rPr>
              <a:t>(</a:t>
            </a:r>
            <a:r>
              <a:rPr lang="en-US" sz="2200" dirty="0">
                <a:solidFill>
                  <a:srgbClr val="FF0000"/>
                </a:solidFill>
              </a:rPr>
              <a:t>4) exploitation and initial intrusion, </a:t>
            </a:r>
            <a:endParaRPr lang="en-US" sz="2200" dirty="0" smtClean="0">
              <a:solidFill>
                <a:srgbClr val="FF0000"/>
              </a:solidFill>
            </a:endParaRPr>
          </a:p>
          <a:p>
            <a:pPr lvl="1"/>
            <a:r>
              <a:rPr lang="en-US" sz="2200" dirty="0" smtClean="0">
                <a:solidFill>
                  <a:srgbClr val="FF0000"/>
                </a:solidFill>
              </a:rPr>
              <a:t>(</a:t>
            </a:r>
            <a:r>
              <a:rPr lang="en-US" sz="2200" dirty="0">
                <a:solidFill>
                  <a:srgbClr val="FF0000"/>
                </a:solidFill>
              </a:rPr>
              <a:t>5) command and </a:t>
            </a:r>
            <a:r>
              <a:rPr lang="en-US" sz="2200" dirty="0" smtClean="0">
                <a:solidFill>
                  <a:srgbClr val="FF0000"/>
                </a:solidFill>
              </a:rPr>
              <a:t>control (C2 </a:t>
            </a:r>
            <a:r>
              <a:rPr lang="en-US" sz="2200" dirty="0">
                <a:solidFill>
                  <a:srgbClr val="FF0000"/>
                </a:solidFill>
              </a:rPr>
              <a:t>or C&amp;C) and lateral movements, and </a:t>
            </a:r>
            <a:endParaRPr lang="en-US" sz="2200" dirty="0" smtClean="0">
              <a:solidFill>
                <a:srgbClr val="FF0000"/>
              </a:solidFill>
            </a:endParaRPr>
          </a:p>
          <a:p>
            <a:pPr lvl="1"/>
            <a:r>
              <a:rPr lang="en-US" sz="2200" dirty="0" smtClean="0">
                <a:solidFill>
                  <a:srgbClr val="FF0000"/>
                </a:solidFill>
              </a:rPr>
              <a:t>(</a:t>
            </a:r>
            <a:r>
              <a:rPr lang="en-US" sz="2200" dirty="0">
                <a:solidFill>
                  <a:srgbClr val="FF0000"/>
                </a:solidFill>
              </a:rPr>
              <a:t>6) actions of intent</a:t>
            </a:r>
            <a:r>
              <a:rPr lang="en-US" sz="2200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6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973" y="103699"/>
            <a:ext cx="5142614" cy="5996850"/>
          </a:xfr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850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Step 1: Reconnaissance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</a:t>
            </a:r>
            <a:r>
              <a:rPr lang="en-US" sz="2400" dirty="0" smtClean="0"/>
              <a:t>this phase</a:t>
            </a:r>
            <a:r>
              <a:rPr lang="en-US" sz="2400" dirty="0"/>
              <a:t>, the </a:t>
            </a:r>
            <a:r>
              <a:rPr lang="en-US" sz="2400" dirty="0">
                <a:solidFill>
                  <a:srgbClr val="FF0000"/>
                </a:solidFill>
              </a:rPr>
              <a:t>threat actor tries to collect all relevant information about the </a:t>
            </a:r>
            <a:r>
              <a:rPr lang="en-US" sz="2400" dirty="0" smtClean="0">
                <a:solidFill>
                  <a:srgbClr val="FF0000"/>
                </a:solidFill>
              </a:rPr>
              <a:t>target organization </a:t>
            </a:r>
            <a:r>
              <a:rPr lang="en-US" sz="2400" dirty="0">
                <a:solidFill>
                  <a:srgbClr val="FF0000"/>
                </a:solidFill>
              </a:rPr>
              <a:t>in order to discover the target’s technical environment, </a:t>
            </a:r>
            <a:r>
              <a:rPr lang="en-US" sz="2400" dirty="0" smtClean="0">
                <a:solidFill>
                  <a:srgbClr val="FF0000"/>
                </a:solidFill>
              </a:rPr>
              <a:t>organizational processes</a:t>
            </a:r>
            <a:r>
              <a:rPr lang="en-US" sz="2400" dirty="0">
                <a:solidFill>
                  <a:srgbClr val="FF0000"/>
                </a:solidFill>
              </a:rPr>
              <a:t>, and key personnel that could be exploited to achieve the threat </a:t>
            </a:r>
            <a:r>
              <a:rPr lang="en-US" sz="2400" dirty="0" smtClean="0">
                <a:solidFill>
                  <a:srgbClr val="FF0000"/>
                </a:solidFill>
              </a:rPr>
              <a:t>actors’ objective.</a:t>
            </a:r>
          </a:p>
          <a:p>
            <a:r>
              <a:rPr lang="en-US" sz="2400" dirty="0" smtClean="0"/>
              <a:t>As </a:t>
            </a:r>
            <a:r>
              <a:rPr lang="en-US" sz="2400" dirty="0"/>
              <a:t>part of this process, the attacker may 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harvest </a:t>
            </a:r>
            <a:r>
              <a:rPr lang="en-US" sz="2400" dirty="0">
                <a:solidFill>
                  <a:srgbClr val="FF0000"/>
                </a:solidFill>
              </a:rPr>
              <a:t>login credentials</a:t>
            </a:r>
            <a:r>
              <a:rPr lang="en-US" sz="2400" dirty="0"/>
              <a:t> or gather other information, such as email addresses, user IDs, physical locations, software applications and operating system details, all of which may be useful in phishing or spoofing attacks. </a:t>
            </a:r>
            <a:endParaRPr lang="en-US" sz="2400" dirty="0" smtClean="0"/>
          </a:p>
          <a:p>
            <a:r>
              <a:rPr lang="en-US" sz="2400" dirty="0">
                <a:solidFill>
                  <a:srgbClr val="FF0000"/>
                </a:solidFill>
              </a:rPr>
              <a:t>The </a:t>
            </a:r>
            <a:r>
              <a:rPr lang="en-US" sz="2400" dirty="0" smtClean="0">
                <a:solidFill>
                  <a:srgbClr val="FF0000"/>
                </a:solidFill>
              </a:rPr>
              <a:t>threat actors </a:t>
            </a:r>
            <a:r>
              <a:rPr lang="en-US" sz="2400" dirty="0">
                <a:solidFill>
                  <a:srgbClr val="FF0000"/>
                </a:solidFill>
              </a:rPr>
              <a:t>can gain valuable information from open source intelligence (OSINT) </a:t>
            </a:r>
            <a:r>
              <a:rPr lang="en-US" sz="2400" dirty="0" smtClean="0">
                <a:solidFill>
                  <a:srgbClr val="FF0000"/>
                </a:solidFill>
              </a:rPr>
              <a:t>or gain </a:t>
            </a:r>
            <a:r>
              <a:rPr lang="en-US" sz="2400" dirty="0">
                <a:solidFill>
                  <a:srgbClr val="FF0000"/>
                </a:solidFill>
              </a:rPr>
              <a:t>internal information through </a:t>
            </a:r>
            <a:r>
              <a:rPr lang="en-US" sz="2400" i="1" dirty="0">
                <a:solidFill>
                  <a:srgbClr val="FF0000"/>
                </a:solidFill>
              </a:rPr>
              <a:t>social engineering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0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following </a:t>
            </a:r>
            <a:r>
              <a:rPr lang="en-US" sz="2400" dirty="0">
                <a:solidFill>
                  <a:srgbClr val="FF0000"/>
                </a:solidFill>
              </a:rPr>
              <a:t>OSINT sources</a:t>
            </a:r>
            <a:r>
              <a:rPr lang="en-US" sz="2400" dirty="0"/>
              <a:t> might be relevant for information </a:t>
            </a:r>
            <a:r>
              <a:rPr lang="en-US" sz="2400" dirty="0" smtClean="0"/>
              <a:t>gathering or </a:t>
            </a:r>
            <a:r>
              <a:rPr lang="en-US" sz="2400" dirty="0"/>
              <a:t>for further social engineering fraud: </a:t>
            </a:r>
            <a:r>
              <a:rPr lang="en-US" sz="2400" dirty="0">
                <a:solidFill>
                  <a:srgbClr val="FF0000"/>
                </a:solidFill>
              </a:rPr>
              <a:t>corporate websites, social networks, </a:t>
            </a:r>
            <a:r>
              <a:rPr lang="en-US" sz="2400" dirty="0" smtClean="0">
                <a:solidFill>
                  <a:srgbClr val="FF0000"/>
                </a:solidFill>
              </a:rPr>
              <a:t>press releases</a:t>
            </a:r>
            <a:r>
              <a:rPr lang="en-US" sz="2400" dirty="0">
                <a:solidFill>
                  <a:srgbClr val="FF0000"/>
                </a:solidFill>
              </a:rPr>
              <a:t>, public documents, white papers, job offers, and search </a:t>
            </a:r>
            <a:r>
              <a:rPr lang="en-US" sz="2400" dirty="0" smtClean="0">
                <a:solidFill>
                  <a:srgbClr val="FF0000"/>
                </a:solidFill>
              </a:rPr>
              <a:t>engines.</a:t>
            </a:r>
          </a:p>
          <a:p>
            <a:r>
              <a:rPr lang="en-US" sz="2400" dirty="0"/>
              <a:t>Generally speaking, the </a:t>
            </a:r>
            <a:r>
              <a:rPr lang="en-US" sz="2400" dirty="0">
                <a:solidFill>
                  <a:srgbClr val="FF0000"/>
                </a:solidFill>
              </a:rPr>
              <a:t>more information the attacker is able to gather during the Reconnaissance phase, the more sophisticated and convincing the attack will be </a:t>
            </a:r>
            <a:r>
              <a:rPr lang="en-US" sz="2400" dirty="0"/>
              <a:t>and, hence, the higher the likelihood of success.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2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Input: Selected target</a:t>
            </a:r>
          </a:p>
          <a:p>
            <a:r>
              <a:rPr lang="en-US" sz="2800" dirty="0"/>
              <a:t>Activity: Data gathering on the target</a:t>
            </a:r>
          </a:p>
          <a:p>
            <a:r>
              <a:rPr lang="en-US" sz="2800" dirty="0"/>
              <a:t>Output: Solid knowledge of the target system, discovered vulnerabilities for</a:t>
            </a:r>
          </a:p>
          <a:p>
            <a:r>
              <a:rPr lang="en-US" sz="2800" dirty="0"/>
              <a:t>further attacks</a:t>
            </a:r>
          </a:p>
          <a:p>
            <a:r>
              <a:rPr lang="en-US" sz="2800" dirty="0"/>
              <a:t>Tools and techniques: Traditional or special search engines, social engineering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56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Step 2: </a:t>
            </a:r>
            <a:r>
              <a:rPr lang="en-US" i="1" dirty="0" err="1"/>
              <a:t>Weaponization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Weaponization</a:t>
            </a:r>
            <a:r>
              <a:rPr lang="en-US" sz="3200" dirty="0"/>
              <a:t> covers the </a:t>
            </a:r>
            <a:r>
              <a:rPr lang="en-US" sz="3200" dirty="0">
                <a:solidFill>
                  <a:srgbClr val="FF0000"/>
                </a:solidFill>
              </a:rPr>
              <a:t>preparation of malicious payloads for further attacks. </a:t>
            </a:r>
            <a:r>
              <a:rPr lang="en-US" sz="3200" dirty="0" smtClean="0">
                <a:solidFill>
                  <a:srgbClr val="FF0000"/>
                </a:solidFill>
              </a:rPr>
              <a:t>In this </a:t>
            </a:r>
            <a:r>
              <a:rPr lang="en-US" sz="3200" dirty="0">
                <a:solidFill>
                  <a:srgbClr val="FF0000"/>
                </a:solidFill>
              </a:rPr>
              <a:t>phase, the threat actor has solid knowledge of the target’s attack surface, </a:t>
            </a:r>
            <a:r>
              <a:rPr lang="en-US" sz="3200" dirty="0" smtClean="0">
                <a:solidFill>
                  <a:srgbClr val="FF0000"/>
                </a:solidFill>
              </a:rPr>
              <a:t>and it </a:t>
            </a:r>
            <a:r>
              <a:rPr lang="en-US" sz="3200" dirty="0">
                <a:solidFill>
                  <a:srgbClr val="FF0000"/>
                </a:solidFill>
              </a:rPr>
              <a:t>has identified potential victim employees</a:t>
            </a:r>
            <a:r>
              <a:rPr lang="en-US" sz="3200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sz="3200" dirty="0" err="1"/>
              <a:t>Weaponization</a:t>
            </a:r>
            <a:r>
              <a:rPr lang="en-US" sz="3200" dirty="0"/>
              <a:t> </a:t>
            </a:r>
            <a:r>
              <a:rPr lang="en-US" sz="3200" dirty="0" smtClean="0"/>
              <a:t>refers to </a:t>
            </a:r>
            <a:r>
              <a:rPr lang="en-US" sz="3200" dirty="0">
                <a:solidFill>
                  <a:srgbClr val="FF0000"/>
                </a:solidFill>
              </a:rPr>
              <a:t>compiling tailored malware for the discovered vulnerabilities in order to </a:t>
            </a:r>
            <a:r>
              <a:rPr lang="en-US" sz="3200" dirty="0" smtClean="0">
                <a:solidFill>
                  <a:srgbClr val="FF0000"/>
                </a:solidFill>
              </a:rPr>
              <a:t>gain remote </a:t>
            </a:r>
            <a:r>
              <a:rPr lang="en-US" sz="3200" dirty="0">
                <a:solidFill>
                  <a:srgbClr val="FF0000"/>
                </a:solidFill>
              </a:rPr>
              <a:t>access to the target </a:t>
            </a:r>
            <a:r>
              <a:rPr lang="en-US" sz="3200" dirty="0" smtClean="0">
                <a:solidFill>
                  <a:srgbClr val="FF0000"/>
                </a:solidFill>
              </a:rPr>
              <a:t>system</a:t>
            </a:r>
            <a:endParaRPr lang="en-US" sz="3200" dirty="0" smtClean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34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attacker creates an attack vector, such as </a:t>
            </a:r>
            <a:r>
              <a:rPr lang="en-US" sz="3200" dirty="0">
                <a:solidFill>
                  <a:srgbClr val="FF0000"/>
                </a:solidFill>
              </a:rPr>
              <a:t>remote access malware, </a:t>
            </a:r>
            <a:r>
              <a:rPr lang="en-US" sz="3200" dirty="0" err="1">
                <a:solidFill>
                  <a:srgbClr val="FF0000"/>
                </a:solidFill>
              </a:rPr>
              <a:t>ransomware</a:t>
            </a:r>
            <a:r>
              <a:rPr lang="en-US" sz="3200" dirty="0">
                <a:solidFill>
                  <a:srgbClr val="FF0000"/>
                </a:solidFill>
              </a:rPr>
              <a:t>, virus or worm </a:t>
            </a:r>
            <a:r>
              <a:rPr lang="en-US" sz="3200" dirty="0"/>
              <a:t>that can exploit a known vulnerability.</a:t>
            </a:r>
          </a:p>
          <a:p>
            <a:r>
              <a:rPr lang="en-US" sz="3200" dirty="0"/>
              <a:t> During this phase, the </a:t>
            </a:r>
            <a:r>
              <a:rPr lang="en-US" sz="3200" dirty="0">
                <a:solidFill>
                  <a:srgbClr val="FF0000"/>
                </a:solidFill>
              </a:rPr>
              <a:t>attacker may also set up back doors so that they can continue to access to the system if their original point of entry is identified and closed by network administrators.</a:t>
            </a:r>
          </a:p>
          <a:p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394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Input: Solid knowledge of target system, collection of potential entry points</a:t>
            </a:r>
          </a:p>
          <a:p>
            <a:r>
              <a:rPr lang="en-US" sz="2400" dirty="0"/>
              <a:t>to the system</a:t>
            </a:r>
          </a:p>
          <a:p>
            <a:r>
              <a:rPr lang="en-US" sz="2400" dirty="0"/>
              <a:t>Activity: Designing the initial compromise</a:t>
            </a:r>
          </a:p>
          <a:p>
            <a:r>
              <a:rPr lang="en-US" sz="2400" dirty="0"/>
              <a:t>Output: Malicious payload</a:t>
            </a:r>
          </a:p>
          <a:p>
            <a:r>
              <a:rPr lang="en-US" sz="2400" dirty="0"/>
              <a:t>Tools and techniques: Zero-day vulnerabilities, tailored malware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04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Step 3: Delivery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Delivery covers the </a:t>
            </a:r>
            <a:r>
              <a:rPr lang="en-US" sz="2400" dirty="0">
                <a:solidFill>
                  <a:srgbClr val="FF0000"/>
                </a:solidFill>
              </a:rPr>
              <a:t>transmission of the malicious payload to a target using </a:t>
            </a:r>
            <a:r>
              <a:rPr lang="en-US" sz="2400" dirty="0" smtClean="0">
                <a:solidFill>
                  <a:srgbClr val="FF0000"/>
                </a:solidFill>
              </a:rPr>
              <a:t>different methods</a:t>
            </a:r>
            <a:r>
              <a:rPr lang="en-US" sz="2400" dirty="0">
                <a:solidFill>
                  <a:srgbClr val="FF0000"/>
                </a:solidFill>
              </a:rPr>
              <a:t>, for instance via e-mail attachments, websites, or USB sticks.</a:t>
            </a:r>
            <a:r>
              <a:rPr lang="en-US" sz="2400" dirty="0"/>
              <a:t> </a:t>
            </a:r>
            <a:endParaRPr lang="en-US" sz="2400" dirty="0" smtClean="0"/>
          </a:p>
          <a:p>
            <a:r>
              <a:rPr lang="en-US" sz="2400" dirty="0" smtClean="0"/>
              <a:t>The delivery of </a:t>
            </a:r>
            <a:r>
              <a:rPr lang="en-US" sz="2400" dirty="0"/>
              <a:t>the exploits could be performed in a </a:t>
            </a:r>
            <a:r>
              <a:rPr lang="en-US" sz="2400" dirty="0">
                <a:solidFill>
                  <a:srgbClr val="FF0000"/>
                </a:solidFill>
              </a:rPr>
              <a:t>direct or indirect </a:t>
            </a:r>
            <a:r>
              <a:rPr lang="en-US" sz="2400" dirty="0" smtClean="0">
                <a:solidFill>
                  <a:srgbClr val="FF0000"/>
                </a:solidFill>
              </a:rPr>
              <a:t>way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direct </a:t>
            </a:r>
            <a:r>
              <a:rPr lang="en-US" sz="2400" dirty="0"/>
              <a:t>delivery mechanisms utilize various social engineering techniques, such as </a:t>
            </a:r>
            <a:r>
              <a:rPr lang="en-US" sz="2400" dirty="0" smtClean="0"/>
              <a:t>spear phishing</a:t>
            </a:r>
            <a:r>
              <a:rPr lang="en-US" sz="2400" dirty="0"/>
              <a:t>.</a:t>
            </a:r>
            <a:endParaRPr lang="en-US" sz="2400" dirty="0" smtClean="0"/>
          </a:p>
          <a:p>
            <a:r>
              <a:rPr lang="en-US" sz="2400" dirty="0"/>
              <a:t>Phishing </a:t>
            </a:r>
            <a:r>
              <a:rPr lang="en-US" sz="2400" dirty="0" smtClean="0"/>
              <a:t>e-mails usually </a:t>
            </a:r>
            <a:r>
              <a:rPr lang="en-US" sz="2400" dirty="0"/>
              <a:t>contain a clickable link which forwards the user to a fake website.</a:t>
            </a:r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555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Another way for delivering the payload is provided by </a:t>
            </a:r>
            <a:r>
              <a:rPr lang="en-US" sz="2200" dirty="0">
                <a:solidFill>
                  <a:srgbClr val="FF0000"/>
                </a:solidFill>
              </a:rPr>
              <a:t>social </a:t>
            </a:r>
            <a:r>
              <a:rPr lang="en-US" sz="2200" dirty="0" smtClean="0">
                <a:solidFill>
                  <a:srgbClr val="FF0000"/>
                </a:solidFill>
              </a:rPr>
              <a:t>networks.</a:t>
            </a:r>
          </a:p>
          <a:p>
            <a:r>
              <a:rPr lang="en-US" sz="2200" dirty="0" smtClean="0"/>
              <a:t>Professional </a:t>
            </a:r>
            <a:r>
              <a:rPr lang="en-US" sz="2200" dirty="0"/>
              <a:t>business networks or social networks—</a:t>
            </a:r>
            <a:r>
              <a:rPr lang="en-US" sz="2200" dirty="0">
                <a:solidFill>
                  <a:srgbClr val="FF0000"/>
                </a:solidFill>
              </a:rPr>
              <a:t>such as LinkedIn, </a:t>
            </a:r>
            <a:r>
              <a:rPr lang="en-US" sz="2200" dirty="0" smtClean="0">
                <a:solidFill>
                  <a:srgbClr val="FF0000"/>
                </a:solidFill>
              </a:rPr>
              <a:t>Data.com Connect</a:t>
            </a:r>
            <a:r>
              <a:rPr lang="en-US" sz="2200" dirty="0">
                <a:solidFill>
                  <a:srgbClr val="FF0000"/>
                </a:solidFill>
              </a:rPr>
              <a:t>, Xing, Beyond, and Facebook—provide a huge amount of useful </a:t>
            </a:r>
            <a:r>
              <a:rPr lang="en-US" sz="2200" dirty="0" smtClean="0">
                <a:solidFill>
                  <a:srgbClr val="FF0000"/>
                </a:solidFill>
              </a:rPr>
              <a:t>information for </a:t>
            </a:r>
            <a:r>
              <a:rPr lang="en-US" sz="2200" dirty="0">
                <a:solidFill>
                  <a:srgbClr val="FF0000"/>
                </a:solidFill>
              </a:rPr>
              <a:t>the APT attackers. </a:t>
            </a:r>
            <a:endParaRPr lang="en-US" sz="2200" dirty="0" smtClean="0">
              <a:solidFill>
                <a:srgbClr val="FF0000"/>
              </a:solidFill>
            </a:endParaRPr>
          </a:p>
          <a:p>
            <a:r>
              <a:rPr lang="en-US" sz="2200" dirty="0" smtClean="0"/>
              <a:t>APT </a:t>
            </a:r>
            <a:r>
              <a:rPr lang="en-US" sz="2200" dirty="0"/>
              <a:t>hackers just need to create a fake profile </a:t>
            </a:r>
            <a:r>
              <a:rPr lang="en-US" sz="2200" dirty="0" smtClean="0"/>
              <a:t>and send </a:t>
            </a:r>
            <a:r>
              <a:rPr lang="en-US" sz="2200" dirty="0"/>
              <a:t>connection request to the members of the target </a:t>
            </a:r>
            <a:r>
              <a:rPr lang="en-US" sz="2200" dirty="0" smtClean="0"/>
              <a:t>company.</a:t>
            </a:r>
          </a:p>
          <a:p>
            <a:r>
              <a:rPr lang="en-US" sz="2200" dirty="0"/>
              <a:t>T</a:t>
            </a:r>
            <a:r>
              <a:rPr lang="en-US" sz="2200" dirty="0" smtClean="0"/>
              <a:t>he </a:t>
            </a:r>
            <a:r>
              <a:rPr lang="en-US" sz="2200" dirty="0"/>
              <a:t>attacker sends a link, for instance, </a:t>
            </a:r>
            <a:r>
              <a:rPr lang="en-US" sz="2200" dirty="0" smtClean="0"/>
              <a:t>in the </a:t>
            </a:r>
            <a:r>
              <a:rPr lang="en-US" sz="2200" dirty="0"/>
              <a:t>traditional phishing e-mail or a malicious </a:t>
            </a:r>
            <a:r>
              <a:rPr lang="en-US" sz="2200" dirty="0" smtClean="0"/>
              <a:t>attachment.</a:t>
            </a:r>
          </a:p>
          <a:p>
            <a:r>
              <a:rPr lang="en-US" sz="2200" dirty="0">
                <a:solidFill>
                  <a:srgbClr val="FF0000"/>
                </a:solidFill>
              </a:rPr>
              <a:t>T</a:t>
            </a:r>
            <a:r>
              <a:rPr lang="en-US" sz="2200" dirty="0" smtClean="0">
                <a:solidFill>
                  <a:srgbClr val="FF0000"/>
                </a:solidFill>
              </a:rPr>
              <a:t>he </a:t>
            </a:r>
            <a:r>
              <a:rPr lang="en-US" sz="2200" dirty="0">
                <a:solidFill>
                  <a:srgbClr val="FF0000"/>
                </a:solidFill>
              </a:rPr>
              <a:t>attacker can compromise the victim’s device within the </a:t>
            </a:r>
            <a:r>
              <a:rPr lang="en-US" sz="2200" dirty="0" smtClean="0">
                <a:solidFill>
                  <a:srgbClr val="FF0000"/>
                </a:solidFill>
              </a:rPr>
              <a:t>company and </a:t>
            </a:r>
            <a:r>
              <a:rPr lang="en-US" sz="2200" dirty="0">
                <a:solidFill>
                  <a:srgbClr val="FF0000"/>
                </a:solidFill>
              </a:rPr>
              <a:t>move on to infect more hosts or even install a backdoor on the target system.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143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 example for direct delivery is to attack the companies’ Internet </a:t>
            </a:r>
            <a:r>
              <a:rPr lang="en-US" sz="2400" dirty="0" smtClean="0"/>
              <a:t>servers, such </a:t>
            </a:r>
            <a:r>
              <a:rPr lang="en-US" sz="2400" dirty="0"/>
              <a:t>as e-mail or DNS. After finding vulnerabilities (such as configuration </a:t>
            </a:r>
            <a:r>
              <a:rPr lang="en-US" sz="2400" dirty="0" smtClean="0"/>
              <a:t>weaknesses) on </a:t>
            </a:r>
            <a:r>
              <a:rPr lang="en-US" sz="2400" dirty="0"/>
              <a:t>a publicly reachable server, the attacker can compromise further </a:t>
            </a:r>
            <a:r>
              <a:rPr lang="en-US" sz="2400" dirty="0" smtClean="0"/>
              <a:t>hosts and </a:t>
            </a:r>
            <a:r>
              <a:rPr lang="en-US" sz="2400" dirty="0"/>
              <a:t>install a backdoor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Indirect delivery happens through a trusted third party of the target </a:t>
            </a:r>
            <a:r>
              <a:rPr lang="en-US" sz="2400" dirty="0" smtClean="0"/>
              <a:t>company, causing </a:t>
            </a:r>
            <a:r>
              <a:rPr lang="en-US" sz="2400" dirty="0"/>
              <a:t>APT attackers to be hard to trace. A trusted third party can be a </a:t>
            </a:r>
            <a:r>
              <a:rPr lang="en-US" sz="2400" dirty="0" smtClean="0"/>
              <a:t>supplier or </a:t>
            </a:r>
            <a:r>
              <a:rPr lang="en-US" sz="2400" dirty="0"/>
              <a:t>a legitimate website that is frequently visited or contacted by the target company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179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Input: Tailored payload, solid knowledge of target system</a:t>
            </a:r>
          </a:p>
          <a:p>
            <a:r>
              <a:rPr lang="en-US" sz="2400" dirty="0"/>
              <a:t>Activity: Delivery of the malicious payload</a:t>
            </a:r>
          </a:p>
          <a:p>
            <a:r>
              <a:rPr lang="en-US" sz="2400" dirty="0"/>
              <a:t>Output: Malicious payload delivered, compromised hosts</a:t>
            </a:r>
          </a:p>
          <a:p>
            <a:r>
              <a:rPr lang="en-US" sz="2400" dirty="0"/>
              <a:t>Tools and techniques: Phishing, spear-phishing, watering hole, </a:t>
            </a:r>
            <a:r>
              <a:rPr lang="en-US" sz="2400" dirty="0" smtClean="0"/>
              <a:t>physical access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739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Step 4: Exploitation and Initial Intrusion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After delivering the payload, </a:t>
            </a:r>
            <a:r>
              <a:rPr lang="en-US" sz="2200" dirty="0">
                <a:solidFill>
                  <a:srgbClr val="FF0000"/>
                </a:solidFill>
              </a:rPr>
              <a:t>vulnerability needs to be exploited in order to </a:t>
            </a:r>
            <a:r>
              <a:rPr lang="en-US" sz="2200" dirty="0" smtClean="0">
                <a:solidFill>
                  <a:srgbClr val="FF0000"/>
                </a:solidFill>
              </a:rPr>
              <a:t>be able </a:t>
            </a:r>
            <a:r>
              <a:rPr lang="en-US" sz="2200" dirty="0">
                <a:solidFill>
                  <a:srgbClr val="FF0000"/>
                </a:solidFill>
              </a:rPr>
              <a:t>to execute the malicious code on the victim’s system</a:t>
            </a:r>
            <a:r>
              <a:rPr lang="en-US" sz="2200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sz="2200" dirty="0" smtClean="0"/>
              <a:t> </a:t>
            </a:r>
            <a:r>
              <a:rPr lang="en-US" sz="2200" dirty="0"/>
              <a:t>The attackers do </a:t>
            </a:r>
            <a:r>
              <a:rPr lang="en-US" sz="2200" dirty="0" smtClean="0"/>
              <a:t>not necessarily </a:t>
            </a:r>
            <a:r>
              <a:rPr lang="en-US" sz="2200" dirty="0"/>
              <a:t>need technical exploits if they obtain access credentials through </a:t>
            </a:r>
            <a:r>
              <a:rPr lang="en-US" sz="2200" dirty="0" smtClean="0"/>
              <a:t>social engineering </a:t>
            </a:r>
            <a:r>
              <a:rPr lang="en-US" sz="2200" dirty="0"/>
              <a:t>and simply use them to gain access to the victim’s systems. </a:t>
            </a:r>
            <a:endParaRPr lang="en-US" sz="2200" dirty="0" smtClean="0"/>
          </a:p>
          <a:p>
            <a:r>
              <a:rPr lang="en-US" sz="2200" dirty="0" smtClean="0"/>
              <a:t>The execution of </a:t>
            </a:r>
            <a:r>
              <a:rPr lang="en-US" sz="2200" dirty="0"/>
              <a:t>the exploit is relevant only when APT attackers take advantage of </a:t>
            </a:r>
            <a:r>
              <a:rPr lang="en-US" sz="2200" dirty="0" smtClean="0"/>
              <a:t>detected software </a:t>
            </a:r>
            <a:r>
              <a:rPr lang="en-US" sz="2200" dirty="0"/>
              <a:t>or hardware vulnerabilities</a:t>
            </a:r>
            <a:r>
              <a:rPr lang="en-US" sz="2200" dirty="0" smtClean="0"/>
              <a:t>,</a:t>
            </a:r>
            <a:r>
              <a:rPr lang="en-US" sz="2200" dirty="0"/>
              <a:t> in sophisticated cases zero-day exploits</a:t>
            </a:r>
            <a:endParaRPr lang="en-US" sz="2200" dirty="0" smtClean="0"/>
          </a:p>
          <a:p>
            <a:r>
              <a:rPr lang="en-US" sz="2200" dirty="0"/>
              <a:t>Zero-day vulnerabilities are </a:t>
            </a:r>
            <a:r>
              <a:rPr lang="en-US" sz="2200" dirty="0">
                <a:solidFill>
                  <a:srgbClr val="FF0000"/>
                </a:solidFill>
              </a:rPr>
              <a:t>undisclosed computer-software vulnerabilities </a:t>
            </a:r>
            <a:r>
              <a:rPr lang="en-US" sz="2200" dirty="0" smtClean="0">
                <a:solidFill>
                  <a:srgbClr val="FF0000"/>
                </a:solidFill>
              </a:rPr>
              <a:t>that hackers </a:t>
            </a:r>
            <a:r>
              <a:rPr lang="en-US" sz="2200" dirty="0">
                <a:solidFill>
                  <a:srgbClr val="FF0000"/>
                </a:solidFill>
              </a:rPr>
              <a:t>can exploit to adversely affect computer </a:t>
            </a:r>
            <a:r>
              <a:rPr lang="en-US" sz="2200" dirty="0"/>
              <a:t>programs, data, additional </a:t>
            </a:r>
            <a:r>
              <a:rPr lang="en-US" sz="2200" dirty="0" smtClean="0"/>
              <a:t>computers, or </a:t>
            </a:r>
            <a:r>
              <a:rPr lang="en-US" sz="2200" dirty="0"/>
              <a:t>a network.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277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Installation refers to installing malware on the infected computer. The </a:t>
            </a:r>
            <a:r>
              <a:rPr lang="en-US" dirty="0" smtClean="0"/>
              <a:t>installation is </a:t>
            </a:r>
            <a:r>
              <a:rPr lang="en-US" dirty="0"/>
              <a:t>relevant only if the APT attacker used malware as a part of the attack </a:t>
            </a:r>
            <a:r>
              <a:rPr lang="en-US" dirty="0" smtClean="0"/>
              <a:t>or malware </a:t>
            </a:r>
            <a:r>
              <a:rPr lang="en-US" dirty="0"/>
              <a:t>is </a:t>
            </a:r>
            <a:r>
              <a:rPr lang="en-US" dirty="0" smtClean="0"/>
              <a:t>involved.</a:t>
            </a:r>
          </a:p>
          <a:p>
            <a:r>
              <a:rPr lang="en-US" dirty="0"/>
              <a:t>The exploitation and installation make the </a:t>
            </a:r>
            <a:r>
              <a:rPr lang="en-US" dirty="0" smtClean="0"/>
              <a:t>initial intrusion </a:t>
            </a:r>
            <a:r>
              <a:rPr lang="en-US" dirty="0"/>
              <a:t>to the target system possible. After accessing the target system, </a:t>
            </a:r>
            <a:r>
              <a:rPr lang="en-US" dirty="0" smtClean="0"/>
              <a:t>APT attackers </a:t>
            </a:r>
            <a:r>
              <a:rPr lang="en-US" dirty="0"/>
              <a:t>establish a foothold in the network, typically by installing backdoor malware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666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Input: Payload is delivered to the target</a:t>
            </a:r>
          </a:p>
          <a:p>
            <a:r>
              <a:rPr lang="en-US" dirty="0"/>
              <a:t>Activity: Exploit the target’s vulnerabilities, installation of further malware</a:t>
            </a:r>
          </a:p>
          <a:p>
            <a:r>
              <a:rPr lang="en-US" dirty="0"/>
              <a:t>Output: Initial intrusion to the target system</a:t>
            </a:r>
          </a:p>
          <a:p>
            <a:r>
              <a:rPr lang="en-US" dirty="0"/>
              <a:t>Tools and techniques: Backdoor malware, zero-day exploits, </a:t>
            </a:r>
            <a:r>
              <a:rPr lang="en-US" dirty="0" smtClean="0"/>
              <a:t>unpatched vulnerabilities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2781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Step 5: C2 and Lateral Movements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aim is to establish remote access to the target system for further attacks </a:t>
            </a:r>
            <a:r>
              <a:rPr lang="en-US" dirty="0" smtClean="0"/>
              <a:t>and investigation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stage usually takes longer, hence the activities run slowly </a:t>
            </a:r>
            <a:r>
              <a:rPr lang="en-US" dirty="0" smtClean="0"/>
              <a:t>in order </a:t>
            </a:r>
            <a:r>
              <a:rPr lang="en-US" dirty="0"/>
              <a:t>to evade detection. </a:t>
            </a:r>
            <a:endParaRPr lang="en-US" dirty="0" smtClean="0"/>
          </a:p>
          <a:p>
            <a:r>
              <a:rPr lang="en-US" dirty="0" smtClean="0"/>
              <a:t>Backdoors </a:t>
            </a:r>
            <a:r>
              <a:rPr lang="en-US" dirty="0"/>
              <a:t>allow attackers to establish connections </a:t>
            </a:r>
            <a:r>
              <a:rPr lang="en-US" dirty="0" smtClean="0"/>
              <a:t>to their </a:t>
            </a:r>
            <a:r>
              <a:rPr lang="en-US" dirty="0"/>
              <a:t>command and control (C&amp;C or C2) channel. The C2 mechanism takes </a:t>
            </a:r>
            <a:r>
              <a:rPr lang="en-US" dirty="0" smtClean="0"/>
              <a:t>control of </a:t>
            </a:r>
            <a:r>
              <a:rPr lang="en-US" dirty="0"/>
              <a:t>the compromised hosts.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backdoor installation applies a number of </a:t>
            </a:r>
            <a:r>
              <a:rPr lang="en-US" dirty="0" smtClean="0"/>
              <a:t>strategies to </a:t>
            </a:r>
            <a:r>
              <a:rPr lang="en-US" dirty="0"/>
              <a:t>enable successful intrusion, such as port binding, connect-back, </a:t>
            </a:r>
            <a:r>
              <a:rPr lang="en-US" dirty="0" smtClean="0"/>
              <a:t>connect availability </a:t>
            </a:r>
            <a:r>
              <a:rPr lang="en-US" dirty="0"/>
              <a:t>use, or legitimate platform </a:t>
            </a:r>
            <a:r>
              <a:rPr lang="en-US" dirty="0" smtClean="0"/>
              <a:t>abuse.</a:t>
            </a:r>
          </a:p>
          <a:p>
            <a:r>
              <a:rPr lang="en-US" dirty="0" smtClean="0"/>
              <a:t> In </a:t>
            </a:r>
            <a:r>
              <a:rPr lang="en-US" dirty="0"/>
              <a:t>order to </a:t>
            </a:r>
            <a:r>
              <a:rPr lang="en-US" dirty="0" smtClean="0"/>
              <a:t>remain undetected</a:t>
            </a:r>
            <a:r>
              <a:rPr lang="en-US" dirty="0"/>
              <a:t>, attackers increasingly use more advanced services and tools.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325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Some APT </a:t>
            </a:r>
            <a:r>
              <a:rPr lang="en-US" dirty="0"/>
              <a:t>attackers host their C2 servers in Tor to remain anonymous and avoid </a:t>
            </a:r>
            <a:r>
              <a:rPr lang="en-US" dirty="0" smtClean="0"/>
              <a:t>being blocked </a:t>
            </a:r>
            <a:r>
              <a:rPr lang="en-US" dirty="0"/>
              <a:t>and </a:t>
            </a:r>
            <a:r>
              <a:rPr lang="en-US" dirty="0" smtClean="0"/>
              <a:t>blacklisted.</a:t>
            </a:r>
          </a:p>
          <a:p>
            <a:r>
              <a:rPr lang="en-US" dirty="0"/>
              <a:t>In APT attacks, the commonly used RATs (Adachi </a:t>
            </a:r>
            <a:r>
              <a:rPr lang="en-US" dirty="0" smtClean="0"/>
              <a:t>and </a:t>
            </a:r>
            <a:r>
              <a:rPr lang="en-US" dirty="0" err="1" smtClean="0"/>
              <a:t>Omote</a:t>
            </a:r>
            <a:r>
              <a:rPr lang="en-US" dirty="0"/>
              <a:t>, 2016) are Poison Ivy RAT, </a:t>
            </a:r>
            <a:r>
              <a:rPr lang="en-US" dirty="0" err="1"/>
              <a:t>DakComet</a:t>
            </a:r>
            <a:r>
              <a:rPr lang="en-US" dirty="0"/>
              <a:t>, Black Shades, </a:t>
            </a:r>
            <a:r>
              <a:rPr lang="en-US" dirty="0" err="1"/>
              <a:t>njRAT</a:t>
            </a:r>
            <a:r>
              <a:rPr lang="en-US" dirty="0"/>
              <a:t>, </a:t>
            </a:r>
            <a:r>
              <a:rPr lang="en-US" dirty="0" err="1"/>
              <a:t>ZxShell</a:t>
            </a:r>
            <a:r>
              <a:rPr lang="en-US" dirty="0"/>
              <a:t>, </a:t>
            </a:r>
            <a:r>
              <a:rPr lang="en-US" dirty="0" smtClean="0"/>
              <a:t>and Gh0st </a:t>
            </a:r>
            <a:r>
              <a:rPr lang="en-US" dirty="0"/>
              <a:t>RAT</a:t>
            </a:r>
            <a:endParaRPr lang="en-US" dirty="0" smtClean="0"/>
          </a:p>
          <a:p>
            <a:r>
              <a:rPr lang="en-US" dirty="0"/>
              <a:t>The next step after infecting one endpoint or system within the target </a:t>
            </a:r>
            <a:r>
              <a:rPr lang="en-US" dirty="0" smtClean="0"/>
              <a:t>organization is </a:t>
            </a:r>
            <a:r>
              <a:rPr lang="en-US" dirty="0"/>
              <a:t>spreading the malicious activity in order to establish a </a:t>
            </a:r>
            <a:r>
              <a:rPr lang="en-US" dirty="0" smtClean="0"/>
              <a:t>foothold. </a:t>
            </a:r>
          </a:p>
          <a:p>
            <a:r>
              <a:rPr lang="en-US" dirty="0" smtClean="0"/>
              <a:t>The </a:t>
            </a:r>
            <a:r>
              <a:rPr lang="en-US" dirty="0"/>
              <a:t>APT attacker might have </a:t>
            </a:r>
            <a:r>
              <a:rPr lang="en-US" dirty="0" smtClean="0"/>
              <a:t>managed to </a:t>
            </a:r>
            <a:r>
              <a:rPr lang="en-US" dirty="0"/>
              <a:t>gain the credentials of a privileged user or managed to cause privilege escalation.</a:t>
            </a:r>
          </a:p>
          <a:p>
            <a:r>
              <a:rPr lang="en-US" dirty="0"/>
              <a:t>The Active Directory service (AD) is a preferred target related to </a:t>
            </a:r>
            <a:r>
              <a:rPr lang="en-US" dirty="0" smtClean="0"/>
              <a:t>privilege escalation</a:t>
            </a:r>
            <a:r>
              <a:rPr lang="en-US" dirty="0"/>
              <a:t>. Once successfully attacked, AD could enable control of the whole </a:t>
            </a:r>
            <a:r>
              <a:rPr lang="en-US" dirty="0" smtClean="0"/>
              <a:t>network to </a:t>
            </a:r>
            <a:r>
              <a:rPr lang="en-US" dirty="0"/>
              <a:t>the threat actors.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267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lateral movement</a:t>
            </a:r>
            <a:r>
              <a:rPr lang="en-US" dirty="0"/>
              <a:t>, such as internal reconnaissance, compromising </a:t>
            </a:r>
            <a:r>
              <a:rPr lang="en-US" dirty="0" smtClean="0"/>
              <a:t>additional systems</a:t>
            </a:r>
            <a:r>
              <a:rPr lang="en-US" dirty="0"/>
              <a:t>, privilege escalation, and identifying valuable assets and information </a:t>
            </a:r>
            <a:r>
              <a:rPr lang="en-US" dirty="0" smtClean="0"/>
              <a:t>location, such </a:t>
            </a:r>
            <a:r>
              <a:rPr lang="en-US" dirty="0"/>
              <a:t>as password hashes in the Security Account </a:t>
            </a:r>
            <a:r>
              <a:rPr lang="en-US" dirty="0" smtClean="0"/>
              <a:t>Manager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Input: Successful initial intrusion</a:t>
            </a:r>
          </a:p>
          <a:p>
            <a:r>
              <a:rPr lang="en-US" dirty="0"/>
              <a:t>Activity: Use of the tools to establish remote access, establishing </a:t>
            </a:r>
            <a:r>
              <a:rPr lang="en-US" dirty="0" smtClean="0"/>
              <a:t>foothold, lateral </a:t>
            </a:r>
            <a:r>
              <a:rPr lang="en-US" dirty="0"/>
              <a:t>movements</a:t>
            </a:r>
          </a:p>
          <a:p>
            <a:r>
              <a:rPr lang="en-US" dirty="0"/>
              <a:t>Output: Control of the target system, establishing (persistent) access to </a:t>
            </a:r>
            <a:r>
              <a:rPr lang="en-US" dirty="0" smtClean="0"/>
              <a:t>the target</a:t>
            </a:r>
            <a:endParaRPr lang="en-US" dirty="0"/>
          </a:p>
          <a:p>
            <a:r>
              <a:rPr lang="en-US" dirty="0"/>
              <a:t>Tools and techniques: C&amp;C server, RATs, backdoors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534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Step 6: Actions of Intent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preparing the victim system, the threat actors execute the final attack phase </a:t>
            </a:r>
            <a:r>
              <a:rPr lang="en-US" dirty="0" smtClean="0"/>
              <a:t>in order </a:t>
            </a:r>
            <a:r>
              <a:rPr lang="en-US" dirty="0"/>
              <a:t>to achieve their primary goal. This might include the destruction of </a:t>
            </a:r>
            <a:r>
              <a:rPr lang="en-US" dirty="0" smtClean="0"/>
              <a:t>essential control </a:t>
            </a:r>
            <a:r>
              <a:rPr lang="en-US" dirty="0"/>
              <a:t>systems, </a:t>
            </a:r>
            <a:r>
              <a:rPr lang="en-US" dirty="0" err="1"/>
              <a:t>DDoS</a:t>
            </a:r>
            <a:r>
              <a:rPr lang="en-US" dirty="0"/>
              <a:t> attacks against critical services, or data exfiltration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Data exfiltration </a:t>
            </a:r>
            <a:r>
              <a:rPr lang="en-US" dirty="0"/>
              <a:t>refers to copying or transferring the desired information to the </a:t>
            </a:r>
            <a:r>
              <a:rPr lang="en-US" dirty="0" smtClean="0"/>
              <a:t>C&amp;C server </a:t>
            </a:r>
            <a:r>
              <a:rPr lang="en-US" dirty="0"/>
              <a:t>or to an internal server where it is encrypted and prepared for </a:t>
            </a:r>
            <a:r>
              <a:rPr lang="en-US" dirty="0" smtClean="0"/>
              <a:t>transmission to </a:t>
            </a:r>
            <a:r>
              <a:rPr lang="en-US" dirty="0"/>
              <a:t>the threat actor</a:t>
            </a:r>
            <a:r>
              <a:rPr lang="en-US" dirty="0" smtClean="0"/>
              <a:t>.</a:t>
            </a:r>
          </a:p>
          <a:p>
            <a:r>
              <a:rPr lang="en-US" dirty="0"/>
              <a:t>The unauthorized exfiltration is executed in several steps so </a:t>
            </a:r>
            <a:r>
              <a:rPr lang="en-US" dirty="0" smtClean="0"/>
              <a:t>that the </a:t>
            </a:r>
            <a:r>
              <a:rPr lang="en-US" dirty="0"/>
              <a:t>network traffic does not differ too much from the daily traffic.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2703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attacker </a:t>
            </a:r>
            <a:r>
              <a:rPr lang="en-US" dirty="0" smtClean="0"/>
              <a:t>can use </a:t>
            </a:r>
            <a:r>
              <a:rPr lang="en-US" dirty="0"/>
              <a:t>FTP or HTTP to send the files in order to obfuscate the exfiltration as </a:t>
            </a:r>
            <a:r>
              <a:rPr lang="en-US" dirty="0" smtClean="0"/>
              <a:t>legitimate communication </a:t>
            </a:r>
            <a:r>
              <a:rPr lang="en-US" dirty="0"/>
              <a:t>within the target network.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sensitive data now can </a:t>
            </a:r>
            <a:r>
              <a:rPr lang="en-US" dirty="0" smtClean="0"/>
              <a:t>be delivered </a:t>
            </a:r>
            <a:r>
              <a:rPr lang="en-US" dirty="0"/>
              <a:t>to the customer or be sold on anonymous marketplaces on the Deep Web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Input: APT attackers have established foothold and prepared the last attack</a:t>
            </a:r>
          </a:p>
          <a:p>
            <a:r>
              <a:rPr lang="en-US" dirty="0"/>
              <a:t>Activity: Actions on target, such as data exfiltration, </a:t>
            </a:r>
            <a:r>
              <a:rPr lang="en-US" dirty="0" err="1"/>
              <a:t>DDoS</a:t>
            </a:r>
            <a:r>
              <a:rPr lang="en-US" dirty="0"/>
              <a:t>, </a:t>
            </a:r>
            <a:r>
              <a:rPr lang="en-US" dirty="0" smtClean="0"/>
              <a:t>paralyzing essential</a:t>
            </a:r>
            <a:r>
              <a:rPr lang="en-US" dirty="0"/>
              <a:t> </a:t>
            </a:r>
            <a:r>
              <a:rPr lang="en-US" dirty="0" smtClean="0"/>
              <a:t>control </a:t>
            </a:r>
            <a:r>
              <a:rPr lang="en-US" dirty="0"/>
              <a:t>systems, etc.</a:t>
            </a:r>
          </a:p>
          <a:p>
            <a:r>
              <a:rPr lang="en-US" dirty="0"/>
              <a:t>Output: Primary goal achieved</a:t>
            </a:r>
          </a:p>
          <a:p>
            <a:r>
              <a:rPr lang="en-US" dirty="0"/>
              <a:t>Tools and techniques: FTP, HTTP—both for illegitimate transfers.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14CF-8381-425A-AF9E-EDE11611E5A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5214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746</TotalTime>
  <Words>3932</Words>
  <Application>Microsoft Office PowerPoint</Application>
  <PresentationFormat>Widescreen</PresentationFormat>
  <Paragraphs>242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Calibri</vt:lpstr>
      <vt:lpstr>Calibri Light</vt:lpstr>
      <vt:lpstr>OptimaLTStd-Bold</vt:lpstr>
      <vt:lpstr>Retrospect</vt:lpstr>
      <vt:lpstr>Chapter 2</vt:lpstr>
      <vt:lpstr>Introduction</vt:lpstr>
      <vt:lpstr>The Definitions of Cyber security in a Nutshell.</vt:lpstr>
      <vt:lpstr>PowerPoint Presentation</vt:lpstr>
      <vt:lpstr>PowerPoint Presentation</vt:lpstr>
      <vt:lpstr>PowerPoint Presentation</vt:lpstr>
      <vt:lpstr>On Cyber Attacks, Cybercrime, and Cyberwar: Emerging Trends and Threats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CYBERWAR CASES</vt:lpstr>
      <vt:lpstr>PowerPoint Presentation</vt:lpstr>
      <vt:lpstr>Emerging Technologies and Threat Trends in Cyberspace</vt:lpstr>
      <vt:lpstr>PowerPoint Presentation</vt:lpstr>
      <vt:lpstr>PowerPoint Presentation</vt:lpstr>
      <vt:lpstr>Example: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Attack Characteristics</vt:lpstr>
      <vt:lpstr>Cyber Kill Chain</vt:lpstr>
      <vt:lpstr>PowerPoint Presentation</vt:lpstr>
      <vt:lpstr>Step 1: Reconnaissance</vt:lpstr>
      <vt:lpstr>PowerPoint Presentation</vt:lpstr>
      <vt:lpstr>PowerPoint Presentation</vt:lpstr>
      <vt:lpstr>Step 2: Weaponization</vt:lpstr>
      <vt:lpstr>PowerPoint Presentation</vt:lpstr>
      <vt:lpstr>PowerPoint Presentation</vt:lpstr>
      <vt:lpstr>Step 3: Delivery</vt:lpstr>
      <vt:lpstr>PowerPoint Presentation</vt:lpstr>
      <vt:lpstr>PowerPoint Presentation</vt:lpstr>
      <vt:lpstr>PowerPoint Presentation</vt:lpstr>
      <vt:lpstr>Step 4: Exploitation and Initial Intrusion</vt:lpstr>
      <vt:lpstr>PowerPoint Presentation</vt:lpstr>
      <vt:lpstr>PowerPoint Presentation</vt:lpstr>
      <vt:lpstr>Step 5: C2 and Lateral Movements</vt:lpstr>
      <vt:lpstr>PowerPoint Presentation</vt:lpstr>
      <vt:lpstr>PowerPoint Presentation</vt:lpstr>
      <vt:lpstr>Step 6: Actions of Intent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Rushikesh</dc:creator>
  <cp:lastModifiedBy>Rushikesh</cp:lastModifiedBy>
  <cp:revision>318</cp:revision>
  <dcterms:created xsi:type="dcterms:W3CDTF">2024-07-22T11:19:47Z</dcterms:created>
  <dcterms:modified xsi:type="dcterms:W3CDTF">2024-08-06T09:48:09Z</dcterms:modified>
</cp:coreProperties>
</file>