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y="6858000" cx="12192000"/>
  <p:notesSz cx="6858000" cy="9144000"/>
  <p:embeddedFontLst>
    <p:embeddedFont>
      <p:font typeface="Century Gothic"/>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8" roundtripDataSignature="AMtx7mj/cJD3fWzC9IOiN9FOMns4B4mEL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1241533-657B-42A0-B012-407B42B65A7F}">
  <a:tblStyle styleId="{61241533-657B-42A0-B012-407B42B65A7F}" styleName="Table_0">
    <a:wholeTbl>
      <a:tcTxStyle b="off" i="off">
        <a:font>
          <a:latin typeface="Century Gothic"/>
          <a:ea typeface="Century Gothic"/>
          <a:cs typeface="Century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entury Gothic"/>
          <a:ea typeface="Century Gothic"/>
          <a:cs typeface="Century Gothic"/>
        </a:font>
        <a:schemeClr val="lt1"/>
      </a:tcTxStyle>
      <a:tcStyle>
        <a:fill>
          <a:solidFill>
            <a:schemeClr val="accent1"/>
          </a:solidFill>
        </a:fill>
      </a:tcStyle>
    </a:lastCol>
    <a:firstCol>
      <a:tcTxStyle b="on" i="off">
        <a:font>
          <a:latin typeface="Century Gothic"/>
          <a:ea typeface="Century Gothic"/>
          <a:cs typeface="Century Gothic"/>
        </a:font>
        <a:schemeClr val="lt1"/>
      </a:tcTxStyle>
      <a:tcStyle>
        <a:fill>
          <a:solidFill>
            <a:schemeClr val="accent1"/>
          </a:solidFill>
        </a:fill>
      </a:tcStyle>
    </a:firstCol>
    <a:lastRow>
      <a:tcTxStyle b="on" i="off">
        <a:font>
          <a:latin typeface="Century Gothic"/>
          <a:ea typeface="Century Gothic"/>
          <a:cs typeface="Century Gothic"/>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entury Gothic"/>
          <a:ea typeface="Century Gothic"/>
          <a:cs typeface="Century Gothic"/>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CenturyGothic-bold.fntdata"/><Relationship Id="rId10" Type="http://schemas.openxmlformats.org/officeDocument/2006/relationships/slide" Target="slides/slide5.xml"/><Relationship Id="rId54" Type="http://schemas.openxmlformats.org/officeDocument/2006/relationships/font" Target="fonts/CenturyGothic-regular.fntdata"/><Relationship Id="rId13" Type="http://schemas.openxmlformats.org/officeDocument/2006/relationships/slide" Target="slides/slide8.xml"/><Relationship Id="rId57" Type="http://schemas.openxmlformats.org/officeDocument/2006/relationships/font" Target="fonts/CenturyGothic-boldItalic.fntdata"/><Relationship Id="rId12" Type="http://schemas.openxmlformats.org/officeDocument/2006/relationships/slide" Target="slides/slide7.xml"/><Relationship Id="rId56" Type="http://schemas.openxmlformats.org/officeDocument/2006/relationships/font" Target="fonts/CenturyGothic-italic.fntdata"/><Relationship Id="rId15" Type="http://schemas.openxmlformats.org/officeDocument/2006/relationships/slide" Target="slides/slide10.xml"/><Relationship Id="rId14" Type="http://schemas.openxmlformats.org/officeDocument/2006/relationships/slide" Target="slides/slide9.xml"/><Relationship Id="rId58"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50"/>
          <p:cNvSpPr txBox="1"/>
          <p:nvPr>
            <p:ph type="ctrTitle"/>
          </p:nvPr>
        </p:nvSpPr>
        <p:spPr>
          <a:xfrm>
            <a:off x="1154955" y="1447800"/>
            <a:ext cx="8825658" cy="332958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7200"/>
              <a:buFont typeface="Century Gothic"/>
              <a:buNone/>
              <a:defRPr sz="7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50"/>
          <p:cNvSpPr txBox="1"/>
          <p:nvPr>
            <p:ph idx="1" type="subTitle"/>
          </p:nvPr>
        </p:nvSpPr>
        <p:spPr>
          <a:xfrm>
            <a:off x="1154955" y="4777380"/>
            <a:ext cx="8825658" cy="861420"/>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600"/>
              <a:buNone/>
              <a:defRPr cap="none">
                <a:solidFill>
                  <a:schemeClr val="accent1"/>
                </a:solidFill>
              </a:defRPr>
            </a:lvl1pPr>
            <a:lvl2pPr lvl="1" algn="ctr">
              <a:spcBef>
                <a:spcPts val="1000"/>
              </a:spcBef>
              <a:spcAft>
                <a:spcPts val="0"/>
              </a:spcAft>
              <a:buSzPts val="1440"/>
              <a:buNone/>
              <a:defRPr>
                <a:solidFill>
                  <a:srgbClr val="888888"/>
                </a:solidFill>
              </a:defRPr>
            </a:lvl2pPr>
            <a:lvl3pPr lvl="2" algn="ctr">
              <a:spcBef>
                <a:spcPts val="1000"/>
              </a:spcBef>
              <a:spcAft>
                <a:spcPts val="0"/>
              </a:spcAft>
              <a:buSzPts val="1280"/>
              <a:buNone/>
              <a:defRPr>
                <a:solidFill>
                  <a:srgbClr val="888888"/>
                </a:solidFill>
              </a:defRPr>
            </a:lvl3pPr>
            <a:lvl4pPr lvl="3" algn="ctr">
              <a:spcBef>
                <a:spcPts val="1000"/>
              </a:spcBef>
              <a:spcAft>
                <a:spcPts val="0"/>
              </a:spcAft>
              <a:buSzPts val="1120"/>
              <a:buNone/>
              <a:defRPr>
                <a:solidFill>
                  <a:srgbClr val="888888"/>
                </a:solidFill>
              </a:defRPr>
            </a:lvl4pPr>
            <a:lvl5pPr lvl="4" algn="ctr">
              <a:spcBef>
                <a:spcPts val="1000"/>
              </a:spcBef>
              <a:spcAft>
                <a:spcPts val="0"/>
              </a:spcAft>
              <a:buSzPts val="1120"/>
              <a:buNone/>
              <a:defRPr>
                <a:solidFill>
                  <a:srgbClr val="888888"/>
                </a:solidFill>
              </a:defRPr>
            </a:lvl5pPr>
            <a:lvl6pPr lvl="5" algn="ctr">
              <a:spcBef>
                <a:spcPts val="1000"/>
              </a:spcBef>
              <a:spcAft>
                <a:spcPts val="0"/>
              </a:spcAft>
              <a:buSzPts val="1120"/>
              <a:buNone/>
              <a:defRPr>
                <a:solidFill>
                  <a:srgbClr val="888888"/>
                </a:solidFill>
              </a:defRPr>
            </a:lvl6pPr>
            <a:lvl7pPr lvl="6" algn="ctr">
              <a:spcBef>
                <a:spcPts val="1000"/>
              </a:spcBef>
              <a:spcAft>
                <a:spcPts val="0"/>
              </a:spcAft>
              <a:buSzPts val="1120"/>
              <a:buNone/>
              <a:defRPr>
                <a:solidFill>
                  <a:srgbClr val="888888"/>
                </a:solidFill>
              </a:defRPr>
            </a:lvl7pPr>
            <a:lvl8pPr lvl="7" algn="ctr">
              <a:spcBef>
                <a:spcPts val="1000"/>
              </a:spcBef>
              <a:spcAft>
                <a:spcPts val="0"/>
              </a:spcAft>
              <a:buSzPts val="1120"/>
              <a:buNone/>
              <a:defRPr>
                <a:solidFill>
                  <a:srgbClr val="888888"/>
                </a:solidFill>
              </a:defRPr>
            </a:lvl8pPr>
            <a:lvl9pPr lvl="8" algn="ctr">
              <a:spcBef>
                <a:spcPts val="1000"/>
              </a:spcBef>
              <a:spcAft>
                <a:spcPts val="0"/>
              </a:spcAft>
              <a:buSzPts val="1120"/>
              <a:buNone/>
              <a:defRPr>
                <a:solidFill>
                  <a:srgbClr val="888888"/>
                </a:solidFill>
              </a:defRPr>
            </a:lvl9pPr>
          </a:lstStyle>
          <a:p/>
        </p:txBody>
      </p:sp>
      <p:sp>
        <p:nvSpPr>
          <p:cNvPr id="20" name="Google Shape;20;p50"/>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50"/>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5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51"/>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1"/>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6" name="Google Shape;26;p51"/>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51"/>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5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52"/>
          <p:cNvSpPr txBox="1"/>
          <p:nvPr>
            <p:ph type="title"/>
          </p:nvPr>
        </p:nvSpPr>
        <p:spPr>
          <a:xfrm>
            <a:off x="1154956" y="2861733"/>
            <a:ext cx="8825657" cy="191564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2"/>
          <p:cNvSpPr txBox="1"/>
          <p:nvPr>
            <p:ph idx="1" type="body"/>
          </p:nvPr>
        </p:nvSpPr>
        <p:spPr>
          <a:xfrm>
            <a:off x="1154955" y="4777381"/>
            <a:ext cx="882565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cap="none">
                <a:solidFill>
                  <a:schemeClr val="accent1"/>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32" name="Google Shape;32;p52"/>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52"/>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p53"/>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3"/>
          <p:cNvSpPr txBox="1"/>
          <p:nvPr>
            <p:ph idx="1" type="body"/>
          </p:nvPr>
        </p:nvSpPr>
        <p:spPr>
          <a:xfrm>
            <a:off x="1103312" y="2060575"/>
            <a:ext cx="4396339" cy="419576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38" name="Google Shape;38;p53"/>
          <p:cNvSpPr txBox="1"/>
          <p:nvPr>
            <p:ph idx="2" type="body"/>
          </p:nvPr>
        </p:nvSpPr>
        <p:spPr>
          <a:xfrm>
            <a:off x="5654493" y="2056092"/>
            <a:ext cx="4396341" cy="4200245"/>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39" name="Google Shape;39;p53"/>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53"/>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2" name="Shape 42"/>
        <p:cNvGrpSpPr/>
        <p:nvPr/>
      </p:nvGrpSpPr>
      <p:grpSpPr>
        <a:xfrm>
          <a:off x="0" y="0"/>
          <a:ext cx="0" cy="0"/>
          <a:chOff x="0" y="0"/>
          <a:chExt cx="0" cy="0"/>
        </a:xfrm>
      </p:grpSpPr>
      <p:sp>
        <p:nvSpPr>
          <p:cNvPr id="43" name="Google Shape;43;p54"/>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2"/>
              </a:buClr>
              <a:buSzPts val="42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4"/>
          <p:cNvSpPr txBox="1"/>
          <p:nvPr>
            <p:ph idx="1" type="body"/>
          </p:nvPr>
        </p:nvSpPr>
        <p:spPr>
          <a:xfrm>
            <a:off x="1103313" y="1905000"/>
            <a:ext cx="439633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chemeClr val="accent1"/>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45" name="Google Shape;45;p54"/>
          <p:cNvSpPr txBox="1"/>
          <p:nvPr>
            <p:ph idx="2" type="body"/>
          </p:nvPr>
        </p:nvSpPr>
        <p:spPr>
          <a:xfrm>
            <a:off x="1103312" y="2514600"/>
            <a:ext cx="4396339" cy="374173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46" name="Google Shape;46;p54"/>
          <p:cNvSpPr txBox="1"/>
          <p:nvPr>
            <p:ph idx="3" type="body"/>
          </p:nvPr>
        </p:nvSpPr>
        <p:spPr>
          <a:xfrm>
            <a:off x="5654495" y="1905000"/>
            <a:ext cx="4396339"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chemeClr val="accent1"/>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47" name="Google Shape;47;p54"/>
          <p:cNvSpPr txBox="1"/>
          <p:nvPr>
            <p:ph idx="4" type="body"/>
          </p:nvPr>
        </p:nvSpPr>
        <p:spPr>
          <a:xfrm>
            <a:off x="5654495" y="2514600"/>
            <a:ext cx="4396339" cy="374173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48" name="Google Shape;48;p54"/>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54"/>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5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55"/>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5"/>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55"/>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5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56"/>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56"/>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57"/>
          <p:cNvSpPr txBox="1"/>
          <p:nvPr>
            <p:ph type="title"/>
          </p:nvPr>
        </p:nvSpPr>
        <p:spPr>
          <a:xfrm>
            <a:off x="1154954" y="1447800"/>
            <a:ext cx="3401064" cy="14478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57"/>
          <p:cNvSpPr txBox="1"/>
          <p:nvPr>
            <p:ph idx="1" type="body"/>
          </p:nvPr>
        </p:nvSpPr>
        <p:spPr>
          <a:xfrm>
            <a:off x="4784616" y="1447800"/>
            <a:ext cx="5195997" cy="4572000"/>
          </a:xfrm>
          <a:prstGeom prst="rect">
            <a:avLst/>
          </a:prstGeom>
          <a:noFill/>
          <a:ln>
            <a:noFill/>
          </a:ln>
        </p:spPr>
        <p:txBody>
          <a:bodyPr anchorCtr="0" anchor="ctr" bIns="45700" lIns="91425" spcFirstLastPara="1" rIns="91425" wrap="square" tIns="45700">
            <a:normAutofit/>
          </a:bodyPr>
          <a:lstStyle>
            <a:lvl1pPr indent="-330200" lvl="0" marL="457200" algn="l">
              <a:spcBef>
                <a:spcPts val="1000"/>
              </a:spcBef>
              <a:spcAft>
                <a:spcPts val="0"/>
              </a:spcAft>
              <a:buSzPts val="1600"/>
              <a:buChar char="►"/>
              <a:defRPr sz="2000"/>
            </a:lvl1pPr>
            <a:lvl2pPr indent="-320040" lvl="1" marL="914400" algn="l">
              <a:spcBef>
                <a:spcPts val="1000"/>
              </a:spcBef>
              <a:spcAft>
                <a:spcPts val="0"/>
              </a:spcAft>
              <a:buSzPts val="1440"/>
              <a:buChar char="►"/>
              <a:defRPr sz="1800"/>
            </a:lvl2pPr>
            <a:lvl3pPr indent="-309880" lvl="2" marL="1371600" algn="l">
              <a:spcBef>
                <a:spcPts val="1000"/>
              </a:spcBef>
              <a:spcAft>
                <a:spcPts val="0"/>
              </a:spcAft>
              <a:buSzPts val="1280"/>
              <a:buChar char="►"/>
              <a:defRPr sz="1600"/>
            </a:lvl3pPr>
            <a:lvl4pPr indent="-299719" lvl="3" marL="1828800" algn="l">
              <a:spcBef>
                <a:spcPts val="1000"/>
              </a:spcBef>
              <a:spcAft>
                <a:spcPts val="0"/>
              </a:spcAft>
              <a:buSzPts val="1120"/>
              <a:buChar char="►"/>
              <a:defRPr sz="1400"/>
            </a:lvl4pPr>
            <a:lvl5pPr indent="-299720" lvl="4" marL="2286000" algn="l">
              <a:spcBef>
                <a:spcPts val="1000"/>
              </a:spcBef>
              <a:spcAft>
                <a:spcPts val="0"/>
              </a:spcAft>
              <a:buSzPts val="1120"/>
              <a:buChar char="►"/>
              <a:defRPr sz="1400"/>
            </a:lvl5pPr>
            <a:lvl6pPr indent="-299720" lvl="5" marL="2743200" algn="l">
              <a:spcBef>
                <a:spcPts val="1000"/>
              </a:spcBef>
              <a:spcAft>
                <a:spcPts val="0"/>
              </a:spcAft>
              <a:buSzPts val="1120"/>
              <a:buChar char="►"/>
              <a:defRPr sz="1400"/>
            </a:lvl6pPr>
            <a:lvl7pPr indent="-299720" lvl="6" marL="3200400" algn="l">
              <a:spcBef>
                <a:spcPts val="1000"/>
              </a:spcBef>
              <a:spcAft>
                <a:spcPts val="0"/>
              </a:spcAft>
              <a:buSzPts val="1120"/>
              <a:buChar char="►"/>
              <a:defRPr sz="1400"/>
            </a:lvl7pPr>
            <a:lvl8pPr indent="-299720" lvl="7" marL="3657600" algn="l">
              <a:spcBef>
                <a:spcPts val="1000"/>
              </a:spcBef>
              <a:spcAft>
                <a:spcPts val="0"/>
              </a:spcAft>
              <a:buSzPts val="1120"/>
              <a:buChar char="►"/>
              <a:defRPr sz="1400"/>
            </a:lvl8pPr>
            <a:lvl9pPr indent="-299720" lvl="8" marL="4114800" algn="l">
              <a:spcBef>
                <a:spcPts val="1000"/>
              </a:spcBef>
              <a:spcAft>
                <a:spcPts val="0"/>
              </a:spcAft>
              <a:buSzPts val="1120"/>
              <a:buChar char="►"/>
              <a:defRPr sz="1400"/>
            </a:lvl9pPr>
          </a:lstStyle>
          <a:p/>
        </p:txBody>
      </p:sp>
      <p:sp>
        <p:nvSpPr>
          <p:cNvPr id="63" name="Google Shape;63;p57"/>
          <p:cNvSpPr txBox="1"/>
          <p:nvPr>
            <p:ph idx="2" type="body"/>
          </p:nvPr>
        </p:nvSpPr>
        <p:spPr>
          <a:xfrm>
            <a:off x="1154954" y="3129280"/>
            <a:ext cx="3401063" cy="289559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64" name="Google Shape;64;p57"/>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57"/>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58"/>
          <p:cNvSpPr txBox="1"/>
          <p:nvPr>
            <p:ph type="title"/>
          </p:nvPr>
        </p:nvSpPr>
        <p:spPr>
          <a:xfrm>
            <a:off x="1153907" y="1854192"/>
            <a:ext cx="5092906" cy="157480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3600"/>
              <a:buFont typeface="Century Gothic"/>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58"/>
          <p:cNvSpPr/>
          <p:nvPr>
            <p:ph idx="2" type="pic"/>
          </p:nvPr>
        </p:nvSpPr>
        <p:spPr>
          <a:xfrm>
            <a:off x="6949546" y="1143000"/>
            <a:ext cx="3200400" cy="4572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70" name="Google Shape;70;p58"/>
          <p:cNvSpPr txBox="1"/>
          <p:nvPr>
            <p:ph idx="1" type="body"/>
          </p:nvPr>
        </p:nvSpPr>
        <p:spPr>
          <a:xfrm>
            <a:off x="1154954" y="3657600"/>
            <a:ext cx="5084979" cy="13716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71" name="Google Shape;71;p58"/>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8"/>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4" name="Shape 74"/>
        <p:cNvGrpSpPr/>
        <p:nvPr/>
      </p:nvGrpSpPr>
      <p:grpSpPr>
        <a:xfrm>
          <a:off x="0" y="0"/>
          <a:ext cx="0" cy="0"/>
          <a:chOff x="0" y="0"/>
          <a:chExt cx="0" cy="0"/>
        </a:xfrm>
      </p:grpSpPr>
      <p:sp>
        <p:nvSpPr>
          <p:cNvPr id="75" name="Google Shape;75;p59"/>
          <p:cNvSpPr txBox="1"/>
          <p:nvPr>
            <p:ph type="title"/>
          </p:nvPr>
        </p:nvSpPr>
        <p:spPr>
          <a:xfrm>
            <a:off x="1154956" y="4800587"/>
            <a:ext cx="882565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59"/>
          <p:cNvSpPr/>
          <p:nvPr>
            <p:ph idx="2" type="pic"/>
          </p:nvPr>
        </p:nvSpPr>
        <p:spPr>
          <a:xfrm>
            <a:off x="1154955" y="685800"/>
            <a:ext cx="8825658" cy="3640666"/>
          </a:xfrm>
          <a:prstGeom prst="roundRect">
            <a:avLst>
              <a:gd fmla="val 1858" name="adj"/>
            </a:avLst>
          </a:prstGeom>
          <a:noFill/>
          <a:ln>
            <a:noFill/>
          </a:ln>
          <a:effectLst>
            <a:outerShdw blurRad="50800" rotWithShape="0" algn="tl" dir="5400000" dist="50800">
              <a:srgbClr val="000000">
                <a:alpha val="42745"/>
              </a:srgbClr>
            </a:outerShdw>
          </a:effectLst>
        </p:spPr>
      </p:sp>
      <p:sp>
        <p:nvSpPr>
          <p:cNvPr id="77" name="Google Shape;77;p59"/>
          <p:cNvSpPr txBox="1"/>
          <p:nvPr>
            <p:ph idx="1" type="body"/>
          </p:nvPr>
        </p:nvSpPr>
        <p:spPr>
          <a:xfrm>
            <a:off x="1154956" y="5367325"/>
            <a:ext cx="8825656"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78" name="Google Shape;78;p59"/>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9"/>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5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1" name="Shape 81"/>
        <p:cNvGrpSpPr/>
        <p:nvPr/>
      </p:nvGrpSpPr>
      <p:grpSpPr>
        <a:xfrm>
          <a:off x="0" y="0"/>
          <a:ext cx="0" cy="0"/>
          <a:chOff x="0" y="0"/>
          <a:chExt cx="0" cy="0"/>
        </a:xfrm>
      </p:grpSpPr>
      <p:sp>
        <p:nvSpPr>
          <p:cNvPr id="82" name="Google Shape;82;p60"/>
          <p:cNvSpPr txBox="1"/>
          <p:nvPr>
            <p:ph type="title"/>
          </p:nvPr>
        </p:nvSpPr>
        <p:spPr>
          <a:xfrm>
            <a:off x="1154954" y="1447800"/>
            <a:ext cx="8825659" cy="1981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60"/>
          <p:cNvSpPr txBox="1"/>
          <p:nvPr>
            <p:ph idx="1" type="body"/>
          </p:nvPr>
        </p:nvSpPr>
        <p:spPr>
          <a:xfrm>
            <a:off x="1154954" y="3657600"/>
            <a:ext cx="8825659" cy="23622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84" name="Google Shape;84;p60"/>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60"/>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6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87" name="Shape 87"/>
        <p:cNvGrpSpPr/>
        <p:nvPr/>
      </p:nvGrpSpPr>
      <p:grpSpPr>
        <a:xfrm>
          <a:off x="0" y="0"/>
          <a:ext cx="0" cy="0"/>
          <a:chOff x="0" y="0"/>
          <a:chExt cx="0" cy="0"/>
        </a:xfrm>
      </p:grpSpPr>
      <p:sp>
        <p:nvSpPr>
          <p:cNvPr id="88" name="Google Shape;88;p61"/>
          <p:cNvSpPr txBox="1"/>
          <p:nvPr>
            <p:ph type="title"/>
          </p:nvPr>
        </p:nvSpPr>
        <p:spPr>
          <a:xfrm>
            <a:off x="1574801" y="1447800"/>
            <a:ext cx="7999315" cy="2323374"/>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61"/>
          <p:cNvSpPr txBox="1"/>
          <p:nvPr>
            <p:ph idx="1" type="body"/>
          </p:nvPr>
        </p:nvSpPr>
        <p:spPr>
          <a:xfrm>
            <a:off x="1930400" y="3771174"/>
            <a:ext cx="7385828" cy="34217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b="0" i="0" sz="1400" cap="small">
                <a:solidFill>
                  <a:schemeClr val="accent1"/>
                </a:solidFill>
                <a:latin typeface="Century Gothic"/>
                <a:ea typeface="Century Gothic"/>
                <a:cs typeface="Century Gothic"/>
                <a:sym typeface="Century Gothic"/>
              </a:defRPr>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0" name="Google Shape;90;p61"/>
          <p:cNvSpPr txBox="1"/>
          <p:nvPr>
            <p:ph idx="2" type="body"/>
          </p:nvPr>
        </p:nvSpPr>
        <p:spPr>
          <a:xfrm>
            <a:off x="1154954" y="4350657"/>
            <a:ext cx="8825659" cy="16764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1" name="Google Shape;91;p61"/>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61"/>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6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94" name="Google Shape;94;p61"/>
          <p:cNvSpPr txBox="1"/>
          <p:nvPr/>
        </p:nvSpPr>
        <p:spPr>
          <a:xfrm>
            <a:off x="898295" y="971253"/>
            <a:ext cx="801912" cy="196977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2200" u="none" cap="none" strike="noStrike">
                <a:solidFill>
                  <a:schemeClr val="accent1"/>
                </a:solidFill>
                <a:latin typeface="Arial"/>
                <a:ea typeface="Arial"/>
                <a:cs typeface="Arial"/>
                <a:sym typeface="Arial"/>
              </a:rPr>
              <a:t>“</a:t>
            </a:r>
            <a:endParaRPr/>
          </a:p>
        </p:txBody>
      </p:sp>
      <p:sp>
        <p:nvSpPr>
          <p:cNvPr id="95" name="Google Shape;95;p61"/>
          <p:cNvSpPr txBox="1"/>
          <p:nvPr/>
        </p:nvSpPr>
        <p:spPr>
          <a:xfrm>
            <a:off x="9330490" y="2613787"/>
            <a:ext cx="801912" cy="196977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2200" u="none" cap="none" strike="noStrike">
                <a:solidFill>
                  <a:schemeClr val="accent1"/>
                </a:solidFill>
                <a:latin typeface="Arial"/>
                <a:ea typeface="Arial"/>
                <a:cs typeface="Arial"/>
                <a:sym typeface="Arial"/>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96" name="Shape 96"/>
        <p:cNvGrpSpPr/>
        <p:nvPr/>
      </p:nvGrpSpPr>
      <p:grpSpPr>
        <a:xfrm>
          <a:off x="0" y="0"/>
          <a:ext cx="0" cy="0"/>
          <a:chOff x="0" y="0"/>
          <a:chExt cx="0" cy="0"/>
        </a:xfrm>
      </p:grpSpPr>
      <p:sp>
        <p:nvSpPr>
          <p:cNvPr id="97" name="Google Shape;97;p62"/>
          <p:cNvSpPr txBox="1"/>
          <p:nvPr>
            <p:ph type="title"/>
          </p:nvPr>
        </p:nvSpPr>
        <p:spPr>
          <a:xfrm>
            <a:off x="1154954" y="3124201"/>
            <a:ext cx="8825659" cy="165318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62"/>
          <p:cNvSpPr txBox="1"/>
          <p:nvPr>
            <p:ph idx="1" type="body"/>
          </p:nvPr>
        </p:nvSpPr>
        <p:spPr>
          <a:xfrm>
            <a:off x="1154955" y="4777381"/>
            <a:ext cx="882565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cap="none">
                <a:solidFill>
                  <a:schemeClr val="accent1"/>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9" name="Google Shape;99;p62"/>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62"/>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6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2" name="Shape 102"/>
        <p:cNvGrpSpPr/>
        <p:nvPr/>
      </p:nvGrpSpPr>
      <p:grpSpPr>
        <a:xfrm>
          <a:off x="0" y="0"/>
          <a:ext cx="0" cy="0"/>
          <a:chOff x="0" y="0"/>
          <a:chExt cx="0" cy="0"/>
        </a:xfrm>
      </p:grpSpPr>
      <p:sp>
        <p:nvSpPr>
          <p:cNvPr id="103" name="Google Shape;103;p63"/>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63"/>
          <p:cNvSpPr txBox="1"/>
          <p:nvPr>
            <p:ph idx="1" type="body"/>
          </p:nvPr>
        </p:nvSpPr>
        <p:spPr>
          <a:xfrm>
            <a:off x="632947" y="1981200"/>
            <a:ext cx="2946866"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chemeClr val="accent1"/>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05" name="Google Shape;105;p63"/>
          <p:cNvSpPr txBox="1"/>
          <p:nvPr>
            <p:ph idx="2" type="body"/>
          </p:nvPr>
        </p:nvSpPr>
        <p:spPr>
          <a:xfrm>
            <a:off x="652463" y="2667000"/>
            <a:ext cx="2927350"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06" name="Google Shape;106;p63"/>
          <p:cNvSpPr txBox="1"/>
          <p:nvPr>
            <p:ph idx="3" type="body"/>
          </p:nvPr>
        </p:nvSpPr>
        <p:spPr>
          <a:xfrm>
            <a:off x="3883659" y="1981200"/>
            <a:ext cx="2936241"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chemeClr val="accent1"/>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07" name="Google Shape;107;p63"/>
          <p:cNvSpPr txBox="1"/>
          <p:nvPr>
            <p:ph idx="4" type="body"/>
          </p:nvPr>
        </p:nvSpPr>
        <p:spPr>
          <a:xfrm>
            <a:off x="3873106" y="2667000"/>
            <a:ext cx="2946794"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08" name="Google Shape;108;p63"/>
          <p:cNvSpPr txBox="1"/>
          <p:nvPr>
            <p:ph idx="5" type="body"/>
          </p:nvPr>
        </p:nvSpPr>
        <p:spPr>
          <a:xfrm>
            <a:off x="7124700" y="1981200"/>
            <a:ext cx="293211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chemeClr val="accent1"/>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09" name="Google Shape;109;p63"/>
          <p:cNvSpPr txBox="1"/>
          <p:nvPr>
            <p:ph idx="6" type="body"/>
          </p:nvPr>
        </p:nvSpPr>
        <p:spPr>
          <a:xfrm>
            <a:off x="7124700" y="2667000"/>
            <a:ext cx="2932113"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110" name="Google Shape;110;p63"/>
          <p:cNvCxnSpPr/>
          <p:nvPr/>
        </p:nvCxnSpPr>
        <p:spPr>
          <a:xfrm>
            <a:off x="3726142" y="2133600"/>
            <a:ext cx="0" cy="3962400"/>
          </a:xfrm>
          <a:prstGeom prst="straightConnector1">
            <a:avLst/>
          </a:prstGeom>
          <a:noFill/>
          <a:ln cap="flat" cmpd="sng" w="12700">
            <a:solidFill>
              <a:schemeClr val="accent1">
                <a:alpha val="40000"/>
              </a:schemeClr>
            </a:solidFill>
            <a:prstDash val="solid"/>
            <a:round/>
            <a:headEnd len="sm" w="sm" type="none"/>
            <a:tailEnd len="sm" w="sm" type="none"/>
          </a:ln>
        </p:spPr>
      </p:cxnSp>
      <p:cxnSp>
        <p:nvCxnSpPr>
          <p:cNvPr id="111" name="Google Shape;111;p63"/>
          <p:cNvCxnSpPr/>
          <p:nvPr/>
        </p:nvCxnSpPr>
        <p:spPr>
          <a:xfrm>
            <a:off x="6962227" y="2133600"/>
            <a:ext cx="0" cy="3966882"/>
          </a:xfrm>
          <a:prstGeom prst="straightConnector1">
            <a:avLst/>
          </a:prstGeom>
          <a:noFill/>
          <a:ln cap="flat" cmpd="sng" w="12700">
            <a:solidFill>
              <a:schemeClr val="accent1">
                <a:alpha val="40000"/>
              </a:schemeClr>
            </a:solidFill>
            <a:prstDash val="solid"/>
            <a:round/>
            <a:headEnd len="sm" w="sm" type="none"/>
            <a:tailEnd len="sm" w="sm" type="none"/>
          </a:ln>
        </p:spPr>
      </p:cxnSp>
      <p:sp>
        <p:nvSpPr>
          <p:cNvPr id="112" name="Google Shape;112;p63"/>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63"/>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6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5" name="Shape 115"/>
        <p:cNvGrpSpPr/>
        <p:nvPr/>
      </p:nvGrpSpPr>
      <p:grpSpPr>
        <a:xfrm>
          <a:off x="0" y="0"/>
          <a:ext cx="0" cy="0"/>
          <a:chOff x="0" y="0"/>
          <a:chExt cx="0" cy="0"/>
        </a:xfrm>
      </p:grpSpPr>
      <p:sp>
        <p:nvSpPr>
          <p:cNvPr id="116" name="Google Shape;116;p64"/>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64"/>
          <p:cNvSpPr txBox="1"/>
          <p:nvPr>
            <p:ph idx="1" type="body"/>
          </p:nvPr>
        </p:nvSpPr>
        <p:spPr>
          <a:xfrm>
            <a:off x="652463" y="4250949"/>
            <a:ext cx="2940050"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chemeClr val="accent1"/>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8" name="Google Shape;118;p64"/>
          <p:cNvSpPr/>
          <p:nvPr>
            <p:ph idx="2" type="pic"/>
          </p:nvPr>
        </p:nvSpPr>
        <p:spPr>
          <a:xfrm>
            <a:off x="652463" y="2209800"/>
            <a:ext cx="2940050"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19" name="Google Shape;119;p64"/>
          <p:cNvSpPr txBox="1"/>
          <p:nvPr>
            <p:ph idx="3" type="body"/>
          </p:nvPr>
        </p:nvSpPr>
        <p:spPr>
          <a:xfrm>
            <a:off x="652463" y="4827211"/>
            <a:ext cx="2940050"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20" name="Google Shape;120;p64"/>
          <p:cNvSpPr txBox="1"/>
          <p:nvPr>
            <p:ph idx="4" type="body"/>
          </p:nvPr>
        </p:nvSpPr>
        <p:spPr>
          <a:xfrm>
            <a:off x="3889375" y="4250949"/>
            <a:ext cx="2930525"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chemeClr val="accent1"/>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21" name="Google Shape;121;p64"/>
          <p:cNvSpPr/>
          <p:nvPr>
            <p:ph idx="5" type="pic"/>
          </p:nvPr>
        </p:nvSpPr>
        <p:spPr>
          <a:xfrm>
            <a:off x="3889374" y="2209800"/>
            <a:ext cx="2930525"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22" name="Google Shape;122;p64"/>
          <p:cNvSpPr txBox="1"/>
          <p:nvPr>
            <p:ph idx="6" type="body"/>
          </p:nvPr>
        </p:nvSpPr>
        <p:spPr>
          <a:xfrm>
            <a:off x="3888022" y="4827210"/>
            <a:ext cx="2934406"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23" name="Google Shape;123;p64"/>
          <p:cNvSpPr txBox="1"/>
          <p:nvPr>
            <p:ph idx="7" type="body"/>
          </p:nvPr>
        </p:nvSpPr>
        <p:spPr>
          <a:xfrm>
            <a:off x="7124700" y="4250949"/>
            <a:ext cx="293211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chemeClr val="accent1"/>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24" name="Google Shape;124;p64"/>
          <p:cNvSpPr/>
          <p:nvPr>
            <p:ph idx="8" type="pic"/>
          </p:nvPr>
        </p:nvSpPr>
        <p:spPr>
          <a:xfrm>
            <a:off x="7124699" y="2209800"/>
            <a:ext cx="2932113"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25" name="Google Shape;125;p64"/>
          <p:cNvSpPr txBox="1"/>
          <p:nvPr>
            <p:ph idx="9" type="body"/>
          </p:nvPr>
        </p:nvSpPr>
        <p:spPr>
          <a:xfrm>
            <a:off x="7124575" y="4827208"/>
            <a:ext cx="2935997"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126" name="Google Shape;126;p64"/>
          <p:cNvCxnSpPr/>
          <p:nvPr/>
        </p:nvCxnSpPr>
        <p:spPr>
          <a:xfrm>
            <a:off x="3726142" y="2133600"/>
            <a:ext cx="0" cy="3962400"/>
          </a:xfrm>
          <a:prstGeom prst="straightConnector1">
            <a:avLst/>
          </a:prstGeom>
          <a:noFill/>
          <a:ln cap="flat" cmpd="sng" w="12700">
            <a:solidFill>
              <a:schemeClr val="accent1">
                <a:alpha val="40000"/>
              </a:schemeClr>
            </a:solidFill>
            <a:prstDash val="solid"/>
            <a:round/>
            <a:headEnd len="sm" w="sm" type="none"/>
            <a:tailEnd len="sm" w="sm" type="none"/>
          </a:ln>
        </p:spPr>
      </p:cxnSp>
      <p:cxnSp>
        <p:nvCxnSpPr>
          <p:cNvPr id="127" name="Google Shape;127;p64"/>
          <p:cNvCxnSpPr/>
          <p:nvPr/>
        </p:nvCxnSpPr>
        <p:spPr>
          <a:xfrm>
            <a:off x="6962227" y="2133600"/>
            <a:ext cx="0" cy="3966882"/>
          </a:xfrm>
          <a:prstGeom prst="straightConnector1">
            <a:avLst/>
          </a:prstGeom>
          <a:noFill/>
          <a:ln cap="flat" cmpd="sng" w="12700">
            <a:solidFill>
              <a:schemeClr val="accent1">
                <a:alpha val="40000"/>
              </a:schemeClr>
            </a:solidFill>
            <a:prstDash val="solid"/>
            <a:round/>
            <a:headEnd len="sm" w="sm" type="none"/>
            <a:tailEnd len="sm" w="sm" type="none"/>
          </a:ln>
        </p:spPr>
      </p:cxnSp>
      <p:sp>
        <p:nvSpPr>
          <p:cNvPr id="128" name="Google Shape;128;p64"/>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64"/>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6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1" name="Shape 131"/>
        <p:cNvGrpSpPr/>
        <p:nvPr/>
      </p:nvGrpSpPr>
      <p:grpSpPr>
        <a:xfrm>
          <a:off x="0" y="0"/>
          <a:ext cx="0" cy="0"/>
          <a:chOff x="0" y="0"/>
          <a:chExt cx="0" cy="0"/>
        </a:xfrm>
      </p:grpSpPr>
      <p:sp>
        <p:nvSpPr>
          <p:cNvPr id="132" name="Google Shape;132;p65"/>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65"/>
          <p:cNvSpPr txBox="1"/>
          <p:nvPr>
            <p:ph idx="1" type="body"/>
          </p:nvPr>
        </p:nvSpPr>
        <p:spPr>
          <a:xfrm rot="5400000">
            <a:off x="3478842" y="-322612"/>
            <a:ext cx="4195481" cy="894654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4" name="Google Shape;134;p65"/>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65"/>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6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7" name="Shape 137"/>
        <p:cNvGrpSpPr/>
        <p:nvPr/>
      </p:nvGrpSpPr>
      <p:grpSpPr>
        <a:xfrm>
          <a:off x="0" y="0"/>
          <a:ext cx="0" cy="0"/>
          <a:chOff x="0" y="0"/>
          <a:chExt cx="0" cy="0"/>
        </a:xfrm>
      </p:grpSpPr>
      <p:sp>
        <p:nvSpPr>
          <p:cNvPr id="138" name="Google Shape;138;p66"/>
          <p:cNvSpPr txBox="1"/>
          <p:nvPr>
            <p:ph type="title"/>
          </p:nvPr>
        </p:nvSpPr>
        <p:spPr>
          <a:xfrm rot="5400000">
            <a:off x="6267450" y="2466975"/>
            <a:ext cx="5826125" cy="17526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66"/>
          <p:cNvSpPr txBox="1"/>
          <p:nvPr>
            <p:ph idx="1" type="body"/>
          </p:nvPr>
        </p:nvSpPr>
        <p:spPr>
          <a:xfrm rot="5400000">
            <a:off x="1679576" y="-139699"/>
            <a:ext cx="5368924" cy="7423149"/>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0" name="Google Shape;140;p66"/>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66"/>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6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6.xml"/><Relationship Id="rId11" Type="http://schemas.openxmlformats.org/officeDocument/2006/relationships/slideLayout" Target="../slideLayouts/slideLayout7.xml"/><Relationship Id="rId22" Type="http://schemas.openxmlformats.org/officeDocument/2006/relationships/theme" Target="../theme/theme2.xml"/><Relationship Id="rId10" Type="http://schemas.openxmlformats.org/officeDocument/2006/relationships/slideLayout" Target="../slideLayouts/slideLayout6.xml"/><Relationship Id="rId21" Type="http://schemas.openxmlformats.org/officeDocument/2006/relationships/slideLayout" Target="../slideLayouts/slideLayout17.xml"/><Relationship Id="rId13" Type="http://schemas.openxmlformats.org/officeDocument/2006/relationships/slideLayout" Target="../slideLayouts/slideLayout9.xml"/><Relationship Id="rId12" Type="http://schemas.openxmlformats.org/officeDocument/2006/relationships/slideLayout" Target="../slideLayouts/slideLayout8.xml"/><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 Id="rId9" Type="http://schemas.openxmlformats.org/officeDocument/2006/relationships/slideLayout" Target="../slideLayouts/slideLayout5.xml"/><Relationship Id="rId15" Type="http://schemas.openxmlformats.org/officeDocument/2006/relationships/slideLayout" Target="../slideLayouts/slideLayout11.xml"/><Relationship Id="rId14" Type="http://schemas.openxmlformats.org/officeDocument/2006/relationships/slideLayout" Target="../slideLayouts/slideLayout10.xml"/><Relationship Id="rId17" Type="http://schemas.openxmlformats.org/officeDocument/2006/relationships/slideLayout" Target="../slideLayouts/slideLayout13.xml"/><Relationship Id="rId16" Type="http://schemas.openxmlformats.org/officeDocument/2006/relationships/slideLayout" Target="../slideLayouts/slideLayout12.xml"/><Relationship Id="rId5" Type="http://schemas.openxmlformats.org/officeDocument/2006/relationships/slideLayout" Target="../slideLayouts/slideLayout1.xml"/><Relationship Id="rId19" Type="http://schemas.openxmlformats.org/officeDocument/2006/relationships/slideLayout" Target="../slideLayouts/slideLayout15.xml"/><Relationship Id="rId6" Type="http://schemas.openxmlformats.org/officeDocument/2006/relationships/slideLayout" Target="../slideLayouts/slideLayout2.xml"/><Relationship Id="rId18" Type="http://schemas.openxmlformats.org/officeDocument/2006/relationships/slideLayout" Target="../slideLayouts/slideLayout14.xml"/><Relationship Id="rId7" Type="http://schemas.openxmlformats.org/officeDocument/2006/relationships/slideLayout" Target="../slideLayouts/slideLayout3.xml"/><Relationship Id="rId8"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49"/>
          <p:cNvPicPr preferRelativeResize="0"/>
          <p:nvPr/>
        </p:nvPicPr>
        <p:blipFill rotWithShape="1">
          <a:blip r:embed="rId1">
            <a:alphaModFix/>
          </a:blip>
          <a:srcRect b="0" l="3613" r="0" t="0"/>
          <a:stretch/>
        </p:blipFill>
        <p:spPr>
          <a:xfrm>
            <a:off x="0" y="2669685"/>
            <a:ext cx="4037012" cy="4188315"/>
          </a:xfrm>
          <a:prstGeom prst="rect">
            <a:avLst/>
          </a:prstGeom>
          <a:noFill/>
          <a:ln>
            <a:noFill/>
          </a:ln>
        </p:spPr>
      </p:pic>
      <p:pic>
        <p:nvPicPr>
          <p:cNvPr id="7" name="Google Shape;7;p49"/>
          <p:cNvPicPr preferRelativeResize="0"/>
          <p:nvPr/>
        </p:nvPicPr>
        <p:blipFill rotWithShape="1">
          <a:blip r:embed="rId2">
            <a:alphaModFix/>
          </a:blip>
          <a:srcRect b="0" l="35640" r="0" t="0"/>
          <a:stretch/>
        </p:blipFill>
        <p:spPr>
          <a:xfrm>
            <a:off x="0" y="2892347"/>
            <a:ext cx="1522412" cy="2365453"/>
          </a:xfrm>
          <a:prstGeom prst="rect">
            <a:avLst/>
          </a:prstGeom>
          <a:noFill/>
          <a:ln>
            <a:noFill/>
          </a:ln>
        </p:spPr>
      </p:pic>
      <p:sp>
        <p:nvSpPr>
          <p:cNvPr id="8" name="Google Shape;8;p49"/>
          <p:cNvSpPr/>
          <p:nvPr/>
        </p:nvSpPr>
        <p:spPr>
          <a:xfrm>
            <a:off x="8609012" y="1676400"/>
            <a:ext cx="2819400" cy="2819400"/>
          </a:xfrm>
          <a:prstGeom prst="ellipse">
            <a:avLst/>
          </a:prstGeom>
          <a:gradFill>
            <a:gsLst>
              <a:gs pos="0">
                <a:srgbClr val="9CC2E5">
                  <a:alpha val="6666"/>
                </a:srgbClr>
              </a:gs>
              <a:gs pos="36000">
                <a:srgbClr val="9CC2E5">
                  <a:alpha val="5882"/>
                </a:srgbClr>
              </a:gs>
              <a:gs pos="69000">
                <a:srgbClr val="9CC2E5">
                  <a:alpha val="0"/>
                </a:srgbClr>
              </a:gs>
              <a:gs pos="100000">
                <a:srgbClr val="9CC2E5">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 name="Google Shape;9;p49"/>
          <p:cNvPicPr preferRelativeResize="0"/>
          <p:nvPr/>
        </p:nvPicPr>
        <p:blipFill rotWithShape="1">
          <a:blip r:embed="rId3">
            <a:alphaModFix/>
          </a:blip>
          <a:srcRect b="0" l="0" r="0" t="28713"/>
          <a:stretch/>
        </p:blipFill>
        <p:spPr>
          <a:xfrm>
            <a:off x="8000197" y="0"/>
            <a:ext cx="1603387" cy="1143000"/>
          </a:xfrm>
          <a:prstGeom prst="rect">
            <a:avLst/>
          </a:prstGeom>
          <a:noFill/>
          <a:ln>
            <a:noFill/>
          </a:ln>
        </p:spPr>
      </p:pic>
      <p:pic>
        <p:nvPicPr>
          <p:cNvPr id="10" name="Google Shape;10;p49"/>
          <p:cNvPicPr preferRelativeResize="0"/>
          <p:nvPr/>
        </p:nvPicPr>
        <p:blipFill rotWithShape="1">
          <a:blip r:embed="rId4">
            <a:alphaModFix/>
          </a:blip>
          <a:srcRect b="24199" l="0" r="0" t="0"/>
          <a:stretch/>
        </p:blipFill>
        <p:spPr>
          <a:xfrm>
            <a:off x="8609012" y="6092866"/>
            <a:ext cx="993734" cy="765134"/>
          </a:xfrm>
          <a:prstGeom prst="rect">
            <a:avLst/>
          </a:prstGeom>
          <a:noFill/>
          <a:ln>
            <a:noFill/>
          </a:ln>
        </p:spPr>
      </p:pic>
      <p:sp>
        <p:nvSpPr>
          <p:cNvPr id="11" name="Google Shape;11;p49"/>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49"/>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2"/>
              </a:buClr>
              <a:buSzPts val="4200"/>
              <a:buFont typeface="Century Gothic"/>
              <a:buNone/>
              <a:defRPr b="0" i="0" sz="4200" u="none" cap="none" strike="noStrike">
                <a:solidFill>
                  <a:schemeClr val="dk2"/>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3" name="Google Shape;13;p49"/>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lvl1pPr indent="-330200" lvl="0" marL="457200" marR="0" rtl="0" algn="l">
              <a:spcBef>
                <a:spcPts val="1000"/>
              </a:spcBef>
              <a:spcAft>
                <a:spcPts val="0"/>
              </a:spcAft>
              <a:buClr>
                <a:schemeClr val="accent1"/>
              </a:buClr>
              <a:buSzPts val="1600"/>
              <a:buFont typeface="Noto Sans Symbols"/>
              <a:buChar char="►"/>
              <a:defRPr b="0" i="0" sz="2000" u="none" cap="none" strike="noStrike">
                <a:solidFill>
                  <a:schemeClr val="dk1"/>
                </a:solidFill>
                <a:latin typeface="Century Gothic"/>
                <a:ea typeface="Century Gothic"/>
                <a:cs typeface="Century Gothic"/>
                <a:sym typeface="Century Gothic"/>
              </a:defRPr>
            </a:lvl1pPr>
            <a:lvl2pPr indent="-320040" lvl="1" marL="914400" marR="0" rtl="0" algn="l">
              <a:spcBef>
                <a:spcPts val="1000"/>
              </a:spcBef>
              <a:spcAft>
                <a:spcPts val="0"/>
              </a:spcAft>
              <a:buClr>
                <a:schemeClr val="accent1"/>
              </a:buClr>
              <a:buSzPts val="1440"/>
              <a:buFont typeface="Noto Sans Symbols"/>
              <a:buChar char="►"/>
              <a:defRPr b="0" i="0" sz="1800" u="none" cap="none" strike="noStrike">
                <a:solidFill>
                  <a:schemeClr val="dk1"/>
                </a:solidFill>
                <a:latin typeface="Century Gothic"/>
                <a:ea typeface="Century Gothic"/>
                <a:cs typeface="Century Gothic"/>
                <a:sym typeface="Century Gothic"/>
              </a:defRPr>
            </a:lvl2pPr>
            <a:lvl3pPr indent="-309880" lvl="2" marL="1371600" marR="0" rtl="0" algn="l">
              <a:spcBef>
                <a:spcPts val="1000"/>
              </a:spcBef>
              <a:spcAft>
                <a:spcPts val="0"/>
              </a:spcAft>
              <a:buClr>
                <a:schemeClr val="accent1"/>
              </a:buClr>
              <a:buSzPts val="1280"/>
              <a:buFont typeface="Noto Sans Symbols"/>
              <a:buChar char="►"/>
              <a:defRPr b="0" i="0" sz="1600" u="none" cap="none" strike="noStrike">
                <a:solidFill>
                  <a:schemeClr val="dk1"/>
                </a:solidFill>
                <a:latin typeface="Century Gothic"/>
                <a:ea typeface="Century Gothic"/>
                <a:cs typeface="Century Gothic"/>
                <a:sym typeface="Century Gothic"/>
              </a:defRPr>
            </a:lvl3pPr>
            <a:lvl4pPr indent="-299719" lvl="3" marL="1828800" marR="0" rtl="0" algn="l">
              <a:spcBef>
                <a:spcPts val="1000"/>
              </a:spcBef>
              <a:spcAft>
                <a:spcPts val="0"/>
              </a:spcAft>
              <a:buClr>
                <a:schemeClr val="accent1"/>
              </a:buClr>
              <a:buSzPts val="1120"/>
              <a:buFont typeface="Noto Sans Symbols"/>
              <a:buChar char="►"/>
              <a:defRPr b="0" i="0" sz="1400" u="none" cap="none" strike="noStrike">
                <a:solidFill>
                  <a:schemeClr val="dk1"/>
                </a:solidFill>
                <a:latin typeface="Century Gothic"/>
                <a:ea typeface="Century Gothic"/>
                <a:cs typeface="Century Gothic"/>
                <a:sym typeface="Century Gothic"/>
              </a:defRPr>
            </a:lvl4pPr>
            <a:lvl5pPr indent="-299720" lvl="4" marL="2286000" marR="0" rtl="0" algn="l">
              <a:spcBef>
                <a:spcPts val="1000"/>
              </a:spcBef>
              <a:spcAft>
                <a:spcPts val="0"/>
              </a:spcAft>
              <a:buClr>
                <a:schemeClr val="accent1"/>
              </a:buClr>
              <a:buSzPts val="1120"/>
              <a:buFont typeface="Noto Sans Symbols"/>
              <a:buChar char="►"/>
              <a:defRPr b="0" i="0" sz="1400" u="none" cap="none" strike="noStrike">
                <a:solidFill>
                  <a:schemeClr val="dk1"/>
                </a:solidFill>
                <a:latin typeface="Century Gothic"/>
                <a:ea typeface="Century Gothic"/>
                <a:cs typeface="Century Gothic"/>
                <a:sym typeface="Century Gothic"/>
              </a:defRPr>
            </a:lvl5pPr>
            <a:lvl6pPr indent="-299720" lvl="5" marL="2743200" marR="0" rtl="0" algn="l">
              <a:spcBef>
                <a:spcPts val="1000"/>
              </a:spcBef>
              <a:spcAft>
                <a:spcPts val="0"/>
              </a:spcAft>
              <a:buClr>
                <a:schemeClr val="accent1"/>
              </a:buClr>
              <a:buSzPts val="1120"/>
              <a:buFont typeface="Noto Sans Symbols"/>
              <a:buChar char="►"/>
              <a:defRPr b="0" i="0" sz="1400" u="none" cap="none" strike="noStrike">
                <a:solidFill>
                  <a:schemeClr val="dk1"/>
                </a:solidFill>
                <a:latin typeface="Century Gothic"/>
                <a:ea typeface="Century Gothic"/>
                <a:cs typeface="Century Gothic"/>
                <a:sym typeface="Century Gothic"/>
              </a:defRPr>
            </a:lvl6pPr>
            <a:lvl7pPr indent="-299720" lvl="6" marL="3200400" marR="0" rtl="0" algn="l">
              <a:spcBef>
                <a:spcPts val="1000"/>
              </a:spcBef>
              <a:spcAft>
                <a:spcPts val="0"/>
              </a:spcAft>
              <a:buClr>
                <a:schemeClr val="accent1"/>
              </a:buClr>
              <a:buSzPts val="1120"/>
              <a:buFont typeface="Noto Sans Symbols"/>
              <a:buChar char="►"/>
              <a:defRPr b="0" i="0" sz="1400" u="none" cap="none" strike="noStrike">
                <a:solidFill>
                  <a:schemeClr val="dk1"/>
                </a:solidFill>
                <a:latin typeface="Century Gothic"/>
                <a:ea typeface="Century Gothic"/>
                <a:cs typeface="Century Gothic"/>
                <a:sym typeface="Century Gothic"/>
              </a:defRPr>
            </a:lvl7pPr>
            <a:lvl8pPr indent="-299720" lvl="7" marL="3657600" marR="0" rtl="0" algn="l">
              <a:spcBef>
                <a:spcPts val="1000"/>
              </a:spcBef>
              <a:spcAft>
                <a:spcPts val="0"/>
              </a:spcAft>
              <a:buClr>
                <a:schemeClr val="accent1"/>
              </a:buClr>
              <a:buSzPts val="1120"/>
              <a:buFont typeface="Noto Sans Symbols"/>
              <a:buChar char="►"/>
              <a:defRPr b="0" i="0" sz="1400" u="none" cap="none" strike="noStrike">
                <a:solidFill>
                  <a:schemeClr val="dk1"/>
                </a:solidFill>
                <a:latin typeface="Century Gothic"/>
                <a:ea typeface="Century Gothic"/>
                <a:cs typeface="Century Gothic"/>
                <a:sym typeface="Century Gothic"/>
              </a:defRPr>
            </a:lvl8pPr>
            <a:lvl9pPr indent="-299720" lvl="8" marL="4114800" marR="0" rtl="0" algn="l">
              <a:spcBef>
                <a:spcPts val="1000"/>
              </a:spcBef>
              <a:spcAft>
                <a:spcPts val="0"/>
              </a:spcAft>
              <a:buClr>
                <a:schemeClr val="accent1"/>
              </a:buClr>
              <a:buSzPts val="1120"/>
              <a:buFont typeface="Noto Sans Symbols"/>
              <a:buChar char="►"/>
              <a:defRPr b="0" i="0" sz="1400" u="none" cap="none" strike="noStrike">
                <a:solidFill>
                  <a:schemeClr val="dk1"/>
                </a:solidFill>
                <a:latin typeface="Century Gothic"/>
                <a:ea typeface="Century Gothic"/>
                <a:cs typeface="Century Gothic"/>
                <a:sym typeface="Century Gothic"/>
              </a:defRPr>
            </a:lvl9pPr>
          </a:lstStyle>
          <a:p/>
        </p:txBody>
      </p:sp>
      <p:sp>
        <p:nvSpPr>
          <p:cNvPr id="14" name="Google Shape;14;p49"/>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1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15" name="Google Shape;15;p49"/>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1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16" name="Google Shape;16;p4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rtl="0" algn="ctr">
              <a:spcBef>
                <a:spcPts val="0"/>
              </a:spcBef>
              <a:buNone/>
              <a:defRPr b="0" i="0" sz="2800" u="none" cap="none" strike="noStrike">
                <a:solidFill>
                  <a:srgbClr val="888888"/>
                </a:solidFill>
                <a:latin typeface="Century Gothic"/>
                <a:ea typeface="Century Gothic"/>
                <a:cs typeface="Century Gothic"/>
                <a:sym typeface="Century Gothic"/>
              </a:defRPr>
            </a:lvl1pPr>
            <a:lvl2pPr indent="0" lvl="1" marL="0" marR="0" rtl="0" algn="ctr">
              <a:spcBef>
                <a:spcPts val="0"/>
              </a:spcBef>
              <a:buNone/>
              <a:defRPr b="0" i="0" sz="2800" u="none" cap="none" strike="noStrike">
                <a:solidFill>
                  <a:srgbClr val="888888"/>
                </a:solidFill>
                <a:latin typeface="Century Gothic"/>
                <a:ea typeface="Century Gothic"/>
                <a:cs typeface="Century Gothic"/>
                <a:sym typeface="Century Gothic"/>
              </a:defRPr>
            </a:lvl2pPr>
            <a:lvl3pPr indent="0" lvl="2" marL="0" marR="0" rtl="0" algn="ctr">
              <a:spcBef>
                <a:spcPts val="0"/>
              </a:spcBef>
              <a:buNone/>
              <a:defRPr b="0" i="0" sz="2800" u="none" cap="none" strike="noStrike">
                <a:solidFill>
                  <a:srgbClr val="888888"/>
                </a:solidFill>
                <a:latin typeface="Century Gothic"/>
                <a:ea typeface="Century Gothic"/>
                <a:cs typeface="Century Gothic"/>
                <a:sym typeface="Century Gothic"/>
              </a:defRPr>
            </a:lvl3pPr>
            <a:lvl4pPr indent="0" lvl="3" marL="0" marR="0" rtl="0" algn="ctr">
              <a:spcBef>
                <a:spcPts val="0"/>
              </a:spcBef>
              <a:buNone/>
              <a:defRPr b="0" i="0" sz="2800" u="none" cap="none" strike="noStrike">
                <a:solidFill>
                  <a:srgbClr val="888888"/>
                </a:solidFill>
                <a:latin typeface="Century Gothic"/>
                <a:ea typeface="Century Gothic"/>
                <a:cs typeface="Century Gothic"/>
                <a:sym typeface="Century Gothic"/>
              </a:defRPr>
            </a:lvl4pPr>
            <a:lvl5pPr indent="0" lvl="4" marL="0" marR="0" rtl="0" algn="ctr">
              <a:spcBef>
                <a:spcPts val="0"/>
              </a:spcBef>
              <a:buNone/>
              <a:defRPr b="0" i="0" sz="2800" u="none" cap="none" strike="noStrike">
                <a:solidFill>
                  <a:srgbClr val="888888"/>
                </a:solidFill>
                <a:latin typeface="Century Gothic"/>
                <a:ea typeface="Century Gothic"/>
                <a:cs typeface="Century Gothic"/>
                <a:sym typeface="Century Gothic"/>
              </a:defRPr>
            </a:lvl5pPr>
            <a:lvl6pPr indent="0" lvl="5" marL="0" marR="0" rtl="0" algn="ctr">
              <a:spcBef>
                <a:spcPts val="0"/>
              </a:spcBef>
              <a:buNone/>
              <a:defRPr b="0" i="0" sz="2800" u="none" cap="none" strike="noStrike">
                <a:solidFill>
                  <a:srgbClr val="888888"/>
                </a:solidFill>
                <a:latin typeface="Century Gothic"/>
                <a:ea typeface="Century Gothic"/>
                <a:cs typeface="Century Gothic"/>
                <a:sym typeface="Century Gothic"/>
              </a:defRPr>
            </a:lvl6pPr>
            <a:lvl7pPr indent="0" lvl="6" marL="0" marR="0" rtl="0" algn="ctr">
              <a:spcBef>
                <a:spcPts val="0"/>
              </a:spcBef>
              <a:buNone/>
              <a:defRPr b="0" i="0" sz="2800" u="none" cap="none" strike="noStrike">
                <a:solidFill>
                  <a:srgbClr val="888888"/>
                </a:solidFill>
                <a:latin typeface="Century Gothic"/>
                <a:ea typeface="Century Gothic"/>
                <a:cs typeface="Century Gothic"/>
                <a:sym typeface="Century Gothic"/>
              </a:defRPr>
            </a:lvl7pPr>
            <a:lvl8pPr indent="0" lvl="7" marL="0" marR="0" rtl="0" algn="ctr">
              <a:spcBef>
                <a:spcPts val="0"/>
              </a:spcBef>
              <a:buNone/>
              <a:defRPr b="0" i="0" sz="2800" u="none" cap="none" strike="noStrike">
                <a:solidFill>
                  <a:srgbClr val="888888"/>
                </a:solidFill>
                <a:latin typeface="Century Gothic"/>
                <a:ea typeface="Century Gothic"/>
                <a:cs typeface="Century Gothic"/>
                <a:sym typeface="Century Gothic"/>
              </a:defRPr>
            </a:lvl8pPr>
            <a:lvl9pPr indent="0" lvl="8" marL="0" marR="0" rtl="0" algn="ctr">
              <a:spcBef>
                <a:spcPts val="0"/>
              </a:spcBef>
              <a:buNone/>
              <a:defRPr b="0" i="0" sz="2800" u="none" cap="none" strike="noStrike">
                <a:solidFill>
                  <a:srgbClr val="888888"/>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60" r:id="rId16"/>
    <p:sldLayoutId id="2147483661" r:id="rId17"/>
    <p:sldLayoutId id="2147483662" r:id="rId18"/>
    <p:sldLayoutId id="2147483663" r:id="rId19"/>
    <p:sldLayoutId id="2147483664" r:id="rId20"/>
    <p:sldLayoutId id="2147483665"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
          <p:cNvSpPr txBox="1"/>
          <p:nvPr>
            <p:ph type="ctrTitle"/>
          </p:nvPr>
        </p:nvSpPr>
        <p:spPr>
          <a:xfrm>
            <a:off x="1154955" y="1468395"/>
            <a:ext cx="8825700" cy="33297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7200"/>
              <a:buFont typeface="Century Gothic"/>
              <a:buNone/>
            </a:pPr>
            <a:r>
              <a:rPr lang="en-US"/>
              <a:t>Chapter 1</a:t>
            </a:r>
            <a:endParaRPr/>
          </a:p>
        </p:txBody>
      </p:sp>
      <p:sp>
        <p:nvSpPr>
          <p:cNvPr id="148" name="Google Shape;148;p1"/>
          <p:cNvSpPr txBox="1"/>
          <p:nvPr>
            <p:ph idx="1" type="subTitle"/>
          </p:nvPr>
        </p:nvSpPr>
        <p:spPr>
          <a:xfrm>
            <a:off x="1154955" y="4777380"/>
            <a:ext cx="8825658" cy="86142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a:t>INTRODUCTION TO THREAT INTELLIGENCE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4200"/>
              <a:buFont typeface="Century Gothic"/>
              <a:buNone/>
            </a:pPr>
            <a:r>
              <a:rPr lang="en-US"/>
              <a:t>Threat intelligence</a:t>
            </a:r>
            <a:endParaRPr/>
          </a:p>
        </p:txBody>
      </p:sp>
      <p:sp>
        <p:nvSpPr>
          <p:cNvPr id="154" name="Google Shape;154;p2"/>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Threat intelligence is threat </a:t>
            </a:r>
            <a:r>
              <a:rPr lang="en-US">
                <a:solidFill>
                  <a:srgbClr val="FF0000"/>
                </a:solidFill>
              </a:rPr>
              <a:t>information that has been aggregated, transformed, analyzed, interpreted, or enriched to provide the necessary context for decision-making processes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4200"/>
              <a:buFont typeface="Century Gothic"/>
              <a:buNone/>
            </a:pPr>
            <a:r>
              <a:rPr lang="en-US"/>
              <a:t>Threat Information Types</a:t>
            </a:r>
            <a:endParaRPr/>
          </a:p>
        </p:txBody>
      </p:sp>
      <p:sp>
        <p:nvSpPr>
          <p:cNvPr id="160" name="Google Shape;160;p3"/>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A cyber threat is “</a:t>
            </a:r>
            <a:r>
              <a:rPr lang="en-US">
                <a:solidFill>
                  <a:srgbClr val="FF0000"/>
                </a:solidFill>
              </a:rPr>
              <a:t>any circumstance or event with the potential to adversely impact organizational operations (including mission, functions, image, or reputation), organizational assets, individuals, other organizations, or the Nation through an information system via unauthorized access, destruction, disclosure, or modification of information, and/or denial of service.</a:t>
            </a:r>
            <a:r>
              <a:rPr lang="en-US"/>
              <a:t>” </a:t>
            </a:r>
            <a:endParaRPr/>
          </a:p>
          <a:p>
            <a:pPr indent="-342900" lvl="0" marL="342900" rtl="0" algn="l">
              <a:spcBef>
                <a:spcPts val="1000"/>
              </a:spcBef>
              <a:spcAft>
                <a:spcPts val="0"/>
              </a:spcAft>
              <a:buSzPts val="1600"/>
              <a:buChar char="►"/>
            </a:pPr>
            <a:r>
              <a:rPr lang="en-US"/>
              <a:t>The individuals and groups posing threats are known as “threat actors” or simply actors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4"/>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4200"/>
              <a:buFont typeface="Century Gothic"/>
              <a:buNone/>
            </a:pPr>
            <a:r>
              <a:rPr lang="en-US"/>
              <a:t>Threat information</a:t>
            </a:r>
            <a:endParaRPr/>
          </a:p>
        </p:txBody>
      </p:sp>
      <p:sp>
        <p:nvSpPr>
          <p:cNvPr id="166" name="Google Shape;166;p4"/>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Threat information is </a:t>
            </a:r>
            <a:r>
              <a:rPr lang="en-US">
                <a:solidFill>
                  <a:srgbClr val="FF0000"/>
                </a:solidFill>
              </a:rPr>
              <a:t>any information related to a threat that might help an organization protect itself against a threat or detect the activities of an actor.</a:t>
            </a:r>
            <a:endParaRPr/>
          </a:p>
          <a:p>
            <a:pPr indent="-241300" lvl="0" marL="342900" rtl="0" algn="l">
              <a:spcBef>
                <a:spcPts val="1000"/>
              </a:spcBef>
              <a:spcAft>
                <a:spcPts val="0"/>
              </a:spcAft>
              <a:buSzPts val="1600"/>
              <a:buNone/>
            </a:pPr>
            <a:r>
              <a:t/>
            </a:r>
            <a:endParaRPr>
              <a:solidFill>
                <a:srgbClr val="FF0000"/>
              </a:solidFill>
            </a:endParaRPr>
          </a:p>
          <a:p>
            <a:pPr indent="-190500" lvl="0" marL="342900" rtl="0" algn="l">
              <a:spcBef>
                <a:spcPts val="1000"/>
              </a:spcBef>
              <a:spcAft>
                <a:spcPts val="0"/>
              </a:spcAft>
              <a:buSzPts val="2400"/>
              <a:buNone/>
            </a:pPr>
            <a:r>
              <a:t/>
            </a:r>
            <a:endParaRPr b="1" sz="3000"/>
          </a:p>
          <a:p>
            <a:pPr indent="-241300" lvl="0" marL="342900" rtl="0" algn="l">
              <a:spcBef>
                <a:spcPts val="1000"/>
              </a:spcBef>
              <a:spcAft>
                <a:spcPts val="0"/>
              </a:spcAft>
              <a:buSzPts val="1600"/>
              <a:buNone/>
            </a:pPr>
            <a:r>
              <a:t/>
            </a:r>
            <a:endParaRPr>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5"/>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4200"/>
              <a:buFont typeface="Century Gothic"/>
              <a:buNone/>
            </a:pPr>
            <a:r>
              <a:rPr lang="en-US"/>
              <a:t>Major types of threat information</a:t>
            </a:r>
            <a:br>
              <a:rPr lang="en-US"/>
            </a:br>
            <a:endParaRPr/>
          </a:p>
        </p:txBody>
      </p:sp>
      <p:sp>
        <p:nvSpPr>
          <p:cNvPr id="172" name="Google Shape;172;p5"/>
          <p:cNvSpPr/>
          <p:nvPr/>
        </p:nvSpPr>
        <p:spPr>
          <a:xfrm>
            <a:off x="646111" y="1853249"/>
            <a:ext cx="10831656" cy="461579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Century Gothic"/>
              <a:buChar char="•"/>
            </a:pPr>
            <a:r>
              <a:rPr b="0" i="0" lang="en-US" sz="1800" u="none" cap="none" strike="noStrike">
                <a:solidFill>
                  <a:schemeClr val="dk1"/>
                </a:solidFill>
                <a:latin typeface="Century Gothic"/>
                <a:ea typeface="Century Gothic"/>
                <a:cs typeface="Century Gothic"/>
                <a:sym typeface="Century Gothic"/>
              </a:rPr>
              <a:t>Indicators</a:t>
            </a:r>
            <a:endParaRPr b="0" i="0" sz="1800" u="none" cap="none" strike="noStrike">
              <a:solidFill>
                <a:schemeClr val="dk1"/>
              </a:solidFill>
              <a:latin typeface="Century Gothic"/>
              <a:ea typeface="Century Gothic"/>
              <a:cs typeface="Century Gothic"/>
              <a:sym typeface="Century Gothic"/>
            </a:endParaRPr>
          </a:p>
          <a:p>
            <a:pPr indent="-114300" lvl="1" marL="114300" marR="0" rtl="0" algn="l">
              <a:lnSpc>
                <a:spcPct val="75000"/>
              </a:lnSpc>
              <a:spcBef>
                <a:spcPts val="180"/>
              </a:spcBef>
              <a:spcAft>
                <a:spcPts val="0"/>
              </a:spcAft>
              <a:buClr>
                <a:schemeClr val="dk1"/>
              </a:buClr>
              <a:buSzPts val="1800"/>
              <a:buFont typeface="Century Gothic"/>
              <a:buChar char="•"/>
            </a:pPr>
            <a:r>
              <a:rPr b="0" i="0" lang="en-US" sz="1800" u="none" cap="none" strike="noStrike">
                <a:solidFill>
                  <a:schemeClr val="dk1"/>
                </a:solidFill>
                <a:latin typeface="Century Gothic"/>
                <a:ea typeface="Century Gothic"/>
                <a:cs typeface="Century Gothic"/>
                <a:sym typeface="Century Gothic"/>
              </a:rPr>
              <a:t>Tactics, techniques, and procedures (TTPs)</a:t>
            </a:r>
            <a:endParaRPr b="0" i="0" sz="1800" u="none" cap="none" strike="noStrike">
              <a:solidFill>
                <a:schemeClr val="dk1"/>
              </a:solidFill>
              <a:latin typeface="Century Gothic"/>
              <a:ea typeface="Century Gothic"/>
              <a:cs typeface="Century Gothic"/>
              <a:sym typeface="Century Gothic"/>
            </a:endParaRPr>
          </a:p>
          <a:p>
            <a:pPr indent="-114300" lvl="1" marL="114300" marR="0" rtl="0" algn="l">
              <a:lnSpc>
                <a:spcPct val="75000"/>
              </a:lnSpc>
              <a:spcBef>
                <a:spcPts val="180"/>
              </a:spcBef>
              <a:spcAft>
                <a:spcPts val="0"/>
              </a:spcAft>
              <a:buClr>
                <a:schemeClr val="dk1"/>
              </a:buClr>
              <a:buSzPts val="1800"/>
              <a:buFont typeface="Century Gothic"/>
              <a:buChar char="•"/>
            </a:pPr>
            <a:r>
              <a:rPr b="0" i="0" lang="en-US" sz="1800" u="none" cap="none" strike="noStrike">
                <a:solidFill>
                  <a:schemeClr val="dk1"/>
                </a:solidFill>
                <a:latin typeface="Century Gothic"/>
                <a:ea typeface="Century Gothic"/>
                <a:cs typeface="Century Gothic"/>
                <a:sym typeface="Century Gothic"/>
              </a:rPr>
              <a:t>Security alerts</a:t>
            </a:r>
            <a:endParaRPr b="0" i="0" sz="1800" u="none" cap="none" strike="noStrike">
              <a:solidFill>
                <a:schemeClr val="dk1"/>
              </a:solidFill>
              <a:latin typeface="Century Gothic"/>
              <a:ea typeface="Century Gothic"/>
              <a:cs typeface="Century Gothic"/>
              <a:sym typeface="Century Gothic"/>
            </a:endParaRPr>
          </a:p>
          <a:p>
            <a:pPr indent="-114300" lvl="1" marL="114300" marR="0" rtl="0" algn="l">
              <a:lnSpc>
                <a:spcPct val="75000"/>
              </a:lnSpc>
              <a:spcBef>
                <a:spcPts val="180"/>
              </a:spcBef>
              <a:spcAft>
                <a:spcPts val="0"/>
              </a:spcAft>
              <a:buClr>
                <a:schemeClr val="dk1"/>
              </a:buClr>
              <a:buSzPts val="1800"/>
              <a:buFont typeface="Century Gothic"/>
              <a:buChar char="•"/>
            </a:pPr>
            <a:r>
              <a:rPr b="0" i="0" lang="en-US" sz="1800" u="none" cap="none" strike="noStrike">
                <a:solidFill>
                  <a:schemeClr val="dk1"/>
                </a:solidFill>
                <a:latin typeface="Century Gothic"/>
                <a:ea typeface="Century Gothic"/>
                <a:cs typeface="Century Gothic"/>
                <a:sym typeface="Century Gothic"/>
              </a:rPr>
              <a:t>Threat intelligence reports</a:t>
            </a:r>
            <a:endParaRPr b="0" i="0" sz="1800" u="none" cap="none" strike="noStrike">
              <a:solidFill>
                <a:schemeClr val="dk1"/>
              </a:solidFill>
              <a:latin typeface="Century Gothic"/>
              <a:ea typeface="Century Gothic"/>
              <a:cs typeface="Century Gothic"/>
              <a:sym typeface="Century Gothic"/>
            </a:endParaRPr>
          </a:p>
          <a:p>
            <a:pPr indent="-114300" lvl="1" marL="114300" marR="0" rtl="0" algn="l">
              <a:lnSpc>
                <a:spcPct val="75000"/>
              </a:lnSpc>
              <a:spcBef>
                <a:spcPts val="180"/>
              </a:spcBef>
              <a:spcAft>
                <a:spcPts val="0"/>
              </a:spcAft>
              <a:buClr>
                <a:schemeClr val="dk1"/>
              </a:buClr>
              <a:buSzPts val="1800"/>
              <a:buFont typeface="Century Gothic"/>
              <a:buChar char="•"/>
            </a:pPr>
            <a:r>
              <a:rPr b="0" i="0" lang="en-US" sz="1800" u="none" cap="none" strike="noStrike">
                <a:solidFill>
                  <a:schemeClr val="dk1"/>
                </a:solidFill>
                <a:latin typeface="Century Gothic"/>
                <a:ea typeface="Century Gothic"/>
                <a:cs typeface="Century Gothic"/>
                <a:sym typeface="Century Gothic"/>
              </a:rPr>
              <a:t>Tool configurations</a:t>
            </a:r>
            <a:endParaRPr b="0" i="0" sz="1800" u="none" cap="none" strike="noStrike">
              <a:solidFill>
                <a:schemeClr val="dk1"/>
              </a:solidFill>
              <a:latin typeface="Century Gothic"/>
              <a:ea typeface="Century Gothic"/>
              <a:cs typeface="Century Gothic"/>
              <a:sym typeface="Century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6"/>
          <p:cNvSpPr txBox="1"/>
          <p:nvPr>
            <p:ph idx="1" type="body"/>
          </p:nvPr>
        </p:nvSpPr>
        <p:spPr>
          <a:xfrm>
            <a:off x="838200" y="204716"/>
            <a:ext cx="10515600" cy="638715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560"/>
              <a:buChar char="►"/>
            </a:pPr>
            <a:r>
              <a:rPr lang="en-US" sz="3200"/>
              <a:t>Indicators</a:t>
            </a:r>
            <a:endParaRPr/>
          </a:p>
          <a:p>
            <a:pPr indent="-285750" lvl="1" marL="742950" rtl="0" algn="l">
              <a:spcBef>
                <a:spcPts val="1000"/>
              </a:spcBef>
              <a:spcAft>
                <a:spcPts val="0"/>
              </a:spcAft>
              <a:buSzPts val="1440"/>
              <a:buChar char="►"/>
            </a:pPr>
            <a:r>
              <a:rPr lang="en-US">
                <a:solidFill>
                  <a:srgbClr val="FF0000"/>
                </a:solidFill>
              </a:rPr>
              <a:t>Technical artifacts or observables1 that suggest an attack is imminent or is currently underway or that a compromise may have already occurred.</a:t>
            </a:r>
            <a:endParaRPr/>
          </a:p>
          <a:p>
            <a:pPr indent="-285750" lvl="1" marL="742950" rtl="0" algn="l">
              <a:spcBef>
                <a:spcPts val="1000"/>
              </a:spcBef>
              <a:spcAft>
                <a:spcPts val="0"/>
              </a:spcAft>
              <a:buSzPts val="1440"/>
              <a:buChar char="►"/>
            </a:pPr>
            <a:r>
              <a:rPr lang="en-US"/>
              <a:t>Indicators can be used to detect and defend against potential threats</a:t>
            </a:r>
            <a:endParaRPr/>
          </a:p>
          <a:p>
            <a:pPr indent="-285750" lvl="1" marL="742950" rtl="0" algn="l">
              <a:spcBef>
                <a:spcPts val="1000"/>
              </a:spcBef>
              <a:spcAft>
                <a:spcPts val="0"/>
              </a:spcAft>
              <a:buSzPts val="1440"/>
              <a:buChar char="►"/>
            </a:pPr>
            <a:r>
              <a:rPr lang="en-US"/>
              <a:t>Example: Internet Protocol (IP) address of a suspected command and control server, a suspicious Domain Name System (DNS) domain name</a:t>
            </a:r>
            <a:endParaRPr/>
          </a:p>
          <a:p>
            <a:pPr indent="-241300" lvl="0" marL="342900" rtl="0" algn="l">
              <a:spcBef>
                <a:spcPts val="1000"/>
              </a:spcBef>
              <a:spcAft>
                <a:spcPts val="0"/>
              </a:spcAft>
              <a:buSzPts val="1600"/>
              <a:buNone/>
            </a:pPr>
            <a:r>
              <a:t/>
            </a:r>
            <a:endParaRPr/>
          </a:p>
          <a:p>
            <a:pPr indent="-342900" lvl="0" marL="342900" rtl="0" algn="l">
              <a:spcBef>
                <a:spcPts val="1000"/>
              </a:spcBef>
              <a:spcAft>
                <a:spcPts val="0"/>
              </a:spcAft>
              <a:buSzPts val="2560"/>
              <a:buChar char="►"/>
            </a:pPr>
            <a:r>
              <a:rPr lang="en-US" sz="3200"/>
              <a:t>Tactics, techniques, and procedures (TTPs)</a:t>
            </a:r>
            <a:endParaRPr/>
          </a:p>
          <a:p>
            <a:pPr indent="-285750" lvl="1" marL="742950" rtl="0" algn="l">
              <a:spcBef>
                <a:spcPts val="1000"/>
              </a:spcBef>
              <a:spcAft>
                <a:spcPts val="0"/>
              </a:spcAft>
              <a:buSzPts val="1440"/>
              <a:buChar char="►"/>
            </a:pPr>
            <a:r>
              <a:rPr lang="en-US"/>
              <a:t>describe the behavior of an actor. </a:t>
            </a:r>
            <a:endParaRPr/>
          </a:p>
          <a:p>
            <a:pPr indent="-285750" lvl="1" marL="742950" rtl="0" algn="l">
              <a:spcBef>
                <a:spcPts val="1000"/>
              </a:spcBef>
              <a:spcAft>
                <a:spcPts val="0"/>
              </a:spcAft>
              <a:buSzPts val="1440"/>
              <a:buChar char="►"/>
            </a:pPr>
            <a:r>
              <a:rPr lang="en-US">
                <a:solidFill>
                  <a:srgbClr val="FF0000"/>
                </a:solidFill>
              </a:rPr>
              <a:t>Tactics are high-level descriptions of behavior, techniques are detailed descriptions of behavior in the context of a tactic, and procedures are even lower-level, highly detailed descriptions in the context of a technique</a:t>
            </a:r>
            <a:endParaRPr/>
          </a:p>
          <a:p>
            <a:pPr indent="-180340" lvl="0" marL="342900" rtl="0" algn="l">
              <a:spcBef>
                <a:spcPts val="1000"/>
              </a:spcBef>
              <a:spcAft>
                <a:spcPts val="0"/>
              </a:spcAft>
              <a:buSzPts val="2560"/>
              <a:buNone/>
            </a:pPr>
            <a:r>
              <a:t/>
            </a:r>
            <a:endParaRPr sz="3200"/>
          </a:p>
          <a:p>
            <a:pPr indent="-241300" lvl="0" marL="342900" rtl="0" algn="l">
              <a:spcBef>
                <a:spcPts val="1000"/>
              </a:spcBef>
              <a:spcAft>
                <a:spcPts val="0"/>
              </a:spcAft>
              <a:buSzPts val="1600"/>
              <a:buNone/>
            </a:pPr>
            <a:r>
              <a:t/>
            </a:r>
            <a:endParaRPr/>
          </a:p>
          <a:p>
            <a:pPr indent="-241300" lvl="0" marL="342900" rtl="0" algn="l">
              <a:spcBef>
                <a:spcPts val="1000"/>
              </a:spcBef>
              <a:spcAft>
                <a:spcPts val="0"/>
              </a:spcAft>
              <a:buSzPts val="1600"/>
              <a:buNone/>
            </a:pPr>
            <a:r>
              <a:t/>
            </a:r>
            <a:endParaRPr/>
          </a:p>
          <a:p>
            <a:pPr indent="-241300" lvl="0" marL="342900" rtl="0" algn="l">
              <a:spcBef>
                <a:spcPts val="1000"/>
              </a:spcBef>
              <a:spcAft>
                <a:spcPts val="0"/>
              </a:spcAft>
              <a:buSzPts val="16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7"/>
          <p:cNvSpPr txBox="1"/>
          <p:nvPr>
            <p:ph idx="1" type="body"/>
          </p:nvPr>
        </p:nvSpPr>
        <p:spPr>
          <a:xfrm>
            <a:off x="797257" y="1405719"/>
            <a:ext cx="10515600" cy="5972247"/>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560"/>
              <a:buChar char="►"/>
            </a:pPr>
            <a:r>
              <a:rPr lang="en-US" sz="3200"/>
              <a:t>Security alerts</a:t>
            </a:r>
            <a:endParaRPr/>
          </a:p>
          <a:p>
            <a:pPr indent="-285750" lvl="1" marL="742950" rtl="0" algn="l">
              <a:spcBef>
                <a:spcPts val="1000"/>
              </a:spcBef>
              <a:spcAft>
                <a:spcPts val="0"/>
              </a:spcAft>
              <a:buSzPts val="1440"/>
              <a:buChar char="►"/>
            </a:pPr>
            <a:r>
              <a:rPr lang="en-US"/>
              <a:t>also known as </a:t>
            </a:r>
            <a:r>
              <a:rPr lang="en-US">
                <a:solidFill>
                  <a:srgbClr val="FF0000"/>
                </a:solidFill>
              </a:rPr>
              <a:t>advisories, bulletins, and vulnerability notes</a:t>
            </a:r>
            <a:r>
              <a:rPr lang="en-US"/>
              <a:t>, </a:t>
            </a:r>
            <a:r>
              <a:rPr lang="en-US">
                <a:solidFill>
                  <a:srgbClr val="FF0000"/>
                </a:solidFill>
              </a:rPr>
              <a:t>usually human readable, technical notifications regarding current vulnerabilities, exploits, and other security issues. </a:t>
            </a:r>
            <a:endParaRPr/>
          </a:p>
          <a:p>
            <a:pPr indent="-285750" lvl="1" marL="742950" rtl="0" algn="l">
              <a:spcBef>
                <a:spcPts val="1000"/>
              </a:spcBef>
              <a:spcAft>
                <a:spcPts val="0"/>
              </a:spcAft>
              <a:buSzPts val="1440"/>
              <a:buChar char="►"/>
            </a:pPr>
            <a:r>
              <a:rPr lang="en-US"/>
              <a:t>Security alerts originate from sources such as the United States Computer Emergency Readiness Team (US-CERT), Information Sharing and Analysis Centers (ISACs), the National Vulnerability Database (NVD), Product Security Incident Response Teams (PSIRTs), commercial security service providers, and security researchers.</a:t>
            </a:r>
            <a:endParaRPr/>
          </a:p>
          <a:p>
            <a:pPr indent="-342900" lvl="0" marL="342900" rtl="0" algn="l">
              <a:spcBef>
                <a:spcPts val="1000"/>
              </a:spcBef>
              <a:spcAft>
                <a:spcPts val="0"/>
              </a:spcAft>
              <a:buSzPts val="2560"/>
              <a:buChar char="►"/>
            </a:pPr>
            <a:r>
              <a:rPr lang="en-US" sz="3200"/>
              <a:t>Threat intelligence reports</a:t>
            </a:r>
            <a:endParaRPr/>
          </a:p>
          <a:p>
            <a:pPr indent="-285750" lvl="1" marL="742950" rtl="0" algn="l">
              <a:spcBef>
                <a:spcPts val="1000"/>
              </a:spcBef>
              <a:spcAft>
                <a:spcPts val="0"/>
              </a:spcAft>
              <a:buSzPts val="1440"/>
              <a:buChar char="►"/>
            </a:pPr>
            <a:r>
              <a:rPr lang="en-US">
                <a:solidFill>
                  <a:srgbClr val="FF0000"/>
                </a:solidFill>
              </a:rPr>
              <a:t>prose documents that describe TTPs, actors, types of systems and information being targeted, and other threat-related information </a:t>
            </a:r>
            <a:r>
              <a:rPr lang="en-US"/>
              <a:t>that provides greater situational awareness to an organization.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8"/>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4200"/>
              <a:buFont typeface="Century Gothic"/>
              <a:buNone/>
            </a:pPr>
            <a:r>
              <a:t/>
            </a:r>
            <a:endParaRPr/>
          </a:p>
        </p:txBody>
      </p:sp>
      <p:sp>
        <p:nvSpPr>
          <p:cNvPr id="188" name="Google Shape;188;p8"/>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Tool configurations</a:t>
            </a:r>
            <a:endParaRPr/>
          </a:p>
          <a:p>
            <a:pPr indent="-285750" lvl="1" marL="742950" rtl="0" algn="l">
              <a:spcBef>
                <a:spcPts val="1000"/>
              </a:spcBef>
              <a:spcAft>
                <a:spcPts val="0"/>
              </a:spcAft>
              <a:buSzPts val="1440"/>
              <a:buChar char="►"/>
            </a:pPr>
            <a:r>
              <a:rPr lang="en-US">
                <a:solidFill>
                  <a:srgbClr val="FF0000"/>
                </a:solidFill>
              </a:rPr>
              <a:t>are recommendations for setting up and using tools (mechanisms) that support the</a:t>
            </a:r>
            <a:r>
              <a:rPr lang="en-US"/>
              <a:t> </a:t>
            </a:r>
            <a:r>
              <a:rPr lang="en-US">
                <a:solidFill>
                  <a:srgbClr val="FF0000"/>
                </a:solidFill>
              </a:rPr>
              <a:t>automated collection, exchange, processing, analysis, and use of threat information</a:t>
            </a:r>
            <a:endParaRPr/>
          </a:p>
          <a:p>
            <a:pPr indent="-285750" lvl="1" marL="742950" rtl="0" algn="l">
              <a:spcBef>
                <a:spcPts val="1000"/>
              </a:spcBef>
              <a:spcAft>
                <a:spcPts val="0"/>
              </a:spcAft>
              <a:buSzPts val="1440"/>
              <a:buChar char="►"/>
            </a:pPr>
            <a:r>
              <a:rPr lang="en-US"/>
              <a:t>For example: tool configuration information could consist of instructions on how to install and use a rootkit detection and removal utility, or how to create and customize intrusion detection signatures, router access control lists (ACLs), firewall rules, or web filter configuration files.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9"/>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2"/>
              </a:buClr>
              <a:buSzPct val="100000"/>
              <a:buFont typeface="Century Gothic"/>
              <a:buNone/>
            </a:pPr>
            <a:r>
              <a:rPr lang="en-US"/>
              <a:t>An Introduction to Threat Intelligence and Cross-Organizational Information Sharing </a:t>
            </a:r>
            <a:endParaRPr/>
          </a:p>
        </p:txBody>
      </p:sp>
      <p:sp>
        <p:nvSpPr>
          <p:cNvPr id="194" name="Google Shape;194;p9"/>
          <p:cNvSpPr txBox="1"/>
          <p:nvPr>
            <p:ph idx="1" type="body"/>
          </p:nvPr>
        </p:nvSpPr>
        <p:spPr>
          <a:xfrm>
            <a:off x="756314" y="2506662"/>
            <a:ext cx="10515600" cy="4351338"/>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Many organizations already produce and share threat information internally. </a:t>
            </a:r>
            <a:endParaRPr/>
          </a:p>
          <a:p>
            <a:pPr indent="-342900" lvl="0" marL="342900" rtl="0" algn="l">
              <a:spcBef>
                <a:spcPts val="1000"/>
              </a:spcBef>
              <a:spcAft>
                <a:spcPts val="0"/>
              </a:spcAft>
              <a:buSzPts val="1600"/>
              <a:buChar char="►"/>
            </a:pPr>
            <a:r>
              <a:rPr lang="en-US"/>
              <a:t>For example, an organization’s security team may identify malicious files on a compromised system when responding to an incident and produce an associated set of indicators (e.g., file names, sizes, hash values). </a:t>
            </a:r>
            <a:endParaRPr/>
          </a:p>
          <a:p>
            <a:pPr indent="-342900" lvl="0" marL="342900" rtl="0" algn="l">
              <a:spcBef>
                <a:spcPts val="1000"/>
              </a:spcBef>
              <a:spcAft>
                <a:spcPts val="0"/>
              </a:spcAft>
              <a:buSzPts val="1600"/>
              <a:buChar char="►"/>
            </a:pPr>
            <a:r>
              <a:rPr lang="en-US"/>
              <a:t>These indicators might then be shared with system administrators who configure security tools, such as host based intrusion detection systems, to detect the presence of these indicators on other systems. </a:t>
            </a:r>
            <a:endParaRPr/>
          </a:p>
          <a:p>
            <a:pPr indent="-342900" lvl="0" marL="342900" rtl="0" algn="l">
              <a:spcBef>
                <a:spcPts val="1000"/>
              </a:spcBef>
              <a:spcAft>
                <a:spcPts val="0"/>
              </a:spcAft>
              <a:buSzPts val="1600"/>
              <a:buChar char="►"/>
            </a:pPr>
            <a:r>
              <a:rPr lang="en-US"/>
              <a:t>Likewise, the security team may launch an email security awareness initiative in response to an observed rise in phishing attacks within the organization. </a:t>
            </a:r>
            <a:endParaRPr/>
          </a:p>
          <a:p>
            <a:pPr indent="-342900" lvl="0" marL="342900" rtl="0" algn="l">
              <a:spcBef>
                <a:spcPts val="1000"/>
              </a:spcBef>
              <a:spcAft>
                <a:spcPts val="0"/>
              </a:spcAft>
              <a:buSzPts val="1600"/>
              <a:buChar char="►"/>
            </a:pPr>
            <a:r>
              <a:rPr lang="en-US"/>
              <a:t>These practices demonstrate information sharing within an organization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0"/>
          <p:cNvSpPr txBox="1"/>
          <p:nvPr>
            <p:ph type="title"/>
          </p:nvPr>
        </p:nvSpPr>
        <p:spPr>
          <a:xfrm>
            <a:off x="715371" y="0"/>
            <a:ext cx="10515600" cy="13255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4200"/>
              <a:buFont typeface="Century Gothic"/>
              <a:buNone/>
            </a:pPr>
            <a:r>
              <a:rPr lang="en-US"/>
              <a:t>Threat Information Sharing</a:t>
            </a:r>
            <a:endParaRPr/>
          </a:p>
        </p:txBody>
      </p:sp>
      <p:sp>
        <p:nvSpPr>
          <p:cNvPr id="200" name="Google Shape;200;p10"/>
          <p:cNvSpPr txBox="1"/>
          <p:nvPr>
            <p:ph idx="1" type="body"/>
          </p:nvPr>
        </p:nvSpPr>
        <p:spPr>
          <a:xfrm>
            <a:off x="524302" y="1325563"/>
            <a:ext cx="10706669" cy="2814614"/>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solidFill>
                  <a:srgbClr val="FF0000"/>
                </a:solidFill>
              </a:rPr>
              <a:t>Provides access to threat information</a:t>
            </a:r>
            <a:r>
              <a:rPr lang="en-US"/>
              <a:t> that might otherwise be unavailable to an organization. </a:t>
            </a:r>
            <a:endParaRPr/>
          </a:p>
          <a:p>
            <a:pPr indent="-342900" lvl="0" marL="342900" rtl="0" algn="l">
              <a:spcBef>
                <a:spcPts val="1000"/>
              </a:spcBef>
              <a:spcAft>
                <a:spcPts val="0"/>
              </a:spcAft>
              <a:buSzPts val="1600"/>
              <a:buChar char="►"/>
            </a:pPr>
            <a:r>
              <a:rPr lang="en-US">
                <a:solidFill>
                  <a:srgbClr val="FF0000"/>
                </a:solidFill>
              </a:rPr>
              <a:t>Organizations can enhance their security posture by leveraging the knowledge, experience, and capabilities of their partners in a proactive way. </a:t>
            </a:r>
            <a:endParaRPr>
              <a:solidFill>
                <a:srgbClr val="FF0000"/>
              </a:solidFill>
            </a:endParaRPr>
          </a:p>
          <a:p>
            <a:pPr indent="-342900" lvl="0" marL="342900" rtl="0" algn="l">
              <a:spcBef>
                <a:spcPts val="1000"/>
              </a:spcBef>
              <a:spcAft>
                <a:spcPts val="0"/>
              </a:spcAft>
              <a:buSzPts val="1600"/>
              <a:buChar char="►"/>
            </a:pPr>
            <a:r>
              <a:rPr lang="en-US"/>
              <a:t>Allowing </a:t>
            </a:r>
            <a:r>
              <a:rPr lang="en-US">
                <a:solidFill>
                  <a:srgbClr val="FF0000"/>
                </a:solidFill>
              </a:rPr>
              <a:t>“one organization’s detection to become another’s prevention”</a:t>
            </a:r>
            <a:r>
              <a:rPr lang="en-US"/>
              <a:t> is a powerful paradigm that can advance the overall security of organizations that actively share threat information.</a:t>
            </a:r>
            <a:endParaRPr/>
          </a:p>
        </p:txBody>
      </p:sp>
      <p:pic>
        <p:nvPicPr>
          <p:cNvPr id="201" name="Google Shape;201;p10"/>
          <p:cNvPicPr preferRelativeResize="0"/>
          <p:nvPr/>
        </p:nvPicPr>
        <p:blipFill rotWithShape="1">
          <a:blip r:embed="rId3">
            <a:alphaModFix/>
          </a:blip>
          <a:srcRect b="0" l="0" r="0" t="0"/>
          <a:stretch/>
        </p:blipFill>
        <p:spPr>
          <a:xfrm>
            <a:off x="6687402" y="3899420"/>
            <a:ext cx="4981433" cy="259483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1"/>
          <p:cNvSpPr txBox="1"/>
          <p:nvPr>
            <p:ph idx="1" type="body"/>
          </p:nvPr>
        </p:nvSpPr>
        <p:spPr>
          <a:xfrm>
            <a:off x="838201" y="1293362"/>
            <a:ext cx="10515600" cy="625385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An organization can use shared threat information in many ways. </a:t>
            </a:r>
            <a:endParaRPr/>
          </a:p>
          <a:p>
            <a:pPr indent="-342900" lvl="0" marL="342900" rtl="0" algn="l">
              <a:spcBef>
                <a:spcPts val="1000"/>
              </a:spcBef>
              <a:spcAft>
                <a:spcPts val="0"/>
              </a:spcAft>
              <a:buSzPts val="1600"/>
              <a:buChar char="►"/>
            </a:pPr>
            <a:r>
              <a:rPr lang="en-US"/>
              <a:t>Some uses are </a:t>
            </a:r>
            <a:r>
              <a:rPr b="1" i="1" lang="en-US">
                <a:solidFill>
                  <a:srgbClr val="FF0000"/>
                </a:solidFill>
              </a:rPr>
              <a:t>operationally</a:t>
            </a:r>
            <a:r>
              <a:rPr lang="en-US"/>
              <a:t> oriented, such as </a:t>
            </a:r>
            <a:r>
              <a:rPr lang="en-US">
                <a:solidFill>
                  <a:srgbClr val="FF0000"/>
                </a:solidFill>
              </a:rPr>
              <a:t>updating enterprise security controls for continuous monitoring with new indicators and configurations to detect the latest attacks and compromises.</a:t>
            </a:r>
            <a:endParaRPr/>
          </a:p>
          <a:p>
            <a:pPr indent="-342900" lvl="0" marL="342900" rtl="0" algn="l">
              <a:spcBef>
                <a:spcPts val="1000"/>
              </a:spcBef>
              <a:spcAft>
                <a:spcPts val="0"/>
              </a:spcAft>
              <a:buSzPts val="1600"/>
              <a:buChar char="►"/>
            </a:pPr>
            <a:r>
              <a:rPr lang="en-US"/>
              <a:t> Threat information may also be used </a:t>
            </a:r>
            <a:r>
              <a:rPr b="1" i="1" lang="en-US">
                <a:solidFill>
                  <a:srgbClr val="FF0000"/>
                </a:solidFill>
              </a:rPr>
              <a:t>strategically</a:t>
            </a:r>
            <a:r>
              <a:rPr lang="en-US"/>
              <a:t>, such as </a:t>
            </a:r>
            <a:r>
              <a:rPr lang="en-US">
                <a:solidFill>
                  <a:srgbClr val="FF0000"/>
                </a:solidFill>
              </a:rPr>
              <a:t>using shared threat information as inputs when planning major changes to an organization’s security architecture.</a:t>
            </a:r>
            <a:endParaRPr/>
          </a:p>
          <a:p>
            <a:pPr indent="-342900" lvl="0" marL="342900" rtl="0" algn="l">
              <a:spcBef>
                <a:spcPts val="1000"/>
              </a:spcBef>
              <a:spcAft>
                <a:spcPts val="0"/>
              </a:spcAft>
              <a:buSzPts val="1600"/>
              <a:buChar char="►"/>
            </a:pPr>
            <a:r>
              <a:rPr lang="en-US">
                <a:solidFill>
                  <a:srgbClr val="FF0000"/>
                </a:solidFill>
              </a:rPr>
              <a:t>Threat information exchanged </a:t>
            </a:r>
            <a:r>
              <a:rPr lang="en-US"/>
              <a:t>within communities organized around specific industries or sectors  can be particularly </a:t>
            </a:r>
            <a:r>
              <a:rPr lang="en-US">
                <a:solidFill>
                  <a:srgbClr val="FF0000"/>
                </a:solidFill>
              </a:rPr>
              <a:t>beneficial</a:t>
            </a:r>
            <a:r>
              <a:rPr lang="en-US"/>
              <a:t> because the member </a:t>
            </a:r>
            <a:r>
              <a:rPr lang="en-US">
                <a:solidFill>
                  <a:srgbClr val="FF0000"/>
                </a:solidFill>
              </a:rPr>
              <a:t>organizations often face actors that use common TTPs that target the same types of systems and information. </a:t>
            </a:r>
            <a:endParaRPr>
              <a:solidFill>
                <a:srgbClr val="FF0000"/>
              </a:solidFill>
            </a:endParaRPr>
          </a:p>
          <a:p>
            <a:pPr indent="-342900" lvl="0" marL="342900" rtl="0" algn="l">
              <a:spcBef>
                <a:spcPts val="1000"/>
              </a:spcBef>
              <a:spcAft>
                <a:spcPts val="0"/>
              </a:spcAft>
              <a:buSzPts val="1600"/>
              <a:buChar char="►"/>
            </a:pPr>
            <a:r>
              <a:rPr lang="en-US">
                <a:solidFill>
                  <a:srgbClr val="FF0000"/>
                </a:solidFill>
              </a:rPr>
              <a:t>Cyber defense is most effective when organizations work together to detect and defend against well-organized, capable actors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2"/>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4200"/>
              <a:buFont typeface="Century Gothic"/>
              <a:buNone/>
            </a:pPr>
            <a:r>
              <a:rPr lang="en-US"/>
              <a:t>Benefits of Threat information sharing</a:t>
            </a:r>
            <a:endParaRPr/>
          </a:p>
        </p:txBody>
      </p:sp>
      <p:sp>
        <p:nvSpPr>
          <p:cNvPr id="212" name="Google Shape;212;p12"/>
          <p:cNvSpPr/>
          <p:nvPr/>
        </p:nvSpPr>
        <p:spPr>
          <a:xfrm>
            <a:off x="1648275" y="2052638"/>
            <a:ext cx="7857225" cy="942867"/>
          </a:xfrm>
          <a:prstGeom prst="roundRect">
            <a:avLst>
              <a:gd fmla="val 16667" name="adj"/>
            </a:avLst>
          </a:prstGeom>
          <a:solidFill>
            <a:schemeClr val="accent1"/>
          </a:solidFill>
          <a:ln cap="rnd"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0" i="0" lang="en-US" sz="1800" u="none" cap="none" strike="noStrike">
                <a:solidFill>
                  <a:schemeClr val="lt1"/>
                </a:solidFill>
                <a:latin typeface="Century Gothic"/>
                <a:ea typeface="Century Gothic"/>
                <a:cs typeface="Century Gothic"/>
                <a:sym typeface="Century Gothic"/>
              </a:rPr>
              <a:t>Shared Situational Awareness</a:t>
            </a:r>
            <a:endParaRPr b="0" i="0" sz="1800" u="none" cap="none" strike="noStrike">
              <a:solidFill>
                <a:schemeClr val="lt1"/>
              </a:solidFill>
              <a:latin typeface="Century Gothic"/>
              <a:ea typeface="Century Gothic"/>
              <a:cs typeface="Century Gothic"/>
              <a:sym typeface="Century Gothic"/>
            </a:endParaRPr>
          </a:p>
        </p:txBody>
      </p:sp>
      <p:sp>
        <p:nvSpPr>
          <p:cNvPr id="213" name="Google Shape;213;p12"/>
          <p:cNvSpPr/>
          <p:nvPr/>
        </p:nvSpPr>
        <p:spPr>
          <a:xfrm>
            <a:off x="1648275" y="3136935"/>
            <a:ext cx="7857225" cy="942867"/>
          </a:xfrm>
          <a:prstGeom prst="roundRect">
            <a:avLst>
              <a:gd fmla="val 16667" name="adj"/>
            </a:avLst>
          </a:prstGeom>
          <a:solidFill>
            <a:schemeClr val="accent1"/>
          </a:solidFill>
          <a:ln cap="rnd"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0" i="0" lang="en-US" sz="1800" u="none" cap="none" strike="noStrike">
                <a:solidFill>
                  <a:schemeClr val="lt1"/>
                </a:solidFill>
                <a:latin typeface="Century Gothic"/>
                <a:ea typeface="Century Gothic"/>
                <a:cs typeface="Century Gothic"/>
                <a:sym typeface="Century Gothic"/>
              </a:rPr>
              <a:t>Improved Security Posture</a:t>
            </a:r>
            <a:endParaRPr b="0" i="0" sz="1800" u="none" cap="none" strike="noStrike">
              <a:solidFill>
                <a:schemeClr val="lt1"/>
              </a:solidFill>
              <a:latin typeface="Century Gothic"/>
              <a:ea typeface="Century Gothic"/>
              <a:cs typeface="Century Gothic"/>
              <a:sym typeface="Century Gothic"/>
            </a:endParaRPr>
          </a:p>
        </p:txBody>
      </p:sp>
      <p:sp>
        <p:nvSpPr>
          <p:cNvPr id="214" name="Google Shape;214;p12"/>
          <p:cNvSpPr/>
          <p:nvPr/>
        </p:nvSpPr>
        <p:spPr>
          <a:xfrm>
            <a:off x="1648275" y="4221232"/>
            <a:ext cx="7857225" cy="942867"/>
          </a:xfrm>
          <a:prstGeom prst="roundRect">
            <a:avLst>
              <a:gd fmla="val 16667" name="adj"/>
            </a:avLst>
          </a:prstGeom>
          <a:solidFill>
            <a:schemeClr val="accent1"/>
          </a:solidFill>
          <a:ln cap="rnd"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0" i="0" lang="en-US" sz="1800" u="none" cap="none" strike="noStrike">
                <a:solidFill>
                  <a:schemeClr val="lt1"/>
                </a:solidFill>
                <a:latin typeface="Century Gothic"/>
                <a:ea typeface="Century Gothic"/>
                <a:cs typeface="Century Gothic"/>
                <a:sym typeface="Century Gothic"/>
              </a:rPr>
              <a:t>Knowledge Maturation.</a:t>
            </a:r>
            <a:endParaRPr b="0" i="0" sz="1800" u="none" cap="none" strike="noStrike">
              <a:solidFill>
                <a:schemeClr val="lt1"/>
              </a:solidFill>
              <a:latin typeface="Century Gothic"/>
              <a:ea typeface="Century Gothic"/>
              <a:cs typeface="Century Gothic"/>
              <a:sym typeface="Century Gothic"/>
            </a:endParaRPr>
          </a:p>
        </p:txBody>
      </p:sp>
      <p:sp>
        <p:nvSpPr>
          <p:cNvPr id="215" name="Google Shape;215;p12"/>
          <p:cNvSpPr/>
          <p:nvPr/>
        </p:nvSpPr>
        <p:spPr>
          <a:xfrm>
            <a:off x="1648275" y="5305529"/>
            <a:ext cx="7857225" cy="942867"/>
          </a:xfrm>
          <a:prstGeom prst="roundRect">
            <a:avLst>
              <a:gd fmla="val 16667" name="adj"/>
            </a:avLst>
          </a:prstGeom>
          <a:solidFill>
            <a:schemeClr val="accent1"/>
          </a:solidFill>
          <a:ln cap="rnd"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0" i="0" lang="en-US" sz="1800" u="none" cap="none" strike="noStrike">
                <a:solidFill>
                  <a:schemeClr val="lt1"/>
                </a:solidFill>
                <a:latin typeface="Century Gothic"/>
                <a:ea typeface="Century Gothic"/>
                <a:cs typeface="Century Gothic"/>
                <a:sym typeface="Century Gothic"/>
              </a:rPr>
              <a:t>Greater Defensive Agility</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3"/>
          <p:cNvSpPr txBox="1"/>
          <p:nvPr>
            <p:ph idx="1" type="body"/>
          </p:nvPr>
        </p:nvSpPr>
        <p:spPr>
          <a:xfrm>
            <a:off x="838199" y="1378424"/>
            <a:ext cx="10515600" cy="593130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Char char="►"/>
            </a:pPr>
            <a:r>
              <a:rPr lang="en-US" sz="2400"/>
              <a:t>Shared Situational Awareness</a:t>
            </a:r>
            <a:endParaRPr/>
          </a:p>
          <a:p>
            <a:pPr indent="-285750" lvl="1" marL="742950" rtl="0" algn="l">
              <a:spcBef>
                <a:spcPts val="1000"/>
              </a:spcBef>
              <a:spcAft>
                <a:spcPts val="0"/>
              </a:spcAft>
              <a:buSzPts val="1600"/>
              <a:buChar char="►"/>
            </a:pPr>
            <a:r>
              <a:rPr lang="en-US" sz="2000">
                <a:solidFill>
                  <a:srgbClr val="FF0000"/>
                </a:solidFill>
              </a:rPr>
              <a:t>Enables organizations to leverage the collective knowledge, experience, and analytic capabilities of their sharing partners within a community of interest, </a:t>
            </a:r>
            <a:r>
              <a:rPr lang="en-US" sz="2000"/>
              <a:t>thereby enhancing the defensive capabilities of multiple organizations.</a:t>
            </a:r>
            <a:endParaRPr/>
          </a:p>
          <a:p>
            <a:pPr indent="-342900" lvl="0" marL="342900" rtl="0" algn="l">
              <a:spcBef>
                <a:spcPts val="1000"/>
              </a:spcBef>
              <a:spcAft>
                <a:spcPts val="0"/>
              </a:spcAft>
              <a:buSzPts val="1920"/>
              <a:buChar char="►"/>
            </a:pPr>
            <a:r>
              <a:rPr lang="en-US" sz="2400"/>
              <a:t>Improved Security Posture</a:t>
            </a:r>
            <a:endParaRPr/>
          </a:p>
          <a:p>
            <a:pPr indent="-285750" lvl="1" marL="742950" rtl="0" algn="l">
              <a:spcBef>
                <a:spcPts val="1000"/>
              </a:spcBef>
              <a:spcAft>
                <a:spcPts val="0"/>
              </a:spcAft>
              <a:buSzPts val="1600"/>
              <a:buChar char="►"/>
            </a:pPr>
            <a:r>
              <a:rPr lang="en-US" sz="2000"/>
              <a:t>By developing and sharing threat information, </a:t>
            </a:r>
            <a:r>
              <a:rPr lang="en-US" sz="2000">
                <a:solidFill>
                  <a:srgbClr val="FF0000"/>
                </a:solidFill>
              </a:rPr>
              <a:t>organizations gain a better understanding of the threat environment and can use threat information to inform their cyber security and risk management practices.</a:t>
            </a:r>
            <a:r>
              <a:rPr lang="en-US" sz="2000"/>
              <a:t> </a:t>
            </a:r>
            <a:endParaRPr sz="2000"/>
          </a:p>
          <a:p>
            <a:pPr indent="-285750" lvl="1" marL="742950" rtl="0" algn="l">
              <a:spcBef>
                <a:spcPts val="1000"/>
              </a:spcBef>
              <a:spcAft>
                <a:spcPts val="0"/>
              </a:spcAft>
              <a:buSzPts val="1600"/>
              <a:buChar char="►"/>
            </a:pPr>
            <a:r>
              <a:rPr lang="en-US" sz="2000"/>
              <a:t>Using shared information, </a:t>
            </a:r>
            <a:r>
              <a:rPr lang="en-US" sz="2000">
                <a:solidFill>
                  <a:srgbClr val="FF0000"/>
                </a:solidFill>
              </a:rPr>
              <a:t>organizations can identify affected platforms or systems, implement protective measures, enhance detection capabilities, and more effectively respond and recover from incidents based on observed changes in the threat environment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4"/>
          <p:cNvSpPr txBox="1"/>
          <p:nvPr>
            <p:ph idx="1" type="body"/>
          </p:nvPr>
        </p:nvSpPr>
        <p:spPr>
          <a:xfrm>
            <a:off x="715370" y="1378423"/>
            <a:ext cx="10515600" cy="5076968"/>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20"/>
              <a:buChar char="►"/>
            </a:pPr>
            <a:r>
              <a:rPr lang="en-US" sz="2400"/>
              <a:t>Knowledge Maturation</a:t>
            </a:r>
            <a:endParaRPr/>
          </a:p>
          <a:p>
            <a:pPr indent="-285750" lvl="1" marL="742950" rtl="0" algn="l">
              <a:spcBef>
                <a:spcPts val="1000"/>
              </a:spcBef>
              <a:spcAft>
                <a:spcPts val="0"/>
              </a:spcAft>
              <a:buSzPts val="1600"/>
              <a:buChar char="►"/>
            </a:pPr>
            <a:r>
              <a:rPr lang="en-US" sz="2000"/>
              <a:t>When </a:t>
            </a:r>
            <a:r>
              <a:rPr lang="en-US" sz="2000">
                <a:solidFill>
                  <a:srgbClr val="FF0000"/>
                </a:solidFill>
              </a:rPr>
              <a:t>seemingly unrelated observations are shared and analyzed by organizations, those observations can be correlated with data collected by others. </a:t>
            </a:r>
            <a:r>
              <a:rPr lang="en-US" sz="2000"/>
              <a:t>This enrichment process </a:t>
            </a:r>
            <a:r>
              <a:rPr lang="en-US" sz="2000">
                <a:solidFill>
                  <a:srgbClr val="FF0000"/>
                </a:solidFill>
              </a:rPr>
              <a:t>increases the value of information by enhancing existing indicators and by developing knowledge of actor TTPs </a:t>
            </a:r>
            <a:r>
              <a:rPr lang="en-US" sz="2000"/>
              <a:t>that are associated with a specific incident, threat, or threat campaign.</a:t>
            </a:r>
            <a:endParaRPr/>
          </a:p>
          <a:p>
            <a:pPr indent="-342900" lvl="0" marL="342900" rtl="0" algn="l">
              <a:spcBef>
                <a:spcPts val="1000"/>
              </a:spcBef>
              <a:spcAft>
                <a:spcPts val="0"/>
              </a:spcAft>
              <a:buSzPts val="1920"/>
              <a:buChar char="►"/>
            </a:pPr>
            <a:r>
              <a:rPr lang="en-US" sz="2400"/>
              <a:t>Greater Defensive Agility</a:t>
            </a:r>
            <a:endParaRPr/>
          </a:p>
          <a:p>
            <a:pPr indent="-285750" lvl="1" marL="742950" rtl="0" algn="l">
              <a:spcBef>
                <a:spcPts val="1000"/>
              </a:spcBef>
              <a:spcAft>
                <a:spcPts val="0"/>
              </a:spcAft>
              <a:buSzPts val="1600"/>
              <a:buChar char="►"/>
            </a:pPr>
            <a:r>
              <a:rPr lang="en-US" sz="2000"/>
              <a:t>Actors continually adapt their TTPs to try to evade detection, circumvent security controls, and exploit new vulnerabilities. </a:t>
            </a:r>
            <a:endParaRPr sz="2000"/>
          </a:p>
          <a:p>
            <a:pPr indent="-285750" lvl="1" marL="742950" rtl="0" algn="l">
              <a:spcBef>
                <a:spcPts val="1000"/>
              </a:spcBef>
              <a:spcAft>
                <a:spcPts val="0"/>
              </a:spcAft>
              <a:buSzPts val="1600"/>
              <a:buChar char="►"/>
            </a:pPr>
            <a:r>
              <a:rPr lang="en-US" sz="2000">
                <a:solidFill>
                  <a:srgbClr val="FF0000"/>
                </a:solidFill>
              </a:rPr>
              <a:t>Organizations that share information are often better informed about changing TTPs and the need to rapidly detect and respond to threats.</a:t>
            </a:r>
            <a:endParaRPr/>
          </a:p>
          <a:p>
            <a:pPr indent="-285750" lvl="1" marL="742950" rtl="0" algn="l">
              <a:spcBef>
                <a:spcPts val="1000"/>
              </a:spcBef>
              <a:spcAft>
                <a:spcPts val="0"/>
              </a:spcAft>
              <a:buSzPts val="1600"/>
              <a:buChar char="►"/>
            </a:pPr>
            <a:r>
              <a:rPr lang="en-US" sz="2000">
                <a:solidFill>
                  <a:srgbClr val="FF0000"/>
                </a:solidFill>
              </a:rPr>
              <a:t>This awareness helps increase their operational tempo and reduce the probability of successful attack.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5"/>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4200"/>
              <a:buFont typeface="Century Gothic"/>
              <a:buNone/>
            </a:pPr>
            <a:r>
              <a:rPr lang="en-US"/>
              <a:t>Challenges of Threat Information Sharing</a:t>
            </a:r>
            <a:endParaRPr/>
          </a:p>
        </p:txBody>
      </p:sp>
      <p:sp>
        <p:nvSpPr>
          <p:cNvPr id="231" name="Google Shape;231;p15"/>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560"/>
              <a:buNone/>
            </a:pPr>
            <a:r>
              <a:rPr lang="en-US" sz="3200"/>
              <a:t>Challenges that apply both to consuming and to producing threat information are</a:t>
            </a:r>
            <a:r>
              <a:rPr lang="en-US"/>
              <a:t>:</a:t>
            </a:r>
            <a:endParaRPr/>
          </a:p>
          <a:p>
            <a:pPr indent="-342900" lvl="0" marL="342900" rtl="0" algn="l">
              <a:spcBef>
                <a:spcPts val="1000"/>
              </a:spcBef>
              <a:spcAft>
                <a:spcPts val="0"/>
              </a:spcAft>
              <a:buSzPts val="1600"/>
              <a:buChar char="►"/>
            </a:pPr>
            <a:r>
              <a:rPr lang="en-US"/>
              <a:t>Establishing Trust</a:t>
            </a:r>
            <a:endParaRPr/>
          </a:p>
          <a:p>
            <a:pPr indent="-342900" lvl="0" marL="342900" rtl="0" algn="l">
              <a:spcBef>
                <a:spcPts val="1000"/>
              </a:spcBef>
              <a:spcAft>
                <a:spcPts val="0"/>
              </a:spcAft>
              <a:buSzPts val="1600"/>
              <a:buChar char="►"/>
            </a:pPr>
            <a:r>
              <a:rPr lang="en-US"/>
              <a:t>Achieving Interoperability and Automation</a:t>
            </a:r>
            <a:endParaRPr/>
          </a:p>
          <a:p>
            <a:pPr indent="-342900" lvl="0" marL="342900" rtl="0" algn="l">
              <a:spcBef>
                <a:spcPts val="1000"/>
              </a:spcBef>
              <a:spcAft>
                <a:spcPts val="0"/>
              </a:spcAft>
              <a:buSzPts val="1600"/>
              <a:buChar char="►"/>
            </a:pPr>
            <a:r>
              <a:rPr lang="en-US"/>
              <a:t>Safeguarding Sensitive Information</a:t>
            </a:r>
            <a:endParaRPr/>
          </a:p>
          <a:p>
            <a:pPr indent="-342900" lvl="0" marL="342900" rtl="0" algn="l">
              <a:spcBef>
                <a:spcPts val="1000"/>
              </a:spcBef>
              <a:spcAft>
                <a:spcPts val="0"/>
              </a:spcAft>
              <a:buSzPts val="1600"/>
              <a:buChar char="►"/>
            </a:pPr>
            <a:r>
              <a:rPr lang="en-US"/>
              <a:t>Protecting Classified Information</a:t>
            </a:r>
            <a:endParaRPr/>
          </a:p>
          <a:p>
            <a:pPr indent="-342900" lvl="0" marL="342900" rtl="0" algn="l">
              <a:spcBef>
                <a:spcPts val="1000"/>
              </a:spcBef>
              <a:spcAft>
                <a:spcPts val="0"/>
              </a:spcAft>
              <a:buSzPts val="1600"/>
              <a:buChar char="►"/>
            </a:pPr>
            <a:r>
              <a:rPr lang="en-US"/>
              <a:t>Enabling Information Consumption and Publication</a:t>
            </a:r>
            <a:endParaRPr/>
          </a:p>
          <a:p>
            <a:pPr indent="-241300" lvl="0" marL="342900" rtl="0" algn="l">
              <a:spcBef>
                <a:spcPts val="1000"/>
              </a:spcBef>
              <a:spcAft>
                <a:spcPts val="0"/>
              </a:spcAft>
              <a:buSzPts val="16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6"/>
          <p:cNvSpPr txBox="1"/>
          <p:nvPr>
            <p:ph idx="1" type="body"/>
          </p:nvPr>
        </p:nvSpPr>
        <p:spPr>
          <a:xfrm>
            <a:off x="838200" y="1719618"/>
            <a:ext cx="10515600" cy="4457345"/>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560"/>
              <a:buNone/>
            </a:pPr>
            <a:r>
              <a:rPr lang="en-US" sz="3200"/>
              <a:t>Challenges apply only to the consumption of threat information</a:t>
            </a:r>
            <a:endParaRPr/>
          </a:p>
          <a:p>
            <a:pPr indent="-342900" lvl="0" marL="342900" rtl="0" algn="l">
              <a:spcBef>
                <a:spcPts val="1000"/>
              </a:spcBef>
              <a:spcAft>
                <a:spcPts val="0"/>
              </a:spcAft>
              <a:buSzPts val="1600"/>
              <a:buChar char="►"/>
            </a:pPr>
            <a:r>
              <a:rPr lang="en-US"/>
              <a:t>Accessing External Information</a:t>
            </a:r>
            <a:endParaRPr/>
          </a:p>
          <a:p>
            <a:pPr indent="-342900" lvl="0" marL="342900" rtl="0" algn="l">
              <a:spcBef>
                <a:spcPts val="1000"/>
              </a:spcBef>
              <a:spcAft>
                <a:spcPts val="0"/>
              </a:spcAft>
              <a:buSzPts val="1600"/>
              <a:buChar char="►"/>
            </a:pPr>
            <a:r>
              <a:rPr lang="en-US"/>
              <a:t>Evaluating the Quality of Received Information</a:t>
            </a:r>
            <a:endParaRPr/>
          </a:p>
          <a:p>
            <a:pPr indent="-342900" lvl="0" marL="342900" rtl="0" algn="l">
              <a:spcBef>
                <a:spcPts val="1000"/>
              </a:spcBef>
              <a:spcAft>
                <a:spcPts val="0"/>
              </a:spcAft>
              <a:buSzPts val="1600"/>
              <a:buChar char="►"/>
            </a:pPr>
            <a:r>
              <a:rPr lang="en-US"/>
              <a:t>Complying with Legal and Organizational Requirements</a:t>
            </a:r>
            <a:endParaRPr/>
          </a:p>
          <a:p>
            <a:pPr indent="-342900" lvl="0" marL="342900" rtl="0" algn="l">
              <a:spcBef>
                <a:spcPts val="1000"/>
              </a:spcBef>
              <a:spcAft>
                <a:spcPts val="0"/>
              </a:spcAft>
              <a:buSzPts val="1600"/>
              <a:buChar char="►"/>
            </a:pPr>
            <a:r>
              <a:rPr lang="en-US"/>
              <a:t>Limiting Attribution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7"/>
          <p:cNvSpPr txBox="1"/>
          <p:nvPr>
            <p:ph idx="1" type="body"/>
          </p:nvPr>
        </p:nvSpPr>
        <p:spPr>
          <a:xfrm>
            <a:off x="851849" y="1446664"/>
            <a:ext cx="10515600" cy="4585646"/>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20"/>
              <a:buChar char="►"/>
            </a:pPr>
            <a:r>
              <a:rPr lang="en-US" sz="2400"/>
              <a:t>Establishing Trust.</a:t>
            </a:r>
            <a:endParaRPr/>
          </a:p>
          <a:p>
            <a:pPr indent="-285750" lvl="1" marL="742950" rtl="0" algn="l">
              <a:spcBef>
                <a:spcPts val="1000"/>
              </a:spcBef>
              <a:spcAft>
                <a:spcPts val="0"/>
              </a:spcAft>
              <a:buSzPts val="1600"/>
              <a:buChar char="►"/>
            </a:pPr>
            <a:r>
              <a:rPr lang="en-US" sz="2000">
                <a:solidFill>
                  <a:srgbClr val="FF0000"/>
                </a:solidFill>
              </a:rPr>
              <a:t>Trust relationships form the basis for information sharing, but require effort to establish and maintain</a:t>
            </a:r>
            <a:r>
              <a:rPr lang="en-US" sz="2000"/>
              <a:t>. Ongoing communication through regular in-person meetings, phone calls, or social media can help accelerate the process of building trust</a:t>
            </a:r>
            <a:endParaRPr/>
          </a:p>
          <a:p>
            <a:pPr indent="-342900" lvl="0" marL="342900" rtl="0" algn="l">
              <a:spcBef>
                <a:spcPts val="1000"/>
              </a:spcBef>
              <a:spcAft>
                <a:spcPts val="0"/>
              </a:spcAft>
              <a:buSzPts val="1920"/>
              <a:buChar char="►"/>
            </a:pPr>
            <a:r>
              <a:rPr lang="en-US" sz="2400"/>
              <a:t>Achieving Interoperability and Automation.</a:t>
            </a:r>
            <a:endParaRPr/>
          </a:p>
          <a:p>
            <a:pPr indent="-285750" lvl="1" marL="742950" rtl="0" algn="l">
              <a:spcBef>
                <a:spcPts val="1000"/>
              </a:spcBef>
              <a:spcAft>
                <a:spcPts val="0"/>
              </a:spcAft>
              <a:buSzPts val="1600"/>
              <a:buChar char="►"/>
            </a:pPr>
            <a:r>
              <a:rPr lang="en-US" sz="2000"/>
              <a:t>The use of common formats and protocols enables automation and allows organizations, repositories, and tools to exchange threat information at machine speed. </a:t>
            </a:r>
            <a:endParaRPr sz="2000"/>
          </a:p>
          <a:p>
            <a:pPr indent="-285750" lvl="1" marL="742950" rtl="0" algn="l">
              <a:spcBef>
                <a:spcPts val="1000"/>
              </a:spcBef>
              <a:spcAft>
                <a:spcPts val="0"/>
              </a:spcAft>
              <a:buSzPts val="1600"/>
              <a:buChar char="►"/>
            </a:pPr>
            <a:r>
              <a:rPr lang="en-US" sz="2000">
                <a:solidFill>
                  <a:srgbClr val="FF0000"/>
                </a:solidFill>
              </a:rPr>
              <a:t>Adopting specific formats and protocols, however, can require significant time and resources, and the value of these investments can be substantially reduced if sharing partners require different formats or protocols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8"/>
          <p:cNvSpPr txBox="1"/>
          <p:nvPr>
            <p:ph idx="1" type="body"/>
          </p:nvPr>
        </p:nvSpPr>
        <p:spPr>
          <a:xfrm>
            <a:off x="783610" y="1405720"/>
            <a:ext cx="10515600" cy="474942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20"/>
              <a:buChar char="►"/>
            </a:pPr>
            <a:r>
              <a:rPr lang="en-US" sz="2400"/>
              <a:t>Safeguarding Sensitive Information</a:t>
            </a:r>
            <a:endParaRPr/>
          </a:p>
          <a:p>
            <a:pPr indent="-285750" lvl="1" marL="742950" rtl="0" algn="l">
              <a:spcBef>
                <a:spcPts val="1000"/>
              </a:spcBef>
              <a:spcAft>
                <a:spcPts val="0"/>
              </a:spcAft>
              <a:buSzPts val="1600"/>
              <a:buChar char="►"/>
            </a:pPr>
            <a:r>
              <a:rPr lang="en-US" sz="2000">
                <a:solidFill>
                  <a:srgbClr val="FF0000"/>
                </a:solidFill>
              </a:rPr>
              <a:t>Disclosure of sensitive information, such as controlled unclassified information (CUI) and personally identifiable information (PII) can result in financial loss, violation of sharing agreements, legal action, and loss of reputation.</a:t>
            </a:r>
            <a:endParaRPr/>
          </a:p>
          <a:p>
            <a:pPr indent="-285750" lvl="1" marL="742950" rtl="0" algn="l">
              <a:spcBef>
                <a:spcPts val="1000"/>
              </a:spcBef>
              <a:spcAft>
                <a:spcPts val="0"/>
              </a:spcAft>
              <a:buSzPts val="1600"/>
              <a:buChar char="►"/>
            </a:pPr>
            <a:r>
              <a:rPr lang="en-US" sz="2000">
                <a:solidFill>
                  <a:srgbClr val="FF0000"/>
                </a:solidFill>
              </a:rPr>
              <a:t>Sharing security and event information</a:t>
            </a:r>
            <a:r>
              <a:rPr lang="en-US" sz="2000"/>
              <a:t>, such as security logs or scan results, </a:t>
            </a:r>
            <a:r>
              <a:rPr lang="en-US" sz="2000">
                <a:solidFill>
                  <a:srgbClr val="FF0000"/>
                </a:solidFill>
              </a:rPr>
              <a:t>could expose the protective or detective capabilities of the organization </a:t>
            </a:r>
            <a:r>
              <a:rPr lang="en-US" sz="2000"/>
              <a:t>and result in threat shifting by the actor. </a:t>
            </a:r>
            <a:endParaRPr sz="2000"/>
          </a:p>
          <a:p>
            <a:pPr indent="-342900" lvl="0" marL="342900" rtl="0" algn="l">
              <a:spcBef>
                <a:spcPts val="1000"/>
              </a:spcBef>
              <a:spcAft>
                <a:spcPts val="0"/>
              </a:spcAft>
              <a:buSzPts val="1920"/>
              <a:buChar char="►"/>
            </a:pPr>
            <a:r>
              <a:rPr lang="en-US" sz="2400"/>
              <a:t>Protecting Classified Information</a:t>
            </a:r>
            <a:endParaRPr/>
          </a:p>
          <a:p>
            <a:pPr indent="-285750" lvl="1" marL="742950" rtl="0" algn="l">
              <a:spcBef>
                <a:spcPts val="1000"/>
              </a:spcBef>
              <a:spcAft>
                <a:spcPts val="0"/>
              </a:spcAft>
              <a:buSzPts val="1600"/>
              <a:buChar char="►"/>
            </a:pPr>
            <a:r>
              <a:rPr lang="en-US" sz="2000">
                <a:solidFill>
                  <a:srgbClr val="FF0000"/>
                </a:solidFill>
              </a:rPr>
              <a:t>Information received from government sources may be marked as classified, making it difficult for an organization to use</a:t>
            </a:r>
            <a:r>
              <a:rPr lang="en-US" sz="2000"/>
              <a:t>. </a:t>
            </a:r>
            <a:r>
              <a:rPr lang="en-US" sz="2000">
                <a:solidFill>
                  <a:srgbClr val="FF0000"/>
                </a:solidFill>
              </a:rPr>
              <a:t>Acquiring and maintaining</a:t>
            </a:r>
            <a:r>
              <a:rPr lang="en-US" sz="2000"/>
              <a:t> the clearances needed for </a:t>
            </a:r>
            <a:r>
              <a:rPr lang="en-US" sz="2000">
                <a:solidFill>
                  <a:srgbClr val="FF0000"/>
                </a:solidFill>
              </a:rPr>
              <a:t>ongoing access to classified information </a:t>
            </a:r>
            <a:r>
              <a:rPr lang="en-US" sz="2000"/>
              <a:t>sources is expensive and </a:t>
            </a:r>
            <a:r>
              <a:rPr lang="en-US" sz="2000">
                <a:solidFill>
                  <a:srgbClr val="FF0000"/>
                </a:solidFill>
              </a:rPr>
              <a:t>time-consuming for organizations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9"/>
          <p:cNvSpPr txBox="1"/>
          <p:nvPr>
            <p:ph idx="1" type="body"/>
          </p:nvPr>
        </p:nvSpPr>
        <p:spPr>
          <a:xfrm>
            <a:off x="851848" y="1132764"/>
            <a:ext cx="10515600" cy="5459104"/>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Enabling Information Consumption and Publication:</a:t>
            </a:r>
            <a:endParaRPr/>
          </a:p>
          <a:p>
            <a:pPr indent="-285750" lvl="1" marL="742950" rtl="0" algn="l">
              <a:spcBef>
                <a:spcPts val="1000"/>
              </a:spcBef>
              <a:spcAft>
                <a:spcPts val="0"/>
              </a:spcAft>
              <a:buSzPts val="1440"/>
              <a:buChar char="►"/>
            </a:pPr>
            <a:r>
              <a:rPr lang="en-US">
                <a:solidFill>
                  <a:srgbClr val="FF0000"/>
                </a:solidFill>
              </a:rPr>
              <a:t>Organizations that want to consume and publish threat information need to have the necessary infrastructure, tools, personnel, and training to do so. </a:t>
            </a:r>
            <a:endParaRPr>
              <a:solidFill>
                <a:srgbClr val="FF0000"/>
              </a:solidFill>
            </a:endParaRPr>
          </a:p>
          <a:p>
            <a:pPr indent="-285750" lvl="1" marL="742950" rtl="0" algn="l">
              <a:spcBef>
                <a:spcPts val="1000"/>
              </a:spcBef>
              <a:spcAft>
                <a:spcPts val="0"/>
              </a:spcAft>
              <a:buSzPts val="1440"/>
              <a:buChar char="►"/>
            </a:pPr>
            <a:r>
              <a:rPr lang="en-US">
                <a:solidFill>
                  <a:srgbClr val="FF0000"/>
                </a:solidFill>
              </a:rPr>
              <a:t>Information sharing initiatives should be carefully scoped</a:t>
            </a:r>
            <a:r>
              <a:rPr lang="en-US"/>
              <a:t>, because high-frequency, high-volume information exchanges have the potential to overwhelm an organization’s processing capabilities. </a:t>
            </a:r>
            <a:endParaRPr/>
          </a:p>
          <a:p>
            <a:pPr indent="-241300" lvl="0" marL="342900" rtl="0" algn="l">
              <a:spcBef>
                <a:spcPts val="1000"/>
              </a:spcBef>
              <a:spcAft>
                <a:spcPts val="0"/>
              </a:spcAft>
              <a:buSzPts val="1600"/>
              <a:buNone/>
            </a:pPr>
            <a:r>
              <a:t/>
            </a:r>
            <a:endParaRPr/>
          </a:p>
          <a:p>
            <a:pPr indent="-342900" lvl="0" marL="342900" rtl="0" algn="l">
              <a:spcBef>
                <a:spcPts val="1000"/>
              </a:spcBef>
              <a:spcAft>
                <a:spcPts val="0"/>
              </a:spcAft>
              <a:buSzPts val="1600"/>
              <a:buChar char="►"/>
            </a:pPr>
            <a:r>
              <a:rPr lang="en-US"/>
              <a:t>Accessing External Information </a:t>
            </a:r>
            <a:endParaRPr/>
          </a:p>
          <a:p>
            <a:pPr indent="-285750" lvl="1" marL="742950" rtl="0" algn="l">
              <a:spcBef>
                <a:spcPts val="1000"/>
              </a:spcBef>
              <a:spcAft>
                <a:spcPts val="0"/>
              </a:spcAft>
              <a:buSzPts val="1440"/>
              <a:buChar char="►"/>
            </a:pPr>
            <a:r>
              <a:rPr lang="en-US">
                <a:solidFill>
                  <a:srgbClr val="FF0000"/>
                </a:solidFill>
              </a:rPr>
              <a:t>Organizations need the infrastructure to access external sources and incorporate the information retrieved from external sources into local decision-making processes</a:t>
            </a:r>
            <a:endParaRPr/>
          </a:p>
          <a:p>
            <a:pPr indent="-241300" lvl="0" marL="342900" rtl="0" algn="l">
              <a:spcBef>
                <a:spcPts val="1000"/>
              </a:spcBef>
              <a:spcAft>
                <a:spcPts val="0"/>
              </a:spcAft>
              <a:buSzPts val="1600"/>
              <a:buNone/>
            </a:pPr>
            <a:r>
              <a:t/>
            </a:r>
            <a:endParaRPr>
              <a:solidFill>
                <a:srgbClr val="FF0000"/>
              </a:solidFill>
            </a:endParaRPr>
          </a:p>
          <a:p>
            <a:pPr indent="-342900" lvl="0" marL="342900" rtl="0" algn="l">
              <a:spcBef>
                <a:spcPts val="1000"/>
              </a:spcBef>
              <a:spcAft>
                <a:spcPts val="0"/>
              </a:spcAft>
              <a:buSzPts val="1600"/>
              <a:buChar char="►"/>
            </a:pPr>
            <a:r>
              <a:rPr lang="en-US"/>
              <a:t>Evaluating the Quality of Received Information. </a:t>
            </a:r>
            <a:endParaRPr/>
          </a:p>
          <a:p>
            <a:pPr indent="-285750" lvl="1" marL="742950" rtl="0" algn="l">
              <a:spcBef>
                <a:spcPts val="1000"/>
              </a:spcBef>
              <a:spcAft>
                <a:spcPts val="0"/>
              </a:spcAft>
              <a:buSzPts val="1440"/>
              <a:buChar char="►"/>
            </a:pPr>
            <a:r>
              <a:rPr lang="en-US"/>
              <a:t>Before acting on threat information, </a:t>
            </a:r>
            <a:r>
              <a:rPr lang="en-US">
                <a:solidFill>
                  <a:srgbClr val="FF0000"/>
                </a:solidFill>
              </a:rPr>
              <a:t>an organization needs to confirm that the information is correct</a:t>
            </a:r>
            <a:r>
              <a:rPr lang="en-US"/>
              <a:t>, that the threat is relevant, and that </a:t>
            </a:r>
            <a:r>
              <a:rPr lang="en-US">
                <a:solidFill>
                  <a:srgbClr val="FF0000"/>
                </a:solidFill>
              </a:rPr>
              <a:t>the risks of using or not using the information (i.e., potential impacts of action vs. inaction) are well understood.</a:t>
            </a:r>
            <a:endParaRPr/>
          </a:p>
          <a:p>
            <a:pPr indent="-241300" lvl="0" marL="342900" rtl="0" algn="l">
              <a:spcBef>
                <a:spcPts val="1000"/>
              </a:spcBef>
              <a:spcAft>
                <a:spcPts val="0"/>
              </a:spcAft>
              <a:buSzPts val="1600"/>
              <a:buNone/>
            </a:pPr>
            <a:r>
              <a:t/>
            </a:r>
            <a:endParaRPr/>
          </a:p>
          <a:p>
            <a:pPr indent="-241300" lvl="0" marL="342900" rtl="0" algn="l">
              <a:spcBef>
                <a:spcPts val="1000"/>
              </a:spcBef>
              <a:spcAft>
                <a:spcPts val="0"/>
              </a:spcAft>
              <a:buSzPts val="1600"/>
              <a:buNone/>
            </a:pPr>
            <a:r>
              <a:t/>
            </a:r>
            <a:endParaRPr/>
          </a:p>
          <a:p>
            <a:pPr indent="-241300" lvl="0" marL="342900" rtl="0" algn="l">
              <a:spcBef>
                <a:spcPts val="1000"/>
              </a:spcBef>
              <a:spcAft>
                <a:spcPts val="0"/>
              </a:spcAft>
              <a:buSzPts val="16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0"/>
          <p:cNvSpPr txBox="1"/>
          <p:nvPr>
            <p:ph idx="1" type="body"/>
          </p:nvPr>
        </p:nvSpPr>
        <p:spPr>
          <a:xfrm>
            <a:off x="920087" y="477671"/>
            <a:ext cx="10515600" cy="6073254"/>
          </a:xfrm>
          <a:prstGeom prst="rect">
            <a:avLst/>
          </a:prstGeom>
          <a:noFill/>
          <a:ln>
            <a:noFill/>
          </a:ln>
        </p:spPr>
        <p:txBody>
          <a:bodyPr anchorCtr="0" anchor="t" bIns="45700" lIns="91425" spcFirstLastPara="1" rIns="91425" wrap="square" tIns="45700">
            <a:normAutofit/>
          </a:bodyPr>
          <a:lstStyle/>
          <a:p>
            <a:pPr indent="-241300" lvl="0" marL="342900" rtl="0" algn="l">
              <a:spcBef>
                <a:spcPts val="0"/>
              </a:spcBef>
              <a:spcAft>
                <a:spcPts val="0"/>
              </a:spcAft>
              <a:buSzPts val="1600"/>
              <a:buNone/>
            </a:pPr>
            <a:r>
              <a:t/>
            </a:r>
            <a:endParaRPr/>
          </a:p>
          <a:p>
            <a:pPr indent="-342900" lvl="0" marL="342900" rtl="0" algn="l">
              <a:spcBef>
                <a:spcPts val="1000"/>
              </a:spcBef>
              <a:spcAft>
                <a:spcPts val="0"/>
              </a:spcAft>
              <a:buSzPts val="1600"/>
              <a:buChar char="►"/>
            </a:pPr>
            <a:r>
              <a:rPr lang="en-US"/>
              <a:t>Complying with Legal and Organizational Requirements</a:t>
            </a:r>
            <a:r>
              <a:rPr b="1" lang="en-US"/>
              <a:t> </a:t>
            </a:r>
            <a:endParaRPr/>
          </a:p>
          <a:p>
            <a:pPr indent="-285750" lvl="1" marL="742950" rtl="0" algn="l">
              <a:spcBef>
                <a:spcPts val="1000"/>
              </a:spcBef>
              <a:spcAft>
                <a:spcPts val="0"/>
              </a:spcAft>
              <a:buSzPts val="1440"/>
              <a:buChar char="►"/>
            </a:pPr>
            <a:r>
              <a:rPr lang="en-US">
                <a:solidFill>
                  <a:srgbClr val="FF0000"/>
                </a:solidFill>
              </a:rPr>
              <a:t>An organization’s executive and legal teams may restrict the types of information </a:t>
            </a:r>
            <a:r>
              <a:rPr lang="en-US"/>
              <a:t>that the organization can provide to others. </a:t>
            </a:r>
            <a:r>
              <a:rPr lang="en-US">
                <a:solidFill>
                  <a:srgbClr val="FF0000"/>
                </a:solidFill>
              </a:rPr>
              <a:t>Such restrictions may include limits on the types of information and the level of technical detail provided</a:t>
            </a:r>
            <a:r>
              <a:rPr lang="en-US"/>
              <a:t>.</a:t>
            </a:r>
            <a:endParaRPr/>
          </a:p>
          <a:p>
            <a:pPr indent="-241300" lvl="0" marL="342900" rtl="0" algn="l">
              <a:spcBef>
                <a:spcPts val="1000"/>
              </a:spcBef>
              <a:spcAft>
                <a:spcPts val="0"/>
              </a:spcAft>
              <a:buSzPts val="1600"/>
              <a:buNone/>
            </a:pPr>
            <a:r>
              <a:t/>
            </a:r>
            <a:endParaRPr/>
          </a:p>
          <a:p>
            <a:pPr indent="-342900" lvl="0" marL="342900" rtl="0" algn="l">
              <a:spcBef>
                <a:spcPts val="1000"/>
              </a:spcBef>
              <a:spcAft>
                <a:spcPts val="0"/>
              </a:spcAft>
              <a:buSzPts val="1600"/>
              <a:buChar char="►"/>
            </a:pPr>
            <a:r>
              <a:rPr lang="en-US"/>
              <a:t>Limiting Attribution </a:t>
            </a:r>
            <a:endParaRPr/>
          </a:p>
          <a:p>
            <a:pPr indent="-285750" lvl="1" marL="742950" rtl="0" algn="l">
              <a:spcBef>
                <a:spcPts val="1000"/>
              </a:spcBef>
              <a:spcAft>
                <a:spcPts val="0"/>
              </a:spcAft>
              <a:buSzPts val="1440"/>
              <a:buChar char="►"/>
            </a:pPr>
            <a:r>
              <a:rPr lang="en-US">
                <a:solidFill>
                  <a:srgbClr val="FF0000"/>
                </a:solidFill>
              </a:rPr>
              <a:t>Organizations may openly participate in information sharing communities, but still require that their contributions remain anonymous</a:t>
            </a:r>
            <a:r>
              <a:rPr lang="en-US"/>
              <a:t>. Unattributed information sharing may allow an organization to share more information because there is less perceived risk to the organization’s reputation. </a:t>
            </a:r>
            <a:endParaRPr/>
          </a:p>
          <a:p>
            <a:pPr indent="-285750" lvl="1" marL="742950" rtl="0" algn="l">
              <a:spcBef>
                <a:spcPts val="1000"/>
              </a:spcBef>
              <a:spcAft>
                <a:spcPts val="0"/>
              </a:spcAft>
              <a:buSzPts val="1440"/>
              <a:buChar char="►"/>
            </a:pPr>
            <a:r>
              <a:rPr lang="en-US">
                <a:solidFill>
                  <a:srgbClr val="FF0000"/>
                </a:solidFill>
              </a:rPr>
              <a:t>The lack of attribution limit the usefulness of the information because users may have less confidence in information that originates from an unknown source. </a:t>
            </a:r>
            <a:endParaRPr>
              <a:solidFill>
                <a:srgbClr val="FF0000"/>
              </a:solidFill>
            </a:endParaRPr>
          </a:p>
          <a:p>
            <a:pPr indent="-285750" lvl="1" marL="742950" rtl="0" algn="l">
              <a:spcBef>
                <a:spcPts val="1000"/>
              </a:spcBef>
              <a:spcAft>
                <a:spcPts val="0"/>
              </a:spcAft>
              <a:buSzPts val="1440"/>
              <a:buChar char="►"/>
            </a:pPr>
            <a:r>
              <a:rPr lang="en-US">
                <a:solidFill>
                  <a:srgbClr val="FF0000"/>
                </a:solidFill>
              </a:rPr>
              <a:t>If the original sources of information cannot be identified</a:t>
            </a:r>
            <a:r>
              <a:rPr lang="en-US"/>
              <a:t>, organizations may be unable to confirm that information has been received from multiple independent sources, and thus </a:t>
            </a:r>
            <a:r>
              <a:rPr lang="en-US">
                <a:solidFill>
                  <a:srgbClr val="FF0000"/>
                </a:solidFill>
              </a:rPr>
              <a:t>reduce an organization’s ability to build confidence in received information.</a:t>
            </a:r>
            <a:endParaRPr/>
          </a:p>
          <a:p>
            <a:pPr indent="-241300" lvl="0" marL="342900" rtl="0" algn="l">
              <a:spcBef>
                <a:spcPts val="1000"/>
              </a:spcBef>
              <a:spcAft>
                <a:spcPts val="0"/>
              </a:spcAft>
              <a:buSzPts val="1600"/>
              <a:buNone/>
            </a:pPr>
            <a:r>
              <a:t/>
            </a:r>
            <a:endParaRPr/>
          </a:p>
          <a:p>
            <a:pPr indent="-241300" lvl="0" marL="342900" rtl="0" algn="l">
              <a:spcBef>
                <a:spcPts val="1000"/>
              </a:spcBef>
              <a:spcAft>
                <a:spcPts val="0"/>
              </a:spcAft>
              <a:buSzPts val="16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1"/>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4200"/>
              <a:buFont typeface="Century Gothic"/>
              <a:buNone/>
            </a:pPr>
            <a:r>
              <a:rPr lang="en-US"/>
              <a:t>Establish Cyber Threat Intelligence Sharing Capabilities</a:t>
            </a:r>
            <a:endParaRPr/>
          </a:p>
        </p:txBody>
      </p:sp>
      <p:sp>
        <p:nvSpPr>
          <p:cNvPr id="262" name="Google Shape;262;p21"/>
          <p:cNvSpPr txBox="1"/>
          <p:nvPr>
            <p:ph idx="1" type="body"/>
          </p:nvPr>
        </p:nvSpPr>
        <p:spPr>
          <a:xfrm>
            <a:off x="646112" y="2052918"/>
            <a:ext cx="11172850" cy="419548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When launching a threat information sharing capability, the following planning and preparation activities are recommended</a:t>
            </a:r>
            <a:endParaRPr/>
          </a:p>
          <a:p>
            <a:pPr indent="-241300" lvl="0" marL="342900" rtl="0" algn="l">
              <a:spcBef>
                <a:spcPts val="1000"/>
              </a:spcBef>
              <a:spcAft>
                <a:spcPts val="0"/>
              </a:spcAft>
              <a:buSzPts val="1600"/>
              <a:buNone/>
            </a:pPr>
            <a:r>
              <a:t/>
            </a:r>
            <a:endParaRPr/>
          </a:p>
        </p:txBody>
      </p:sp>
      <p:sp>
        <p:nvSpPr>
          <p:cNvPr id="263" name="Google Shape;263;p21"/>
          <p:cNvSpPr/>
          <p:nvPr/>
        </p:nvSpPr>
        <p:spPr>
          <a:xfrm>
            <a:off x="1829067" y="2988861"/>
            <a:ext cx="2750710" cy="1650426"/>
          </a:xfrm>
          <a:prstGeom prst="rect">
            <a:avLst/>
          </a:prstGeom>
          <a:solidFill>
            <a:schemeClr val="accent1"/>
          </a:solidFill>
          <a:ln cap="rnd"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b="0" i="0" lang="en-US" sz="1800" u="none" cap="none" strike="noStrike">
                <a:solidFill>
                  <a:schemeClr val="lt1"/>
                </a:solidFill>
                <a:latin typeface="Century Gothic"/>
                <a:ea typeface="Century Gothic"/>
                <a:cs typeface="Century Gothic"/>
                <a:sym typeface="Century Gothic"/>
              </a:rPr>
              <a:t>1. goals and objectives</a:t>
            </a:r>
            <a:endParaRPr b="0" i="0" sz="1800" u="none" cap="none" strike="noStrike">
              <a:solidFill>
                <a:schemeClr val="lt1"/>
              </a:solidFill>
              <a:latin typeface="Century Gothic"/>
              <a:ea typeface="Century Gothic"/>
              <a:cs typeface="Century Gothic"/>
              <a:sym typeface="Century Gothic"/>
            </a:endParaRPr>
          </a:p>
        </p:txBody>
      </p:sp>
      <p:sp>
        <p:nvSpPr>
          <p:cNvPr id="264" name="Google Shape;264;p21"/>
          <p:cNvSpPr/>
          <p:nvPr/>
        </p:nvSpPr>
        <p:spPr>
          <a:xfrm>
            <a:off x="4854848" y="2988861"/>
            <a:ext cx="2750710" cy="1650426"/>
          </a:xfrm>
          <a:prstGeom prst="rect">
            <a:avLst/>
          </a:prstGeom>
          <a:solidFill>
            <a:schemeClr val="accent1"/>
          </a:solidFill>
          <a:ln cap="rnd"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b="0" i="0" lang="en-US" sz="1800" u="none" cap="none" strike="noStrike">
                <a:solidFill>
                  <a:schemeClr val="lt1"/>
                </a:solidFill>
                <a:latin typeface="Century Gothic"/>
                <a:ea typeface="Century Gothic"/>
                <a:cs typeface="Century Gothic"/>
                <a:sym typeface="Century Gothic"/>
              </a:rPr>
              <a:t>2. Identify internal sources</a:t>
            </a:r>
            <a:endParaRPr b="0" i="0" sz="1800" u="none" cap="none" strike="noStrike">
              <a:solidFill>
                <a:schemeClr val="lt1"/>
              </a:solidFill>
              <a:latin typeface="Century Gothic"/>
              <a:ea typeface="Century Gothic"/>
              <a:cs typeface="Century Gothic"/>
              <a:sym typeface="Century Gothic"/>
            </a:endParaRPr>
          </a:p>
        </p:txBody>
      </p:sp>
      <p:sp>
        <p:nvSpPr>
          <p:cNvPr id="265" name="Google Shape;265;p21"/>
          <p:cNvSpPr/>
          <p:nvPr/>
        </p:nvSpPr>
        <p:spPr>
          <a:xfrm>
            <a:off x="7880629" y="2988861"/>
            <a:ext cx="2750710" cy="1650426"/>
          </a:xfrm>
          <a:prstGeom prst="rect">
            <a:avLst/>
          </a:prstGeom>
          <a:solidFill>
            <a:schemeClr val="accent1"/>
          </a:solidFill>
          <a:ln cap="rnd"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b="0" i="0" lang="en-US" sz="1800" u="none" cap="none" strike="noStrike">
                <a:solidFill>
                  <a:schemeClr val="lt1"/>
                </a:solidFill>
                <a:latin typeface="Century Gothic"/>
                <a:ea typeface="Century Gothic"/>
                <a:cs typeface="Century Gothic"/>
                <a:sym typeface="Century Gothic"/>
              </a:rPr>
              <a:t>3. scope</a:t>
            </a:r>
            <a:endParaRPr b="0" i="0" sz="1800" u="none" cap="none" strike="noStrike">
              <a:solidFill>
                <a:schemeClr val="lt1"/>
              </a:solidFill>
              <a:latin typeface="Century Gothic"/>
              <a:ea typeface="Century Gothic"/>
              <a:cs typeface="Century Gothic"/>
              <a:sym typeface="Century Gothic"/>
            </a:endParaRPr>
          </a:p>
        </p:txBody>
      </p:sp>
      <p:sp>
        <p:nvSpPr>
          <p:cNvPr id="266" name="Google Shape;266;p21"/>
          <p:cNvSpPr/>
          <p:nvPr/>
        </p:nvSpPr>
        <p:spPr>
          <a:xfrm>
            <a:off x="1829067" y="4886850"/>
            <a:ext cx="2750710" cy="1650426"/>
          </a:xfrm>
          <a:prstGeom prst="rect">
            <a:avLst/>
          </a:prstGeom>
          <a:solidFill>
            <a:schemeClr val="accent1"/>
          </a:solidFill>
          <a:ln cap="rnd"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b="0" i="0" lang="en-US" sz="1800" u="none" cap="none" strike="noStrike">
                <a:solidFill>
                  <a:schemeClr val="lt1"/>
                </a:solidFill>
                <a:latin typeface="Century Gothic"/>
                <a:ea typeface="Century Gothic"/>
                <a:cs typeface="Century Gothic"/>
                <a:sym typeface="Century Gothic"/>
              </a:rPr>
              <a:t>4. Establish information sharing rules</a:t>
            </a:r>
            <a:endParaRPr b="0" i="0" sz="1800" u="none" cap="none" strike="noStrike">
              <a:solidFill>
                <a:schemeClr val="lt1"/>
              </a:solidFill>
              <a:latin typeface="Century Gothic"/>
              <a:ea typeface="Century Gothic"/>
              <a:cs typeface="Century Gothic"/>
              <a:sym typeface="Century Gothic"/>
            </a:endParaRPr>
          </a:p>
        </p:txBody>
      </p:sp>
      <p:sp>
        <p:nvSpPr>
          <p:cNvPr id="267" name="Google Shape;267;p21"/>
          <p:cNvSpPr/>
          <p:nvPr/>
        </p:nvSpPr>
        <p:spPr>
          <a:xfrm>
            <a:off x="4854848" y="4886850"/>
            <a:ext cx="2750710" cy="1650426"/>
          </a:xfrm>
          <a:prstGeom prst="rect">
            <a:avLst/>
          </a:prstGeom>
          <a:solidFill>
            <a:schemeClr val="accent1"/>
          </a:solidFill>
          <a:ln cap="rnd"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b="0" i="0" lang="en-US" sz="1800" u="none" cap="none" strike="noStrike">
                <a:solidFill>
                  <a:schemeClr val="lt1"/>
                </a:solidFill>
                <a:latin typeface="Century Gothic"/>
                <a:ea typeface="Century Gothic"/>
                <a:cs typeface="Century Gothic"/>
                <a:sym typeface="Century Gothic"/>
              </a:rPr>
              <a:t>5. Join a sharing community</a:t>
            </a:r>
            <a:endParaRPr b="0" i="0" sz="1800" u="none" cap="none" strike="noStrike">
              <a:solidFill>
                <a:schemeClr val="lt1"/>
              </a:solidFill>
              <a:latin typeface="Century Gothic"/>
              <a:ea typeface="Century Gothic"/>
              <a:cs typeface="Century Gothic"/>
              <a:sym typeface="Century Gothic"/>
            </a:endParaRPr>
          </a:p>
        </p:txBody>
      </p:sp>
      <p:sp>
        <p:nvSpPr>
          <p:cNvPr id="268" name="Google Shape;268;p21"/>
          <p:cNvSpPr/>
          <p:nvPr/>
        </p:nvSpPr>
        <p:spPr>
          <a:xfrm>
            <a:off x="7880629" y="4886850"/>
            <a:ext cx="2750710" cy="1650426"/>
          </a:xfrm>
          <a:prstGeom prst="rect">
            <a:avLst/>
          </a:prstGeom>
          <a:solidFill>
            <a:schemeClr val="accent1"/>
          </a:solidFill>
          <a:ln cap="rnd"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b="0" i="0" lang="en-US" sz="1800" u="none" cap="none" strike="noStrike">
                <a:solidFill>
                  <a:schemeClr val="lt1"/>
                </a:solidFill>
                <a:latin typeface="Century Gothic"/>
                <a:ea typeface="Century Gothic"/>
                <a:cs typeface="Century Gothic"/>
                <a:sym typeface="Century Gothic"/>
              </a:rPr>
              <a:t>6. Plan to provide ongoing support</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2"/>
          <p:cNvSpPr txBox="1"/>
          <p:nvPr>
            <p:ph idx="1" type="body"/>
          </p:nvPr>
        </p:nvSpPr>
        <p:spPr>
          <a:xfrm>
            <a:off x="395785" y="832515"/>
            <a:ext cx="11354937" cy="5745706"/>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b="1" lang="en-US"/>
              <a:t>Define Information Sharing Goals and Objectives </a:t>
            </a:r>
            <a:endParaRPr/>
          </a:p>
          <a:p>
            <a:pPr indent="-342900" lvl="0" marL="342900" rtl="0" algn="l">
              <a:spcBef>
                <a:spcPts val="1000"/>
              </a:spcBef>
              <a:spcAft>
                <a:spcPts val="0"/>
              </a:spcAft>
              <a:buSzPts val="1440"/>
              <a:buChar char="►"/>
            </a:pPr>
            <a:r>
              <a:rPr lang="en-US" sz="1800">
                <a:solidFill>
                  <a:srgbClr val="FF0000"/>
                </a:solidFill>
              </a:rPr>
              <a:t>An organization should establish goals and objectives that describe the desired outcomes of threat information sharing in terms of the organization’s business processes and security policies. </a:t>
            </a:r>
            <a:endParaRPr/>
          </a:p>
          <a:p>
            <a:pPr indent="-342900" lvl="0" marL="342900" rtl="0" algn="l">
              <a:spcBef>
                <a:spcPts val="1000"/>
              </a:spcBef>
              <a:spcAft>
                <a:spcPts val="0"/>
              </a:spcAft>
              <a:buSzPts val="1440"/>
              <a:buChar char="►"/>
            </a:pPr>
            <a:r>
              <a:rPr lang="en-US" sz="1800"/>
              <a:t>These goals and objectives will help </a:t>
            </a:r>
            <a:r>
              <a:rPr lang="en-US" sz="1800">
                <a:solidFill>
                  <a:srgbClr val="FF0000"/>
                </a:solidFill>
              </a:rPr>
              <a:t>guide the organization through the process of scoping its information sharing efforts, selecting and joining sharing communities, and providing ongoing support for information sharing activities. </a:t>
            </a:r>
            <a:endParaRPr/>
          </a:p>
          <a:p>
            <a:pPr indent="-342900" lvl="0" marL="342900" rtl="0" algn="l">
              <a:spcBef>
                <a:spcPts val="1000"/>
              </a:spcBef>
              <a:spcAft>
                <a:spcPts val="0"/>
              </a:spcAft>
              <a:buSzPts val="1440"/>
              <a:buChar char="►"/>
            </a:pPr>
            <a:r>
              <a:rPr lang="en-US" sz="1800"/>
              <a:t>Due to technological and/or resource constraints, it may be necessary to prioritize goals and objectives to ensure that the most important information sharing activities are performed </a:t>
            </a:r>
            <a:endParaRPr/>
          </a:p>
          <a:p>
            <a:pPr indent="-251459" lvl="0" marL="342900" rtl="0" algn="l">
              <a:spcBef>
                <a:spcPts val="1000"/>
              </a:spcBef>
              <a:spcAft>
                <a:spcPts val="0"/>
              </a:spcAft>
              <a:buSzPts val="1440"/>
              <a:buNone/>
            </a:pPr>
            <a:r>
              <a:t/>
            </a:r>
            <a:endParaRPr b="1" sz="1800"/>
          </a:p>
          <a:p>
            <a:pPr indent="-342900" lvl="0" marL="342900" rtl="0" algn="l">
              <a:spcBef>
                <a:spcPts val="1000"/>
              </a:spcBef>
              <a:spcAft>
                <a:spcPts val="0"/>
              </a:spcAft>
              <a:buSzPts val="1600"/>
              <a:buChar char="►"/>
            </a:pPr>
            <a:r>
              <a:rPr b="1" lang="en-US"/>
              <a:t>Identify Internal Sources of Cyber Threat Information </a:t>
            </a:r>
            <a:endParaRPr b="1"/>
          </a:p>
          <a:p>
            <a:pPr indent="-342900" lvl="0" marL="342900" rtl="0" algn="l">
              <a:spcBef>
                <a:spcPts val="1000"/>
              </a:spcBef>
              <a:spcAft>
                <a:spcPts val="0"/>
              </a:spcAft>
              <a:buSzPts val="1440"/>
              <a:buChar char="►"/>
            </a:pPr>
            <a:r>
              <a:rPr lang="en-US" sz="1800">
                <a:solidFill>
                  <a:srgbClr val="FF0000"/>
                </a:solidFill>
              </a:rPr>
              <a:t>By conducting an inventory of internal threat information sources, an organization is better able to identify knowledge gaps.</a:t>
            </a:r>
            <a:r>
              <a:rPr lang="en-US" sz="1800"/>
              <a:t> </a:t>
            </a:r>
            <a:endParaRPr sz="1800"/>
          </a:p>
          <a:p>
            <a:pPr indent="-342900" lvl="0" marL="342900" rtl="0" algn="l">
              <a:spcBef>
                <a:spcPts val="1000"/>
              </a:spcBef>
              <a:spcAft>
                <a:spcPts val="0"/>
              </a:spcAft>
              <a:buSzPts val="1440"/>
              <a:buChar char="►"/>
            </a:pPr>
            <a:r>
              <a:rPr lang="en-US" sz="1800">
                <a:solidFill>
                  <a:srgbClr val="FF0000"/>
                </a:solidFill>
              </a:rPr>
              <a:t>These gaps can be addressed by deploying additional tools and sensors or by acquiring threat information</a:t>
            </a:r>
            <a:r>
              <a:rPr lang="en-US" sz="1800"/>
              <a:t> from external threat information feeds or repositories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3"/>
          <p:cNvSpPr txBox="1"/>
          <p:nvPr>
            <p:ph idx="1" type="body"/>
          </p:nvPr>
        </p:nvSpPr>
        <p:spPr>
          <a:xfrm>
            <a:off x="1103312" y="1351128"/>
            <a:ext cx="10579172" cy="5199797"/>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The process of identifying threat information sources includes the following steps: </a:t>
            </a:r>
            <a:endParaRPr/>
          </a:p>
          <a:p>
            <a:pPr indent="0" lvl="0" marL="0" rtl="0" algn="l">
              <a:spcBef>
                <a:spcPts val="1000"/>
              </a:spcBef>
              <a:spcAft>
                <a:spcPts val="0"/>
              </a:spcAft>
              <a:buSzPts val="1600"/>
              <a:buNone/>
            </a:pPr>
            <a:r>
              <a:rPr lang="en-US">
                <a:solidFill>
                  <a:srgbClr val="FF0000"/>
                </a:solidFill>
              </a:rPr>
              <a:t>• Identify sensors, tools, data feeds, and repositories </a:t>
            </a:r>
            <a:r>
              <a:rPr lang="en-US"/>
              <a:t>that produce threat information, and confirm that the information is produced at a frequency, precision, and accuracy to support cyber security decision-making.</a:t>
            </a:r>
            <a:endParaRPr/>
          </a:p>
          <a:p>
            <a:pPr indent="0" lvl="0" marL="0" rtl="0" algn="l">
              <a:spcBef>
                <a:spcPts val="1000"/>
              </a:spcBef>
              <a:spcAft>
                <a:spcPts val="0"/>
              </a:spcAft>
              <a:buSzPts val="1600"/>
              <a:buNone/>
            </a:pPr>
            <a:r>
              <a:rPr lang="en-US">
                <a:solidFill>
                  <a:srgbClr val="FF0000"/>
                </a:solidFill>
              </a:rPr>
              <a:t>• Identify threat information that is collected and analyzed as part of an organization’s continuous monitoring strategy.</a:t>
            </a:r>
            <a:endParaRPr/>
          </a:p>
          <a:p>
            <a:pPr indent="0" lvl="0" marL="0" rtl="0" algn="l">
              <a:spcBef>
                <a:spcPts val="1000"/>
              </a:spcBef>
              <a:spcAft>
                <a:spcPts val="0"/>
              </a:spcAft>
              <a:buSzPts val="1600"/>
              <a:buNone/>
            </a:pPr>
            <a:r>
              <a:rPr lang="en-US"/>
              <a:t>• </a:t>
            </a:r>
            <a:r>
              <a:rPr lang="en-US">
                <a:solidFill>
                  <a:srgbClr val="FF0000"/>
                </a:solidFill>
              </a:rPr>
              <a:t>Locate threat information that is collected and stored, but not necessarily analyzed or reviewed on an ongoing basis</a:t>
            </a:r>
            <a:r>
              <a:rPr lang="en-US"/>
              <a:t>. If an organization finds useful threat information that is being underutilized, methods of integrating this information into its cyber security and risk management practices should be explored.</a:t>
            </a:r>
            <a:endParaRPr/>
          </a:p>
          <a:p>
            <a:pPr indent="0" lvl="0" marL="0" rtl="0" algn="l">
              <a:spcBef>
                <a:spcPts val="1000"/>
              </a:spcBef>
              <a:spcAft>
                <a:spcPts val="0"/>
              </a:spcAft>
              <a:buSzPts val="1600"/>
              <a:buNone/>
            </a:pPr>
            <a:r>
              <a:rPr lang="en-US"/>
              <a:t>• </a:t>
            </a:r>
            <a:r>
              <a:rPr lang="en-US">
                <a:solidFill>
                  <a:srgbClr val="FF0000"/>
                </a:solidFill>
              </a:rPr>
              <a:t>Identify threat information that is suitable for sharing with outside parties </a:t>
            </a:r>
            <a:r>
              <a:rPr lang="en-US"/>
              <a:t>and that could </a:t>
            </a:r>
            <a:r>
              <a:rPr lang="en-US">
                <a:solidFill>
                  <a:srgbClr val="FF0000"/>
                </a:solidFill>
              </a:rPr>
              <a:t>help them more effectively respond to threats</a:t>
            </a:r>
            <a:r>
              <a:rPr lang="en-US"/>
              <a:t>.</a:t>
            </a:r>
            <a:endParaRPr/>
          </a:p>
          <a:p>
            <a:pPr indent="-241300" lvl="0" marL="342900" rtl="0" algn="l">
              <a:spcBef>
                <a:spcPts val="1000"/>
              </a:spcBef>
              <a:spcAft>
                <a:spcPts val="0"/>
              </a:spcAft>
              <a:buSzPts val="16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graphicFrame>
        <p:nvGraphicFramePr>
          <p:cNvPr id="283" name="Google Shape;283;p24"/>
          <p:cNvGraphicFramePr/>
          <p:nvPr/>
        </p:nvGraphicFramePr>
        <p:xfrm>
          <a:off x="368347" y="245659"/>
          <a:ext cx="3000000" cy="3000000"/>
        </p:xfrm>
        <a:graphic>
          <a:graphicData uri="http://schemas.openxmlformats.org/drawingml/2006/table">
            <a:tbl>
              <a:tblPr bandRow="1" firstRow="1">
                <a:noFill/>
                <a:tableStyleId>{61241533-657B-42A0-B012-407B42B65A7F}</a:tableStyleId>
              </a:tblPr>
              <a:tblGrid>
                <a:gridCol w="5527675"/>
                <a:gridCol w="5527675"/>
              </a:tblGrid>
              <a:tr h="370850">
                <a:tc>
                  <a:txBody>
                    <a:bodyPr/>
                    <a:lstStyle/>
                    <a:p>
                      <a:pPr indent="0" lvl="0" marL="0" marR="0" rtl="0" algn="l">
                        <a:spcBef>
                          <a:spcPts val="0"/>
                        </a:spcBef>
                        <a:spcAft>
                          <a:spcPts val="0"/>
                        </a:spcAft>
                        <a:buNone/>
                      </a:pPr>
                      <a:r>
                        <a:rPr lang="en-US" sz="1800" u="none" cap="none" strike="noStrike"/>
                        <a:t>Sources</a:t>
                      </a:r>
                      <a:endParaRPr sz="1800"/>
                    </a:p>
                  </a:txBody>
                  <a:tcPr marT="45725" marB="45725" marR="91450" marL="91450"/>
                </a:tc>
                <a:tc>
                  <a:txBody>
                    <a:bodyPr/>
                    <a:lstStyle/>
                    <a:p>
                      <a:pPr indent="0" lvl="0" marL="0" marR="0" rtl="0" algn="l">
                        <a:spcBef>
                          <a:spcPts val="0"/>
                        </a:spcBef>
                        <a:spcAft>
                          <a:spcPts val="0"/>
                        </a:spcAft>
                        <a:buNone/>
                      </a:pPr>
                      <a:r>
                        <a:rPr lang="en-US" sz="1800"/>
                        <a:t>Example</a:t>
                      </a:r>
                      <a:endParaRPr sz="1800"/>
                    </a:p>
                  </a:txBody>
                  <a:tcPr marT="45725" marB="45725" marR="91450" marL="91450"/>
                </a:tc>
              </a:tr>
              <a:tr h="370850">
                <a:tc gridSpan="2">
                  <a:txBody>
                    <a:bodyPr/>
                    <a:lstStyle/>
                    <a:p>
                      <a:pPr indent="0" lvl="0" marL="0" marR="0" rtl="0" algn="ctr">
                        <a:lnSpc>
                          <a:spcPct val="100000"/>
                        </a:lnSpc>
                        <a:spcBef>
                          <a:spcPts val="0"/>
                        </a:spcBef>
                        <a:spcAft>
                          <a:spcPts val="0"/>
                        </a:spcAft>
                        <a:buClr>
                          <a:schemeClr val="dk1"/>
                        </a:buClr>
                        <a:buSzPts val="1800"/>
                        <a:buFont typeface="Century Gothic"/>
                        <a:buNone/>
                      </a:pPr>
                      <a:r>
                        <a:rPr b="1" i="0" lang="en-US" sz="1800" u="none" strike="noStrike">
                          <a:solidFill>
                            <a:schemeClr val="dk1"/>
                          </a:solidFill>
                          <a:latin typeface="Century Gothic"/>
                          <a:ea typeface="Century Gothic"/>
                          <a:cs typeface="Century Gothic"/>
                          <a:sym typeface="Century Gothic"/>
                        </a:rPr>
                        <a:t>Network Data Sources </a:t>
                      </a:r>
                      <a:r>
                        <a:rPr b="0" i="0" lang="en-US" sz="1800" u="none" strike="noStrike">
                          <a:solidFill>
                            <a:schemeClr val="dk1"/>
                          </a:solidFill>
                          <a:latin typeface="Century Gothic"/>
                          <a:ea typeface="Century Gothic"/>
                          <a:cs typeface="Century Gothic"/>
                          <a:sym typeface="Century Gothic"/>
                        </a:rPr>
                        <a:t>	</a:t>
                      </a:r>
                      <a:endParaRPr/>
                    </a:p>
                  </a:txBody>
                  <a:tcPr marT="45725" marB="45725" marR="91450" marL="91450"/>
                </a:tc>
                <a:tc hMerge="1"/>
              </a:tr>
              <a:tr h="370850">
                <a:tc>
                  <a:txBody>
                    <a:bodyPr/>
                    <a:lstStyle/>
                    <a:p>
                      <a:pPr indent="0" lvl="0" marL="0" marR="0" rtl="0" algn="l">
                        <a:lnSpc>
                          <a:spcPct val="100000"/>
                        </a:lnSpc>
                        <a:spcBef>
                          <a:spcPts val="0"/>
                        </a:spcBef>
                        <a:spcAft>
                          <a:spcPts val="0"/>
                        </a:spcAft>
                        <a:buClr>
                          <a:schemeClr val="dk1"/>
                        </a:buClr>
                        <a:buSzPts val="1800"/>
                        <a:buFont typeface="Century Gothic"/>
                        <a:buNone/>
                      </a:pPr>
                      <a:r>
                        <a:rPr b="0" i="0" lang="en-US" sz="1800" u="none" strike="noStrike">
                          <a:solidFill>
                            <a:schemeClr val="dk1"/>
                          </a:solidFill>
                          <a:latin typeface="Century Gothic"/>
                          <a:ea typeface="Century Gothic"/>
                          <a:cs typeface="Century Gothic"/>
                          <a:sym typeface="Century Gothic"/>
                        </a:rPr>
                        <a:t>Router, firewall, Wi-Fi, remote services (such as remote login or remote command execution), and Dynamic Host Configuration Protocol (DHCP) server logs 	</a:t>
                      </a:r>
                      <a:endParaRPr/>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Timestamp </a:t>
                      </a:r>
                      <a:endParaRPr/>
                    </a:p>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Source and destination IP address </a:t>
                      </a:r>
                      <a:endParaRPr/>
                    </a:p>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Domain name </a:t>
                      </a:r>
                      <a:endParaRPr/>
                    </a:p>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TCP/UDP port number </a:t>
                      </a:r>
                      <a:endParaRPr/>
                    </a:p>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Media Access Control (MAC) address </a:t>
                      </a:r>
                      <a:endParaRPr/>
                    </a:p>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Hostname </a:t>
                      </a:r>
                      <a:endParaRPr/>
                    </a:p>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Action (deny/allow) </a:t>
                      </a:r>
                      <a:endParaRPr/>
                    </a:p>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Status code </a:t>
                      </a:r>
                      <a:endParaRPr/>
                    </a:p>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Other protocol information	</a:t>
                      </a:r>
                      <a:endParaRPr/>
                    </a:p>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Diagnostic and monitoring tools (network intrusion detection and prevention system, packet capture &amp; protocol analysis) 	</a:t>
                      </a:r>
                      <a:endParaRPr/>
                    </a:p>
                  </a:txBody>
                  <a:tcPr marT="45725" marB="45725" marR="91450" marL="91450"/>
                </a:tc>
                <a:tc>
                  <a:txBody>
                    <a:bodyPr/>
                    <a:lstStyle/>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Timestamp </a:t>
                      </a:r>
                      <a:endParaRPr/>
                    </a:p>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IP address, port, and other protocol information </a:t>
                      </a:r>
                      <a:endParaRPr/>
                    </a:p>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Network flow data </a:t>
                      </a:r>
                      <a:endParaRPr/>
                    </a:p>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Packet payload </a:t>
                      </a:r>
                      <a:endParaRPr/>
                    </a:p>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Application-specific information </a:t>
                      </a:r>
                      <a:endParaRPr/>
                    </a:p>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Type of attack (e.g., SQL injection, buffer overflow) </a:t>
                      </a:r>
                      <a:endParaRPr/>
                    </a:p>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Targeted vulnerability </a:t>
                      </a:r>
                      <a:endParaRPr/>
                    </a:p>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Attack status (success/fail/blocked) 	</a:t>
                      </a:r>
                      <a:endParaRPr/>
                    </a:p>
                    <a:p>
                      <a:pPr indent="0" lvl="0" marL="0" marR="0" rtl="0" algn="l">
                        <a:spcBef>
                          <a:spcPts val="0"/>
                        </a:spcBef>
                        <a:spcAft>
                          <a:spcPts val="0"/>
                        </a:spcAft>
                        <a:buNone/>
                      </a:pPr>
                      <a:r>
                        <a:t/>
                      </a:r>
                      <a:endParaRPr sz="1800"/>
                    </a:p>
                  </a:txBody>
                  <a:tcPr marT="45725" marB="45725" marR="91450" marL="91450"/>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graphicFrame>
        <p:nvGraphicFramePr>
          <p:cNvPr id="288" name="Google Shape;288;p25"/>
          <p:cNvGraphicFramePr/>
          <p:nvPr/>
        </p:nvGraphicFramePr>
        <p:xfrm>
          <a:off x="1458155" y="387610"/>
          <a:ext cx="3000000" cy="3000000"/>
        </p:xfrm>
        <a:graphic>
          <a:graphicData uri="http://schemas.openxmlformats.org/drawingml/2006/table">
            <a:tbl>
              <a:tblPr bandRow="1" firstRow="1">
                <a:noFill/>
                <a:tableStyleId>{61241533-657B-42A0-B012-407B42B65A7F}</a:tableStyleId>
              </a:tblPr>
              <a:tblGrid>
                <a:gridCol w="4473575"/>
                <a:gridCol w="4473575"/>
              </a:tblGrid>
              <a:tr h="370850">
                <a:tc>
                  <a:txBody>
                    <a:bodyPr/>
                    <a:lstStyle/>
                    <a:p>
                      <a:pPr indent="0" lvl="0" marL="0" marR="0" rtl="0" algn="l">
                        <a:spcBef>
                          <a:spcPts val="0"/>
                        </a:spcBef>
                        <a:spcAft>
                          <a:spcPts val="0"/>
                        </a:spcAft>
                        <a:buNone/>
                      </a:pPr>
                      <a:r>
                        <a:rPr b="0" i="0" lang="en-US" sz="1800" u="none" strike="noStrike">
                          <a:solidFill>
                            <a:schemeClr val="lt1"/>
                          </a:solidFill>
                          <a:latin typeface="Century Gothic"/>
                          <a:ea typeface="Century Gothic"/>
                          <a:cs typeface="Century Gothic"/>
                          <a:sym typeface="Century Gothic"/>
                        </a:rPr>
                        <a:t>Source 	</a:t>
                      </a:r>
                      <a:endParaRPr/>
                    </a:p>
                  </a:txBody>
                  <a:tcPr marT="45725" marB="45725" marR="91450" marL="91450"/>
                </a:tc>
                <a:tc>
                  <a:txBody>
                    <a:bodyPr/>
                    <a:lstStyle/>
                    <a:p>
                      <a:pPr indent="0" lvl="0" marL="0" marR="0" rtl="0" algn="l">
                        <a:lnSpc>
                          <a:spcPct val="100000"/>
                        </a:lnSpc>
                        <a:spcBef>
                          <a:spcPts val="0"/>
                        </a:spcBef>
                        <a:spcAft>
                          <a:spcPts val="0"/>
                        </a:spcAft>
                        <a:buClr>
                          <a:schemeClr val="lt1"/>
                        </a:buClr>
                        <a:buSzPts val="1800"/>
                        <a:buFont typeface="Century Gothic"/>
                        <a:buNone/>
                      </a:pPr>
                      <a:r>
                        <a:rPr b="0" i="0" lang="en-US" sz="1800" u="none" strike="noStrike">
                          <a:solidFill>
                            <a:schemeClr val="lt1"/>
                          </a:solidFill>
                          <a:latin typeface="Century Gothic"/>
                          <a:ea typeface="Century Gothic"/>
                          <a:cs typeface="Century Gothic"/>
                          <a:sym typeface="Century Gothic"/>
                        </a:rPr>
                        <a:t>Examples 	</a:t>
                      </a:r>
                      <a:endParaRPr/>
                    </a:p>
                    <a:p>
                      <a:pPr indent="0" lvl="0" marL="0" marR="0" rtl="0" algn="l">
                        <a:spcBef>
                          <a:spcPts val="0"/>
                        </a:spcBef>
                        <a:spcAft>
                          <a:spcPts val="0"/>
                        </a:spcAft>
                        <a:buNone/>
                      </a:pPr>
                      <a:r>
                        <a:t/>
                      </a:r>
                      <a:endParaRPr sz="1800"/>
                    </a:p>
                  </a:txBody>
                  <a:tcPr marT="45725" marB="45725" marR="91450" marL="91450"/>
                </a:tc>
              </a:tr>
              <a:tr h="370850">
                <a:tc gridSpan="2">
                  <a:txBody>
                    <a:bodyPr/>
                    <a:lstStyle/>
                    <a:p>
                      <a:pPr indent="0" lvl="0" marL="0" marR="0" rtl="0" algn="ctr">
                        <a:spcBef>
                          <a:spcPts val="0"/>
                        </a:spcBef>
                        <a:spcAft>
                          <a:spcPts val="0"/>
                        </a:spcAft>
                        <a:buNone/>
                      </a:pPr>
                      <a:r>
                        <a:rPr b="1" i="0" lang="en-US" sz="1800" u="none" strike="noStrike">
                          <a:solidFill>
                            <a:schemeClr val="dk1"/>
                          </a:solidFill>
                          <a:latin typeface="Century Gothic"/>
                          <a:ea typeface="Century Gothic"/>
                          <a:cs typeface="Century Gothic"/>
                          <a:sym typeface="Century Gothic"/>
                        </a:rPr>
                        <a:t>Host Data Sources </a:t>
                      </a:r>
                      <a:r>
                        <a:rPr b="0" i="0" lang="en-US" sz="1800" u="none" strike="noStrike">
                          <a:solidFill>
                            <a:schemeClr val="dk1"/>
                          </a:solidFill>
                          <a:latin typeface="Century Gothic"/>
                          <a:ea typeface="Century Gothic"/>
                          <a:cs typeface="Century Gothic"/>
                          <a:sym typeface="Century Gothic"/>
                        </a:rPr>
                        <a:t>	</a:t>
                      </a:r>
                      <a:endParaRPr/>
                    </a:p>
                  </a:txBody>
                  <a:tcPr marT="45725" marB="45725" marR="91450" marL="91450"/>
                </a:tc>
                <a:tc hMerge="1"/>
              </a:tr>
              <a:tr h="370850">
                <a:tc>
                  <a:txBody>
                    <a:bodyPr/>
                    <a:lstStyle/>
                    <a:p>
                      <a:pPr indent="0" lvl="0" marL="0" marR="0" rtl="0" algn="l">
                        <a:lnSpc>
                          <a:spcPct val="100000"/>
                        </a:lnSpc>
                        <a:spcBef>
                          <a:spcPts val="0"/>
                        </a:spcBef>
                        <a:spcAft>
                          <a:spcPts val="0"/>
                        </a:spcAft>
                        <a:buClr>
                          <a:schemeClr val="dk1"/>
                        </a:buClr>
                        <a:buSzPts val="1800"/>
                        <a:buFont typeface="Century Gothic"/>
                        <a:buNone/>
                      </a:pPr>
                      <a:r>
                        <a:rPr b="0" i="0" lang="en-US" sz="1800" u="none" strike="noStrike">
                          <a:solidFill>
                            <a:schemeClr val="dk1"/>
                          </a:solidFill>
                          <a:latin typeface="Century Gothic"/>
                          <a:ea typeface="Century Gothic"/>
                          <a:cs typeface="Century Gothic"/>
                          <a:sym typeface="Century Gothic"/>
                        </a:rPr>
                        <a:t>Operating system and application configuration settings, states, and logs 	</a:t>
                      </a:r>
                      <a:endParaRPr/>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Bound and established network connection and port </a:t>
                      </a:r>
                      <a:endParaRPr/>
                    </a:p>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Process and thread </a:t>
                      </a:r>
                      <a:endParaRPr/>
                    </a:p>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Registry setting </a:t>
                      </a:r>
                      <a:endParaRPr/>
                    </a:p>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Configuration file entry </a:t>
                      </a:r>
                      <a:endParaRPr/>
                    </a:p>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Software version and patch level information </a:t>
                      </a:r>
                      <a:endParaRPr/>
                    </a:p>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Hardware information </a:t>
                      </a:r>
                      <a:endParaRPr/>
                    </a:p>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User and group </a:t>
                      </a:r>
                      <a:endParaRPr/>
                    </a:p>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File attribute (e.g., name, hash value, permissions, timestamp, size) </a:t>
                      </a:r>
                      <a:endParaRPr/>
                    </a:p>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File access </a:t>
                      </a:r>
                      <a:endParaRPr/>
                    </a:p>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System event (e.g., startup, shutdown, failures) </a:t>
                      </a:r>
                      <a:endParaRPr/>
                    </a:p>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Command history 	</a:t>
                      </a:r>
                      <a:endParaRPr/>
                    </a:p>
                  </a:txBody>
                  <a:tcPr marT="45725" marB="45725" marR="91450" marL="91450"/>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graphicFrame>
        <p:nvGraphicFramePr>
          <p:cNvPr id="293" name="Google Shape;293;p26"/>
          <p:cNvGraphicFramePr/>
          <p:nvPr/>
        </p:nvGraphicFramePr>
        <p:xfrm>
          <a:off x="762119" y="469498"/>
          <a:ext cx="3000000" cy="3000000"/>
        </p:xfrm>
        <a:graphic>
          <a:graphicData uri="http://schemas.openxmlformats.org/drawingml/2006/table">
            <a:tbl>
              <a:tblPr bandRow="1" firstRow="1">
                <a:noFill/>
                <a:tableStyleId>{61241533-657B-42A0-B012-407B42B65A7F}</a:tableStyleId>
              </a:tblPr>
              <a:tblGrid>
                <a:gridCol w="4473575"/>
                <a:gridCol w="4473575"/>
              </a:tblGrid>
              <a:tr h="370850">
                <a:tc>
                  <a:txBody>
                    <a:bodyPr/>
                    <a:lstStyle/>
                    <a:p>
                      <a:pPr indent="0" lvl="0" marL="0" marR="0" rtl="0" algn="l">
                        <a:lnSpc>
                          <a:spcPct val="100000"/>
                        </a:lnSpc>
                        <a:spcBef>
                          <a:spcPts val="0"/>
                        </a:spcBef>
                        <a:spcAft>
                          <a:spcPts val="0"/>
                        </a:spcAft>
                        <a:buClr>
                          <a:schemeClr val="lt1"/>
                        </a:buClr>
                        <a:buSzPts val="1800"/>
                        <a:buFont typeface="Century Gothic"/>
                        <a:buNone/>
                      </a:pPr>
                      <a:r>
                        <a:rPr b="0" i="0" lang="en-US" sz="1800" u="none" strike="noStrike">
                          <a:solidFill>
                            <a:schemeClr val="lt1"/>
                          </a:solidFill>
                          <a:latin typeface="Century Gothic"/>
                          <a:ea typeface="Century Gothic"/>
                          <a:cs typeface="Century Gothic"/>
                          <a:sym typeface="Century Gothic"/>
                        </a:rPr>
                        <a:t>Antivirus products 	</a:t>
                      </a:r>
                      <a:endParaRPr/>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b="0" i="0" lang="en-US" sz="1800" u="none" strike="noStrike">
                          <a:solidFill>
                            <a:schemeClr val="lt1"/>
                          </a:solidFill>
                          <a:latin typeface="Century Gothic"/>
                          <a:ea typeface="Century Gothic"/>
                          <a:cs typeface="Century Gothic"/>
                          <a:sym typeface="Century Gothic"/>
                        </a:rPr>
                        <a:t>Hostname </a:t>
                      </a:r>
                      <a:endParaRPr/>
                    </a:p>
                    <a:p>
                      <a:pPr indent="0" lvl="0" marL="0" marR="0" rtl="0" algn="l">
                        <a:spcBef>
                          <a:spcPts val="0"/>
                        </a:spcBef>
                        <a:spcAft>
                          <a:spcPts val="0"/>
                        </a:spcAft>
                        <a:buNone/>
                      </a:pPr>
                      <a:r>
                        <a:rPr b="0" i="0" lang="en-US" sz="1800" u="none" strike="noStrike">
                          <a:solidFill>
                            <a:schemeClr val="lt1"/>
                          </a:solidFill>
                          <a:latin typeface="Century Gothic"/>
                          <a:ea typeface="Century Gothic"/>
                          <a:cs typeface="Century Gothic"/>
                          <a:sym typeface="Century Gothic"/>
                        </a:rPr>
                        <a:t>IP address </a:t>
                      </a:r>
                      <a:endParaRPr/>
                    </a:p>
                    <a:p>
                      <a:pPr indent="0" lvl="0" marL="0" marR="0" rtl="0" algn="l">
                        <a:spcBef>
                          <a:spcPts val="0"/>
                        </a:spcBef>
                        <a:spcAft>
                          <a:spcPts val="0"/>
                        </a:spcAft>
                        <a:buNone/>
                      </a:pPr>
                      <a:r>
                        <a:rPr b="0" i="0" lang="en-US" sz="1800" u="none" strike="noStrike">
                          <a:solidFill>
                            <a:schemeClr val="lt1"/>
                          </a:solidFill>
                          <a:latin typeface="Century Gothic"/>
                          <a:ea typeface="Century Gothic"/>
                          <a:cs typeface="Century Gothic"/>
                          <a:sym typeface="Century Gothic"/>
                        </a:rPr>
                        <a:t>MAC address </a:t>
                      </a:r>
                      <a:endParaRPr/>
                    </a:p>
                    <a:p>
                      <a:pPr indent="0" lvl="0" marL="0" marR="0" rtl="0" algn="l">
                        <a:spcBef>
                          <a:spcPts val="0"/>
                        </a:spcBef>
                        <a:spcAft>
                          <a:spcPts val="0"/>
                        </a:spcAft>
                        <a:buNone/>
                      </a:pPr>
                      <a:r>
                        <a:rPr b="0" i="0" lang="en-US" sz="1800" u="none" strike="noStrike">
                          <a:solidFill>
                            <a:schemeClr val="lt1"/>
                          </a:solidFill>
                          <a:latin typeface="Century Gothic"/>
                          <a:ea typeface="Century Gothic"/>
                          <a:cs typeface="Century Gothic"/>
                          <a:sym typeface="Century Gothic"/>
                        </a:rPr>
                        <a:t>Malware name </a:t>
                      </a:r>
                      <a:endParaRPr/>
                    </a:p>
                    <a:p>
                      <a:pPr indent="0" lvl="0" marL="0" marR="0" rtl="0" algn="l">
                        <a:spcBef>
                          <a:spcPts val="0"/>
                        </a:spcBef>
                        <a:spcAft>
                          <a:spcPts val="0"/>
                        </a:spcAft>
                        <a:buNone/>
                      </a:pPr>
                      <a:r>
                        <a:rPr b="0" i="0" lang="en-US" sz="1800" u="none" strike="noStrike">
                          <a:solidFill>
                            <a:schemeClr val="lt1"/>
                          </a:solidFill>
                          <a:latin typeface="Century Gothic"/>
                          <a:ea typeface="Century Gothic"/>
                          <a:cs typeface="Century Gothic"/>
                          <a:sym typeface="Century Gothic"/>
                        </a:rPr>
                        <a:t>Malware type (e.g., virus, hacking tool, spyware, remote access) </a:t>
                      </a:r>
                      <a:endParaRPr/>
                    </a:p>
                    <a:p>
                      <a:pPr indent="0" lvl="0" marL="0" marR="0" rtl="0" algn="l">
                        <a:spcBef>
                          <a:spcPts val="0"/>
                        </a:spcBef>
                        <a:spcAft>
                          <a:spcPts val="0"/>
                        </a:spcAft>
                        <a:buNone/>
                      </a:pPr>
                      <a:r>
                        <a:rPr b="0" i="0" lang="en-US" sz="1800" u="none" strike="noStrike">
                          <a:solidFill>
                            <a:schemeClr val="lt1"/>
                          </a:solidFill>
                          <a:latin typeface="Century Gothic"/>
                          <a:ea typeface="Century Gothic"/>
                          <a:cs typeface="Century Gothic"/>
                          <a:sym typeface="Century Gothic"/>
                        </a:rPr>
                        <a:t>File name </a:t>
                      </a:r>
                      <a:endParaRPr/>
                    </a:p>
                    <a:p>
                      <a:pPr indent="0" lvl="0" marL="0" marR="0" rtl="0" algn="l">
                        <a:spcBef>
                          <a:spcPts val="0"/>
                        </a:spcBef>
                        <a:spcAft>
                          <a:spcPts val="0"/>
                        </a:spcAft>
                        <a:buNone/>
                      </a:pPr>
                      <a:r>
                        <a:rPr b="0" i="0" lang="en-US" sz="1800" u="none" strike="noStrike">
                          <a:solidFill>
                            <a:schemeClr val="lt1"/>
                          </a:solidFill>
                          <a:latin typeface="Century Gothic"/>
                          <a:ea typeface="Century Gothic"/>
                          <a:cs typeface="Century Gothic"/>
                          <a:sym typeface="Century Gothic"/>
                        </a:rPr>
                        <a:t>File location (i.e., path) </a:t>
                      </a:r>
                      <a:endParaRPr/>
                    </a:p>
                    <a:p>
                      <a:pPr indent="0" lvl="0" marL="0" marR="0" rtl="0" algn="l">
                        <a:spcBef>
                          <a:spcPts val="0"/>
                        </a:spcBef>
                        <a:spcAft>
                          <a:spcPts val="0"/>
                        </a:spcAft>
                        <a:buNone/>
                      </a:pPr>
                      <a:r>
                        <a:rPr b="0" i="0" lang="en-US" sz="1800" u="none" strike="noStrike">
                          <a:solidFill>
                            <a:schemeClr val="lt1"/>
                          </a:solidFill>
                          <a:latin typeface="Century Gothic"/>
                          <a:ea typeface="Century Gothic"/>
                          <a:cs typeface="Century Gothic"/>
                          <a:sym typeface="Century Gothic"/>
                        </a:rPr>
                        <a:t>File hash </a:t>
                      </a:r>
                      <a:endParaRPr/>
                    </a:p>
                    <a:p>
                      <a:pPr indent="0" lvl="0" marL="0" marR="0" rtl="0" algn="l">
                        <a:spcBef>
                          <a:spcPts val="0"/>
                        </a:spcBef>
                        <a:spcAft>
                          <a:spcPts val="0"/>
                        </a:spcAft>
                        <a:buNone/>
                      </a:pPr>
                      <a:r>
                        <a:rPr b="0" i="0" lang="en-US" sz="1800" u="none" strike="noStrike">
                          <a:solidFill>
                            <a:schemeClr val="lt1"/>
                          </a:solidFill>
                          <a:latin typeface="Century Gothic"/>
                          <a:ea typeface="Century Gothic"/>
                          <a:cs typeface="Century Gothic"/>
                          <a:sym typeface="Century Gothic"/>
                        </a:rPr>
                        <a:t>Action taken (e.g., quarantine, clean, rename, delete) 	</a:t>
                      </a:r>
                      <a:endParaRPr/>
                    </a:p>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800"/>
                        <a:buFont typeface="Century Gothic"/>
                        <a:buNone/>
                      </a:pPr>
                      <a:r>
                        <a:rPr b="0" i="0" lang="en-US" sz="1800" u="none" strike="noStrike">
                          <a:solidFill>
                            <a:schemeClr val="dk1"/>
                          </a:solidFill>
                          <a:latin typeface="Century Gothic"/>
                          <a:ea typeface="Century Gothic"/>
                          <a:cs typeface="Century Gothic"/>
                          <a:sym typeface="Century Gothic"/>
                        </a:rPr>
                        <a:t>Web browsers 	</a:t>
                      </a:r>
                      <a:endParaRPr/>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Browser history and cache including: </a:t>
                      </a:r>
                      <a:endParaRPr/>
                    </a:p>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•Site visited</a:t>
                      </a:r>
                      <a:endParaRPr/>
                    </a:p>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•Object downloaded</a:t>
                      </a:r>
                      <a:endParaRPr/>
                    </a:p>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•Object uploaded</a:t>
                      </a:r>
                      <a:endParaRPr/>
                    </a:p>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•Browser extension installed or enabled</a:t>
                      </a:r>
                      <a:endParaRPr/>
                    </a:p>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•Cookies</a:t>
                      </a:r>
                      <a:endParaRPr/>
                    </a:p>
                    <a:p>
                      <a:pPr indent="0" lvl="0" marL="0" marR="0" rtl="0" algn="l">
                        <a:spcBef>
                          <a:spcPts val="0"/>
                        </a:spcBef>
                        <a:spcAft>
                          <a:spcPts val="0"/>
                        </a:spcAft>
                        <a:buNone/>
                      </a:pPr>
                      <a:r>
                        <a:rPr b="0" i="0" lang="en-US" sz="1800" u="none" strike="noStrike">
                          <a:solidFill>
                            <a:schemeClr val="dk1"/>
                          </a:solidFill>
                          <a:latin typeface="Century Gothic"/>
                          <a:ea typeface="Century Gothic"/>
                          <a:cs typeface="Century Gothic"/>
                          <a:sym typeface="Century Gothic"/>
                        </a:rPr>
                        <a:t>	</a:t>
                      </a:r>
                      <a:endParaRPr/>
                    </a:p>
                    <a:p>
                      <a:pPr indent="0" lvl="0" marL="0" marR="0" rtl="0" algn="l">
                        <a:spcBef>
                          <a:spcPts val="0"/>
                        </a:spcBef>
                        <a:spcAft>
                          <a:spcPts val="0"/>
                        </a:spcAft>
                        <a:buNone/>
                      </a:pPr>
                      <a:r>
                        <a:t/>
                      </a:r>
                      <a:endParaRPr sz="1800"/>
                    </a:p>
                  </a:txBody>
                  <a:tcPr marT="45725" marB="45725" marR="91450" marL="91450"/>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7"/>
          <p:cNvSpPr txBox="1"/>
          <p:nvPr>
            <p:ph idx="1" type="body"/>
          </p:nvPr>
        </p:nvSpPr>
        <p:spPr>
          <a:xfrm>
            <a:off x="491319" y="742733"/>
            <a:ext cx="11109278" cy="56853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b="1" lang="en-US"/>
              <a:t>Define the Scope of Information Sharing Activities</a:t>
            </a:r>
            <a:endParaRPr/>
          </a:p>
          <a:p>
            <a:pPr indent="-342900" lvl="0" marL="342900" rtl="0" algn="l">
              <a:spcBef>
                <a:spcPts val="1000"/>
              </a:spcBef>
              <a:spcAft>
                <a:spcPts val="0"/>
              </a:spcAft>
              <a:buSzPts val="1600"/>
              <a:buChar char="►"/>
            </a:pPr>
            <a:r>
              <a:rPr lang="en-US"/>
              <a:t>Organizations should </a:t>
            </a:r>
            <a:r>
              <a:rPr lang="en-US">
                <a:solidFill>
                  <a:srgbClr val="FF0000"/>
                </a:solidFill>
              </a:rPr>
              <a:t>specify the scope </a:t>
            </a:r>
            <a:r>
              <a:rPr lang="en-US"/>
              <a:t>of their information sharing </a:t>
            </a:r>
            <a:r>
              <a:rPr lang="en-US">
                <a:solidFill>
                  <a:srgbClr val="FF0000"/>
                </a:solidFill>
              </a:rPr>
              <a:t>activities by identifying the types of information available to share, the circumstances under which sharing this information is permitted, and those with whom the information can and should be shared. </a:t>
            </a:r>
            <a:endParaRPr>
              <a:solidFill>
                <a:srgbClr val="FF0000"/>
              </a:solidFill>
            </a:endParaRPr>
          </a:p>
          <a:p>
            <a:pPr indent="-342900" lvl="0" marL="342900" rtl="0" algn="l">
              <a:spcBef>
                <a:spcPts val="1000"/>
              </a:spcBef>
              <a:spcAft>
                <a:spcPts val="0"/>
              </a:spcAft>
              <a:buSzPts val="1600"/>
              <a:buChar char="►"/>
            </a:pPr>
            <a:r>
              <a:rPr lang="en-US"/>
              <a:t>Organizations </a:t>
            </a:r>
            <a:r>
              <a:rPr lang="en-US">
                <a:solidFill>
                  <a:srgbClr val="FF0000"/>
                </a:solidFill>
              </a:rPr>
              <a:t>should review their information sharing goals and objectives while scoping information</a:t>
            </a:r>
            <a:r>
              <a:rPr lang="en-US"/>
              <a:t> </a:t>
            </a:r>
            <a:r>
              <a:rPr lang="en-US">
                <a:solidFill>
                  <a:srgbClr val="FF0000"/>
                </a:solidFill>
              </a:rPr>
              <a:t>sharing activities </a:t>
            </a:r>
            <a:r>
              <a:rPr lang="en-US"/>
              <a:t>to ensure that priorities are addressed. </a:t>
            </a:r>
            <a:endParaRPr/>
          </a:p>
          <a:p>
            <a:pPr indent="-342900" lvl="0" marL="342900" rtl="0" algn="l">
              <a:spcBef>
                <a:spcPts val="1000"/>
              </a:spcBef>
              <a:spcAft>
                <a:spcPts val="0"/>
              </a:spcAft>
              <a:buSzPts val="1600"/>
              <a:buChar char="►"/>
            </a:pPr>
            <a:r>
              <a:rPr lang="en-US"/>
              <a:t>When defining these activities, </a:t>
            </a:r>
            <a:r>
              <a:rPr lang="en-US">
                <a:solidFill>
                  <a:srgbClr val="FF0000"/>
                </a:solidFill>
              </a:rPr>
              <a:t>organizations should ensure that the information sources and capabilities needed to support each activity are available. </a:t>
            </a:r>
            <a:r>
              <a:rPr lang="en-US"/>
              <a:t>Organizations should also consider pursuing sharing activities that will </a:t>
            </a:r>
            <a:r>
              <a:rPr lang="en-US">
                <a:solidFill>
                  <a:srgbClr val="FF0000"/>
                </a:solidFill>
              </a:rPr>
              <a:t>address known information gaps.</a:t>
            </a:r>
            <a:endParaRPr/>
          </a:p>
          <a:p>
            <a:pPr indent="-342900" lvl="0" marL="342900" rtl="0" algn="l">
              <a:spcBef>
                <a:spcPts val="1000"/>
              </a:spcBef>
              <a:spcAft>
                <a:spcPts val="0"/>
              </a:spcAft>
              <a:buSzPts val="1600"/>
              <a:buChar char="►"/>
            </a:pPr>
            <a:r>
              <a:rPr lang="en-US"/>
              <a:t> For example, an organization might not have an internal malware analysis capability, but it may gain access to malware indicators by participating in a sharing community </a:t>
            </a:r>
            <a:r>
              <a:rPr b="1" lang="en-US"/>
              <a:t>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8"/>
          <p:cNvSpPr txBox="1"/>
          <p:nvPr>
            <p:ph idx="1" type="body"/>
          </p:nvPr>
        </p:nvSpPr>
        <p:spPr>
          <a:xfrm>
            <a:off x="709683" y="368491"/>
            <a:ext cx="11136574" cy="6223378"/>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1600"/>
              <a:buChar char="►"/>
            </a:pPr>
            <a:r>
              <a:rPr b="1" lang="en-US"/>
              <a:t>Establish Information Sharing Rules </a:t>
            </a:r>
            <a:endParaRPr b="1"/>
          </a:p>
          <a:p>
            <a:pPr indent="-342900" lvl="0" marL="342900" rtl="0" algn="l">
              <a:spcBef>
                <a:spcPts val="1000"/>
              </a:spcBef>
              <a:spcAft>
                <a:spcPts val="0"/>
              </a:spcAft>
              <a:buSzPts val="1600"/>
              <a:buChar char="►"/>
            </a:pPr>
            <a:r>
              <a:rPr lang="en-US"/>
              <a:t>Before sharing threat information, organizations should: </a:t>
            </a:r>
            <a:endParaRPr/>
          </a:p>
          <a:p>
            <a:pPr indent="0" lvl="0" marL="0" rtl="0" algn="l">
              <a:spcBef>
                <a:spcPts val="1000"/>
              </a:spcBef>
              <a:spcAft>
                <a:spcPts val="0"/>
              </a:spcAft>
              <a:buSzPts val="1600"/>
              <a:buNone/>
            </a:pPr>
            <a:r>
              <a:rPr lang="en-US"/>
              <a:t>• </a:t>
            </a:r>
            <a:r>
              <a:rPr lang="en-US">
                <a:solidFill>
                  <a:srgbClr val="FF0000"/>
                </a:solidFill>
              </a:rPr>
              <a:t>List the types of threat information </a:t>
            </a:r>
            <a:r>
              <a:rPr lang="en-US"/>
              <a:t>that may be shared</a:t>
            </a:r>
            <a:endParaRPr/>
          </a:p>
          <a:p>
            <a:pPr indent="0" lvl="0" marL="0" rtl="0" algn="l">
              <a:spcBef>
                <a:spcPts val="1000"/>
              </a:spcBef>
              <a:spcAft>
                <a:spcPts val="0"/>
              </a:spcAft>
              <a:buSzPts val="1600"/>
              <a:buNone/>
            </a:pPr>
            <a:r>
              <a:rPr lang="en-US"/>
              <a:t>• </a:t>
            </a:r>
            <a:r>
              <a:rPr lang="en-US">
                <a:solidFill>
                  <a:srgbClr val="FF0000"/>
                </a:solidFill>
              </a:rPr>
              <a:t>Describe the conditions and circumstances </a:t>
            </a:r>
            <a:r>
              <a:rPr lang="en-US"/>
              <a:t>when sharing is permitted. </a:t>
            </a:r>
            <a:endParaRPr/>
          </a:p>
          <a:p>
            <a:pPr indent="0" lvl="0" marL="0" rtl="0" algn="l">
              <a:spcBef>
                <a:spcPts val="1000"/>
              </a:spcBef>
              <a:spcAft>
                <a:spcPts val="0"/>
              </a:spcAft>
              <a:buSzPts val="1600"/>
              <a:buNone/>
            </a:pPr>
            <a:r>
              <a:rPr lang="en-US"/>
              <a:t>• </a:t>
            </a:r>
            <a:r>
              <a:rPr lang="en-US">
                <a:solidFill>
                  <a:srgbClr val="FF0000"/>
                </a:solidFill>
              </a:rPr>
              <a:t>Identify approved recipients </a:t>
            </a:r>
            <a:r>
              <a:rPr lang="en-US"/>
              <a:t>of threat information. </a:t>
            </a:r>
            <a:endParaRPr/>
          </a:p>
          <a:p>
            <a:pPr indent="0" lvl="0" marL="0" rtl="0" algn="l">
              <a:spcBef>
                <a:spcPts val="1000"/>
              </a:spcBef>
              <a:spcAft>
                <a:spcPts val="0"/>
              </a:spcAft>
              <a:buSzPts val="1600"/>
              <a:buNone/>
            </a:pPr>
            <a:r>
              <a:rPr lang="en-US"/>
              <a:t>• Describe </a:t>
            </a:r>
            <a:r>
              <a:rPr lang="en-US">
                <a:solidFill>
                  <a:srgbClr val="FF0000"/>
                </a:solidFill>
              </a:rPr>
              <a:t>any requirements for redacting or sanitizing information </a:t>
            </a:r>
            <a:r>
              <a:rPr lang="en-US"/>
              <a:t>to be shared. </a:t>
            </a:r>
            <a:endParaRPr/>
          </a:p>
          <a:p>
            <a:pPr indent="0" lvl="0" marL="0" rtl="0" algn="l">
              <a:spcBef>
                <a:spcPts val="1000"/>
              </a:spcBef>
              <a:spcAft>
                <a:spcPts val="0"/>
              </a:spcAft>
              <a:buSzPts val="1600"/>
              <a:buNone/>
            </a:pPr>
            <a:r>
              <a:rPr lang="en-US"/>
              <a:t>• Specify </a:t>
            </a:r>
            <a:r>
              <a:rPr lang="en-US">
                <a:solidFill>
                  <a:srgbClr val="FF0000"/>
                </a:solidFill>
              </a:rPr>
              <a:t>if source attribution </a:t>
            </a:r>
            <a:r>
              <a:rPr lang="en-US"/>
              <a:t>is permitted. </a:t>
            </a:r>
            <a:endParaRPr/>
          </a:p>
          <a:p>
            <a:pPr indent="0" lvl="0" marL="0" rtl="0" algn="l">
              <a:spcBef>
                <a:spcPts val="1000"/>
              </a:spcBef>
              <a:spcAft>
                <a:spcPts val="0"/>
              </a:spcAft>
              <a:buSzPts val="1600"/>
              <a:buNone/>
            </a:pPr>
            <a:r>
              <a:rPr lang="en-US">
                <a:solidFill>
                  <a:srgbClr val="FF0000"/>
                </a:solidFill>
              </a:rPr>
              <a:t>• Apply information handling designations </a:t>
            </a:r>
            <a:r>
              <a:rPr lang="en-US"/>
              <a:t>that describe recipient obligations for protecting information. </a:t>
            </a:r>
            <a:endParaRPr/>
          </a:p>
          <a:p>
            <a:pPr indent="-241300" lvl="0" marL="342900" rtl="0" algn="l">
              <a:spcBef>
                <a:spcPts val="1000"/>
              </a:spcBef>
              <a:spcAft>
                <a:spcPts val="0"/>
              </a:spcAft>
              <a:buSzPts val="1600"/>
              <a:buNone/>
            </a:pPr>
            <a:r>
              <a:t/>
            </a:r>
            <a:endParaRPr/>
          </a:p>
          <a:p>
            <a:pPr indent="-342900" lvl="0" marL="342900" rtl="0" algn="l">
              <a:spcBef>
                <a:spcPts val="1000"/>
              </a:spcBef>
              <a:spcAft>
                <a:spcPts val="0"/>
              </a:spcAft>
              <a:buSzPts val="1600"/>
              <a:buChar char="►"/>
            </a:pPr>
            <a:r>
              <a:rPr lang="en-US"/>
              <a:t>Sharing rules help </a:t>
            </a:r>
            <a:r>
              <a:rPr lang="en-US">
                <a:solidFill>
                  <a:srgbClr val="FF0000"/>
                </a:solidFill>
              </a:rPr>
              <a:t>control the publication and distribution of threat information</a:t>
            </a:r>
            <a:r>
              <a:rPr lang="en-US"/>
              <a:t>, and consequently </a:t>
            </a:r>
            <a:r>
              <a:rPr lang="en-US">
                <a:solidFill>
                  <a:srgbClr val="FF0000"/>
                </a:solidFill>
              </a:rPr>
              <a:t>help to prevent the dissemination of information </a:t>
            </a:r>
            <a:r>
              <a:rPr lang="en-US"/>
              <a:t>that, if improperly disclosed, may have adverse consequences for the organization or its customers or business partners. </a:t>
            </a:r>
            <a:endParaRPr/>
          </a:p>
          <a:p>
            <a:pPr indent="-342900" lvl="0" marL="342900" rtl="0" algn="l">
              <a:spcBef>
                <a:spcPts val="1000"/>
              </a:spcBef>
              <a:spcAft>
                <a:spcPts val="0"/>
              </a:spcAft>
              <a:buSzPts val="1600"/>
              <a:buChar char="►"/>
            </a:pPr>
            <a:r>
              <a:rPr lang="en-US"/>
              <a:t>Information sharing rules should take into consideration the </a:t>
            </a:r>
            <a:r>
              <a:rPr lang="en-US">
                <a:solidFill>
                  <a:srgbClr val="FF0000"/>
                </a:solidFill>
              </a:rPr>
              <a:t>trustworthiness of the recipient, the sensitivity of the shared information, and the potential impacts of sharing (or not sharing).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9"/>
          <p:cNvSpPr txBox="1"/>
          <p:nvPr>
            <p:ph idx="1" type="body"/>
          </p:nvPr>
        </p:nvSpPr>
        <p:spPr>
          <a:xfrm>
            <a:off x="450377" y="718783"/>
            <a:ext cx="11313993" cy="604368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b="1" lang="en-US"/>
              <a:t>Information Sensitivity and Privacy</a:t>
            </a:r>
            <a:endParaRPr/>
          </a:p>
          <a:p>
            <a:pPr indent="-342900" lvl="0" marL="342900" rtl="0" algn="l">
              <a:spcBef>
                <a:spcPts val="1000"/>
              </a:spcBef>
              <a:spcAft>
                <a:spcPts val="0"/>
              </a:spcAft>
              <a:buSzPts val="1600"/>
              <a:buChar char="►"/>
            </a:pPr>
            <a:r>
              <a:rPr lang="en-US"/>
              <a:t>From a privacy perspective, </a:t>
            </a:r>
            <a:r>
              <a:rPr lang="en-US">
                <a:solidFill>
                  <a:srgbClr val="FF0000"/>
                </a:solidFill>
              </a:rPr>
              <a:t>one of the key challenges with threat information sharing is the potential for disclosure of </a:t>
            </a:r>
            <a:r>
              <a:rPr b="1" lang="en-US">
                <a:solidFill>
                  <a:srgbClr val="FF0000"/>
                </a:solidFill>
              </a:rPr>
              <a:t>PII(personally identifiable information ). </a:t>
            </a:r>
            <a:endParaRPr/>
          </a:p>
          <a:p>
            <a:pPr indent="-342900" lvl="0" marL="342900" rtl="0" algn="l">
              <a:spcBef>
                <a:spcPts val="1000"/>
              </a:spcBef>
              <a:spcAft>
                <a:spcPts val="0"/>
              </a:spcAft>
              <a:buSzPts val="1600"/>
              <a:buChar char="►"/>
            </a:pPr>
            <a:r>
              <a:rPr lang="en-US">
                <a:solidFill>
                  <a:srgbClr val="FF0000"/>
                </a:solidFill>
              </a:rPr>
              <a:t>Education and awareness activities are critical </a:t>
            </a:r>
            <a:r>
              <a:rPr lang="en-US"/>
              <a:t>to ensure that individuals responsible for handling threat information </a:t>
            </a:r>
            <a:r>
              <a:rPr lang="en-US">
                <a:solidFill>
                  <a:srgbClr val="FF0000"/>
                </a:solidFill>
              </a:rPr>
              <a:t>understand how to recognize and safeguard PII. </a:t>
            </a:r>
            <a:endParaRPr/>
          </a:p>
          <a:p>
            <a:pPr indent="-342900" lvl="0" marL="342900" rtl="0" algn="l">
              <a:spcBef>
                <a:spcPts val="1000"/>
              </a:spcBef>
              <a:spcAft>
                <a:spcPts val="0"/>
              </a:spcAft>
              <a:buSzPts val="1600"/>
              <a:buChar char="►"/>
            </a:pPr>
            <a:r>
              <a:rPr lang="en-US"/>
              <a:t>Internal sharing of information may result in disclosure of PII to people who, by virtue of their job functions, </a:t>
            </a:r>
            <a:r>
              <a:rPr lang="en-US">
                <a:solidFill>
                  <a:srgbClr val="FF0000"/>
                </a:solidFill>
              </a:rPr>
              <a:t>would not typically have routine access to such information.</a:t>
            </a:r>
            <a:endParaRPr/>
          </a:p>
          <a:p>
            <a:pPr indent="-342900" lvl="0" marL="342900" rtl="0" algn="l">
              <a:spcBef>
                <a:spcPts val="1000"/>
              </a:spcBef>
              <a:spcAft>
                <a:spcPts val="0"/>
              </a:spcAft>
              <a:buSzPts val="1600"/>
              <a:buChar char="►"/>
            </a:pPr>
            <a:r>
              <a:rPr lang="en-US"/>
              <a:t>An organization should </a:t>
            </a:r>
            <a:r>
              <a:rPr lang="en-US">
                <a:solidFill>
                  <a:srgbClr val="FF0000"/>
                </a:solidFill>
              </a:rPr>
              <a:t>have information sharing policies and procedures</a:t>
            </a:r>
            <a:r>
              <a:rPr lang="en-US"/>
              <a:t> in place that </a:t>
            </a:r>
            <a:r>
              <a:rPr lang="en-US">
                <a:solidFill>
                  <a:srgbClr val="FF0000"/>
                </a:solidFill>
              </a:rPr>
              <a:t>provide guidance for the handling of PII. </a:t>
            </a:r>
            <a:endParaRPr>
              <a:solidFill>
                <a:srgbClr val="FF0000"/>
              </a:solidFill>
            </a:endParaRPr>
          </a:p>
          <a:p>
            <a:pPr indent="-342900" lvl="0" marL="342900" rtl="0" algn="l">
              <a:spcBef>
                <a:spcPts val="1000"/>
              </a:spcBef>
              <a:spcAft>
                <a:spcPts val="0"/>
              </a:spcAft>
              <a:buSzPts val="1600"/>
              <a:buChar char="►"/>
            </a:pPr>
            <a:r>
              <a:rPr lang="en-US"/>
              <a:t>These policies and procedures should include steps for identifying incident data types that are likely to contain PII</a:t>
            </a:r>
            <a:r>
              <a:rPr lang="en-US">
                <a:solidFill>
                  <a:srgbClr val="FF0000"/>
                </a:solidFill>
              </a:rPr>
              <a:t>. Policies should describe proper safeguards for managing the privacy risks associated with sharing such data.</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0"/>
          <p:cNvSpPr txBox="1"/>
          <p:nvPr>
            <p:ph idx="1" type="body"/>
          </p:nvPr>
        </p:nvSpPr>
        <p:spPr>
          <a:xfrm>
            <a:off x="912244" y="1097575"/>
            <a:ext cx="11015899" cy="6149386"/>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b="1" lang="en-US"/>
              <a:t>Sharing Designations</a:t>
            </a:r>
            <a:endParaRPr/>
          </a:p>
          <a:p>
            <a:pPr indent="-342900" lvl="0" marL="342900" rtl="0" algn="l">
              <a:spcBef>
                <a:spcPts val="1000"/>
              </a:spcBef>
              <a:spcAft>
                <a:spcPts val="0"/>
              </a:spcAft>
              <a:buSzPts val="1600"/>
              <a:buChar char="►"/>
            </a:pPr>
            <a:r>
              <a:rPr lang="en-US"/>
              <a:t>A variety of methods exist to designate handling requirements for shared threat information.</a:t>
            </a:r>
            <a:endParaRPr/>
          </a:p>
          <a:p>
            <a:pPr indent="-342900" lvl="0" marL="342900" rtl="0" algn="l">
              <a:spcBef>
                <a:spcPts val="1000"/>
              </a:spcBef>
              <a:spcAft>
                <a:spcPts val="0"/>
              </a:spcAft>
              <a:buSzPts val="1600"/>
              <a:buChar char="►"/>
            </a:pPr>
            <a:r>
              <a:rPr lang="en-US"/>
              <a:t> </a:t>
            </a:r>
            <a:r>
              <a:rPr lang="en-US">
                <a:solidFill>
                  <a:srgbClr val="FF0000"/>
                </a:solidFill>
              </a:rPr>
              <a:t>These designations identify unclassified information that may not be suitable for public release and that may require special handling</a:t>
            </a:r>
            <a:r>
              <a:rPr lang="en-US"/>
              <a:t>. </a:t>
            </a:r>
            <a:endParaRPr/>
          </a:p>
          <a:p>
            <a:pPr indent="-342900" lvl="0" marL="342900" rtl="0" algn="l">
              <a:spcBef>
                <a:spcPts val="1000"/>
              </a:spcBef>
              <a:spcAft>
                <a:spcPts val="0"/>
              </a:spcAft>
              <a:buSzPts val="1600"/>
              <a:buChar char="►"/>
            </a:pPr>
            <a:r>
              <a:rPr lang="en-US">
                <a:solidFill>
                  <a:srgbClr val="FF0000"/>
                </a:solidFill>
              </a:rPr>
              <a:t>A designation applied to threat information </a:t>
            </a:r>
            <a:r>
              <a:rPr lang="en-US"/>
              <a:t>can communicate specific handling requirements and </a:t>
            </a:r>
            <a:r>
              <a:rPr lang="en-US">
                <a:solidFill>
                  <a:srgbClr val="FF0000"/>
                </a:solidFill>
              </a:rPr>
              <a:t>identify data elements that are considered sensitive and should be redacted prior to sharing</a:t>
            </a:r>
            <a:r>
              <a:rPr lang="en-US"/>
              <a:t>. </a:t>
            </a:r>
            <a:endParaRPr/>
          </a:p>
          <a:p>
            <a:pPr indent="-342900" lvl="0" marL="342900" rtl="0" algn="l">
              <a:spcBef>
                <a:spcPts val="1000"/>
              </a:spcBef>
              <a:spcAft>
                <a:spcPts val="0"/>
              </a:spcAft>
              <a:buSzPts val="1600"/>
              <a:buChar char="►"/>
            </a:pPr>
            <a:r>
              <a:rPr lang="en-US"/>
              <a:t>Organizations are encouraged to provide clear handling guidance for any shared threat information.</a:t>
            </a:r>
            <a:endParaRPr/>
          </a:p>
          <a:p>
            <a:pPr indent="-241300" lvl="0" marL="342900" rtl="0" algn="l">
              <a:spcBef>
                <a:spcPts val="1000"/>
              </a:spcBef>
              <a:spcAft>
                <a:spcPts val="0"/>
              </a:spcAft>
              <a:buSzPts val="1600"/>
              <a:buNone/>
            </a:pPr>
            <a:r>
              <a:t/>
            </a:r>
            <a:endParaRPr/>
          </a:p>
          <a:p>
            <a:pPr indent="-342900" lvl="0" marL="342900" rtl="0" algn="l">
              <a:spcBef>
                <a:spcPts val="1000"/>
              </a:spcBef>
              <a:spcAft>
                <a:spcPts val="0"/>
              </a:spcAft>
              <a:buSzPts val="1600"/>
              <a:buChar char="►"/>
            </a:pPr>
            <a:r>
              <a:rPr lang="en-US"/>
              <a:t>The </a:t>
            </a:r>
            <a:r>
              <a:rPr b="1" lang="en-US">
                <a:solidFill>
                  <a:srgbClr val="FF0000"/>
                </a:solidFill>
              </a:rPr>
              <a:t>Traffic Light Protocol (TLP), </a:t>
            </a:r>
            <a:r>
              <a:rPr lang="en-US"/>
              <a:t>depicted in Table provides a framework for expressing sharing designations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pic>
        <p:nvPicPr>
          <p:cNvPr id="318" name="Google Shape;318;p31"/>
          <p:cNvPicPr preferRelativeResize="0"/>
          <p:nvPr>
            <p:ph idx="1" type="body"/>
          </p:nvPr>
        </p:nvPicPr>
        <p:blipFill rotWithShape="1">
          <a:blip r:embed="rId3">
            <a:alphaModFix/>
          </a:blip>
          <a:srcRect b="0" l="0" r="0" t="0"/>
          <a:stretch/>
        </p:blipFill>
        <p:spPr>
          <a:xfrm>
            <a:off x="1405091" y="27296"/>
            <a:ext cx="8121046" cy="694194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2"/>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2000"/>
              <a:buFont typeface="Century Gothic"/>
              <a:buNone/>
            </a:pPr>
            <a:r>
              <a:rPr b="1" lang="en-US" sz="2000"/>
              <a:t>Cyber Threat Information Sharing and Tracking Procedures</a:t>
            </a:r>
            <a:endParaRPr sz="2000"/>
          </a:p>
        </p:txBody>
      </p:sp>
      <p:sp>
        <p:nvSpPr>
          <p:cNvPr id="324" name="Google Shape;324;p32"/>
          <p:cNvSpPr/>
          <p:nvPr/>
        </p:nvSpPr>
        <p:spPr>
          <a:xfrm>
            <a:off x="3348686" y="1160058"/>
            <a:ext cx="5672166" cy="680660"/>
          </a:xfrm>
          <a:prstGeom prst="roundRect">
            <a:avLst>
              <a:gd fmla="val 16667" name="adj"/>
            </a:avLst>
          </a:prstGeom>
          <a:solidFill>
            <a:schemeClr val="accent1"/>
          </a:solidFill>
          <a:ln cap="rnd"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0" i="0" lang="en-US" sz="1800" u="none" cap="none" strike="noStrike">
                <a:solidFill>
                  <a:schemeClr val="lt1"/>
                </a:solidFill>
                <a:latin typeface="Century Gothic"/>
                <a:ea typeface="Century Gothic"/>
                <a:cs typeface="Century Gothic"/>
                <a:sym typeface="Century Gothic"/>
              </a:rPr>
              <a:t>• </a:t>
            </a:r>
            <a:r>
              <a:rPr b="1" i="0" lang="en-US" sz="1800" u="none" cap="none" strike="noStrike">
                <a:solidFill>
                  <a:schemeClr val="lt1"/>
                </a:solidFill>
                <a:latin typeface="Century Gothic"/>
                <a:ea typeface="Century Gothic"/>
                <a:cs typeface="Century Gothic"/>
                <a:sym typeface="Century Gothic"/>
              </a:rPr>
              <a:t>Identify threat information that can be readily shared with trusted parties. </a:t>
            </a:r>
            <a:endParaRPr b="1" i="0" sz="1800" u="none" cap="none" strike="noStrike">
              <a:solidFill>
                <a:schemeClr val="lt1"/>
              </a:solidFill>
              <a:latin typeface="Century Gothic"/>
              <a:ea typeface="Century Gothic"/>
              <a:cs typeface="Century Gothic"/>
              <a:sym typeface="Century Gothic"/>
            </a:endParaRPr>
          </a:p>
        </p:txBody>
      </p:sp>
      <p:sp>
        <p:nvSpPr>
          <p:cNvPr id="325" name="Google Shape;325;p32"/>
          <p:cNvSpPr/>
          <p:nvPr/>
        </p:nvSpPr>
        <p:spPr>
          <a:xfrm>
            <a:off x="3348686" y="1942817"/>
            <a:ext cx="5672166" cy="680660"/>
          </a:xfrm>
          <a:prstGeom prst="roundRect">
            <a:avLst>
              <a:gd fmla="val 16667" name="adj"/>
            </a:avLst>
          </a:prstGeom>
          <a:solidFill>
            <a:schemeClr val="accent1"/>
          </a:solidFill>
          <a:ln cap="rnd"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1" i="0" lang="en-US" sz="1800" u="none" cap="none" strike="noStrike">
                <a:solidFill>
                  <a:schemeClr val="lt1"/>
                </a:solidFill>
                <a:latin typeface="Century Gothic"/>
                <a:ea typeface="Century Gothic"/>
                <a:cs typeface="Century Gothic"/>
                <a:sym typeface="Century Gothic"/>
              </a:rPr>
              <a:t>• Establish processes for reviewing, sanitizing, and protecting threat information that is likely to contain sensitive information. </a:t>
            </a:r>
            <a:endParaRPr b="1" i="0" sz="1800" u="none" cap="none" strike="noStrike">
              <a:solidFill>
                <a:schemeClr val="lt1"/>
              </a:solidFill>
              <a:latin typeface="Century Gothic"/>
              <a:ea typeface="Century Gothic"/>
              <a:cs typeface="Century Gothic"/>
              <a:sym typeface="Century Gothic"/>
            </a:endParaRPr>
          </a:p>
        </p:txBody>
      </p:sp>
      <p:sp>
        <p:nvSpPr>
          <p:cNvPr id="326" name="Google Shape;326;p32"/>
          <p:cNvSpPr/>
          <p:nvPr/>
        </p:nvSpPr>
        <p:spPr>
          <a:xfrm>
            <a:off x="3348686" y="2725576"/>
            <a:ext cx="5672166" cy="680660"/>
          </a:xfrm>
          <a:prstGeom prst="roundRect">
            <a:avLst>
              <a:gd fmla="val 16667" name="adj"/>
            </a:avLst>
          </a:prstGeom>
          <a:solidFill>
            <a:schemeClr val="accent1"/>
          </a:solidFill>
          <a:ln cap="rnd"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0" i="0" lang="en-US" sz="1800" u="none" cap="none" strike="noStrike">
                <a:solidFill>
                  <a:schemeClr val="lt1"/>
                </a:solidFill>
                <a:latin typeface="Century Gothic"/>
                <a:ea typeface="Century Gothic"/>
                <a:cs typeface="Century Gothic"/>
                <a:sym typeface="Century Gothic"/>
              </a:rPr>
              <a:t>• </a:t>
            </a:r>
            <a:r>
              <a:rPr b="1" i="0" lang="en-US" sz="1800" u="none" cap="none" strike="noStrike">
                <a:solidFill>
                  <a:schemeClr val="lt1"/>
                </a:solidFill>
                <a:latin typeface="Century Gothic"/>
                <a:ea typeface="Century Gothic"/>
                <a:cs typeface="Century Gothic"/>
                <a:sym typeface="Century Gothic"/>
              </a:rPr>
              <a:t>Develop plan for addressing leakage of sensitive data. </a:t>
            </a:r>
            <a:endParaRPr b="1" i="0" sz="1800" u="none" cap="none" strike="noStrike">
              <a:solidFill>
                <a:schemeClr val="lt1"/>
              </a:solidFill>
              <a:latin typeface="Century Gothic"/>
              <a:ea typeface="Century Gothic"/>
              <a:cs typeface="Century Gothic"/>
              <a:sym typeface="Century Gothic"/>
            </a:endParaRPr>
          </a:p>
        </p:txBody>
      </p:sp>
      <p:sp>
        <p:nvSpPr>
          <p:cNvPr id="327" name="Google Shape;327;p32"/>
          <p:cNvSpPr/>
          <p:nvPr/>
        </p:nvSpPr>
        <p:spPr>
          <a:xfrm>
            <a:off x="3348686" y="3508335"/>
            <a:ext cx="5672166" cy="680660"/>
          </a:xfrm>
          <a:prstGeom prst="roundRect">
            <a:avLst>
              <a:gd fmla="val 16667" name="adj"/>
            </a:avLst>
          </a:prstGeom>
          <a:solidFill>
            <a:schemeClr val="accent1"/>
          </a:solidFill>
          <a:ln cap="rnd"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0" i="0" lang="en-US" sz="1800" u="none" cap="none" strike="noStrike">
                <a:solidFill>
                  <a:schemeClr val="lt1"/>
                </a:solidFill>
                <a:latin typeface="Century Gothic"/>
                <a:ea typeface="Century Gothic"/>
                <a:cs typeface="Century Gothic"/>
                <a:sym typeface="Century Gothic"/>
              </a:rPr>
              <a:t>• </a:t>
            </a:r>
            <a:r>
              <a:rPr b="1" i="0" lang="en-US" sz="1800" u="none" cap="none" strike="noStrike">
                <a:solidFill>
                  <a:schemeClr val="lt1"/>
                </a:solidFill>
                <a:latin typeface="Century Gothic"/>
                <a:ea typeface="Century Gothic"/>
                <a:cs typeface="Century Gothic"/>
                <a:sym typeface="Century Gothic"/>
              </a:rPr>
              <a:t>Automate the processing and exchange of threat information where possible. </a:t>
            </a:r>
            <a:endParaRPr b="1" i="0" sz="1800" u="none" cap="none" strike="noStrike">
              <a:solidFill>
                <a:schemeClr val="lt1"/>
              </a:solidFill>
              <a:latin typeface="Century Gothic"/>
              <a:ea typeface="Century Gothic"/>
              <a:cs typeface="Century Gothic"/>
              <a:sym typeface="Century Gothic"/>
            </a:endParaRPr>
          </a:p>
        </p:txBody>
      </p:sp>
      <p:sp>
        <p:nvSpPr>
          <p:cNvPr id="328" name="Google Shape;328;p32"/>
          <p:cNvSpPr/>
          <p:nvPr/>
        </p:nvSpPr>
        <p:spPr>
          <a:xfrm>
            <a:off x="3348686" y="4291094"/>
            <a:ext cx="5672166" cy="680660"/>
          </a:xfrm>
          <a:prstGeom prst="roundRect">
            <a:avLst>
              <a:gd fmla="val 16667" name="adj"/>
            </a:avLst>
          </a:prstGeom>
          <a:solidFill>
            <a:schemeClr val="accent1"/>
          </a:solidFill>
          <a:ln cap="rnd"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0" i="0" lang="en-US" sz="1800" u="none" cap="none" strike="noStrike">
                <a:solidFill>
                  <a:schemeClr val="lt1"/>
                </a:solidFill>
                <a:latin typeface="Century Gothic"/>
                <a:ea typeface="Century Gothic"/>
                <a:cs typeface="Century Gothic"/>
                <a:sym typeface="Century Gothic"/>
              </a:rPr>
              <a:t>• </a:t>
            </a:r>
            <a:r>
              <a:rPr b="1" i="0" lang="en-US" sz="1800" u="none" cap="none" strike="noStrike">
                <a:solidFill>
                  <a:schemeClr val="lt1"/>
                </a:solidFill>
                <a:latin typeface="Century Gothic"/>
                <a:ea typeface="Century Gothic"/>
                <a:cs typeface="Century Gothic"/>
                <a:sym typeface="Century Gothic"/>
              </a:rPr>
              <a:t>Describe how information handling designations are applied, monitored, and enforced</a:t>
            </a:r>
            <a:r>
              <a:rPr b="0" i="0" lang="en-US" sz="1800" u="none" cap="none" strike="noStrike">
                <a:solidFill>
                  <a:schemeClr val="lt1"/>
                </a:solidFill>
                <a:latin typeface="Century Gothic"/>
                <a:ea typeface="Century Gothic"/>
                <a:cs typeface="Century Gothic"/>
                <a:sym typeface="Century Gothic"/>
              </a:rPr>
              <a:t>. </a:t>
            </a:r>
            <a:endParaRPr b="0" i="0" sz="1800" u="none" cap="none" strike="noStrike">
              <a:solidFill>
                <a:schemeClr val="lt1"/>
              </a:solidFill>
              <a:latin typeface="Century Gothic"/>
              <a:ea typeface="Century Gothic"/>
              <a:cs typeface="Century Gothic"/>
              <a:sym typeface="Century Gothic"/>
            </a:endParaRPr>
          </a:p>
        </p:txBody>
      </p:sp>
      <p:sp>
        <p:nvSpPr>
          <p:cNvPr id="329" name="Google Shape;329;p32"/>
          <p:cNvSpPr/>
          <p:nvPr/>
        </p:nvSpPr>
        <p:spPr>
          <a:xfrm>
            <a:off x="3348686" y="5073853"/>
            <a:ext cx="5672166" cy="680660"/>
          </a:xfrm>
          <a:prstGeom prst="roundRect">
            <a:avLst>
              <a:gd fmla="val 16667" name="adj"/>
            </a:avLst>
          </a:prstGeom>
          <a:solidFill>
            <a:schemeClr val="accent1"/>
          </a:solidFill>
          <a:ln cap="rnd"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0" i="0" lang="en-US" sz="1800" u="none" cap="none" strike="noStrike">
                <a:solidFill>
                  <a:schemeClr val="lt1"/>
                </a:solidFill>
                <a:latin typeface="Century Gothic"/>
                <a:ea typeface="Century Gothic"/>
                <a:cs typeface="Century Gothic"/>
                <a:sym typeface="Century Gothic"/>
              </a:rPr>
              <a:t>• </a:t>
            </a:r>
            <a:r>
              <a:rPr b="1" i="0" lang="en-US" sz="1800" u="none" cap="none" strike="noStrike">
                <a:solidFill>
                  <a:schemeClr val="lt1"/>
                </a:solidFill>
                <a:latin typeface="Century Gothic"/>
                <a:ea typeface="Century Gothic"/>
                <a:cs typeface="Century Gothic"/>
                <a:sym typeface="Century Gothic"/>
              </a:rPr>
              <a:t>Accommodate non-attributed information exchange, when needed. </a:t>
            </a:r>
            <a:endParaRPr b="1" i="0" sz="1800" u="none" cap="none" strike="noStrike">
              <a:solidFill>
                <a:schemeClr val="lt1"/>
              </a:solidFill>
              <a:latin typeface="Century Gothic"/>
              <a:ea typeface="Century Gothic"/>
              <a:cs typeface="Century Gothic"/>
              <a:sym typeface="Century Gothic"/>
            </a:endParaRPr>
          </a:p>
        </p:txBody>
      </p:sp>
      <p:sp>
        <p:nvSpPr>
          <p:cNvPr id="330" name="Google Shape;330;p32"/>
          <p:cNvSpPr/>
          <p:nvPr/>
        </p:nvSpPr>
        <p:spPr>
          <a:xfrm>
            <a:off x="3348686" y="5856612"/>
            <a:ext cx="5672166" cy="680660"/>
          </a:xfrm>
          <a:prstGeom prst="roundRect">
            <a:avLst>
              <a:gd fmla="val 16667" name="adj"/>
            </a:avLst>
          </a:prstGeom>
          <a:solidFill>
            <a:schemeClr val="accent1"/>
          </a:solidFill>
          <a:ln cap="rnd"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1" i="0" lang="en-US" sz="1800" u="none" cap="none" strike="noStrike">
                <a:solidFill>
                  <a:schemeClr val="lt1"/>
                </a:solidFill>
                <a:latin typeface="Century Gothic"/>
                <a:ea typeface="Century Gothic"/>
                <a:cs typeface="Century Gothic"/>
                <a:sym typeface="Century Gothic"/>
              </a:rPr>
              <a:t>• Track internal and external sources of threat information </a:t>
            </a:r>
            <a:endParaRPr b="1"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3"/>
          <p:cNvSpPr txBox="1"/>
          <p:nvPr>
            <p:ph idx="1" type="body"/>
          </p:nvPr>
        </p:nvSpPr>
        <p:spPr>
          <a:xfrm>
            <a:off x="518615" y="1091822"/>
            <a:ext cx="11409528" cy="5554638"/>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b="1" lang="en-US"/>
              <a:t>Join a Sharing Community</a:t>
            </a:r>
            <a:endParaRPr/>
          </a:p>
          <a:p>
            <a:pPr indent="-342900" lvl="0" marL="342900" rtl="0" algn="l">
              <a:spcBef>
                <a:spcPts val="1000"/>
              </a:spcBef>
              <a:spcAft>
                <a:spcPts val="0"/>
              </a:spcAft>
              <a:buSzPts val="1600"/>
              <a:buChar char="►"/>
            </a:pPr>
            <a:r>
              <a:rPr lang="en-US"/>
              <a:t>Threat information </a:t>
            </a:r>
            <a:r>
              <a:rPr lang="en-US">
                <a:solidFill>
                  <a:srgbClr val="FF0000"/>
                </a:solidFill>
              </a:rPr>
              <a:t>can be acquired from public and private sharing communities, government repositories, across the organization, commercial threat information feeds, and open sources. </a:t>
            </a:r>
            <a:endParaRPr>
              <a:solidFill>
                <a:srgbClr val="FF0000"/>
              </a:solidFill>
            </a:endParaRPr>
          </a:p>
          <a:p>
            <a:pPr indent="-342900" lvl="0" marL="342900" rtl="0" algn="l">
              <a:spcBef>
                <a:spcPts val="1000"/>
              </a:spcBef>
              <a:spcAft>
                <a:spcPts val="0"/>
              </a:spcAft>
              <a:buSzPts val="1600"/>
              <a:buChar char="►"/>
            </a:pPr>
            <a:r>
              <a:rPr lang="en-US"/>
              <a:t>Sharing communities often organize around a shared characteristic or interest. </a:t>
            </a:r>
            <a:r>
              <a:rPr lang="en-US">
                <a:solidFill>
                  <a:srgbClr val="FF0000"/>
                </a:solidFill>
              </a:rPr>
              <a:t>The composition of a community may be based on geographic region, political boundary, industrial sector, business interest, or threat space (e.g., focused on phishing attacks). </a:t>
            </a:r>
            <a:r>
              <a:rPr lang="en-US"/>
              <a:t>Many of these communities have multinational constituencies and global reach. </a:t>
            </a:r>
            <a:endParaRPr/>
          </a:p>
          <a:p>
            <a:pPr indent="-342900" lvl="0" marL="342900" rtl="0" algn="l">
              <a:spcBef>
                <a:spcPts val="1000"/>
              </a:spcBef>
              <a:spcAft>
                <a:spcPts val="0"/>
              </a:spcAft>
              <a:buSzPts val="1600"/>
              <a:buChar char="►"/>
            </a:pPr>
            <a:r>
              <a:rPr lang="en-US">
                <a:solidFill>
                  <a:srgbClr val="FF0000"/>
                </a:solidFill>
              </a:rPr>
              <a:t>Some communities are informal, open, self-organizing groups that largely operate through voluntary cooperation.</a:t>
            </a:r>
            <a:r>
              <a:rPr lang="en-US"/>
              <a:t> The membership of these communities is often mutable (i.e., no formal fixed membership), </a:t>
            </a:r>
            <a:r>
              <a:rPr lang="en-US">
                <a:solidFill>
                  <a:srgbClr val="FF0000"/>
                </a:solidFill>
              </a:rPr>
              <a:t>sometimes anonymous</a:t>
            </a:r>
            <a:r>
              <a:rPr lang="en-US"/>
              <a:t>, and the </a:t>
            </a:r>
            <a:r>
              <a:rPr lang="en-US">
                <a:solidFill>
                  <a:srgbClr val="FF0000"/>
                </a:solidFill>
              </a:rPr>
              <a:t>members may maintain full autonomy with minimal central coordination. </a:t>
            </a:r>
            <a:endParaRPr>
              <a:solidFill>
                <a:srgbClr val="FF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4"/>
          <p:cNvSpPr txBox="1"/>
          <p:nvPr>
            <p:ph idx="1" type="body"/>
          </p:nvPr>
        </p:nvSpPr>
        <p:spPr>
          <a:xfrm>
            <a:off x="764275" y="1214651"/>
            <a:ext cx="10590662" cy="554099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Before entering into information sharing agreements, an </a:t>
            </a:r>
            <a:r>
              <a:rPr lang="en-US">
                <a:solidFill>
                  <a:srgbClr val="FF0000"/>
                </a:solidFill>
              </a:rPr>
              <a:t>organization should obtain approval from the: </a:t>
            </a:r>
            <a:endParaRPr/>
          </a:p>
          <a:p>
            <a:pPr indent="0" lvl="0" marL="0" rtl="0" algn="l">
              <a:spcBef>
                <a:spcPts val="1000"/>
              </a:spcBef>
              <a:spcAft>
                <a:spcPts val="0"/>
              </a:spcAft>
              <a:buSzPts val="1600"/>
              <a:buNone/>
            </a:pPr>
            <a:r>
              <a:rPr lang="en-US">
                <a:solidFill>
                  <a:srgbClr val="FF0000"/>
                </a:solidFill>
              </a:rPr>
              <a:t>• </a:t>
            </a:r>
            <a:r>
              <a:rPr b="1" lang="en-US">
                <a:solidFill>
                  <a:srgbClr val="FF0000"/>
                </a:solidFill>
              </a:rPr>
              <a:t>Leadership team </a:t>
            </a:r>
            <a:r>
              <a:rPr lang="en-US"/>
              <a:t>that has </a:t>
            </a:r>
            <a:r>
              <a:rPr lang="en-US">
                <a:solidFill>
                  <a:srgbClr val="FF0000"/>
                </a:solidFill>
              </a:rPr>
              <a:t>oversight for information sharing activities </a:t>
            </a:r>
            <a:r>
              <a:rPr lang="en-US"/>
              <a:t>and for </a:t>
            </a:r>
            <a:r>
              <a:rPr lang="en-US">
                <a:solidFill>
                  <a:srgbClr val="FF0000"/>
                </a:solidFill>
              </a:rPr>
              <a:t>controlling the resources</a:t>
            </a:r>
            <a:r>
              <a:rPr lang="en-US"/>
              <a:t> necessary to support the organization’s information sharing goals;</a:t>
            </a:r>
            <a:endParaRPr/>
          </a:p>
          <a:p>
            <a:pPr indent="0" lvl="0" marL="0" rtl="0" algn="l">
              <a:spcBef>
                <a:spcPts val="1000"/>
              </a:spcBef>
              <a:spcAft>
                <a:spcPts val="0"/>
              </a:spcAft>
              <a:buSzPts val="1600"/>
              <a:buNone/>
            </a:pPr>
            <a:r>
              <a:rPr lang="en-US"/>
              <a:t>• </a:t>
            </a:r>
            <a:r>
              <a:rPr b="1" lang="en-US">
                <a:solidFill>
                  <a:srgbClr val="FF0000"/>
                </a:solidFill>
              </a:rPr>
              <a:t>Legal team </a:t>
            </a:r>
            <a:r>
              <a:rPr lang="en-US"/>
              <a:t>or those with the </a:t>
            </a:r>
            <a:r>
              <a:rPr lang="en-US">
                <a:solidFill>
                  <a:srgbClr val="FF0000"/>
                </a:solidFill>
              </a:rPr>
              <a:t>authority to enter into commitments</a:t>
            </a:r>
            <a:r>
              <a:rPr lang="en-US"/>
              <a:t>; and </a:t>
            </a:r>
            <a:endParaRPr/>
          </a:p>
          <a:p>
            <a:pPr indent="0" lvl="0" marL="0" rtl="0" algn="l">
              <a:spcBef>
                <a:spcPts val="1000"/>
              </a:spcBef>
              <a:spcAft>
                <a:spcPts val="0"/>
              </a:spcAft>
              <a:buSzPts val="1600"/>
              <a:buNone/>
            </a:pPr>
            <a:r>
              <a:rPr lang="en-US"/>
              <a:t>• </a:t>
            </a:r>
            <a:r>
              <a:rPr b="1" lang="en-US">
                <a:solidFill>
                  <a:srgbClr val="FF0000"/>
                </a:solidFill>
              </a:rPr>
              <a:t>Privacy officers </a:t>
            </a:r>
            <a:r>
              <a:rPr lang="en-US"/>
              <a:t>and other key stakeholders that have a </a:t>
            </a:r>
            <a:r>
              <a:rPr lang="en-US">
                <a:solidFill>
                  <a:srgbClr val="FF0000"/>
                </a:solidFill>
              </a:rPr>
              <a:t>role in the collection, ingest, storage, analysis, publication, or protection of threat information</a:t>
            </a:r>
            <a:r>
              <a:rPr lang="en-US"/>
              <a:t>. </a:t>
            </a:r>
            <a:endParaRPr/>
          </a:p>
          <a:p>
            <a:pPr indent="-241300" lvl="0" marL="342900" rtl="0" algn="l">
              <a:spcBef>
                <a:spcPts val="1000"/>
              </a:spcBef>
              <a:spcAft>
                <a:spcPts val="0"/>
              </a:spcAft>
              <a:buSzPts val="1600"/>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5"/>
          <p:cNvSpPr txBox="1"/>
          <p:nvPr>
            <p:ph idx="1" type="body"/>
          </p:nvPr>
        </p:nvSpPr>
        <p:spPr>
          <a:xfrm>
            <a:off x="1089665" y="1015688"/>
            <a:ext cx="9896783" cy="5535237"/>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b="1" lang="en-US"/>
              <a:t>Plan to Provide Ongoing Support for Information Sharing Activities </a:t>
            </a:r>
            <a:endParaRPr b="1"/>
          </a:p>
          <a:p>
            <a:pPr indent="-241300" lvl="0" marL="342900" rtl="0" algn="l">
              <a:spcBef>
                <a:spcPts val="1000"/>
              </a:spcBef>
              <a:spcAft>
                <a:spcPts val="0"/>
              </a:spcAft>
              <a:buSzPts val="1600"/>
              <a:buNone/>
            </a:pPr>
            <a:r>
              <a:t/>
            </a:r>
            <a:endParaRPr b="1"/>
          </a:p>
          <a:p>
            <a:pPr indent="-342900" lvl="0" marL="342900" rtl="0" algn="l">
              <a:spcBef>
                <a:spcPts val="1000"/>
              </a:spcBef>
              <a:spcAft>
                <a:spcPts val="0"/>
              </a:spcAft>
              <a:buSzPts val="1600"/>
              <a:buChar char="►"/>
            </a:pPr>
            <a:r>
              <a:rPr lang="en-US"/>
              <a:t>Organizations should </a:t>
            </a:r>
            <a:r>
              <a:rPr lang="en-US">
                <a:solidFill>
                  <a:srgbClr val="FF0000"/>
                </a:solidFill>
              </a:rPr>
              <a:t>develop a support plan that addresses information sharing infrastructure maintenance and user support. </a:t>
            </a:r>
            <a:r>
              <a:rPr lang="en-US"/>
              <a:t>The plan should identify the personnel, funding, infrastructure, and processes needed to:</a:t>
            </a:r>
            <a:endParaRPr/>
          </a:p>
          <a:p>
            <a:pPr indent="0" lvl="0" marL="0" rtl="0" algn="l">
              <a:spcBef>
                <a:spcPts val="1000"/>
              </a:spcBef>
              <a:spcAft>
                <a:spcPts val="0"/>
              </a:spcAft>
              <a:buSzPts val="1600"/>
              <a:buNone/>
            </a:pPr>
            <a:r>
              <a:rPr lang="en-US">
                <a:solidFill>
                  <a:srgbClr val="FF0000"/>
                </a:solidFill>
              </a:rPr>
              <a:t>•</a:t>
            </a:r>
            <a:r>
              <a:rPr lang="en-US"/>
              <a:t> </a:t>
            </a:r>
            <a:r>
              <a:rPr lang="en-US">
                <a:solidFill>
                  <a:srgbClr val="FF0000"/>
                </a:solidFill>
              </a:rPr>
              <a:t>Collect and analyze the information from both internal and external sources, </a:t>
            </a:r>
            <a:endParaRPr/>
          </a:p>
          <a:p>
            <a:pPr indent="0" lvl="0" marL="0" rtl="0" algn="l">
              <a:spcBef>
                <a:spcPts val="1000"/>
              </a:spcBef>
              <a:spcAft>
                <a:spcPts val="0"/>
              </a:spcAft>
              <a:buSzPts val="1600"/>
              <a:buNone/>
            </a:pPr>
            <a:r>
              <a:rPr lang="en-US">
                <a:solidFill>
                  <a:srgbClr val="FF0000"/>
                </a:solidFill>
              </a:rPr>
              <a:t>• Acquire and deploy protective measures, and </a:t>
            </a:r>
            <a:endParaRPr/>
          </a:p>
          <a:p>
            <a:pPr indent="0" lvl="0" marL="0" rtl="0" algn="l">
              <a:spcBef>
                <a:spcPts val="1000"/>
              </a:spcBef>
              <a:spcAft>
                <a:spcPts val="0"/>
              </a:spcAft>
              <a:buSzPts val="1600"/>
              <a:buNone/>
            </a:pPr>
            <a:r>
              <a:rPr lang="en-US">
                <a:solidFill>
                  <a:srgbClr val="FF0000"/>
                </a:solidFill>
              </a:rPr>
              <a:t>• Acquire and deploy a monitoring and threat detection infrastructure. </a:t>
            </a:r>
            <a:endParaRPr/>
          </a:p>
          <a:p>
            <a:pPr indent="-241300" lvl="0" marL="342900" rtl="0" algn="l">
              <a:spcBef>
                <a:spcPts val="1000"/>
              </a:spcBef>
              <a:spcAft>
                <a:spcPts val="0"/>
              </a:spcAft>
              <a:buSzPts val="1600"/>
              <a:buNone/>
            </a:pPr>
            <a:r>
              <a:t/>
            </a:r>
            <a:endParaRPr>
              <a:solidFill>
                <a:srgbClr val="FF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6"/>
          <p:cNvSpPr txBox="1"/>
          <p:nvPr>
            <p:ph type="title"/>
          </p:nvPr>
        </p:nvSpPr>
        <p:spPr>
          <a:xfrm>
            <a:off x="646111" y="452718"/>
            <a:ext cx="10053734"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4200"/>
              <a:buFont typeface="Century Gothic"/>
              <a:buNone/>
            </a:pPr>
            <a:r>
              <a:rPr b="1" lang="en-US"/>
              <a:t>Participating in Sharing Relationships</a:t>
            </a:r>
            <a:endParaRPr/>
          </a:p>
        </p:txBody>
      </p:sp>
      <p:sp>
        <p:nvSpPr>
          <p:cNvPr id="351" name="Google Shape;351;p36"/>
          <p:cNvSpPr txBox="1"/>
          <p:nvPr>
            <p:ph idx="1" type="body"/>
          </p:nvPr>
        </p:nvSpPr>
        <p:spPr>
          <a:xfrm>
            <a:off x="646111" y="2175748"/>
            <a:ext cx="11186498" cy="4443416"/>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An organization’s participation in an information sharing community include following activities: </a:t>
            </a:r>
            <a:endParaRPr/>
          </a:p>
          <a:p>
            <a:pPr indent="0" lvl="0" marL="0" rtl="0" algn="l">
              <a:spcBef>
                <a:spcPts val="1000"/>
              </a:spcBef>
              <a:spcAft>
                <a:spcPts val="0"/>
              </a:spcAft>
              <a:buSzPts val="1600"/>
              <a:buNone/>
            </a:pPr>
            <a:r>
              <a:rPr lang="en-US"/>
              <a:t>•Engage in ongoing communication </a:t>
            </a:r>
            <a:endParaRPr/>
          </a:p>
          <a:p>
            <a:pPr indent="0" lvl="0" marL="0" rtl="0" algn="l">
              <a:spcBef>
                <a:spcPts val="1000"/>
              </a:spcBef>
              <a:spcAft>
                <a:spcPts val="0"/>
              </a:spcAft>
              <a:buSzPts val="1600"/>
              <a:buNone/>
            </a:pPr>
            <a:r>
              <a:rPr lang="en-US"/>
              <a:t>•Consume and respond to security alerts </a:t>
            </a:r>
            <a:endParaRPr/>
          </a:p>
          <a:p>
            <a:pPr indent="0" lvl="0" marL="0" rtl="0" algn="l">
              <a:spcBef>
                <a:spcPts val="1000"/>
              </a:spcBef>
              <a:spcAft>
                <a:spcPts val="0"/>
              </a:spcAft>
              <a:buSzPts val="1600"/>
              <a:buNone/>
            </a:pPr>
            <a:r>
              <a:rPr lang="en-US"/>
              <a:t>•Consume and use indicators </a:t>
            </a:r>
            <a:endParaRPr/>
          </a:p>
          <a:p>
            <a:pPr indent="0" lvl="0" marL="0" rtl="0" algn="l">
              <a:spcBef>
                <a:spcPts val="1000"/>
              </a:spcBef>
              <a:spcAft>
                <a:spcPts val="0"/>
              </a:spcAft>
              <a:buSzPts val="1600"/>
              <a:buNone/>
            </a:pPr>
            <a:r>
              <a:rPr lang="en-US"/>
              <a:t>•Organize and store indicators </a:t>
            </a:r>
            <a:endParaRPr/>
          </a:p>
          <a:p>
            <a:pPr indent="0" lvl="0" marL="0" rtl="0" algn="l">
              <a:spcBef>
                <a:spcPts val="1000"/>
              </a:spcBef>
              <a:spcAft>
                <a:spcPts val="0"/>
              </a:spcAft>
              <a:buSzPts val="1600"/>
              <a:buNone/>
            </a:pPr>
            <a:r>
              <a:rPr lang="en-US"/>
              <a:t>•Produce and publish indicators </a:t>
            </a:r>
            <a:endParaRPr/>
          </a:p>
          <a:p>
            <a:pPr indent="-241300" lvl="0" marL="342900" rtl="0" algn="l">
              <a:spcBef>
                <a:spcPts val="1000"/>
              </a:spcBef>
              <a:spcAft>
                <a:spcPts val="0"/>
              </a:spcAft>
              <a:buSzPts val="1600"/>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7"/>
          <p:cNvSpPr txBox="1"/>
          <p:nvPr>
            <p:ph idx="1" type="body"/>
          </p:nvPr>
        </p:nvSpPr>
        <p:spPr>
          <a:xfrm>
            <a:off x="491321" y="933802"/>
            <a:ext cx="11491414" cy="5739954"/>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b="1" lang="en-US"/>
              <a:t>Engage in Ongoing Communication </a:t>
            </a:r>
            <a:endParaRPr b="1"/>
          </a:p>
          <a:p>
            <a:pPr indent="-342900" lvl="0" marL="342900" rtl="0" algn="l">
              <a:spcBef>
                <a:spcPts val="1000"/>
              </a:spcBef>
              <a:spcAft>
                <a:spcPts val="0"/>
              </a:spcAft>
              <a:buSzPts val="1600"/>
              <a:buChar char="►"/>
            </a:pPr>
            <a:r>
              <a:rPr lang="en-US"/>
              <a:t>Information sharing communities use a </a:t>
            </a:r>
            <a:r>
              <a:rPr lang="en-US">
                <a:solidFill>
                  <a:srgbClr val="FF0000"/>
                </a:solidFill>
              </a:rPr>
              <a:t>variety of communications methods to share threat information with their members. </a:t>
            </a:r>
            <a:endParaRPr>
              <a:solidFill>
                <a:srgbClr val="FF0000"/>
              </a:solidFill>
            </a:endParaRPr>
          </a:p>
          <a:p>
            <a:pPr indent="-342900" lvl="0" marL="342900" rtl="0" algn="l">
              <a:spcBef>
                <a:spcPts val="1000"/>
              </a:spcBef>
              <a:spcAft>
                <a:spcPts val="0"/>
              </a:spcAft>
              <a:buSzPts val="1600"/>
              <a:buChar char="►"/>
            </a:pPr>
            <a:r>
              <a:rPr lang="en-US"/>
              <a:t>Most organizations can </a:t>
            </a:r>
            <a:r>
              <a:rPr lang="en-US">
                <a:solidFill>
                  <a:srgbClr val="FF0000"/>
                </a:solidFill>
              </a:rPr>
              <a:t>receive threat information </a:t>
            </a:r>
            <a:r>
              <a:rPr lang="en-US"/>
              <a:t>via </a:t>
            </a:r>
            <a:r>
              <a:rPr lang="en-US">
                <a:solidFill>
                  <a:srgbClr val="FF0000"/>
                </a:solidFill>
              </a:rPr>
              <a:t>email lists, text alerts, and web portals </a:t>
            </a:r>
            <a:r>
              <a:rPr lang="en-US"/>
              <a:t>without infrastructure investments specific to information sharing, although the content received through these delivery channels may need to be manually processed.</a:t>
            </a:r>
            <a:endParaRPr/>
          </a:p>
          <a:p>
            <a:pPr indent="-342900" lvl="0" marL="342900" rtl="0" algn="l">
              <a:spcBef>
                <a:spcPts val="1000"/>
              </a:spcBef>
              <a:spcAft>
                <a:spcPts val="0"/>
              </a:spcAft>
              <a:buSzPts val="1600"/>
              <a:buChar char="►"/>
            </a:pPr>
            <a:r>
              <a:rPr lang="en-US"/>
              <a:t>Other information sharing methods, such as </a:t>
            </a:r>
            <a:r>
              <a:rPr lang="en-US">
                <a:solidFill>
                  <a:srgbClr val="FF0000"/>
                </a:solidFill>
              </a:rPr>
              <a:t>conferences and workshops</a:t>
            </a:r>
            <a:r>
              <a:rPr lang="en-US"/>
              <a:t>, </a:t>
            </a:r>
            <a:r>
              <a:rPr lang="en-US">
                <a:solidFill>
                  <a:srgbClr val="FF0000"/>
                </a:solidFill>
              </a:rPr>
              <a:t>require dedicated staff and travel. </a:t>
            </a:r>
            <a:endParaRPr>
              <a:solidFill>
                <a:srgbClr val="FF0000"/>
              </a:solidFill>
            </a:endParaRPr>
          </a:p>
          <a:p>
            <a:pPr indent="-342900" lvl="0" marL="342900" rtl="0" algn="l">
              <a:spcBef>
                <a:spcPts val="1000"/>
              </a:spcBef>
              <a:spcAft>
                <a:spcPts val="0"/>
              </a:spcAft>
              <a:buSzPts val="1600"/>
              <a:buChar char="►"/>
            </a:pPr>
            <a:r>
              <a:rPr lang="en-US">
                <a:solidFill>
                  <a:srgbClr val="FF0000"/>
                </a:solidFill>
              </a:rPr>
              <a:t>Organizations that actively produce and share threat information are likely to incur higher communication costs. </a:t>
            </a:r>
            <a:endParaRPr>
              <a:solidFill>
                <a:srgbClr val="FF0000"/>
              </a:solidFill>
            </a:endParaRPr>
          </a:p>
          <a:p>
            <a:pPr indent="-342900" lvl="0" marL="342900" rtl="0" algn="l">
              <a:spcBef>
                <a:spcPts val="1000"/>
              </a:spcBef>
              <a:spcAft>
                <a:spcPts val="0"/>
              </a:spcAft>
              <a:buSzPts val="1600"/>
              <a:buChar char="►"/>
            </a:pPr>
            <a:r>
              <a:rPr lang="en-US"/>
              <a:t>Communications may be event-driven (i.e., in response to the actions or behavior of an actor) or periodic, such as bi-weekly reviews, teleconferences, and annual conferences.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8"/>
          <p:cNvSpPr txBox="1"/>
          <p:nvPr>
            <p:ph idx="1" type="body"/>
          </p:nvPr>
        </p:nvSpPr>
        <p:spPr>
          <a:xfrm>
            <a:off x="545911" y="729085"/>
            <a:ext cx="11423176" cy="582184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b="1" lang="en-US"/>
              <a:t>Consume and Respond to Security Alerts</a:t>
            </a:r>
            <a:endParaRPr/>
          </a:p>
          <a:p>
            <a:pPr indent="-342900" lvl="0" marL="342900" rtl="0" algn="l">
              <a:spcBef>
                <a:spcPts val="1000"/>
              </a:spcBef>
              <a:spcAft>
                <a:spcPts val="0"/>
              </a:spcAft>
              <a:buSzPts val="1600"/>
              <a:buChar char="►"/>
            </a:pPr>
            <a:r>
              <a:rPr lang="en-US"/>
              <a:t>An information sharing community </a:t>
            </a:r>
            <a:r>
              <a:rPr lang="en-US">
                <a:solidFill>
                  <a:srgbClr val="FF0000"/>
                </a:solidFill>
              </a:rPr>
              <a:t>may publish security alerts notifying community members of emerging vulnerabilities, exploits, and other security issues. </a:t>
            </a:r>
            <a:endParaRPr>
              <a:solidFill>
                <a:srgbClr val="FF0000"/>
              </a:solidFill>
            </a:endParaRPr>
          </a:p>
          <a:p>
            <a:pPr indent="-342900" lvl="0" marL="342900" rtl="0" algn="l">
              <a:spcBef>
                <a:spcPts val="1000"/>
              </a:spcBef>
              <a:spcAft>
                <a:spcPts val="0"/>
              </a:spcAft>
              <a:buSzPts val="1600"/>
              <a:buChar char="►"/>
            </a:pPr>
            <a:r>
              <a:rPr lang="en-US"/>
              <a:t>Fields that commonly appear in security alerts such as US-CERT alerts, NVD vulnerability advisories, and vendor security bulletins include.</a:t>
            </a:r>
            <a:r>
              <a:rPr b="1" lang="en-US"/>
              <a:t> </a:t>
            </a:r>
            <a:endParaRPr/>
          </a:p>
          <a:p>
            <a:pPr indent="0" lvl="0" marL="0" rtl="0" algn="l">
              <a:spcBef>
                <a:spcPts val="1000"/>
              </a:spcBef>
              <a:spcAft>
                <a:spcPts val="0"/>
              </a:spcAft>
              <a:buSzPts val="1600"/>
              <a:buNone/>
            </a:pPr>
            <a:r>
              <a:rPr lang="en-US"/>
              <a:t>• </a:t>
            </a:r>
            <a:r>
              <a:rPr lang="en-US">
                <a:solidFill>
                  <a:srgbClr val="FF0000"/>
                </a:solidFill>
              </a:rPr>
              <a:t>Brief overview/executive summary </a:t>
            </a:r>
            <a:r>
              <a:rPr lang="en-US"/>
              <a:t>and detailed description, which would include indicators; </a:t>
            </a:r>
            <a:endParaRPr/>
          </a:p>
          <a:p>
            <a:pPr indent="0" lvl="0" marL="0" rtl="0" algn="l">
              <a:spcBef>
                <a:spcPts val="1000"/>
              </a:spcBef>
              <a:spcAft>
                <a:spcPts val="0"/>
              </a:spcAft>
              <a:buSzPts val="1600"/>
              <a:buNone/>
            </a:pPr>
            <a:r>
              <a:rPr lang="en-US"/>
              <a:t>• </a:t>
            </a:r>
            <a:r>
              <a:rPr lang="en-US">
                <a:solidFill>
                  <a:srgbClr val="FF0000"/>
                </a:solidFill>
              </a:rPr>
              <a:t>Platforms affected </a:t>
            </a:r>
            <a:r>
              <a:rPr lang="en-US"/>
              <a:t>(e.g., operating system, application, hardware); </a:t>
            </a:r>
            <a:endParaRPr/>
          </a:p>
          <a:p>
            <a:pPr indent="0" lvl="0" marL="0" rtl="0" algn="l">
              <a:spcBef>
                <a:spcPts val="1000"/>
              </a:spcBef>
              <a:spcAft>
                <a:spcPts val="0"/>
              </a:spcAft>
              <a:buSzPts val="1600"/>
              <a:buNone/>
            </a:pPr>
            <a:r>
              <a:rPr lang="en-US"/>
              <a:t>• </a:t>
            </a:r>
            <a:r>
              <a:rPr lang="en-US">
                <a:solidFill>
                  <a:srgbClr val="FF0000"/>
                </a:solidFill>
              </a:rPr>
              <a:t>Estimated impact </a:t>
            </a:r>
            <a:r>
              <a:rPr lang="en-US"/>
              <a:t>(e.g., system crash, data exfiltration, application hijacking)11; </a:t>
            </a:r>
            <a:endParaRPr/>
          </a:p>
          <a:p>
            <a:pPr indent="0" lvl="0" marL="0" rtl="0" algn="l">
              <a:spcBef>
                <a:spcPts val="1000"/>
              </a:spcBef>
              <a:spcAft>
                <a:spcPts val="0"/>
              </a:spcAft>
              <a:buSzPts val="1600"/>
              <a:buNone/>
            </a:pPr>
            <a:r>
              <a:rPr lang="en-US"/>
              <a:t>• </a:t>
            </a:r>
            <a:r>
              <a:rPr lang="en-US">
                <a:solidFill>
                  <a:srgbClr val="FF0000"/>
                </a:solidFill>
              </a:rPr>
              <a:t>Severity rating</a:t>
            </a:r>
            <a:r>
              <a:rPr lang="en-US"/>
              <a:t> (e.g., Common Vulnerability Scoring System (CVSS) [11]); </a:t>
            </a:r>
            <a:endParaRPr/>
          </a:p>
          <a:p>
            <a:pPr indent="0" lvl="0" marL="0" rtl="0" algn="l">
              <a:spcBef>
                <a:spcPts val="1000"/>
              </a:spcBef>
              <a:spcAft>
                <a:spcPts val="0"/>
              </a:spcAft>
              <a:buSzPts val="1600"/>
              <a:buNone/>
            </a:pPr>
            <a:r>
              <a:rPr lang="en-US">
                <a:solidFill>
                  <a:srgbClr val="FF0000"/>
                </a:solidFill>
              </a:rPr>
              <a:t>• Mitigation options</a:t>
            </a:r>
            <a:r>
              <a:rPr lang="en-US"/>
              <a:t>, including permanent fixes and/or temporary workarounds; </a:t>
            </a:r>
            <a:endParaRPr/>
          </a:p>
          <a:p>
            <a:pPr indent="0" lvl="0" marL="0" rtl="0" algn="l">
              <a:spcBef>
                <a:spcPts val="1000"/>
              </a:spcBef>
              <a:spcAft>
                <a:spcPts val="0"/>
              </a:spcAft>
              <a:buSzPts val="1600"/>
              <a:buNone/>
            </a:pPr>
            <a:r>
              <a:rPr lang="en-US"/>
              <a:t>• </a:t>
            </a:r>
            <a:r>
              <a:rPr lang="en-US">
                <a:solidFill>
                  <a:srgbClr val="FF0000"/>
                </a:solidFill>
              </a:rPr>
              <a:t>References</a:t>
            </a:r>
            <a:r>
              <a:rPr lang="en-US"/>
              <a:t> for more information; and </a:t>
            </a:r>
            <a:endParaRPr/>
          </a:p>
          <a:p>
            <a:pPr indent="0" lvl="0" marL="0" rtl="0" algn="l">
              <a:spcBef>
                <a:spcPts val="1000"/>
              </a:spcBef>
              <a:spcAft>
                <a:spcPts val="0"/>
              </a:spcAft>
              <a:buSzPts val="1600"/>
              <a:buNone/>
            </a:pPr>
            <a:r>
              <a:rPr lang="en-US"/>
              <a:t>• </a:t>
            </a:r>
            <a:r>
              <a:rPr lang="en-US">
                <a:solidFill>
                  <a:srgbClr val="FF0000"/>
                </a:solidFill>
              </a:rPr>
              <a:t>Alert metadata </a:t>
            </a:r>
            <a:r>
              <a:rPr lang="en-US"/>
              <a:t>(e.g., alert creation and modification dates, acknowledgments). </a:t>
            </a:r>
            <a:endParaRPr/>
          </a:p>
          <a:p>
            <a:pPr indent="-241300" lvl="0" marL="342900" rtl="0" algn="l">
              <a:spcBef>
                <a:spcPts val="1000"/>
              </a:spcBef>
              <a:spcAft>
                <a:spcPts val="0"/>
              </a:spcAft>
              <a:buSzPts val="1600"/>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9"/>
          <p:cNvSpPr txBox="1"/>
          <p:nvPr>
            <p:ph idx="1" type="body"/>
          </p:nvPr>
        </p:nvSpPr>
        <p:spPr>
          <a:xfrm>
            <a:off x="545911" y="1343234"/>
            <a:ext cx="11341290" cy="512580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Upon receipt of a security alert, an organization should determine if the alert came from a trusted, reliable source. </a:t>
            </a:r>
            <a:r>
              <a:rPr lang="en-US">
                <a:solidFill>
                  <a:srgbClr val="FF0000"/>
                </a:solidFill>
              </a:rPr>
              <a:t>When alerts originate from unknown or untrusted sources, organizations may need to apply greater scrutiny and/or seek independent confirmation before taking action. </a:t>
            </a:r>
            <a:endParaRPr>
              <a:solidFill>
                <a:srgbClr val="FF0000"/>
              </a:solidFill>
            </a:endParaRPr>
          </a:p>
          <a:p>
            <a:pPr indent="-342900" lvl="0" marL="342900" rtl="0" algn="l">
              <a:spcBef>
                <a:spcPts val="1000"/>
              </a:spcBef>
              <a:spcAft>
                <a:spcPts val="0"/>
              </a:spcAft>
              <a:buSzPts val="1600"/>
              <a:buChar char="►"/>
            </a:pPr>
            <a:r>
              <a:rPr lang="en-US"/>
              <a:t>When </a:t>
            </a:r>
            <a:r>
              <a:rPr lang="en-US">
                <a:solidFill>
                  <a:srgbClr val="FF0000"/>
                </a:solidFill>
              </a:rPr>
              <a:t>determining a proper response</a:t>
            </a:r>
            <a:r>
              <a:rPr lang="en-US"/>
              <a:t>, an organization should </a:t>
            </a:r>
            <a:r>
              <a:rPr lang="en-US">
                <a:solidFill>
                  <a:srgbClr val="FF0000"/>
                </a:solidFill>
              </a:rPr>
              <a:t>characterize the overall impact of an alert</a:t>
            </a:r>
            <a:r>
              <a:rPr lang="en-US"/>
              <a:t> by assessing factors such as the </a:t>
            </a:r>
            <a:r>
              <a:rPr lang="en-US">
                <a:solidFill>
                  <a:srgbClr val="FF0000"/>
                </a:solidFill>
              </a:rPr>
              <a:t>severity of the alert, the number of affected systems within the organization, the effects an attack might have on the organization’s mission-critical functions</a:t>
            </a:r>
            <a:r>
              <a:rPr lang="en-US"/>
              <a:t>, and any operational impacts related to the deployment of mitigating security controls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0"/>
          <p:cNvSpPr txBox="1"/>
          <p:nvPr>
            <p:ph idx="1" type="body"/>
          </p:nvPr>
        </p:nvSpPr>
        <p:spPr>
          <a:xfrm>
            <a:off x="477672" y="838267"/>
            <a:ext cx="11368585" cy="580819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SzPct val="80000"/>
              <a:buChar char="►"/>
            </a:pPr>
            <a:r>
              <a:rPr b="1" lang="en-US"/>
              <a:t>Consume and Use Indicators </a:t>
            </a:r>
            <a:endParaRPr b="1"/>
          </a:p>
          <a:p>
            <a:pPr indent="-342900" lvl="0" marL="342900" rtl="0" algn="l">
              <a:spcBef>
                <a:spcPts val="1000"/>
              </a:spcBef>
              <a:spcAft>
                <a:spcPts val="0"/>
              </a:spcAft>
              <a:buSzPct val="80000"/>
              <a:buChar char="►"/>
            </a:pPr>
            <a:r>
              <a:rPr lang="en-US"/>
              <a:t>The </a:t>
            </a:r>
            <a:r>
              <a:rPr lang="en-US">
                <a:solidFill>
                  <a:srgbClr val="FF0000"/>
                </a:solidFill>
              </a:rPr>
              <a:t>consumption and use of indicators from external feeds is often a multi-step process</a:t>
            </a:r>
            <a:r>
              <a:rPr lang="en-US"/>
              <a:t> that includes following activities </a:t>
            </a:r>
            <a:endParaRPr/>
          </a:p>
          <a:p>
            <a:pPr indent="0" lvl="0" marL="0" rtl="0" algn="l">
              <a:spcBef>
                <a:spcPts val="1000"/>
              </a:spcBef>
              <a:spcAft>
                <a:spcPts val="0"/>
              </a:spcAft>
              <a:buSzPct val="80000"/>
              <a:buNone/>
            </a:pPr>
            <a:r>
              <a:rPr lang="en-US"/>
              <a:t>•</a:t>
            </a:r>
            <a:r>
              <a:rPr b="1" lang="en-US"/>
              <a:t>Validation: </a:t>
            </a:r>
            <a:r>
              <a:rPr lang="en-US">
                <a:solidFill>
                  <a:srgbClr val="FF0000"/>
                </a:solidFill>
              </a:rPr>
              <a:t>verifying the integrity of indicator content </a:t>
            </a:r>
            <a:r>
              <a:rPr lang="en-US"/>
              <a:t>and provenance through digital signatures, cryptographic hashes, or other means.</a:t>
            </a:r>
            <a:endParaRPr/>
          </a:p>
          <a:p>
            <a:pPr indent="0" lvl="0" marL="0" rtl="0" algn="l">
              <a:spcBef>
                <a:spcPts val="1000"/>
              </a:spcBef>
              <a:spcAft>
                <a:spcPts val="0"/>
              </a:spcAft>
              <a:buSzPct val="80000"/>
              <a:buNone/>
            </a:pPr>
            <a:r>
              <a:rPr lang="en-US"/>
              <a:t>•</a:t>
            </a:r>
            <a:r>
              <a:rPr b="1" lang="en-US"/>
              <a:t>Decryption: </a:t>
            </a:r>
            <a:r>
              <a:rPr lang="en-US"/>
              <a:t>transforming encrypted indicator files or data streams back to their original format.</a:t>
            </a:r>
            <a:endParaRPr/>
          </a:p>
          <a:p>
            <a:pPr indent="0" lvl="0" marL="0" rtl="0" algn="l">
              <a:spcBef>
                <a:spcPts val="1000"/>
              </a:spcBef>
              <a:spcAft>
                <a:spcPts val="0"/>
              </a:spcAft>
              <a:buSzPct val="80000"/>
              <a:buNone/>
            </a:pPr>
            <a:r>
              <a:rPr lang="en-US"/>
              <a:t>•</a:t>
            </a:r>
            <a:r>
              <a:rPr b="1" lang="en-US"/>
              <a:t>Decompression: </a:t>
            </a:r>
            <a:r>
              <a:rPr lang="en-US"/>
              <a:t>unpacking compressed indicator files, archive files (e.g., zip, tar), or data streams.</a:t>
            </a:r>
            <a:endParaRPr/>
          </a:p>
          <a:p>
            <a:pPr indent="0" lvl="0" marL="0" rtl="0" algn="l">
              <a:spcBef>
                <a:spcPts val="1000"/>
              </a:spcBef>
              <a:spcAft>
                <a:spcPts val="0"/>
              </a:spcAft>
              <a:buSzPct val="80000"/>
              <a:buNone/>
            </a:pPr>
            <a:r>
              <a:rPr lang="en-US"/>
              <a:t>•</a:t>
            </a:r>
            <a:r>
              <a:rPr b="1" lang="en-US"/>
              <a:t>Content extraction: </a:t>
            </a:r>
            <a:r>
              <a:rPr lang="en-US"/>
              <a:t>parsing indicator files and extracting indicators of interest to an organization</a:t>
            </a:r>
            <a:endParaRPr/>
          </a:p>
          <a:p>
            <a:pPr indent="0" lvl="0" marL="0" rtl="0" algn="l">
              <a:spcBef>
                <a:spcPts val="1000"/>
              </a:spcBef>
              <a:spcAft>
                <a:spcPts val="0"/>
              </a:spcAft>
              <a:buSzPct val="80000"/>
              <a:buNone/>
            </a:pPr>
            <a:r>
              <a:rPr lang="en-US"/>
              <a:t>•</a:t>
            </a:r>
            <a:r>
              <a:rPr b="1" lang="en-US"/>
              <a:t>Prioritization: </a:t>
            </a:r>
            <a:r>
              <a:rPr lang="en-US"/>
              <a:t>processing indicators based on </a:t>
            </a:r>
            <a:r>
              <a:rPr lang="en-US">
                <a:solidFill>
                  <a:srgbClr val="FF0000"/>
                </a:solidFill>
              </a:rPr>
              <a:t>relative importance</a:t>
            </a:r>
            <a:r>
              <a:rPr lang="en-US"/>
              <a:t>, the </a:t>
            </a:r>
            <a:r>
              <a:rPr lang="en-US">
                <a:solidFill>
                  <a:srgbClr val="FF0000"/>
                </a:solidFill>
              </a:rPr>
              <a:t>perceived value of a data source,</a:t>
            </a:r>
            <a:r>
              <a:rPr lang="en-US"/>
              <a:t> the overall </a:t>
            </a:r>
            <a:r>
              <a:rPr lang="en-US">
                <a:solidFill>
                  <a:srgbClr val="FF0000"/>
                </a:solidFill>
              </a:rPr>
              <a:t>confidence in the data</a:t>
            </a:r>
            <a:r>
              <a:rPr lang="en-US"/>
              <a:t>, any </a:t>
            </a:r>
            <a:r>
              <a:rPr lang="en-US">
                <a:solidFill>
                  <a:srgbClr val="FF0000"/>
                </a:solidFill>
              </a:rPr>
              <a:t>operational requirements </a:t>
            </a:r>
            <a:r>
              <a:rPr lang="en-US"/>
              <a:t>that specify that data sources be processed in a particular order, the </a:t>
            </a:r>
            <a:r>
              <a:rPr lang="en-US">
                <a:solidFill>
                  <a:srgbClr val="FF0000"/>
                </a:solidFill>
              </a:rPr>
              <a:t>amount of effort required to transform the data into action able information,</a:t>
            </a:r>
            <a:r>
              <a:rPr lang="en-US"/>
              <a:t> or other factors.</a:t>
            </a:r>
            <a:endParaRPr/>
          </a:p>
          <a:p>
            <a:pPr indent="0" lvl="0" marL="0" rtl="0" algn="l">
              <a:spcBef>
                <a:spcPts val="1000"/>
              </a:spcBef>
              <a:spcAft>
                <a:spcPts val="0"/>
              </a:spcAft>
              <a:buSzPct val="80000"/>
              <a:buNone/>
            </a:pPr>
            <a:r>
              <a:rPr lang="en-US"/>
              <a:t>•</a:t>
            </a:r>
            <a:r>
              <a:rPr b="1" lang="en-US"/>
              <a:t>Categorization: </a:t>
            </a:r>
            <a:r>
              <a:rPr lang="en-US"/>
              <a:t>reviewing indicator metadata to </a:t>
            </a:r>
            <a:r>
              <a:rPr lang="en-US">
                <a:solidFill>
                  <a:srgbClr val="FF0000"/>
                </a:solidFill>
              </a:rPr>
              <a:t>determine its security designation and handling requirements.</a:t>
            </a:r>
            <a:r>
              <a:rPr lang="en-US"/>
              <a:t> Sensitive information may require </a:t>
            </a:r>
            <a:r>
              <a:rPr lang="en-US">
                <a:solidFill>
                  <a:srgbClr val="FF0000"/>
                </a:solidFill>
              </a:rPr>
              <a:t>encrypted storage, more stringent access control, or limitations on distribution.</a:t>
            </a:r>
            <a:endParaRPr/>
          </a:p>
          <a:p>
            <a:pPr indent="-248920" lvl="0" marL="342900" rtl="0" algn="l">
              <a:spcBef>
                <a:spcPts val="1000"/>
              </a:spcBef>
              <a:spcAft>
                <a:spcPts val="0"/>
              </a:spcAft>
              <a:buSzPct val="80000"/>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1"/>
          <p:cNvSpPr txBox="1"/>
          <p:nvPr>
            <p:ph idx="1" type="body"/>
          </p:nvPr>
        </p:nvSpPr>
        <p:spPr>
          <a:xfrm>
            <a:off x="518615" y="730156"/>
            <a:ext cx="11464119" cy="6127844"/>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indicators are: </a:t>
            </a:r>
            <a:endParaRPr/>
          </a:p>
          <a:p>
            <a:pPr indent="0" lvl="0" marL="0" rtl="0" algn="l">
              <a:spcBef>
                <a:spcPts val="1000"/>
              </a:spcBef>
              <a:spcAft>
                <a:spcPts val="0"/>
              </a:spcAft>
              <a:buSzPts val="1600"/>
              <a:buNone/>
            </a:pPr>
            <a:r>
              <a:rPr lang="en-US"/>
              <a:t>• </a:t>
            </a:r>
            <a:r>
              <a:rPr b="1" lang="en-US"/>
              <a:t>Timely. </a:t>
            </a:r>
            <a:r>
              <a:rPr lang="en-US">
                <a:solidFill>
                  <a:srgbClr val="FF0000"/>
                </a:solidFill>
              </a:rPr>
              <a:t>Indicators should be delivered with minimal latency thereby allowing additional time for recipients to prepare suitable responses</a:t>
            </a:r>
            <a:r>
              <a:rPr lang="en-US"/>
              <a:t>. The time criticality of indicators depends on the characteristics of the threats, including their severity, speed, and ease of propagation, the infrastructure being targeted, the TTPs being used, and the capabilities of the actor(s).</a:t>
            </a:r>
            <a:endParaRPr/>
          </a:p>
          <a:p>
            <a:pPr indent="0" lvl="0" marL="0" rtl="0" algn="l">
              <a:spcBef>
                <a:spcPts val="1000"/>
              </a:spcBef>
              <a:spcAft>
                <a:spcPts val="0"/>
              </a:spcAft>
              <a:buSzPts val="1600"/>
              <a:buNone/>
            </a:pPr>
            <a:r>
              <a:rPr lang="en-US"/>
              <a:t>•</a:t>
            </a:r>
            <a:r>
              <a:rPr b="1" lang="en-US"/>
              <a:t>Relevant. </a:t>
            </a:r>
            <a:r>
              <a:rPr lang="en-US">
                <a:solidFill>
                  <a:srgbClr val="FF0000"/>
                </a:solidFill>
              </a:rPr>
              <a:t>Indicators should be applicable to a recipient’s operating environment and address threats the organization is likely to face</a:t>
            </a:r>
            <a:r>
              <a:rPr lang="en-US"/>
              <a:t>. The unnecessary processing of extraneous indicators creates additional work for analysts and slows down prioritization and categorization actions.</a:t>
            </a:r>
            <a:endParaRPr/>
          </a:p>
          <a:p>
            <a:pPr indent="0" lvl="0" marL="0" rtl="0" algn="l">
              <a:spcBef>
                <a:spcPts val="1000"/>
              </a:spcBef>
              <a:spcAft>
                <a:spcPts val="0"/>
              </a:spcAft>
              <a:buSzPts val="1600"/>
              <a:buNone/>
            </a:pPr>
            <a:r>
              <a:rPr lang="en-US"/>
              <a:t>•</a:t>
            </a:r>
            <a:r>
              <a:rPr b="1" lang="en-US"/>
              <a:t>Accurate. </a:t>
            </a:r>
            <a:r>
              <a:rPr lang="en-US">
                <a:solidFill>
                  <a:srgbClr val="FF0000"/>
                </a:solidFill>
              </a:rPr>
              <a:t>Indicators should be correct, complete, and unambiguous. Inaccurate or incomplete information introduces uncertainty and may prevent critical action, stimulate unnecessary action, result in ineffective responses, or instill a false sense of security</a:t>
            </a:r>
            <a:r>
              <a:rPr lang="en-US"/>
              <a:t>. •</a:t>
            </a:r>
            <a:r>
              <a:rPr b="1" lang="en-US"/>
              <a:t>Specific. </a:t>
            </a:r>
            <a:r>
              <a:rPr lang="en-US"/>
              <a:t>Indicators should </a:t>
            </a:r>
            <a:r>
              <a:rPr lang="en-US">
                <a:solidFill>
                  <a:srgbClr val="FF0000"/>
                </a:solidFill>
              </a:rPr>
              <a:t>provide clear descriptions of observable events</a:t>
            </a:r>
            <a:r>
              <a:rPr lang="en-US"/>
              <a:t> that recipients can use to detect threats while minimizing false positives/negatives.</a:t>
            </a:r>
            <a:endParaRPr/>
          </a:p>
          <a:p>
            <a:pPr indent="0" lvl="0" marL="0" rtl="0" algn="l">
              <a:spcBef>
                <a:spcPts val="1000"/>
              </a:spcBef>
              <a:spcAft>
                <a:spcPts val="0"/>
              </a:spcAft>
              <a:buSzPts val="1600"/>
              <a:buNone/>
            </a:pPr>
            <a:r>
              <a:rPr lang="en-US"/>
              <a:t>•</a:t>
            </a:r>
            <a:r>
              <a:rPr b="1" lang="en-US"/>
              <a:t>Actionable. </a:t>
            </a:r>
            <a:r>
              <a:rPr lang="en-US"/>
              <a:t>Indicators should </a:t>
            </a:r>
            <a:r>
              <a:rPr lang="en-US">
                <a:solidFill>
                  <a:srgbClr val="FF0000"/>
                </a:solidFill>
              </a:rPr>
              <a:t>provide enough information </a:t>
            </a:r>
            <a:r>
              <a:rPr lang="en-US"/>
              <a:t>and context to </a:t>
            </a:r>
            <a:r>
              <a:rPr lang="en-US">
                <a:solidFill>
                  <a:srgbClr val="FF0000"/>
                </a:solidFill>
              </a:rPr>
              <a:t>allow recipients to develop a suitable response</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2"/>
          <p:cNvSpPr txBox="1"/>
          <p:nvPr>
            <p:ph idx="1" type="body"/>
          </p:nvPr>
        </p:nvSpPr>
        <p:spPr>
          <a:xfrm>
            <a:off x="614149" y="777921"/>
            <a:ext cx="11313993" cy="590948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b="1" lang="en-US"/>
              <a:t>Organize and Store Cyber Threat Information</a:t>
            </a:r>
            <a:endParaRPr/>
          </a:p>
          <a:p>
            <a:pPr indent="-342900" lvl="0" marL="342900" rtl="0" algn="l">
              <a:spcBef>
                <a:spcPts val="1000"/>
              </a:spcBef>
              <a:spcAft>
                <a:spcPts val="0"/>
              </a:spcAft>
              <a:buSzPts val="1600"/>
              <a:buChar char="►"/>
            </a:pPr>
            <a:r>
              <a:rPr lang="en-US"/>
              <a:t>Organizations may </a:t>
            </a:r>
            <a:r>
              <a:rPr lang="en-US">
                <a:solidFill>
                  <a:srgbClr val="FF0000"/>
                </a:solidFill>
              </a:rPr>
              <a:t>collect indicators from a variety of sources</a:t>
            </a:r>
            <a:r>
              <a:rPr lang="en-US"/>
              <a:t>, including open source repositories, commercial threat feeds, and external partners. </a:t>
            </a:r>
            <a:r>
              <a:rPr lang="en-US">
                <a:solidFill>
                  <a:srgbClr val="FF0000"/>
                </a:solidFill>
              </a:rPr>
              <a:t>Depending on how indicators are being used, there may be a need to organize them in a knowledgebase </a:t>
            </a:r>
            <a:endParaRPr>
              <a:solidFill>
                <a:srgbClr val="FF0000"/>
              </a:solidFill>
            </a:endParaRPr>
          </a:p>
          <a:p>
            <a:pPr indent="-342900" lvl="0" marL="342900" rtl="0" algn="l">
              <a:spcBef>
                <a:spcPts val="1000"/>
              </a:spcBef>
              <a:spcAft>
                <a:spcPts val="0"/>
              </a:spcAft>
              <a:buSzPts val="1600"/>
              <a:buChar char="►"/>
            </a:pPr>
            <a:r>
              <a:rPr lang="en-US"/>
              <a:t>Information commonly recorded in a knowledgebase includes the following:</a:t>
            </a:r>
            <a:endParaRPr/>
          </a:p>
          <a:p>
            <a:pPr indent="0" lvl="0" marL="0" rtl="0" algn="l">
              <a:spcBef>
                <a:spcPts val="1000"/>
              </a:spcBef>
              <a:spcAft>
                <a:spcPts val="0"/>
              </a:spcAft>
              <a:buSzPts val="1600"/>
              <a:buNone/>
            </a:pPr>
            <a:r>
              <a:rPr lang="en-US"/>
              <a:t>• </a:t>
            </a:r>
            <a:r>
              <a:rPr lang="en-US">
                <a:solidFill>
                  <a:srgbClr val="FF0000"/>
                </a:solidFill>
              </a:rPr>
              <a:t>Source of an indicator</a:t>
            </a:r>
            <a:r>
              <a:rPr lang="en-US"/>
              <a:t>; </a:t>
            </a:r>
            <a:endParaRPr/>
          </a:p>
          <a:p>
            <a:pPr indent="0" lvl="0" marL="0" rtl="0" algn="l">
              <a:spcBef>
                <a:spcPts val="1000"/>
              </a:spcBef>
              <a:spcAft>
                <a:spcPts val="0"/>
              </a:spcAft>
              <a:buSzPts val="1600"/>
              <a:buNone/>
            </a:pPr>
            <a:r>
              <a:rPr lang="en-US"/>
              <a:t>• </a:t>
            </a:r>
            <a:r>
              <a:rPr lang="en-US">
                <a:solidFill>
                  <a:srgbClr val="FF0000"/>
                </a:solidFill>
              </a:rPr>
              <a:t>Rules governing </a:t>
            </a:r>
            <a:r>
              <a:rPr lang="en-US"/>
              <a:t>the use or sharing of an indicator; </a:t>
            </a:r>
            <a:endParaRPr/>
          </a:p>
          <a:p>
            <a:pPr indent="0" lvl="0" marL="0" rtl="0" algn="l">
              <a:spcBef>
                <a:spcPts val="1000"/>
              </a:spcBef>
              <a:spcAft>
                <a:spcPts val="0"/>
              </a:spcAft>
              <a:buSzPts val="1600"/>
              <a:buNone/>
            </a:pPr>
            <a:r>
              <a:rPr lang="en-US"/>
              <a:t>• </a:t>
            </a:r>
            <a:r>
              <a:rPr lang="en-US">
                <a:solidFill>
                  <a:srgbClr val="FF0000"/>
                </a:solidFill>
              </a:rPr>
              <a:t>Date or time </a:t>
            </a:r>
            <a:r>
              <a:rPr lang="en-US"/>
              <a:t>an indicator was collected; </a:t>
            </a:r>
            <a:endParaRPr/>
          </a:p>
          <a:p>
            <a:pPr indent="0" lvl="0" marL="0" rtl="0" algn="l">
              <a:spcBef>
                <a:spcPts val="1000"/>
              </a:spcBef>
              <a:spcAft>
                <a:spcPts val="0"/>
              </a:spcAft>
              <a:buSzPts val="1600"/>
              <a:buNone/>
            </a:pPr>
            <a:r>
              <a:rPr lang="en-US"/>
              <a:t>• </a:t>
            </a:r>
            <a:r>
              <a:rPr lang="en-US">
                <a:solidFill>
                  <a:srgbClr val="FF0000"/>
                </a:solidFill>
              </a:rPr>
              <a:t>Length of time that an indicator is still considered valid; </a:t>
            </a:r>
            <a:endParaRPr/>
          </a:p>
          <a:p>
            <a:pPr indent="0" lvl="0" marL="0" rtl="0" algn="l">
              <a:spcBef>
                <a:spcPts val="1000"/>
              </a:spcBef>
              <a:spcAft>
                <a:spcPts val="0"/>
              </a:spcAft>
              <a:buSzPts val="1600"/>
              <a:buNone/>
            </a:pPr>
            <a:r>
              <a:rPr lang="en-US"/>
              <a:t>• Whether or not </a:t>
            </a:r>
            <a:r>
              <a:rPr lang="en-US">
                <a:solidFill>
                  <a:srgbClr val="FF0000"/>
                </a:solidFill>
              </a:rPr>
              <a:t>attacks associated with an indicator </a:t>
            </a:r>
            <a:r>
              <a:rPr lang="en-US"/>
              <a:t>have targeted specific organizations or sectors; </a:t>
            </a:r>
            <a:endParaRPr/>
          </a:p>
          <a:p>
            <a:pPr indent="0" lvl="0" marL="0" rtl="0" algn="l">
              <a:spcBef>
                <a:spcPts val="1000"/>
              </a:spcBef>
              <a:spcAft>
                <a:spcPts val="0"/>
              </a:spcAft>
              <a:buSzPts val="1600"/>
              <a:buNone/>
            </a:pPr>
            <a:r>
              <a:rPr lang="en-US"/>
              <a:t>• </a:t>
            </a:r>
            <a:r>
              <a:rPr lang="en-US">
                <a:solidFill>
                  <a:srgbClr val="FF0000"/>
                </a:solidFill>
              </a:rPr>
              <a:t>Any Common Vulnerability Enumeration </a:t>
            </a:r>
            <a:r>
              <a:rPr lang="en-US"/>
              <a:t>(CVE), Common Platform Enumeration (CPE), Common Weakness Enumeration (CWE), Common Configuration Enumeration (CCE) records associated with an indicator </a:t>
            </a:r>
            <a:endParaRPr/>
          </a:p>
          <a:p>
            <a:pPr indent="-241300" lvl="0" marL="342900" rtl="0" algn="l">
              <a:spcBef>
                <a:spcPts val="1000"/>
              </a:spcBef>
              <a:spcAft>
                <a:spcPts val="0"/>
              </a:spcAft>
              <a:buSzPts val="1600"/>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3"/>
          <p:cNvSpPr txBox="1"/>
          <p:nvPr>
            <p:ph idx="1" type="body"/>
          </p:nvPr>
        </p:nvSpPr>
        <p:spPr>
          <a:xfrm>
            <a:off x="571049" y="1083927"/>
            <a:ext cx="11329799" cy="5603476"/>
          </a:xfrm>
          <a:prstGeom prst="rect">
            <a:avLst/>
          </a:prstGeom>
          <a:noFill/>
          <a:ln>
            <a:noFill/>
          </a:ln>
        </p:spPr>
        <p:txBody>
          <a:bodyPr anchorCtr="0" anchor="t" bIns="45700" lIns="91425" spcFirstLastPara="1" rIns="91425" wrap="square" tIns="45700">
            <a:normAutofit/>
          </a:bodyPr>
          <a:lstStyle/>
          <a:p>
            <a:pPr indent="-241300" lvl="0" marL="342900" rtl="0" algn="l">
              <a:spcBef>
                <a:spcPts val="0"/>
              </a:spcBef>
              <a:spcAft>
                <a:spcPts val="0"/>
              </a:spcAft>
              <a:buSzPts val="1600"/>
              <a:buNone/>
            </a:pPr>
            <a:r>
              <a:t/>
            </a:r>
            <a:endParaRPr/>
          </a:p>
          <a:p>
            <a:pPr indent="0" lvl="0" marL="0" rtl="0" algn="l">
              <a:spcBef>
                <a:spcPts val="1000"/>
              </a:spcBef>
              <a:spcAft>
                <a:spcPts val="0"/>
              </a:spcAft>
              <a:buSzPts val="1600"/>
              <a:buNone/>
            </a:pPr>
            <a:r>
              <a:rPr lang="en-US"/>
              <a:t>• </a:t>
            </a:r>
            <a:r>
              <a:rPr lang="en-US">
                <a:solidFill>
                  <a:srgbClr val="FF0000"/>
                </a:solidFill>
              </a:rPr>
              <a:t>Groups or actors </a:t>
            </a:r>
            <a:r>
              <a:rPr lang="en-US"/>
              <a:t>associated with an indicator; </a:t>
            </a:r>
            <a:endParaRPr/>
          </a:p>
          <a:p>
            <a:pPr indent="0" lvl="0" marL="0" rtl="0" algn="l">
              <a:spcBef>
                <a:spcPts val="1000"/>
              </a:spcBef>
              <a:spcAft>
                <a:spcPts val="0"/>
              </a:spcAft>
              <a:buSzPts val="1600"/>
              <a:buNone/>
            </a:pPr>
            <a:r>
              <a:rPr lang="en-US"/>
              <a:t>• </a:t>
            </a:r>
            <a:r>
              <a:rPr lang="en-US">
                <a:solidFill>
                  <a:srgbClr val="FF0000"/>
                </a:solidFill>
              </a:rPr>
              <a:t>Aliases</a:t>
            </a:r>
            <a:r>
              <a:rPr lang="en-US"/>
              <a:t> of any associated actors; </a:t>
            </a:r>
            <a:endParaRPr/>
          </a:p>
          <a:p>
            <a:pPr indent="0" lvl="0" marL="0" rtl="0" algn="l">
              <a:spcBef>
                <a:spcPts val="1000"/>
              </a:spcBef>
              <a:spcAft>
                <a:spcPts val="0"/>
              </a:spcAft>
              <a:buSzPts val="1600"/>
              <a:buNone/>
            </a:pPr>
            <a:r>
              <a:rPr lang="en-US"/>
              <a:t>• </a:t>
            </a:r>
            <a:r>
              <a:rPr lang="en-US">
                <a:solidFill>
                  <a:srgbClr val="FF0000"/>
                </a:solidFill>
              </a:rPr>
              <a:t>TTPs</a:t>
            </a:r>
            <a:r>
              <a:rPr lang="en-US"/>
              <a:t> commonly used by an actor; </a:t>
            </a:r>
            <a:endParaRPr/>
          </a:p>
          <a:p>
            <a:pPr indent="0" lvl="0" marL="0" rtl="0" algn="l">
              <a:spcBef>
                <a:spcPts val="1000"/>
              </a:spcBef>
              <a:spcAft>
                <a:spcPts val="0"/>
              </a:spcAft>
              <a:buSzPts val="1600"/>
              <a:buNone/>
            </a:pPr>
            <a:r>
              <a:rPr lang="en-US"/>
              <a:t>• </a:t>
            </a:r>
            <a:r>
              <a:rPr lang="en-US">
                <a:solidFill>
                  <a:srgbClr val="FF0000"/>
                </a:solidFill>
              </a:rPr>
              <a:t>Motives or intent </a:t>
            </a:r>
            <a:r>
              <a:rPr lang="en-US"/>
              <a:t>of an associated actor; </a:t>
            </a:r>
            <a:endParaRPr/>
          </a:p>
          <a:p>
            <a:pPr indent="0" lvl="0" marL="0" rtl="0" algn="l">
              <a:spcBef>
                <a:spcPts val="1000"/>
              </a:spcBef>
              <a:spcAft>
                <a:spcPts val="0"/>
              </a:spcAft>
              <a:buSzPts val="1600"/>
              <a:buNone/>
            </a:pPr>
            <a:r>
              <a:rPr lang="en-US"/>
              <a:t>• </a:t>
            </a:r>
            <a:r>
              <a:rPr lang="en-US">
                <a:solidFill>
                  <a:srgbClr val="FF0000"/>
                </a:solidFill>
              </a:rPr>
              <a:t>Individuals or types of individuals </a:t>
            </a:r>
            <a:r>
              <a:rPr lang="en-US"/>
              <a:t>targeted in associated attacks; and </a:t>
            </a:r>
            <a:endParaRPr/>
          </a:p>
          <a:p>
            <a:pPr indent="0" lvl="0" marL="0" rtl="0" algn="l">
              <a:spcBef>
                <a:spcPts val="1000"/>
              </a:spcBef>
              <a:spcAft>
                <a:spcPts val="0"/>
              </a:spcAft>
              <a:buSzPts val="1600"/>
              <a:buNone/>
            </a:pPr>
            <a:r>
              <a:rPr lang="en-US"/>
              <a:t>• </a:t>
            </a:r>
            <a:r>
              <a:rPr lang="en-US">
                <a:solidFill>
                  <a:srgbClr val="FF0000"/>
                </a:solidFill>
              </a:rPr>
              <a:t>Systems</a:t>
            </a:r>
            <a:r>
              <a:rPr lang="en-US"/>
              <a:t> targeted in attacks. </a:t>
            </a:r>
            <a:endParaRPr/>
          </a:p>
          <a:p>
            <a:pPr indent="-241300" lvl="0" marL="342900" rtl="0" algn="l">
              <a:spcBef>
                <a:spcPts val="1000"/>
              </a:spcBef>
              <a:spcAft>
                <a:spcPts val="0"/>
              </a:spcAft>
              <a:buSzPts val="1600"/>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4"/>
          <p:cNvSpPr txBox="1"/>
          <p:nvPr>
            <p:ph idx="1" type="body"/>
          </p:nvPr>
        </p:nvSpPr>
        <p:spPr>
          <a:xfrm>
            <a:off x="450376" y="742733"/>
            <a:ext cx="11259403" cy="589007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b="1" lang="en-US"/>
              <a:t>Produce and Publish Indicators</a:t>
            </a:r>
            <a:endParaRPr/>
          </a:p>
          <a:p>
            <a:pPr indent="-342900" lvl="0" marL="342900" rtl="0" algn="l">
              <a:spcBef>
                <a:spcPts val="1000"/>
              </a:spcBef>
              <a:spcAft>
                <a:spcPts val="0"/>
              </a:spcAft>
              <a:buSzPts val="1600"/>
              <a:buChar char="►"/>
            </a:pPr>
            <a:r>
              <a:rPr lang="en-US">
                <a:solidFill>
                  <a:srgbClr val="FF0000"/>
                </a:solidFill>
              </a:rPr>
              <a:t>Many organizations only consume indicators. However, some organizations, often those with more advanced security capabilities, choose to produce and publish their own indicators</a:t>
            </a:r>
            <a:r>
              <a:rPr lang="en-US"/>
              <a:t>.</a:t>
            </a:r>
            <a:endParaRPr/>
          </a:p>
          <a:p>
            <a:pPr indent="-342900" lvl="0" marL="342900" rtl="0" algn="l">
              <a:spcBef>
                <a:spcPts val="1000"/>
              </a:spcBef>
              <a:spcAft>
                <a:spcPts val="0"/>
              </a:spcAft>
              <a:buSzPts val="1600"/>
              <a:buChar char="►"/>
            </a:pPr>
            <a:r>
              <a:rPr lang="en-US"/>
              <a:t>A producer of shared threat information must decide what, if any, </a:t>
            </a:r>
            <a:r>
              <a:rPr lang="en-US">
                <a:solidFill>
                  <a:srgbClr val="FF0000"/>
                </a:solidFill>
              </a:rPr>
              <a:t>metadata should accompany shared information, what data formats should be used, how sensitive data should be handled, and how information sharing rules should be updated over time.</a:t>
            </a:r>
            <a:endParaRPr/>
          </a:p>
          <a:p>
            <a:pPr indent="-342900" lvl="0" marL="342900" rtl="0" algn="l">
              <a:spcBef>
                <a:spcPts val="1000"/>
              </a:spcBef>
              <a:spcAft>
                <a:spcPts val="0"/>
              </a:spcAft>
              <a:buSzPts val="1600"/>
              <a:buChar char="►"/>
            </a:pPr>
            <a:r>
              <a:rPr lang="en-US"/>
              <a:t>The following subsections address these issues. </a:t>
            </a:r>
            <a:r>
              <a:rPr b="1" lang="en-US"/>
              <a:t> </a:t>
            </a:r>
            <a:endParaRPr/>
          </a:p>
          <a:p>
            <a:pPr indent="-342900" lvl="0" marL="342900" rtl="0" algn="l">
              <a:spcBef>
                <a:spcPts val="1000"/>
              </a:spcBef>
              <a:spcAft>
                <a:spcPts val="0"/>
              </a:spcAft>
              <a:buSzPts val="1600"/>
              <a:buChar char="►"/>
            </a:pPr>
            <a:r>
              <a:rPr b="1" lang="en-US"/>
              <a:t>Indicator Enrichment </a:t>
            </a:r>
            <a:endParaRPr b="1"/>
          </a:p>
          <a:p>
            <a:pPr indent="-342900" lvl="0" marL="342900" rtl="0" algn="l">
              <a:spcBef>
                <a:spcPts val="1000"/>
              </a:spcBef>
              <a:spcAft>
                <a:spcPts val="0"/>
              </a:spcAft>
              <a:buSzPts val="1600"/>
              <a:buChar char="►"/>
            </a:pPr>
            <a:r>
              <a:rPr b="1" lang="en-US"/>
              <a:t>Standard Data Formats </a:t>
            </a:r>
            <a:endParaRPr b="1"/>
          </a:p>
          <a:p>
            <a:pPr indent="-342900" lvl="0" marL="342900" rtl="0" algn="l">
              <a:spcBef>
                <a:spcPts val="1000"/>
              </a:spcBef>
              <a:spcAft>
                <a:spcPts val="0"/>
              </a:spcAft>
              <a:buSzPts val="1600"/>
              <a:buChar char="►"/>
            </a:pPr>
            <a:r>
              <a:rPr b="1" lang="en-US"/>
              <a:t>Protection of Sensitive Data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5"/>
          <p:cNvSpPr txBox="1"/>
          <p:nvPr>
            <p:ph idx="1" type="body"/>
          </p:nvPr>
        </p:nvSpPr>
        <p:spPr>
          <a:xfrm>
            <a:off x="584696" y="933803"/>
            <a:ext cx="11329800" cy="5739952"/>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1600"/>
              <a:buChar char="►"/>
            </a:pPr>
            <a:r>
              <a:rPr b="1" lang="en-US"/>
              <a:t>Indicator Enrichment </a:t>
            </a:r>
            <a:endParaRPr/>
          </a:p>
          <a:p>
            <a:pPr indent="-342900" lvl="0" marL="342900" rtl="0" algn="l">
              <a:spcBef>
                <a:spcPts val="1000"/>
              </a:spcBef>
              <a:spcAft>
                <a:spcPts val="0"/>
              </a:spcAft>
              <a:buSzPts val="1600"/>
              <a:buChar char="►"/>
            </a:pPr>
            <a:r>
              <a:rPr lang="en-US"/>
              <a:t>Indicators that are produced and published </a:t>
            </a:r>
            <a:r>
              <a:rPr lang="en-US">
                <a:solidFill>
                  <a:srgbClr val="FF0000"/>
                </a:solidFill>
              </a:rPr>
              <a:t>should include metadata</a:t>
            </a:r>
            <a:r>
              <a:rPr lang="en-US"/>
              <a:t> that provides context for each indicator, </a:t>
            </a:r>
            <a:r>
              <a:rPr lang="en-US">
                <a:solidFill>
                  <a:srgbClr val="FF0000"/>
                </a:solidFill>
              </a:rPr>
              <a:t>describes how the indicator is to be used and interpreted and how the indicator relates to other indicators.</a:t>
            </a:r>
            <a:endParaRPr/>
          </a:p>
          <a:p>
            <a:pPr indent="-342900" lvl="0" marL="342900" rtl="0" algn="l">
              <a:spcBef>
                <a:spcPts val="1000"/>
              </a:spcBef>
              <a:spcAft>
                <a:spcPts val="0"/>
              </a:spcAft>
              <a:buSzPts val="1600"/>
              <a:buChar char="►"/>
            </a:pPr>
            <a:r>
              <a:rPr lang="en-US">
                <a:solidFill>
                  <a:srgbClr val="FF0000"/>
                </a:solidFill>
              </a:rPr>
              <a:t>As indicators are created, aggregated, or enriched, their sensitivity and classification should be reevaluated</a:t>
            </a:r>
            <a:r>
              <a:rPr lang="en-US"/>
              <a:t>.</a:t>
            </a:r>
            <a:endParaRPr/>
          </a:p>
          <a:p>
            <a:pPr indent="-241300" lvl="0" marL="342900" rtl="0" algn="l">
              <a:spcBef>
                <a:spcPts val="1000"/>
              </a:spcBef>
              <a:spcAft>
                <a:spcPts val="0"/>
              </a:spcAft>
              <a:buSzPts val="1600"/>
              <a:buNone/>
            </a:pPr>
            <a:r>
              <a:t/>
            </a:r>
            <a:endParaRPr/>
          </a:p>
          <a:p>
            <a:pPr indent="-342900" lvl="0" marL="342900" rtl="0" algn="l">
              <a:spcBef>
                <a:spcPts val="1000"/>
              </a:spcBef>
              <a:spcAft>
                <a:spcPts val="0"/>
              </a:spcAft>
              <a:buSzPts val="1600"/>
              <a:buChar char="►"/>
            </a:pPr>
            <a:r>
              <a:rPr b="1" lang="en-US"/>
              <a:t>Standard Data Formats </a:t>
            </a:r>
            <a:endParaRPr b="1"/>
          </a:p>
          <a:p>
            <a:pPr indent="-342900" lvl="0" marL="342900" rtl="0" algn="l">
              <a:spcBef>
                <a:spcPts val="1000"/>
              </a:spcBef>
              <a:spcAft>
                <a:spcPts val="0"/>
              </a:spcAft>
              <a:buSzPts val="1600"/>
              <a:buChar char="►"/>
            </a:pPr>
            <a:r>
              <a:rPr lang="en-US">
                <a:solidFill>
                  <a:srgbClr val="FF0000"/>
                </a:solidFill>
              </a:rPr>
              <a:t>The use of standard data formats for the exchange of indicators enhances interoperability and allows information to be exchanged with greater speed</a:t>
            </a:r>
            <a:r>
              <a:rPr lang="en-US"/>
              <a:t>.</a:t>
            </a:r>
            <a:endParaRPr/>
          </a:p>
          <a:p>
            <a:pPr indent="-342900" lvl="0" marL="342900" rtl="0" algn="l">
              <a:spcBef>
                <a:spcPts val="1000"/>
              </a:spcBef>
              <a:spcAft>
                <a:spcPts val="0"/>
              </a:spcAft>
              <a:buSzPts val="1600"/>
              <a:buChar char="►"/>
            </a:pPr>
            <a:r>
              <a:rPr lang="en-US"/>
              <a:t> </a:t>
            </a:r>
            <a:r>
              <a:rPr lang="en-US">
                <a:solidFill>
                  <a:srgbClr val="FF0000"/>
                </a:solidFill>
              </a:rPr>
              <a:t>Unstructured formats </a:t>
            </a:r>
            <a:r>
              <a:rPr lang="en-US"/>
              <a:t>(e.g., text documents, email) are </a:t>
            </a:r>
            <a:r>
              <a:rPr lang="en-US">
                <a:solidFill>
                  <a:srgbClr val="FF0000"/>
                </a:solidFill>
              </a:rPr>
              <a:t>suitable for high-level threat reports and ad hoc exchanges of indicator information </a:t>
            </a:r>
            <a:r>
              <a:rPr lang="en-US"/>
              <a:t>and other materials intended to be read by security personnel rather than machines. </a:t>
            </a:r>
            <a:endParaRPr/>
          </a:p>
          <a:p>
            <a:pPr indent="-342900" lvl="0" marL="342900" rtl="0" algn="l">
              <a:spcBef>
                <a:spcPts val="1000"/>
              </a:spcBef>
              <a:spcAft>
                <a:spcPts val="0"/>
              </a:spcAft>
              <a:buSzPts val="1600"/>
              <a:buChar char="►"/>
            </a:pPr>
            <a:r>
              <a:rPr lang="en-US"/>
              <a:t>Organizations are encouraged to participate in threat information sharing standards development activities by </a:t>
            </a:r>
            <a:r>
              <a:rPr lang="en-US">
                <a:solidFill>
                  <a:srgbClr val="FF0000"/>
                </a:solidFill>
              </a:rPr>
              <a:t>sharing use cases, identifying desired features, and providing feedback to standards development organizations.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6"/>
          <p:cNvSpPr txBox="1"/>
          <p:nvPr>
            <p:ph idx="1" type="body"/>
          </p:nvPr>
        </p:nvSpPr>
        <p:spPr>
          <a:xfrm>
            <a:off x="571049" y="1793610"/>
            <a:ext cx="11479925" cy="586278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b="1" lang="en-US"/>
              <a:t>Protection of Sensitive Data </a:t>
            </a:r>
            <a:endParaRPr b="1"/>
          </a:p>
          <a:p>
            <a:pPr indent="-342900" lvl="0" marL="342900" rtl="0" algn="l">
              <a:spcBef>
                <a:spcPts val="1000"/>
              </a:spcBef>
              <a:spcAft>
                <a:spcPts val="0"/>
              </a:spcAft>
              <a:buSzPts val="1600"/>
              <a:buChar char="►"/>
            </a:pPr>
            <a:r>
              <a:rPr lang="en-US"/>
              <a:t>The indicators that an organization publishes may be sensitive, </a:t>
            </a:r>
            <a:r>
              <a:rPr lang="en-US">
                <a:solidFill>
                  <a:srgbClr val="FF0000"/>
                </a:solidFill>
              </a:rPr>
              <a:t>so proper safeguards should be used to prevent unauthorized disclosure or modification. </a:t>
            </a:r>
            <a:endParaRPr>
              <a:solidFill>
                <a:srgbClr val="FF0000"/>
              </a:solidFill>
            </a:endParaRPr>
          </a:p>
          <a:p>
            <a:pPr indent="-342900" lvl="0" marL="342900" rtl="0" algn="l">
              <a:spcBef>
                <a:spcPts val="1000"/>
              </a:spcBef>
              <a:spcAft>
                <a:spcPts val="0"/>
              </a:spcAft>
              <a:buSzPts val="1600"/>
              <a:buChar char="►"/>
            </a:pPr>
            <a:r>
              <a:rPr lang="en-US"/>
              <a:t>Indicator data can be protected using a variety of methods, </a:t>
            </a:r>
            <a:r>
              <a:rPr lang="en-US">
                <a:solidFill>
                  <a:srgbClr val="FF0000"/>
                </a:solidFill>
              </a:rPr>
              <a:t>including encrypted network communications, authentication and authorization mechanisms, and storage in a hardened repository.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47"/>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4200"/>
              <a:buFont typeface="Century Gothic"/>
              <a:buNone/>
            </a:pPr>
            <a:r>
              <a:rPr lang="en-US"/>
              <a:t>The Role of Nation-States as Enablers of Information Sharing</a:t>
            </a:r>
            <a:endParaRPr/>
          </a:p>
        </p:txBody>
      </p:sp>
      <p:sp>
        <p:nvSpPr>
          <p:cNvPr id="407" name="Google Shape;407;p47"/>
          <p:cNvSpPr txBox="1"/>
          <p:nvPr>
            <p:ph idx="1" type="body"/>
          </p:nvPr>
        </p:nvSpPr>
        <p:spPr>
          <a:xfrm>
            <a:off x="646111" y="2052918"/>
            <a:ext cx="11227441" cy="4579894"/>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Information sharing communities </a:t>
            </a:r>
            <a:r>
              <a:rPr lang="en-US">
                <a:solidFill>
                  <a:srgbClr val="FF0000"/>
                </a:solidFill>
              </a:rPr>
              <a:t>can implement different structures, ranging from a pure peer-to-peer model to an entirely centrally managed community.</a:t>
            </a:r>
            <a:endParaRPr/>
          </a:p>
          <a:p>
            <a:pPr indent="-342900" lvl="0" marL="342900" rtl="0" algn="l">
              <a:spcBef>
                <a:spcPts val="1000"/>
              </a:spcBef>
              <a:spcAft>
                <a:spcPts val="0"/>
              </a:spcAft>
              <a:buSzPts val="1600"/>
              <a:buChar char="►"/>
            </a:pPr>
            <a:r>
              <a:rPr lang="en-US"/>
              <a:t>Even hybrid models are possible, with a </a:t>
            </a:r>
            <a:r>
              <a:rPr lang="en-US">
                <a:solidFill>
                  <a:srgbClr val="FF0000"/>
                </a:solidFill>
              </a:rPr>
              <a:t>central entity that controls the member subscription and management processes,</a:t>
            </a:r>
            <a:r>
              <a:rPr lang="en-US"/>
              <a:t> however sharing is performed directly between peers.</a:t>
            </a:r>
            <a:endParaRPr/>
          </a:p>
          <a:p>
            <a:pPr indent="-342900" lvl="0" marL="342900" rtl="0" algn="l">
              <a:spcBef>
                <a:spcPts val="1000"/>
              </a:spcBef>
              <a:spcAft>
                <a:spcPts val="0"/>
              </a:spcAft>
              <a:buSzPts val="1600"/>
              <a:buChar char="►"/>
            </a:pPr>
            <a:r>
              <a:rPr lang="en-US"/>
              <a:t>Having a central entity seems to be an intriguing design, since some trusted entity is helpful in performing the required vetting before a member joins the community and coordinating and supervising the information sharing activities, e.g., stimulating sharing activities. </a:t>
            </a:r>
            <a:endParaRPr/>
          </a:p>
          <a:p>
            <a:pPr indent="-342900" lvl="0" marL="342900" rtl="0" algn="l">
              <a:spcBef>
                <a:spcPts val="1000"/>
              </a:spcBef>
              <a:spcAft>
                <a:spcPts val="0"/>
              </a:spcAft>
              <a:buSzPts val="1600"/>
              <a:buChar char="►"/>
            </a:pPr>
            <a:r>
              <a:rPr lang="en-US"/>
              <a:t>Furthermore, a </a:t>
            </a:r>
            <a:r>
              <a:rPr lang="en-US">
                <a:solidFill>
                  <a:srgbClr val="FF0000"/>
                </a:solidFill>
              </a:rPr>
              <a:t>central entity that publishes carefully negotiated agreements and policies on how to involve new members, what level of sharing is obliged and how to provide feedback on requests of peers</a:t>
            </a:r>
            <a:r>
              <a:rPr lang="en-US"/>
              <a:t> (e.g., to trigger the validation of new threat intelligence) is beneficial to establishing a stable community.</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8"/>
          <p:cNvSpPr txBox="1"/>
          <p:nvPr>
            <p:ph idx="1" type="body"/>
          </p:nvPr>
        </p:nvSpPr>
        <p:spPr>
          <a:xfrm>
            <a:off x="300252" y="1467134"/>
            <a:ext cx="11682482" cy="5390866"/>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solidFill>
                  <a:srgbClr val="FF0000"/>
                </a:solidFill>
              </a:rPr>
              <a:t>National authorities increasingly take over that Role to run central hub in the course of their individual cyber security strategies .</a:t>
            </a:r>
            <a:endParaRPr/>
          </a:p>
          <a:p>
            <a:pPr indent="-342900" lvl="0" marL="342900" rtl="0" algn="l">
              <a:spcBef>
                <a:spcPts val="1000"/>
              </a:spcBef>
              <a:spcAft>
                <a:spcPts val="0"/>
              </a:spcAft>
              <a:buSzPts val="1600"/>
              <a:buChar char="►"/>
            </a:pPr>
            <a:r>
              <a:rPr lang="en-US"/>
              <a:t>This role further enables a nation-state to </a:t>
            </a:r>
            <a:r>
              <a:rPr lang="en-US">
                <a:solidFill>
                  <a:srgbClr val="FF0000"/>
                </a:solidFill>
              </a:rPr>
              <a:t>keep informed about actual threats and incidents and their root causes,</a:t>
            </a:r>
            <a:r>
              <a:rPr lang="en-US"/>
              <a:t> which is a </a:t>
            </a:r>
            <a:r>
              <a:rPr lang="en-US">
                <a:solidFill>
                  <a:srgbClr val="FF0000"/>
                </a:solidFill>
              </a:rPr>
              <a:t>strict requirement for establishing national cyber situational awareness </a:t>
            </a:r>
            <a:endParaRPr>
              <a:solidFill>
                <a:srgbClr val="FF0000"/>
              </a:solidFill>
            </a:endParaRPr>
          </a:p>
          <a:p>
            <a:pPr indent="-342900" lvl="0" marL="342900" rtl="0" algn="l">
              <a:spcBef>
                <a:spcPts val="1000"/>
              </a:spcBef>
              <a:spcAft>
                <a:spcPts val="0"/>
              </a:spcAft>
              <a:buSzPts val="1600"/>
              <a:buChar char="►"/>
            </a:pPr>
            <a:r>
              <a:rPr lang="en-US"/>
              <a:t>On the other side, </a:t>
            </a:r>
            <a:r>
              <a:rPr lang="en-US">
                <a:solidFill>
                  <a:srgbClr val="FF0000"/>
                </a:solidFill>
              </a:rPr>
              <a:t>national authorities are responsible for ensuring the safety and security of the citizens,</a:t>
            </a:r>
            <a:r>
              <a:rPr lang="en-US"/>
              <a:t> and thus it is part of their duties by law </a:t>
            </a:r>
            <a:r>
              <a:rPr lang="en-US">
                <a:solidFill>
                  <a:srgbClr val="FF0000"/>
                </a:solidFill>
              </a:rPr>
              <a:t>to protect critical infrastructure providers from adversaries</a:t>
            </a:r>
            <a:r>
              <a:rPr lang="en-US"/>
              <a:t>.</a:t>
            </a:r>
            <a:endParaRPr/>
          </a:p>
          <a:p>
            <a:pPr indent="-342900" lvl="0" marL="342900" rtl="0" algn="l">
              <a:spcBef>
                <a:spcPts val="1000"/>
              </a:spcBef>
              <a:spcAft>
                <a:spcPts val="0"/>
              </a:spcAft>
              <a:buSzPts val="1600"/>
              <a:buChar char="►"/>
            </a:pPr>
            <a:r>
              <a:rPr lang="en-US"/>
              <a:t>Therefore, </a:t>
            </a:r>
            <a:r>
              <a:rPr lang="en-US">
                <a:solidFill>
                  <a:srgbClr val="FF0000"/>
                </a:solidFill>
              </a:rPr>
              <a:t>nation-states increasingly run  national cybersecurity centers as public entities.</a:t>
            </a:r>
            <a:r>
              <a:rPr lang="en-US"/>
              <a:t> Besides running national cyber security centers, a </a:t>
            </a:r>
            <a:r>
              <a:rPr lang="en-US">
                <a:solidFill>
                  <a:srgbClr val="FF0000"/>
                </a:solidFill>
              </a:rPr>
              <a:t>nation-state shapes information sharing activities through adaptations of the law [NIS directive (European Commission, 2016), US CISA (The Senate of the United States, 2015), etc.].</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on">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2024-07-01T06:02:34Z</dcterms:created>
  <dc:creator>Rushikesh</dc:creator>
</cp:coreProperties>
</file>