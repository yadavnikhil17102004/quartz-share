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24"/>
  </p:notesMasterIdLst>
  <p:sldIdLst>
    <p:sldId id="256" r:id="rId2"/>
    <p:sldId id="257" r:id="rId3"/>
    <p:sldId id="258" r:id="rId4"/>
    <p:sldId id="264" r:id="rId5"/>
    <p:sldId id="265" r:id="rId6"/>
    <p:sldId id="266" r:id="rId7"/>
    <p:sldId id="259" r:id="rId8"/>
    <p:sldId id="267" r:id="rId9"/>
    <p:sldId id="268" r:id="rId10"/>
    <p:sldId id="269" r:id="rId11"/>
    <p:sldId id="270" r:id="rId12"/>
    <p:sldId id="271" r:id="rId13"/>
    <p:sldId id="260" r:id="rId14"/>
    <p:sldId id="272" r:id="rId15"/>
    <p:sldId id="273" r:id="rId16"/>
    <p:sldId id="274" r:id="rId17"/>
    <p:sldId id="275" r:id="rId18"/>
    <p:sldId id="276" r:id="rId19"/>
    <p:sldId id="277" r:id="rId20"/>
    <p:sldId id="278" r:id="rId21"/>
    <p:sldId id="279" r:id="rId22"/>
    <p:sldId id="28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66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BDEC3-4530-4E66-8C13-7256071D3F8F}" type="datetimeFigureOut">
              <a:rPr lang="en-IN" smtClean="0"/>
              <a:t>11-11-2024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630C3F-A2A5-4B85-938B-694885B2598E}" type="slidenum">
              <a:rPr lang="en-IN" smtClean="0"/>
              <a:t>‹#›</a:t>
            </a:fld>
            <a:endParaRPr lang="en-IN"/>
          </a:p>
        </p:txBody>
      </p:sp>
    </p:spTree>
    <p:extLst>
      <p:ext uri="{BB962C8B-B14F-4D97-AF65-F5344CB8AC3E}">
        <p14:creationId xmlns:p14="http://schemas.microsoft.com/office/powerpoint/2010/main" val="913820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1630C3F-A2A5-4B85-938B-694885B2598E}" type="slidenum">
              <a:rPr lang="en-IN" smtClean="0"/>
              <a:t>1</a:t>
            </a:fld>
            <a:endParaRPr lang="en-IN"/>
          </a:p>
        </p:txBody>
      </p:sp>
    </p:spTree>
    <p:extLst>
      <p:ext uri="{BB962C8B-B14F-4D97-AF65-F5344CB8AC3E}">
        <p14:creationId xmlns:p14="http://schemas.microsoft.com/office/powerpoint/2010/main" val="104634129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F9EBC3-A6C5-48E6-8BC0-44DCAB716061}" type="datetime1">
              <a:rPr lang="en-IN" smtClean="0"/>
              <a:t>11-11-2024</a:t>
            </a:fld>
            <a:endParaRPr lang="en-IN"/>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9FA395FF-3764-40F1-9FBF-130C3217C3B0}" type="slidenum">
              <a:rPr lang="en-IN" smtClean="0"/>
              <a:t>‹#›</a:t>
            </a:fld>
            <a:endParaRPr lang="en-IN"/>
          </a:p>
        </p:txBody>
      </p:sp>
    </p:spTree>
    <p:extLst>
      <p:ext uri="{BB962C8B-B14F-4D97-AF65-F5344CB8AC3E}">
        <p14:creationId xmlns:p14="http://schemas.microsoft.com/office/powerpoint/2010/main" val="3606144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B4F843-9433-4F18-8028-8FB12F0382E4}" type="datetime1">
              <a:rPr lang="en-IN" smtClean="0"/>
              <a:t>11-11-2024</a:t>
            </a:fld>
            <a:endParaRPr lang="en-IN"/>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a:t>
            </a:fld>
            <a:endParaRPr lang="en-IN"/>
          </a:p>
        </p:txBody>
      </p:sp>
    </p:spTree>
    <p:extLst>
      <p:ext uri="{BB962C8B-B14F-4D97-AF65-F5344CB8AC3E}">
        <p14:creationId xmlns:p14="http://schemas.microsoft.com/office/powerpoint/2010/main" val="1314314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2A812F15-AF01-4AEB-9E88-D01BFA19869B}" type="datetime1">
              <a:rPr lang="en-IN" smtClean="0"/>
              <a:t>11-11-2024</a:t>
            </a:fld>
            <a:endParaRPr lang="en-IN"/>
          </a:p>
        </p:txBody>
      </p:sp>
      <p:sp>
        <p:nvSpPr>
          <p:cNvPr id="5" name="Footer Placeholder 4"/>
          <p:cNvSpPr>
            <a:spLocks noGrp="1"/>
          </p:cNvSpPr>
          <p:nvPr>
            <p:ph type="ftr" sz="quarter" idx="11"/>
          </p:nvPr>
        </p:nvSpPr>
        <p:spPr>
          <a:xfrm>
            <a:off x="2182708" y="6272784"/>
            <a:ext cx="6327648" cy="365125"/>
          </a:xfrm>
        </p:spPr>
        <p:txBody>
          <a:bodyPr/>
          <a:lstStyle/>
          <a:p>
            <a:r>
              <a:rPr lang="en-IN" smtClean="0"/>
              <a:t>Asst. Prof. Rushikesh Chikane, MIT ACSC. Alandi</a:t>
            </a:r>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FA395FF-3764-40F1-9FBF-130C3217C3B0}" type="slidenum">
              <a:rPr lang="en-IN" smtClean="0"/>
              <a:t>‹#›</a:t>
            </a:fld>
            <a:endParaRPr lang="en-IN"/>
          </a:p>
        </p:txBody>
      </p:sp>
    </p:spTree>
    <p:extLst>
      <p:ext uri="{BB962C8B-B14F-4D97-AF65-F5344CB8AC3E}">
        <p14:creationId xmlns:p14="http://schemas.microsoft.com/office/powerpoint/2010/main" val="528659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0D284A-AF3C-4E5E-AD4F-614AA2FDA757}" type="datetime1">
              <a:rPr lang="en-IN" smtClean="0"/>
              <a:t>11-11-2024</a:t>
            </a:fld>
            <a:endParaRPr lang="en-IN"/>
          </a:p>
        </p:txBody>
      </p:sp>
      <p:sp>
        <p:nvSpPr>
          <p:cNvPr id="6" name="Footer Placeholder 5"/>
          <p:cNvSpPr>
            <a:spLocks noGrp="1"/>
          </p:cNvSpPr>
          <p:nvPr>
            <p:ph type="ftr" sz="quarter" idx="11"/>
          </p:nvPr>
        </p:nvSpPr>
        <p:spPr/>
        <p:txBody>
          <a:bodyPr/>
          <a:lstStyle/>
          <a:p>
            <a:r>
              <a:rPr lang="en-IN" smtClean="0"/>
              <a:t>Asst. Prof. Rushikesh Chikane, MIT ACSC. Alandi</a:t>
            </a:r>
            <a:endParaRPr lang="en-IN"/>
          </a:p>
        </p:txBody>
      </p:sp>
      <p:sp>
        <p:nvSpPr>
          <p:cNvPr id="7" name="Slide Number Placeholder 6"/>
          <p:cNvSpPr>
            <a:spLocks noGrp="1"/>
          </p:cNvSpPr>
          <p:nvPr>
            <p:ph type="sldNum" sz="quarter" idx="12"/>
          </p:nvPr>
        </p:nvSpPr>
        <p:spPr/>
        <p:txBody>
          <a:bodyPr/>
          <a:lstStyle/>
          <a:p>
            <a:fld id="{9FA395FF-3764-40F1-9FBF-130C3217C3B0}" type="slidenum">
              <a:rPr lang="en-IN" smtClean="0"/>
              <a:t>‹#›</a:t>
            </a:fld>
            <a:endParaRPr lang="en-IN"/>
          </a:p>
        </p:txBody>
      </p:sp>
    </p:spTree>
    <p:extLst>
      <p:ext uri="{BB962C8B-B14F-4D97-AF65-F5344CB8AC3E}">
        <p14:creationId xmlns:p14="http://schemas.microsoft.com/office/powerpoint/2010/main" val="2380677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27E068-D8CF-4B68-B394-CDF03C4B0CB1}" type="datetime1">
              <a:rPr lang="en-IN" smtClean="0"/>
              <a:t>11-11-2024</a:t>
            </a:fld>
            <a:endParaRPr lang="en-IN"/>
          </a:p>
        </p:txBody>
      </p:sp>
      <p:sp>
        <p:nvSpPr>
          <p:cNvPr id="8" name="Footer Placeholder 7"/>
          <p:cNvSpPr>
            <a:spLocks noGrp="1"/>
          </p:cNvSpPr>
          <p:nvPr>
            <p:ph type="ftr" sz="quarter" idx="11"/>
          </p:nvPr>
        </p:nvSpPr>
        <p:spPr/>
        <p:txBody>
          <a:bodyPr/>
          <a:lstStyle/>
          <a:p>
            <a:r>
              <a:rPr lang="en-IN" smtClean="0"/>
              <a:t>Asst. Prof. Rushikesh Chikane, MIT ACSC. Alandi</a:t>
            </a:r>
            <a:endParaRPr lang="en-IN"/>
          </a:p>
        </p:txBody>
      </p:sp>
      <p:sp>
        <p:nvSpPr>
          <p:cNvPr id="9" name="Slide Number Placeholder 8"/>
          <p:cNvSpPr>
            <a:spLocks noGrp="1"/>
          </p:cNvSpPr>
          <p:nvPr>
            <p:ph type="sldNum" sz="quarter" idx="12"/>
          </p:nvPr>
        </p:nvSpPr>
        <p:spPr/>
        <p:txBody>
          <a:bodyPr/>
          <a:lstStyle/>
          <a:p>
            <a:fld id="{9FA395FF-3764-40F1-9FBF-130C3217C3B0}" type="slidenum">
              <a:rPr lang="en-IN" smtClean="0"/>
              <a:t>‹#›</a:t>
            </a:fld>
            <a:endParaRPr lang="en-IN"/>
          </a:p>
        </p:txBody>
      </p:sp>
    </p:spTree>
    <p:extLst>
      <p:ext uri="{BB962C8B-B14F-4D97-AF65-F5344CB8AC3E}">
        <p14:creationId xmlns:p14="http://schemas.microsoft.com/office/powerpoint/2010/main" val="3885566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AF1834-BE02-43AD-B522-81FEBA7794A9}" type="datetime1">
              <a:rPr lang="en-IN" smtClean="0"/>
              <a:t>11-11-2024</a:t>
            </a:fld>
            <a:endParaRPr lang="en-IN"/>
          </a:p>
        </p:txBody>
      </p:sp>
      <p:sp>
        <p:nvSpPr>
          <p:cNvPr id="4" name="Footer Placeholder 3"/>
          <p:cNvSpPr>
            <a:spLocks noGrp="1"/>
          </p:cNvSpPr>
          <p:nvPr>
            <p:ph type="ftr" sz="quarter" idx="11"/>
          </p:nvPr>
        </p:nvSpPr>
        <p:spPr/>
        <p:txBody>
          <a:bodyPr/>
          <a:lstStyle/>
          <a:p>
            <a:r>
              <a:rPr lang="en-IN" smtClean="0"/>
              <a:t>Asst. Prof. Rushikesh Chikane, MIT ACSC. Alandi</a:t>
            </a:r>
            <a:endParaRPr lang="en-IN"/>
          </a:p>
        </p:txBody>
      </p:sp>
      <p:sp>
        <p:nvSpPr>
          <p:cNvPr id="5" name="Slide Number Placeholder 4"/>
          <p:cNvSpPr>
            <a:spLocks noGrp="1"/>
          </p:cNvSpPr>
          <p:nvPr>
            <p:ph type="sldNum" sz="quarter" idx="12"/>
          </p:nvPr>
        </p:nvSpPr>
        <p:spPr/>
        <p:txBody>
          <a:bodyPr/>
          <a:lstStyle/>
          <a:p>
            <a:fld id="{9FA395FF-3764-40F1-9FBF-130C3217C3B0}" type="slidenum">
              <a:rPr lang="en-IN" smtClean="0"/>
              <a:t>‹#›</a:t>
            </a:fld>
            <a:endParaRPr lang="en-IN"/>
          </a:p>
        </p:txBody>
      </p:sp>
    </p:spTree>
    <p:extLst>
      <p:ext uri="{BB962C8B-B14F-4D97-AF65-F5344CB8AC3E}">
        <p14:creationId xmlns:p14="http://schemas.microsoft.com/office/powerpoint/2010/main" val="3788200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8F79B0-2AC7-420E-A089-900971220B53}" type="datetime1">
              <a:rPr lang="en-IN" smtClean="0"/>
              <a:t>11-11-2024</a:t>
            </a:fld>
            <a:endParaRPr lang="en-IN"/>
          </a:p>
        </p:txBody>
      </p:sp>
      <p:sp>
        <p:nvSpPr>
          <p:cNvPr id="3" name="Footer Placeholder 2"/>
          <p:cNvSpPr>
            <a:spLocks noGrp="1"/>
          </p:cNvSpPr>
          <p:nvPr>
            <p:ph type="ftr" sz="quarter" idx="11"/>
          </p:nvPr>
        </p:nvSpPr>
        <p:spPr/>
        <p:txBody>
          <a:bodyPr/>
          <a:lstStyle/>
          <a:p>
            <a:r>
              <a:rPr lang="en-IN" smtClean="0"/>
              <a:t>Asst. Prof. Rushikesh Chikane, MIT ACSC. Alandi</a:t>
            </a:r>
            <a:endParaRPr lang="en-IN"/>
          </a:p>
        </p:txBody>
      </p:sp>
      <p:sp>
        <p:nvSpPr>
          <p:cNvPr id="4" name="Slide Number Placeholder 3"/>
          <p:cNvSpPr>
            <a:spLocks noGrp="1"/>
          </p:cNvSpPr>
          <p:nvPr>
            <p:ph type="sldNum" sz="quarter" idx="12"/>
          </p:nvPr>
        </p:nvSpPr>
        <p:spPr/>
        <p:txBody>
          <a:bodyPr/>
          <a:lstStyle/>
          <a:p>
            <a:fld id="{9FA395FF-3764-40F1-9FBF-130C3217C3B0}" type="slidenum">
              <a:rPr lang="en-IN" smtClean="0"/>
              <a:t>‹#›</a:t>
            </a:fld>
            <a:endParaRPr lang="en-IN"/>
          </a:p>
        </p:txBody>
      </p:sp>
    </p:spTree>
    <p:extLst>
      <p:ext uri="{BB962C8B-B14F-4D97-AF65-F5344CB8AC3E}">
        <p14:creationId xmlns:p14="http://schemas.microsoft.com/office/powerpoint/2010/main" val="2163794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98A462-7C4E-4EFC-A9C8-4BF07CA2E825}" type="datetime1">
              <a:rPr lang="en-IN" smtClean="0"/>
              <a:t>11-11-2024</a:t>
            </a:fld>
            <a:endParaRPr lang="en-IN"/>
          </a:p>
        </p:txBody>
      </p:sp>
      <p:sp>
        <p:nvSpPr>
          <p:cNvPr id="6" name="Footer Placeholder 5"/>
          <p:cNvSpPr>
            <a:spLocks noGrp="1"/>
          </p:cNvSpPr>
          <p:nvPr>
            <p:ph type="ftr" sz="quarter" idx="11"/>
          </p:nvPr>
        </p:nvSpPr>
        <p:spPr/>
        <p:txBody>
          <a:bodyPr/>
          <a:lstStyle/>
          <a:p>
            <a:r>
              <a:rPr lang="en-IN" smtClean="0"/>
              <a:t>Asst. Prof. Rushikesh Chikane, MIT ACSC. Alandi</a:t>
            </a:r>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FA395FF-3764-40F1-9FBF-130C3217C3B0}" type="slidenum">
              <a:rPr lang="en-IN" smtClean="0"/>
              <a:t>‹#›</a:t>
            </a:fld>
            <a:endParaRPr lang="en-IN"/>
          </a:p>
        </p:txBody>
      </p:sp>
    </p:spTree>
    <p:extLst>
      <p:ext uri="{BB962C8B-B14F-4D97-AF65-F5344CB8AC3E}">
        <p14:creationId xmlns:p14="http://schemas.microsoft.com/office/powerpoint/2010/main" val="1023285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F0268C0-3836-4333-8A62-B1726926899D}" type="datetime1">
              <a:rPr lang="en-IN" smtClean="0"/>
              <a:t>11-11-2024</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FA395FF-3764-40F1-9FBF-130C3217C3B0}" type="slidenum">
              <a:rPr lang="en-IN" smtClean="0"/>
              <a:t>‹#›</a:t>
            </a:fld>
            <a:endParaRPr lang="en-IN"/>
          </a:p>
        </p:txBody>
      </p:sp>
    </p:spTree>
    <p:extLst>
      <p:ext uri="{BB962C8B-B14F-4D97-AF65-F5344CB8AC3E}">
        <p14:creationId xmlns:p14="http://schemas.microsoft.com/office/powerpoint/2010/main" val="494785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E75424A-289C-4D7A-96C3-26BCBEB7ACA4}" type="datetime1">
              <a:rPr lang="en-IN" smtClean="0"/>
              <a:t>11-11-2024</a:t>
            </a:fld>
            <a:endParaRPr lang="en-IN"/>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a:t>
            </a:fld>
            <a:endParaRPr lang="en-IN"/>
          </a:p>
        </p:txBody>
      </p:sp>
    </p:spTree>
    <p:extLst>
      <p:ext uri="{BB962C8B-B14F-4D97-AF65-F5344CB8AC3E}">
        <p14:creationId xmlns:p14="http://schemas.microsoft.com/office/powerpoint/2010/main" val="2586607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AB23B56-6444-428E-86F8-355794A89AF9}" type="datetime1">
              <a:rPr lang="en-IN" smtClean="0"/>
              <a:t>11-11-2024</a:t>
            </a:fld>
            <a:endParaRPr lang="en-IN"/>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a:t>
            </a:fld>
            <a:endParaRPr lang="en-IN"/>
          </a:p>
        </p:txBody>
      </p:sp>
    </p:spTree>
    <p:extLst>
      <p:ext uri="{BB962C8B-B14F-4D97-AF65-F5344CB8AC3E}">
        <p14:creationId xmlns:p14="http://schemas.microsoft.com/office/powerpoint/2010/main" val="379352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41149A2-113C-4C16-A097-588C4AEA5222}" type="datetime1">
              <a:rPr lang="en-IN" smtClean="0"/>
              <a:t>11-11-2024</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IN" smtClean="0"/>
              <a:t>Asst. Prof. Rushikesh Chikane, MIT ACSC. Alandi</a:t>
            </a:r>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FA395FF-3764-40F1-9FBF-130C3217C3B0}" type="slidenum">
              <a:rPr lang="en-IN" smtClean="0"/>
              <a:t>‹#›</a:t>
            </a:fld>
            <a:endParaRPr lang="en-IN"/>
          </a:p>
        </p:txBody>
      </p:sp>
    </p:spTree>
    <p:extLst>
      <p:ext uri="{BB962C8B-B14F-4D97-AF65-F5344CB8AC3E}">
        <p14:creationId xmlns:p14="http://schemas.microsoft.com/office/powerpoint/2010/main" val="864258308"/>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Legal Implications of Information Sharing</a:t>
            </a:r>
            <a:endParaRPr lang="en-IN" dirty="0"/>
          </a:p>
        </p:txBody>
      </p:sp>
      <p:sp>
        <p:nvSpPr>
          <p:cNvPr id="3" name="Subtitle 2"/>
          <p:cNvSpPr>
            <a:spLocks noGrp="1"/>
          </p:cNvSpPr>
          <p:nvPr>
            <p:ph type="subTitle" idx="1"/>
          </p:nvPr>
        </p:nvSpPr>
        <p:spPr>
          <a:xfrm>
            <a:off x="1051560" y="4741660"/>
            <a:ext cx="7891272" cy="1069848"/>
          </a:xfrm>
        </p:spPr>
        <p:txBody>
          <a:bodyPr/>
          <a:lstStyle/>
          <a:p>
            <a:r>
              <a:rPr lang="en-US" dirty="0" smtClean="0"/>
              <a:t>Chapter 7</a:t>
            </a:r>
            <a:endParaRPr lang="en-IN" dirty="0"/>
          </a:p>
        </p:txBody>
      </p:sp>
      <p:sp>
        <p:nvSpPr>
          <p:cNvPr id="4" name="Footer Placeholder 3"/>
          <p:cNvSpPr>
            <a:spLocks noGrp="1"/>
          </p:cNvSpPr>
          <p:nvPr>
            <p:ph type="ftr" sz="quarter" idx="11"/>
          </p:nvPr>
        </p:nvSpPr>
        <p:spPr/>
        <p:txBody>
          <a:bodyPr/>
          <a:lstStyle/>
          <a:p>
            <a:r>
              <a:rPr lang="en-IN" smtClean="0"/>
              <a:t>Asst. Prof. Rushikesh Chikane, MIT ACSC. Alandi</a:t>
            </a:r>
            <a:endParaRPr lang="en-IN"/>
          </a:p>
        </p:txBody>
      </p:sp>
      <p:sp>
        <p:nvSpPr>
          <p:cNvPr id="5" name="Slide Number Placeholder 4"/>
          <p:cNvSpPr>
            <a:spLocks noGrp="1"/>
          </p:cNvSpPr>
          <p:nvPr>
            <p:ph type="sldNum" sz="quarter" idx="12"/>
          </p:nvPr>
        </p:nvSpPr>
        <p:spPr/>
        <p:txBody>
          <a:bodyPr/>
          <a:lstStyle/>
          <a:p>
            <a:fld id="{9FA395FF-3764-40F1-9FBF-130C3217C3B0}" type="slidenum">
              <a:rPr lang="en-IN" smtClean="0"/>
              <a:t>1</a:t>
            </a:fld>
            <a:endParaRPr lang="en-IN"/>
          </a:p>
        </p:txBody>
      </p:sp>
    </p:spTree>
    <p:extLst>
      <p:ext uri="{BB962C8B-B14F-4D97-AF65-F5344CB8AC3E}">
        <p14:creationId xmlns:p14="http://schemas.microsoft.com/office/powerpoint/2010/main" val="1533107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lang="en-IN" dirty="0"/>
              <a:t>Introduction </a:t>
            </a:r>
          </a:p>
        </p:txBody>
      </p:sp>
      <p:sp>
        <p:nvSpPr>
          <p:cNvPr id="3" name="Content Placeholder 2"/>
          <p:cNvSpPr>
            <a:spLocks noGrp="1"/>
          </p:cNvSpPr>
          <p:nvPr>
            <p:ph idx="1"/>
          </p:nvPr>
        </p:nvSpPr>
        <p:spPr/>
        <p:txBody>
          <a:bodyPr/>
          <a:lstStyle/>
          <a:p>
            <a:r>
              <a:rPr lang="en-US" dirty="0"/>
              <a:t>Sharing information among critical infrastructure operators enhances security and improves threat detection. It allows governments to assess national risks, develop strategies, and allocate resources effectively. Information can be exchanged between operators, national authorities, and international entities, such as the EU Commission and Interpol. Although technological advancements support information sharing, legal and regulatory challenges arise due to varying national approaches to critical infrastructure protection.</a:t>
            </a:r>
          </a:p>
          <a:p>
            <a:r>
              <a:rPr lang="en-US" dirty="0"/>
              <a:t>This chapter focuses on the EU's cross-sectoral legislation for Network and Information Security (NIS), examining legal requirements and challenges for information sharing. It critiques the barriers and proposes solutions to facilitate data sharing while outlining the EU’s cybersecurity legal framework and discussing breach reporting, best practices, and moving beyond reactive responses.</a:t>
            </a:r>
          </a:p>
          <a:p>
            <a:endParaRPr lang="en-IN" dirty="0"/>
          </a:p>
        </p:txBody>
      </p:sp>
      <p:sp>
        <p:nvSpPr>
          <p:cNvPr id="4" name="Footer Placeholder 3"/>
          <p:cNvSpPr>
            <a:spLocks noGrp="1"/>
          </p:cNvSpPr>
          <p:nvPr>
            <p:ph type="ftr" sz="quarter" idx="11"/>
          </p:nvPr>
        </p:nvSpPr>
        <p:spPr/>
        <p:txBody>
          <a:bodyPr/>
          <a:lstStyle/>
          <a:p>
            <a:r>
              <a:rPr lang="en-IN" dirty="0" smtClean="0"/>
              <a:t>Asst. </a:t>
            </a:r>
            <a:r>
              <a:rPr lang="en-IN" dirty="0" err="1" smtClean="0"/>
              <a:t>Prof.</a:t>
            </a:r>
            <a:r>
              <a:rPr lang="en-IN" dirty="0" smtClean="0"/>
              <a:t> </a:t>
            </a:r>
            <a:r>
              <a:rPr lang="en-IN" dirty="0" err="1" smtClean="0"/>
              <a:t>Rushikesh</a:t>
            </a:r>
            <a:r>
              <a:rPr lang="en-IN" dirty="0" smtClean="0"/>
              <a:t> </a:t>
            </a:r>
            <a:r>
              <a:rPr lang="en-IN" dirty="0" err="1" smtClean="0"/>
              <a:t>Chikane</a:t>
            </a:r>
            <a:r>
              <a:rPr lang="en-IN" dirty="0" smtClean="0"/>
              <a:t>, MIT ACSC. </a:t>
            </a:r>
            <a:r>
              <a:rPr lang="en-IN" dirty="0" err="1" smtClean="0"/>
              <a:t>Alandi</a:t>
            </a:r>
            <a:endParaRPr lang="en-IN" dirty="0"/>
          </a:p>
        </p:txBody>
      </p:sp>
      <p:sp>
        <p:nvSpPr>
          <p:cNvPr id="5" name="Slide Number Placeholder 4"/>
          <p:cNvSpPr>
            <a:spLocks noGrp="1"/>
          </p:cNvSpPr>
          <p:nvPr>
            <p:ph type="sldNum" sz="quarter" idx="12"/>
          </p:nvPr>
        </p:nvSpPr>
        <p:spPr/>
        <p:txBody>
          <a:bodyPr/>
          <a:lstStyle/>
          <a:p>
            <a:fld id="{9FA395FF-3764-40F1-9FBF-130C3217C3B0}" type="slidenum">
              <a:rPr lang="en-IN" smtClean="0"/>
              <a:t>2</a:t>
            </a:fld>
            <a:endParaRPr lang="en-IN"/>
          </a:p>
        </p:txBody>
      </p:sp>
    </p:spTree>
    <p:extLst>
      <p:ext uri="{BB962C8B-B14F-4D97-AF65-F5344CB8AC3E}">
        <p14:creationId xmlns:p14="http://schemas.microsoft.com/office/powerpoint/2010/main" val="2742419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lang="en-US" dirty="0"/>
              <a:t>Mapping the EU Cybersecurity Legal Framework </a:t>
            </a:r>
            <a:endParaRPr lang="en-IN" dirty="0"/>
          </a:p>
        </p:txBody>
      </p:sp>
      <p:sp>
        <p:nvSpPr>
          <p:cNvPr id="4" name="Rectangle 1"/>
          <p:cNvSpPr>
            <a:spLocks noGrp="1" noChangeArrowheads="1"/>
          </p:cNvSpPr>
          <p:nvPr>
            <p:ph idx="1"/>
          </p:nvPr>
        </p:nvSpPr>
        <p:spPr bwMode="auto">
          <a:xfrm>
            <a:off x="1069848" y="2482712"/>
            <a:ext cx="995939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Network and information systems face threats from natural disasters, human errors, and malicious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These systems are crucial for society, with disruptions impacting the economy and societal well-being.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Growing reliance across sectors highlights the need for a coordinated EU cybersecurity strategy.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This section: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Outlines recognition of the need for EU-wide cybersecurity coordination.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Prepares for later analysis by scoping the relevant EU legal framework and addressing information sharing requirements, initiatives, and obstacles.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3</a:t>
            </a:fld>
            <a:endParaRPr lang="en-IN"/>
          </a:p>
        </p:txBody>
      </p:sp>
    </p:spTree>
    <p:extLst>
      <p:ext uri="{BB962C8B-B14F-4D97-AF65-F5344CB8AC3E}">
        <p14:creationId xmlns:p14="http://schemas.microsoft.com/office/powerpoint/2010/main" val="2667805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Plotting the Moves toward a More Coordinated </a:t>
            </a:r>
            <a:r>
              <a:rPr lang="en-US" sz="3200" dirty="0" smtClean="0"/>
              <a:t>EU </a:t>
            </a:r>
            <a:r>
              <a:rPr lang="en-IN" sz="3200" dirty="0"/>
              <a:t>Cybersecurity Strategy</a:t>
            </a:r>
          </a:p>
        </p:txBody>
      </p:sp>
      <p:sp>
        <p:nvSpPr>
          <p:cNvPr id="4" name="Rectangle 1"/>
          <p:cNvSpPr>
            <a:spLocks noGrp="1" noChangeArrowheads="1"/>
          </p:cNvSpPr>
          <p:nvPr>
            <p:ph idx="1"/>
          </p:nvPr>
        </p:nvSpPr>
        <p:spPr bwMode="auto">
          <a:xfrm>
            <a:off x="1069848" y="2023146"/>
            <a:ext cx="1035464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Importance of Information Sharing:</a:t>
            </a:r>
            <a:r>
              <a:rPr kumimoji="0" lang="en-US" altLang="en-US" sz="1800" b="0" i="0" u="none" strike="noStrike" cap="none" normalizeH="0" baseline="0" dirty="0" smtClean="0">
                <a:ln>
                  <a:noFill/>
                </a:ln>
                <a:solidFill>
                  <a:schemeClr val="tx1"/>
                </a:solidFill>
                <a:effectLst/>
              </a:rPr>
              <a:t> Essential for cyber resilience, policy development, and securing critical infrastructures.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Key Elements for Effective Sharing:</a:t>
            </a:r>
            <a:r>
              <a:rPr kumimoji="0" lang="en-US" altLang="en-US" sz="1800" b="0" i="0" u="none" strike="noStrike" cap="none" normalizeH="0" baseline="0" dirty="0" smtClean="0">
                <a:ln>
                  <a:noFill/>
                </a:ln>
                <a:solidFill>
                  <a:schemeClr val="tx1"/>
                </a:solidFill>
                <a:effectLst/>
              </a:rPr>
              <a:t> Clear communication channels, specified data requirements, and standardized information classifications.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EU's Cybersecurity Agenda:</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1999: </a:t>
            </a:r>
            <a:r>
              <a:rPr kumimoji="0" lang="en-US" altLang="en-US" sz="1800" b="0" i="0" u="none" strike="noStrike" cap="none" normalizeH="0" baseline="0" dirty="0" err="1" smtClean="0">
                <a:ln>
                  <a:noFill/>
                </a:ln>
                <a:solidFill>
                  <a:schemeClr val="tx1"/>
                </a:solidFill>
                <a:effectLst/>
              </a:rPr>
              <a:t>eEurope</a:t>
            </a:r>
            <a:r>
              <a:rPr kumimoji="0" lang="en-US" altLang="en-US" sz="1800" b="0" i="0" u="none" strike="noStrike" cap="none" normalizeH="0" baseline="0" dirty="0" smtClean="0">
                <a:ln>
                  <a:noFill/>
                </a:ln>
                <a:solidFill>
                  <a:schemeClr val="tx1"/>
                </a:solidFill>
                <a:effectLst/>
              </a:rPr>
              <a:t> initiative emphasizes information infrastructure protection.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2001: EU’s Communication on Network and Information Security proposes a policy approach; Council of Europe adopts the Convention on Cybercrime.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2004: ENISA established to advise on best practices; European Council calls for a strategy to protect critical infrastructures.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2005-2006: EPCIP (European </a:t>
            </a:r>
            <a:r>
              <a:rPr kumimoji="0" lang="en-US" altLang="en-US" sz="1800" b="0" i="0" u="none" strike="noStrike" cap="none" normalizeH="0" baseline="0" dirty="0" err="1" smtClean="0">
                <a:ln>
                  <a:noFill/>
                </a:ln>
                <a:solidFill>
                  <a:schemeClr val="tx1"/>
                </a:solidFill>
                <a:effectLst/>
              </a:rPr>
              <a:t>Programme</a:t>
            </a:r>
            <a:r>
              <a:rPr kumimoji="0" lang="en-US" altLang="en-US" sz="1800" b="0" i="0" u="none" strike="noStrike" cap="none" normalizeH="0" baseline="0" dirty="0" smtClean="0">
                <a:ln>
                  <a:noFill/>
                </a:ln>
                <a:solidFill>
                  <a:schemeClr val="tx1"/>
                </a:solidFill>
                <a:effectLst/>
              </a:rPr>
              <a:t> for Critical Infrastructure Protection) and CIWIN (Critical Infrastructure Warning Information Network) introduced.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2013: EU Cybersecurity Strategy highlights importance of information sharing across strategic priorities.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4</a:t>
            </a:fld>
            <a:endParaRPr lang="en-IN"/>
          </a:p>
        </p:txBody>
      </p:sp>
    </p:spTree>
    <p:extLst>
      <p:ext uri="{BB962C8B-B14F-4D97-AF65-F5344CB8AC3E}">
        <p14:creationId xmlns:p14="http://schemas.microsoft.com/office/powerpoint/2010/main" val="372310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Scoping the Applicable Framework</a:t>
            </a:r>
          </a:p>
        </p:txBody>
      </p:sp>
      <p:sp>
        <p:nvSpPr>
          <p:cNvPr id="5" name="Rectangle 2"/>
          <p:cNvSpPr>
            <a:spLocks noGrp="1" noChangeArrowheads="1"/>
          </p:cNvSpPr>
          <p:nvPr>
            <p:ph idx="1"/>
          </p:nvPr>
        </p:nvSpPr>
        <p:spPr bwMode="auto">
          <a:xfrm>
            <a:off x="1069848" y="2023146"/>
            <a:ext cx="981481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Actors in Information Sharing:</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CI providers share cyber attack data with other CI providers, sector groups, CERTs, national authorities, and law enforcement.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Public (National Authorities, Law Enforcement) and private (many CI providers, CERTs) entities are involved, with varying legal obligations.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Key EU Directives for Cybersecurity:</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Cybercrime Directive (2013/40/EU):</a:t>
            </a:r>
            <a:r>
              <a:rPr kumimoji="0" lang="en-US" altLang="en-US" sz="1800" b="0" i="0" u="none" strike="noStrike" cap="none" normalizeH="0" baseline="0" dirty="0" smtClean="0">
                <a:ln>
                  <a:noFill/>
                </a:ln>
                <a:solidFill>
                  <a:schemeClr val="tx1"/>
                </a:solidFill>
                <a:effectLst/>
              </a:rPr>
              <a:t> Defines cybercrimes, promotes cooperation, and mandates national contact points for data collection on cybercrime.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Directive 2008/114/EC:</a:t>
            </a:r>
            <a:r>
              <a:rPr kumimoji="0" lang="en-US" altLang="en-US" sz="1800" b="0" i="0" u="none" strike="noStrike" cap="none" normalizeH="0" baseline="0" dirty="0" smtClean="0">
                <a:ln>
                  <a:noFill/>
                </a:ln>
                <a:solidFill>
                  <a:schemeClr val="tx1"/>
                </a:solidFill>
                <a:effectLst/>
              </a:rPr>
              <a:t> Focuses on energy and transport sectors, establishes the protection of ECIs, and mandates security officers and communication mechanisms.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NIS Directive (2016/1148):</a:t>
            </a:r>
            <a:r>
              <a:rPr kumimoji="0" lang="en-US" altLang="en-US" sz="1800" b="0" i="0" u="none" strike="noStrike" cap="none" normalizeH="0" baseline="0" dirty="0" smtClean="0">
                <a:ln>
                  <a:noFill/>
                </a:ln>
                <a:solidFill>
                  <a:schemeClr val="tx1"/>
                </a:solidFill>
                <a:effectLst/>
              </a:rPr>
              <a:t> Sets common security requirements for network and information systems across the EU, targeting "operators of essential services" and digital service providers.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endParaRPr>
          </a:p>
        </p:txBody>
      </p:sp>
      <p:sp>
        <p:nvSpPr>
          <p:cNvPr id="6" name="Footer Placeholder 5"/>
          <p:cNvSpPr>
            <a:spLocks noGrp="1"/>
          </p:cNvSpPr>
          <p:nvPr>
            <p:ph type="ftr" sz="quarter" idx="11"/>
          </p:nvPr>
        </p:nvSpPr>
        <p:spPr/>
        <p:txBody>
          <a:bodyPr/>
          <a:lstStyle/>
          <a:p>
            <a:r>
              <a:rPr lang="en-IN" smtClean="0"/>
              <a:t>Asst. Prof. Rushikesh Chikane, MIT ACSC. Alandi</a:t>
            </a:r>
            <a:endParaRPr lang="en-IN"/>
          </a:p>
        </p:txBody>
      </p:sp>
      <p:sp>
        <p:nvSpPr>
          <p:cNvPr id="7" name="Slide Number Placeholder 6"/>
          <p:cNvSpPr>
            <a:spLocks noGrp="1"/>
          </p:cNvSpPr>
          <p:nvPr>
            <p:ph type="sldNum" sz="quarter" idx="12"/>
          </p:nvPr>
        </p:nvSpPr>
        <p:spPr/>
        <p:txBody>
          <a:bodyPr/>
          <a:lstStyle/>
          <a:p>
            <a:fld id="{9FA395FF-3764-40F1-9FBF-130C3217C3B0}" type="slidenum">
              <a:rPr lang="en-IN" smtClean="0"/>
              <a:t>5</a:t>
            </a:fld>
            <a:endParaRPr lang="en-IN"/>
          </a:p>
        </p:txBody>
      </p:sp>
    </p:spTree>
    <p:extLst>
      <p:ext uri="{BB962C8B-B14F-4D97-AF65-F5344CB8AC3E}">
        <p14:creationId xmlns:p14="http://schemas.microsoft.com/office/powerpoint/2010/main" val="1978287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058831" y="1371574"/>
            <a:ext cx="100584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Principle of Subsidiarity:</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EU acts only where Member States cannot achieve objectives independently; cybersecurity remains largely national, with some EU-level harmonization.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Challenges &amp; Critiques:</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Fragmented EU approach, with varying national implementations.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Limited scope in earlier directives; NIS Directive aims to address gaps in cross-border cooperation and security incident reporting.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NIS Directive Requirements:</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Member States must establish national cybersecurity strategies, competent authorities, and CSIRTs.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Operators of essential services must implement risk management and incident response measures.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Member States identify and report operators to the EU, while maintaining discretion over national security provisions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6</a:t>
            </a:fld>
            <a:endParaRPr lang="en-IN"/>
          </a:p>
        </p:txBody>
      </p:sp>
    </p:spTree>
    <p:extLst>
      <p:ext uri="{BB962C8B-B14F-4D97-AF65-F5344CB8AC3E}">
        <p14:creationId xmlns:p14="http://schemas.microsoft.com/office/powerpoint/2010/main" val="830152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lang="en-US" dirty="0"/>
              <a:t>Information Sharing: Breaches, Threats, and Best Practices</a:t>
            </a:r>
            <a:endParaRPr lang="en-IN" dirty="0"/>
          </a:p>
        </p:txBody>
      </p:sp>
      <p:sp>
        <p:nvSpPr>
          <p:cNvPr id="3" name="Content Placeholder 2"/>
          <p:cNvSpPr>
            <a:spLocks noGrp="1"/>
          </p:cNvSpPr>
          <p:nvPr>
            <p:ph idx="1"/>
          </p:nvPr>
        </p:nvSpPr>
        <p:spPr/>
        <p:txBody>
          <a:bodyPr/>
          <a:lstStyle/>
          <a:p>
            <a:endParaRPr lang="en-US" dirty="0" smtClean="0"/>
          </a:p>
          <a:p>
            <a:r>
              <a:rPr lang="en-US" dirty="0" smtClean="0"/>
              <a:t>Having </a:t>
            </a:r>
            <a:r>
              <a:rPr lang="en-US" dirty="0"/>
              <a:t>scoped the security framework, the analysis now turns to an examination of information sharing requirements. This analysis is divided in two parts: breach notification obligations/damage limitations and proactive information sharing.</a:t>
            </a:r>
            <a:endParaRPr lang="en-IN" dirty="0"/>
          </a:p>
        </p:txBody>
      </p:sp>
      <p:sp>
        <p:nvSpPr>
          <p:cNvPr id="4" name="Footer Placeholder 3"/>
          <p:cNvSpPr>
            <a:spLocks noGrp="1"/>
          </p:cNvSpPr>
          <p:nvPr>
            <p:ph type="ftr" sz="quarter" idx="11"/>
          </p:nvPr>
        </p:nvSpPr>
        <p:spPr/>
        <p:txBody>
          <a:bodyPr/>
          <a:lstStyle/>
          <a:p>
            <a:r>
              <a:rPr lang="en-IN" smtClean="0"/>
              <a:t>Asst. Prof. Rushikesh Chikane, MIT ACSC. Alandi</a:t>
            </a:r>
            <a:endParaRPr lang="en-IN"/>
          </a:p>
        </p:txBody>
      </p:sp>
      <p:sp>
        <p:nvSpPr>
          <p:cNvPr id="5" name="Slide Number Placeholder 4"/>
          <p:cNvSpPr>
            <a:spLocks noGrp="1"/>
          </p:cNvSpPr>
          <p:nvPr>
            <p:ph type="sldNum" sz="quarter" idx="12"/>
          </p:nvPr>
        </p:nvSpPr>
        <p:spPr/>
        <p:txBody>
          <a:bodyPr/>
          <a:lstStyle/>
          <a:p>
            <a:fld id="{9FA395FF-3764-40F1-9FBF-130C3217C3B0}" type="slidenum">
              <a:rPr lang="en-IN" smtClean="0"/>
              <a:t>7</a:t>
            </a:fld>
            <a:endParaRPr lang="en-IN"/>
          </a:p>
        </p:txBody>
      </p:sp>
    </p:spTree>
    <p:extLst>
      <p:ext uri="{BB962C8B-B14F-4D97-AF65-F5344CB8AC3E}">
        <p14:creationId xmlns:p14="http://schemas.microsoft.com/office/powerpoint/2010/main" val="392375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Breach Notification Obligations and Damage Limitations</a:t>
            </a:r>
            <a:endParaRPr lang="en-IN" sz="3200" dirty="0"/>
          </a:p>
        </p:txBody>
      </p:sp>
      <p:sp>
        <p:nvSpPr>
          <p:cNvPr id="4" name="Rectangle 1"/>
          <p:cNvSpPr>
            <a:spLocks noGrp="1" noChangeArrowheads="1"/>
          </p:cNvSpPr>
          <p:nvPr>
            <p:ph idx="1"/>
          </p:nvPr>
        </p:nvSpPr>
        <p:spPr bwMode="auto">
          <a:xfrm>
            <a:off x="1069848" y="1493772"/>
            <a:ext cx="10058400" cy="5306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Private Sector Reluctance</a:t>
            </a:r>
            <a:r>
              <a:rPr kumimoji="0" lang="en-US" altLang="en-US" sz="1800" b="0" i="0" u="none" strike="noStrike" cap="none" normalizeH="0" baseline="0" dirty="0" smtClean="0">
                <a:ln>
                  <a:noFill/>
                </a:ln>
                <a:solidFill>
                  <a:schemeClr val="tx1"/>
                </a:solidFill>
                <a:effectLst/>
              </a:rPr>
              <a:t>:</a:t>
            </a:r>
          </a:p>
          <a:p>
            <a:pPr marL="27432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smtClean="0">
                <a:ln>
                  <a:noFill/>
                </a:ln>
                <a:solidFill>
                  <a:schemeClr val="tx1"/>
                </a:solidFill>
                <a:effectLst/>
              </a:rPr>
              <a:t> Private companies hesitate to share incident info due to reputational concerns. Obligatory notification laws aim to counteract this reluctance.</a:t>
            </a:r>
          </a:p>
          <a:p>
            <a:pPr marL="274320" lvl="1" indent="0" eaLnBrk="0" fontAlgn="base" hangingPunct="0">
              <a:lnSpc>
                <a:spcPct val="100000"/>
              </a:lnSpc>
              <a:spcBef>
                <a:spcPct val="0"/>
              </a:spcBef>
              <a:spcAft>
                <a:spcPct val="0"/>
              </a:spcAft>
              <a:buClrTx/>
              <a:buSzTx/>
              <a:buFontTx/>
              <a:buChar char="•"/>
            </a:pPr>
            <a:endParaRPr kumimoji="0" lang="en-US" alt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Initial Legislation (Telecom Sector)</a:t>
            </a:r>
            <a:r>
              <a:rPr kumimoji="0" lang="en-US" altLang="en-US" sz="1800" b="0" i="0" u="none" strike="noStrike" cap="none" normalizeH="0" baseline="0" dirty="0" smtClean="0">
                <a:ln>
                  <a:noFill/>
                </a:ln>
                <a:solidFill>
                  <a:schemeClr val="tx1"/>
                </a:solidFill>
                <a:effectLst/>
              </a:rPr>
              <a:t>:</a:t>
            </a:r>
          </a:p>
          <a:p>
            <a:pPr marL="27432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smtClean="0">
                <a:ln>
                  <a:noFill/>
                </a:ln>
                <a:solidFill>
                  <a:schemeClr val="tx1"/>
                </a:solidFill>
                <a:effectLst/>
              </a:rPr>
              <a:t>Directive 2009/140/EC mandates telecoms notify regulatory authorities of significant security breaches.</a:t>
            </a:r>
          </a:p>
          <a:p>
            <a:pPr marL="274320" lvl="1" indent="0" eaLnBrk="0" fontAlgn="base" hangingPunct="0">
              <a:lnSpc>
                <a:spcPct val="100000"/>
              </a:lnSpc>
              <a:spcBef>
                <a:spcPct val="0"/>
              </a:spcBef>
              <a:spcAft>
                <a:spcPct val="0"/>
              </a:spcAft>
              <a:buClrTx/>
              <a:buSzTx/>
              <a:buFontTx/>
              <a:buChar char="•"/>
            </a:pPr>
            <a:r>
              <a:rPr kumimoji="0" lang="en-US" altLang="en-US" b="0" i="0" u="none" strike="noStrike" cap="none" normalizeH="0" baseline="0" dirty="0" smtClean="0">
                <a:ln>
                  <a:noFill/>
                </a:ln>
                <a:solidFill>
                  <a:schemeClr val="tx1"/>
                </a:solidFill>
                <a:effectLst/>
              </a:rPr>
              <a:t>ENISA compiles reports from national data, which help inform national legislation and operator standards.</a:t>
            </a:r>
          </a:p>
          <a:p>
            <a:pPr marL="274320" lvl="1" indent="0" eaLnBrk="0" fontAlgn="base" hangingPunct="0">
              <a:lnSpc>
                <a:spcPct val="100000"/>
              </a:lnSpc>
              <a:spcBef>
                <a:spcPct val="0"/>
              </a:spcBef>
              <a:spcAft>
                <a:spcPct val="0"/>
              </a:spcAft>
              <a:buClrTx/>
              <a:buSzTx/>
              <a:buFontTx/>
              <a:buChar char="•"/>
            </a:pPr>
            <a:endParaRPr kumimoji="0" lang="en-US" alt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National Implementation</a:t>
            </a:r>
            <a:r>
              <a:rPr kumimoji="0" lang="en-US" altLang="en-US" sz="1800" b="0" i="0" u="none" strike="noStrike" cap="none" normalizeH="0" baseline="0" dirty="0" smtClean="0">
                <a:ln>
                  <a:noFill/>
                </a:ln>
                <a:solidFill>
                  <a:schemeClr val="tx1"/>
                </a:solidFill>
                <a:effectLst/>
              </a:rPr>
              <a:t>:</a:t>
            </a:r>
          </a:p>
          <a:p>
            <a:pPr marL="274320" lvl="1" indent="0" eaLnBrk="0" fontAlgn="base" hangingPunct="0">
              <a:lnSpc>
                <a:spcPct val="100000"/>
              </a:lnSpc>
              <a:spcBef>
                <a:spcPct val="0"/>
              </a:spcBef>
              <a:spcAft>
                <a:spcPct val="0"/>
              </a:spcAft>
              <a:buClrTx/>
              <a:buSzTx/>
              <a:buFontTx/>
              <a:buChar char="•"/>
            </a:pPr>
            <a:r>
              <a:rPr kumimoji="0" lang="en-US" altLang="en-US" sz="1600" b="0" i="0" u="none" strike="noStrike" cap="none" normalizeH="0" baseline="0" dirty="0" smtClean="0">
                <a:ln>
                  <a:noFill/>
                </a:ln>
                <a:solidFill>
                  <a:schemeClr val="tx1"/>
                </a:solidFill>
                <a:effectLst/>
              </a:rPr>
              <a:t>EU Member States include these obligations in national laws (e.g., Germany, Netherlands, Belgium) with guidance from ENISA.</a:t>
            </a:r>
          </a:p>
          <a:p>
            <a:r>
              <a:rPr lang="en-US" sz="1800" b="1" dirty="0"/>
              <a:t>Expanding Notifications</a:t>
            </a:r>
            <a:r>
              <a:rPr lang="en-US" sz="1800" dirty="0"/>
              <a:t>:</a:t>
            </a:r>
          </a:p>
          <a:p>
            <a:r>
              <a:rPr lang="en-US" sz="1800" dirty="0" err="1"/>
              <a:t>eIDAS</a:t>
            </a:r>
            <a:r>
              <a:rPr lang="en-US" sz="1800" dirty="0"/>
              <a:t> (2014) mandates 24-hour notifications for trust service providers.</a:t>
            </a:r>
          </a:p>
          <a:p>
            <a:r>
              <a:rPr lang="en-US" sz="1800" dirty="0"/>
              <a:t>PSD II (2015) and NIS Directive (2016) expand similar obligations to payment and essential services sectors, excluding cases covered by telecom-specific rules.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8</a:t>
            </a:fld>
            <a:endParaRPr lang="en-IN"/>
          </a:p>
        </p:txBody>
      </p:sp>
    </p:spTree>
    <p:extLst>
      <p:ext uri="{BB962C8B-B14F-4D97-AF65-F5344CB8AC3E}">
        <p14:creationId xmlns:p14="http://schemas.microsoft.com/office/powerpoint/2010/main" val="984292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1069848" y="2023146"/>
            <a:ext cx="994810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Personal Data Breach Notifications</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GDPR (Art. 33) requires prompt notification (within 72 hours) for data breaches, with specific rules based on the nature and potential impact of the data breach.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Notifications are required for both data controllers and processors, potentially extending obligations across sectors.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Defining Personal Data</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Personal data broadly includes identifiers like IP addresses, per CJEU rulings. Dynamic IP addresses can be personal data if they allow for identification with ISP help.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Sector-Specific Laws</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Some EU countries, like France (LPM) and Germany (IT Security Act), have additional requirements for cybersecurity incident reporting, security measures, and audits for certain operators.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9</a:t>
            </a:fld>
            <a:endParaRPr lang="en-IN"/>
          </a:p>
        </p:txBody>
      </p:sp>
    </p:spTree>
    <p:extLst>
      <p:ext uri="{BB962C8B-B14F-4D97-AF65-F5344CB8AC3E}">
        <p14:creationId xmlns:p14="http://schemas.microsoft.com/office/powerpoint/2010/main" val="3770956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Proactive Information Sharing </a:t>
            </a:r>
          </a:p>
        </p:txBody>
      </p:sp>
      <p:sp>
        <p:nvSpPr>
          <p:cNvPr id="4" name="Rectangle 1"/>
          <p:cNvSpPr>
            <a:spLocks noGrp="1" noChangeArrowheads="1"/>
          </p:cNvSpPr>
          <p:nvPr>
            <p:ph idx="1"/>
          </p:nvPr>
        </p:nvSpPr>
        <p:spPr bwMode="auto">
          <a:xfrm>
            <a:off x="1069848" y="1884647"/>
            <a:ext cx="10058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Challenges of Breach Notification</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Differences in national laws hinder cross-border information sharing.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Notifications occur only after incidents, with companies cautious due to reputational and liability concerns.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Need for Proactive Information Sharing</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Proactive sharing is essential for resilience but tightly controlled by Member States.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Public access to government data is restricted, with Freedom of Information varying widely by nation.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Public Sector Information (PSI) Directive</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PSI Directive (2003) aims to make public data reusable, but its impact is limited for security-related information and inapplicable to private companies.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CERTs (Computer Emergency Response Teams) have limited access to PSI Directive benefits as most security data remains restricted.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10</a:t>
            </a:fld>
            <a:endParaRPr lang="en-IN"/>
          </a:p>
        </p:txBody>
      </p:sp>
    </p:spTree>
    <p:extLst>
      <p:ext uri="{BB962C8B-B14F-4D97-AF65-F5344CB8AC3E}">
        <p14:creationId xmlns:p14="http://schemas.microsoft.com/office/powerpoint/2010/main" val="1888892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1069848" y="2300145"/>
            <a:ext cx="100584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National-Level Laws and Soft Law Initiatives</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Proactive sharing laws exist at the national level; soft law initiatives by ENISA promote information sharing through trusted communities.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NIS Directive’s Information Sharing Framework</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Cooperation Group</a:t>
            </a:r>
            <a:r>
              <a:rPr kumimoji="0" lang="en-US" altLang="en-US" sz="1800" b="0" i="0" u="none" strike="noStrike" cap="none" normalizeH="0" baseline="0" dirty="0" smtClean="0">
                <a:ln>
                  <a:noFill/>
                </a:ln>
                <a:solidFill>
                  <a:schemeClr val="tx1"/>
                </a:solidFill>
                <a:effectLst/>
              </a:rPr>
              <a:t>: Includes Member States, EU Commission, and ENISA to share best practices and incident notification strategies.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CSIRTs Network</a:t>
            </a:r>
            <a:r>
              <a:rPr kumimoji="0" lang="en-US" altLang="en-US" sz="1800" b="0" i="0" u="none" strike="noStrike" cap="none" normalizeH="0" baseline="0" dirty="0" smtClean="0">
                <a:ln>
                  <a:noFill/>
                </a:ln>
                <a:solidFill>
                  <a:schemeClr val="tx1"/>
                </a:solidFill>
                <a:effectLst/>
              </a:rPr>
              <a:t>: Allows Member States' CSIRTs to share non-sensitive, non-confidential info on operations and incidents.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Participation is voluntary, with limitations to protect investigations and avoid sharing commercially sensitive information.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11</a:t>
            </a:fld>
            <a:endParaRPr lang="en-IN"/>
          </a:p>
        </p:txBody>
      </p:sp>
    </p:spTree>
    <p:extLst>
      <p:ext uri="{BB962C8B-B14F-4D97-AF65-F5344CB8AC3E}">
        <p14:creationId xmlns:p14="http://schemas.microsoft.com/office/powerpoint/2010/main" val="1281555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26831" y="363556"/>
            <a:ext cx="9438344" cy="5938733"/>
          </a:xfrm>
          <a:prstGeom prst="rect">
            <a:avLst/>
          </a:prstGeom>
        </p:spPr>
      </p:pic>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12</a:t>
            </a:fld>
            <a:endParaRPr lang="en-IN"/>
          </a:p>
        </p:txBody>
      </p:sp>
    </p:spTree>
    <p:extLst>
      <p:ext uri="{BB962C8B-B14F-4D97-AF65-F5344CB8AC3E}">
        <p14:creationId xmlns:p14="http://schemas.microsoft.com/office/powerpoint/2010/main" val="2432237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7" y="484632"/>
            <a:ext cx="10773285" cy="1609344"/>
          </a:xfrm>
          <a:solidFill>
            <a:schemeClr val="accent1"/>
          </a:solidFill>
        </p:spPr>
        <p:txBody>
          <a:bodyPr>
            <a:normAutofit fontScale="90000"/>
          </a:bodyPr>
          <a:lstStyle/>
          <a:p>
            <a:r>
              <a:rPr lang="en-US" dirty="0"/>
              <a:t>Legal Certainty, Information Sharing, and Potential Legal Barriers to Data Transfer</a:t>
            </a:r>
            <a:endParaRPr lang="en-IN" dirty="0"/>
          </a:p>
        </p:txBody>
      </p:sp>
      <p:sp>
        <p:nvSpPr>
          <p:cNvPr id="4" name="Rectangle 1"/>
          <p:cNvSpPr>
            <a:spLocks noGrp="1" noChangeArrowheads="1"/>
          </p:cNvSpPr>
          <p:nvPr>
            <p:ph idx="1"/>
          </p:nvPr>
        </p:nvSpPr>
        <p:spPr bwMode="auto">
          <a:xfrm>
            <a:off x="1069847" y="2854142"/>
            <a:ext cx="1086141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rPr>
              <a:t>This section reviews EU legal frameworks that protect specific data categories, potentially hindering information sharing. It’s divided into two parts: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smtClean="0">
                <a:ln>
                  <a:noFill/>
                </a:ln>
                <a:solidFill>
                  <a:schemeClr val="tx1"/>
                </a:solidFill>
                <a:effectLst/>
              </a:rPr>
              <a:t>National Security and Economic Interests</a:t>
            </a:r>
            <a:r>
              <a:rPr kumimoji="0" lang="en-US" altLang="en-US" sz="1800" b="0" i="0" u="none" strike="noStrike" cap="none" normalizeH="0" baseline="0" dirty="0" smtClean="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Examines classified information and economic interests, including trade secrets and confidentiality clauses.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smtClean="0">
                <a:ln>
                  <a:noFill/>
                </a:ln>
                <a:solidFill>
                  <a:schemeClr val="tx1"/>
                </a:solidFill>
                <a:effectLst/>
              </a:rPr>
              <a:t>Data Protection and Individual Rights</a:t>
            </a:r>
            <a:r>
              <a:rPr kumimoji="0" lang="en-US" altLang="en-US" sz="1800" b="0" i="0" u="none" strike="noStrike" cap="none" normalizeH="0" baseline="0" dirty="0" smtClean="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Focuses on data protection as a fundamental right, highlighting privacy and personal data protections.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13</a:t>
            </a:fld>
            <a:endParaRPr lang="en-IN"/>
          </a:p>
        </p:txBody>
      </p:sp>
    </p:spTree>
    <p:extLst>
      <p:ext uri="{BB962C8B-B14F-4D97-AF65-F5344CB8AC3E}">
        <p14:creationId xmlns:p14="http://schemas.microsoft.com/office/powerpoint/2010/main" val="3666894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Recognizing National Security and Private Economic Interests </a:t>
            </a:r>
            <a:endParaRPr lang="en-IN" sz="3200" dirty="0"/>
          </a:p>
        </p:txBody>
      </p:sp>
      <p:sp>
        <p:nvSpPr>
          <p:cNvPr id="3" name="Content Placeholder 2"/>
          <p:cNvSpPr>
            <a:spLocks noGrp="1"/>
          </p:cNvSpPr>
          <p:nvPr>
            <p:ph idx="1"/>
          </p:nvPr>
        </p:nvSpPr>
        <p:spPr>
          <a:xfrm>
            <a:off x="1069848" y="2121408"/>
            <a:ext cx="10663116" cy="4477696"/>
          </a:xfrm>
        </p:spPr>
        <p:txBody>
          <a:bodyPr>
            <a:normAutofit/>
          </a:bodyPr>
          <a:lstStyle/>
          <a:p>
            <a:r>
              <a:rPr lang="en-US" sz="2600" b="1" i="1" dirty="0"/>
              <a:t>Intellectual </a:t>
            </a:r>
            <a:r>
              <a:rPr lang="en-US" sz="2600" b="1" i="1" dirty="0" smtClean="0"/>
              <a:t>Property</a:t>
            </a:r>
            <a:r>
              <a:rPr lang="en-US" sz="2600" b="1" i="1" dirty="0"/>
              <a:t>, Trade Secrets, and </a:t>
            </a:r>
            <a:r>
              <a:rPr lang="en-US" sz="2600" b="1" i="1" dirty="0" smtClean="0"/>
              <a:t>Confidentiality</a:t>
            </a:r>
          </a:p>
          <a:p>
            <a:endParaRPr lang="en-US" sz="2600" b="1" i="1" dirty="0" smtClean="0"/>
          </a:p>
          <a:p>
            <a:pPr marL="0" lvl="0" indent="0" eaLnBrk="0" fontAlgn="base" hangingPunct="0">
              <a:lnSpc>
                <a:spcPct val="100000"/>
              </a:lnSpc>
              <a:spcBef>
                <a:spcPct val="0"/>
              </a:spcBef>
              <a:spcAft>
                <a:spcPct val="0"/>
              </a:spcAft>
              <a:buClrTx/>
              <a:buSzTx/>
              <a:buFontTx/>
              <a:buChar char="•"/>
            </a:pPr>
            <a:r>
              <a:rPr lang="en-US" altLang="en-US" b="1" dirty="0"/>
              <a:t>Intellectual Property (IP) Law and Information Sharing</a:t>
            </a:r>
            <a:r>
              <a:rPr lang="en-US" altLang="en-US" dirty="0"/>
              <a:t>:</a:t>
            </a:r>
          </a:p>
          <a:p>
            <a:pPr marL="0" lvl="0" indent="0" eaLnBrk="0" fontAlgn="base" hangingPunct="0">
              <a:lnSpc>
                <a:spcPct val="100000"/>
              </a:lnSpc>
              <a:spcBef>
                <a:spcPct val="0"/>
              </a:spcBef>
              <a:spcAft>
                <a:spcPct val="0"/>
              </a:spcAft>
              <a:buClrTx/>
              <a:buSzTx/>
              <a:buFontTx/>
              <a:buChar char="•"/>
            </a:pPr>
            <a:r>
              <a:rPr lang="en-US" altLang="en-US" dirty="0"/>
              <a:t>IP rights grant exclusive control over dissemination and duplication of works.</a:t>
            </a:r>
          </a:p>
          <a:p>
            <a:pPr marL="0" lvl="0" indent="0" eaLnBrk="0" fontAlgn="base" hangingPunct="0">
              <a:lnSpc>
                <a:spcPct val="100000"/>
              </a:lnSpc>
              <a:spcBef>
                <a:spcPct val="0"/>
              </a:spcBef>
              <a:spcAft>
                <a:spcPct val="0"/>
              </a:spcAft>
              <a:buClrTx/>
              <a:buSzTx/>
              <a:buFontTx/>
              <a:buChar char="•"/>
            </a:pPr>
            <a:r>
              <a:rPr lang="en-US" altLang="en-US" dirty="0"/>
              <a:t>EU and international treaties offer some harmonization, but differences remain across Member States.</a:t>
            </a:r>
          </a:p>
          <a:p>
            <a:pPr marL="0" lvl="0" indent="0" eaLnBrk="0" fontAlgn="base" hangingPunct="0">
              <a:lnSpc>
                <a:spcPct val="100000"/>
              </a:lnSpc>
              <a:spcBef>
                <a:spcPct val="0"/>
              </a:spcBef>
              <a:spcAft>
                <a:spcPct val="0"/>
              </a:spcAft>
              <a:buClrTx/>
              <a:buSzTx/>
              <a:buFontTx/>
              <a:buChar char="•"/>
            </a:pPr>
            <a:r>
              <a:rPr lang="en-US" altLang="en-US" dirty="0"/>
              <a:t>IP rights can pose barriers to information sharing, particularly regarding database content and structure</a:t>
            </a:r>
            <a:r>
              <a:rPr lang="en-US" altLang="en-US" dirty="0" smtClean="0"/>
              <a:t>.</a:t>
            </a:r>
          </a:p>
          <a:p>
            <a:pPr marL="0" lvl="0" indent="0" eaLnBrk="0" fontAlgn="base" hangingPunct="0">
              <a:lnSpc>
                <a:spcPct val="100000"/>
              </a:lnSpc>
              <a:spcBef>
                <a:spcPct val="0"/>
              </a:spcBef>
              <a:spcAft>
                <a:spcPct val="0"/>
              </a:spcAft>
              <a:buClrTx/>
              <a:buSzTx/>
              <a:buFontTx/>
              <a:buChar char="•"/>
            </a:pPr>
            <a:endParaRPr lang="en-US" altLang="en-US" dirty="0"/>
          </a:p>
          <a:p>
            <a:pPr marL="0" lvl="0" indent="0" eaLnBrk="0" fontAlgn="base" hangingPunct="0">
              <a:lnSpc>
                <a:spcPct val="100000"/>
              </a:lnSpc>
              <a:spcBef>
                <a:spcPct val="0"/>
              </a:spcBef>
              <a:spcAft>
                <a:spcPct val="0"/>
              </a:spcAft>
              <a:buClrTx/>
              <a:buSzTx/>
              <a:buFontTx/>
              <a:buChar char="•"/>
            </a:pPr>
            <a:r>
              <a:rPr lang="en-US" altLang="en-US" b="1" dirty="0"/>
              <a:t>Key EU Directives</a:t>
            </a:r>
            <a:r>
              <a:rPr lang="en-US" altLang="en-US" dirty="0"/>
              <a:t>:</a:t>
            </a:r>
          </a:p>
          <a:p>
            <a:pPr marL="0" lvl="0" indent="0" eaLnBrk="0" fontAlgn="base" hangingPunct="0">
              <a:lnSpc>
                <a:spcPct val="100000"/>
              </a:lnSpc>
              <a:spcBef>
                <a:spcPct val="0"/>
              </a:spcBef>
              <a:spcAft>
                <a:spcPct val="0"/>
              </a:spcAft>
              <a:buClrTx/>
              <a:buSzTx/>
              <a:buFontTx/>
              <a:buChar char="•"/>
            </a:pPr>
            <a:r>
              <a:rPr lang="en-US" altLang="en-US" b="1" dirty="0"/>
              <a:t>Copyright Directive (2001/29/EC)</a:t>
            </a:r>
            <a:r>
              <a:rPr lang="en-US" altLang="en-US" dirty="0"/>
              <a:t>: Harmonizes copyright and related rights.</a:t>
            </a:r>
          </a:p>
          <a:p>
            <a:pPr marL="0" lvl="0" indent="0" eaLnBrk="0" fontAlgn="base" hangingPunct="0">
              <a:lnSpc>
                <a:spcPct val="100000"/>
              </a:lnSpc>
              <a:spcBef>
                <a:spcPct val="0"/>
              </a:spcBef>
              <a:spcAft>
                <a:spcPct val="0"/>
              </a:spcAft>
              <a:buClrTx/>
              <a:buSzTx/>
              <a:buFontTx/>
              <a:buChar char="•"/>
            </a:pPr>
            <a:r>
              <a:rPr lang="en-US" altLang="en-US" b="1" dirty="0"/>
              <a:t>Database Directive (96/9/EC)</a:t>
            </a:r>
            <a:r>
              <a:rPr lang="en-US" altLang="en-US" dirty="0"/>
              <a:t>: Protects database creators through copyright and sui generis rights, covering the "sweat of the brow" investment.</a:t>
            </a:r>
          </a:p>
          <a:p>
            <a:endParaRPr lang="en-IN" sz="2200" dirty="0"/>
          </a:p>
        </p:txBody>
      </p:sp>
      <p:sp>
        <p:nvSpPr>
          <p:cNvPr id="6" name="Footer Placeholder 5"/>
          <p:cNvSpPr>
            <a:spLocks noGrp="1"/>
          </p:cNvSpPr>
          <p:nvPr>
            <p:ph type="ftr" sz="quarter" idx="11"/>
          </p:nvPr>
        </p:nvSpPr>
        <p:spPr/>
        <p:txBody>
          <a:bodyPr/>
          <a:lstStyle/>
          <a:p>
            <a:r>
              <a:rPr lang="en-IN" smtClean="0"/>
              <a:t>Asst. Prof. Rushikesh Chikane, MIT ACSC. Alandi</a:t>
            </a:r>
            <a:endParaRPr lang="en-IN"/>
          </a:p>
        </p:txBody>
      </p:sp>
      <p:sp>
        <p:nvSpPr>
          <p:cNvPr id="7" name="Slide Number Placeholder 6"/>
          <p:cNvSpPr>
            <a:spLocks noGrp="1"/>
          </p:cNvSpPr>
          <p:nvPr>
            <p:ph type="sldNum" sz="quarter" idx="12"/>
          </p:nvPr>
        </p:nvSpPr>
        <p:spPr/>
        <p:txBody>
          <a:bodyPr/>
          <a:lstStyle/>
          <a:p>
            <a:fld id="{9FA395FF-3764-40F1-9FBF-130C3217C3B0}" type="slidenum">
              <a:rPr lang="en-IN" smtClean="0"/>
              <a:t>14</a:t>
            </a:fld>
            <a:endParaRPr lang="en-IN"/>
          </a:p>
        </p:txBody>
      </p:sp>
    </p:spTree>
    <p:extLst>
      <p:ext uri="{BB962C8B-B14F-4D97-AF65-F5344CB8AC3E}">
        <p14:creationId xmlns:p14="http://schemas.microsoft.com/office/powerpoint/2010/main" val="47593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1069848" y="2407867"/>
            <a:ext cx="100584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rPr>
              <a:t>Copyright and Database Rights</a:t>
            </a:r>
            <a:r>
              <a:rPr kumimoji="0" lang="en-US" altLang="en-US"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Holders have exclusive rights to reproduce, distribute, and communicate 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IP challenges arise if protected content is shared without permission, though licensing can mitigate this.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rPr>
              <a:t>Trade Secrets and Confidentiality</a:t>
            </a:r>
            <a:r>
              <a:rPr kumimoji="0" lang="en-US" altLang="en-US"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rPr>
              <a:t>Trade Secrets Directive (2016/943)</a:t>
            </a:r>
            <a:r>
              <a:rPr kumimoji="0" lang="en-US" altLang="en-US" b="0" i="0" u="none" strike="noStrike" cap="none" normalizeH="0" baseline="0" dirty="0" smtClean="0">
                <a:ln>
                  <a:noFill/>
                </a:ln>
                <a:solidFill>
                  <a:schemeClr val="tx1"/>
                </a:solidFill>
                <a:effectLst/>
              </a:rPr>
              <a:t>: Harmonizes rules against the misuse of trade secrets in the EU.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Trade secrets require confidentiality and reasonable protection steps, and nondisclosure agreements may restrict information sharing.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15</a:t>
            </a:fld>
            <a:endParaRPr lang="en-IN"/>
          </a:p>
        </p:txBody>
      </p:sp>
    </p:spTree>
    <p:extLst>
      <p:ext uri="{BB962C8B-B14F-4D97-AF65-F5344CB8AC3E}">
        <p14:creationId xmlns:p14="http://schemas.microsoft.com/office/powerpoint/2010/main" val="295803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2600" b="1" i="1" dirty="0"/>
              <a:t>Classified</a:t>
            </a:r>
            <a:r>
              <a:rPr lang="en-US" dirty="0"/>
              <a:t> </a:t>
            </a:r>
            <a:r>
              <a:rPr lang="en-US" sz="2600" b="1" i="1" dirty="0"/>
              <a:t>Information and the </a:t>
            </a:r>
            <a:r>
              <a:rPr lang="en-US" sz="2600" b="1" i="1" dirty="0" smtClean="0"/>
              <a:t>Public–Private Overlap</a:t>
            </a:r>
          </a:p>
          <a:p>
            <a:endParaRPr lang="en-IN" sz="2600" b="1" i="1" dirty="0"/>
          </a:p>
          <a:p>
            <a:pPr marL="0" lvl="0" indent="0" eaLnBrk="0" fontAlgn="base" hangingPunct="0">
              <a:lnSpc>
                <a:spcPct val="100000"/>
              </a:lnSpc>
              <a:spcBef>
                <a:spcPct val="0"/>
              </a:spcBef>
              <a:spcAft>
                <a:spcPct val="0"/>
              </a:spcAft>
              <a:buClrTx/>
              <a:buSzTx/>
              <a:buFontTx/>
              <a:buChar char="•"/>
            </a:pPr>
            <a:r>
              <a:rPr lang="en-US" altLang="en-US" sz="1800" b="1" dirty="0"/>
              <a:t>National Security and Critical Infrastructure</a:t>
            </a:r>
            <a:r>
              <a:rPr lang="en-US" altLang="en-US" sz="1800" dirty="0"/>
              <a:t>:</a:t>
            </a:r>
          </a:p>
          <a:p>
            <a:pPr marL="0" lvl="0" indent="0" eaLnBrk="0" fontAlgn="base" hangingPunct="0">
              <a:lnSpc>
                <a:spcPct val="100000"/>
              </a:lnSpc>
              <a:spcBef>
                <a:spcPct val="0"/>
              </a:spcBef>
              <a:spcAft>
                <a:spcPct val="0"/>
              </a:spcAft>
              <a:buClrTx/>
              <a:buSzTx/>
              <a:buFontTx/>
              <a:buChar char="•"/>
            </a:pPr>
            <a:r>
              <a:rPr lang="en-US" altLang="en-US" sz="1800" dirty="0"/>
              <a:t>Information related to critical infrastructure can be classified as national security sensitive, leading to blurred public-private lines.</a:t>
            </a:r>
          </a:p>
          <a:p>
            <a:pPr marL="0" lvl="0" indent="0" eaLnBrk="0" fontAlgn="base" hangingPunct="0">
              <a:lnSpc>
                <a:spcPct val="100000"/>
              </a:lnSpc>
              <a:spcBef>
                <a:spcPct val="0"/>
              </a:spcBef>
              <a:spcAft>
                <a:spcPct val="0"/>
              </a:spcAft>
              <a:buClrTx/>
              <a:buSzTx/>
              <a:buFontTx/>
              <a:buChar char="•"/>
            </a:pPr>
            <a:r>
              <a:rPr lang="en-US" altLang="en-US" sz="1800" dirty="0"/>
              <a:t>Disparities exist across Member States in classifying such information</a:t>
            </a:r>
            <a:r>
              <a:rPr lang="en-US" altLang="en-US" sz="1800" dirty="0" smtClean="0"/>
              <a:t>.</a:t>
            </a:r>
          </a:p>
          <a:p>
            <a:pPr marL="0" lvl="0" indent="0" eaLnBrk="0" fontAlgn="base" hangingPunct="0">
              <a:lnSpc>
                <a:spcPct val="100000"/>
              </a:lnSpc>
              <a:spcBef>
                <a:spcPct val="0"/>
              </a:spcBef>
              <a:spcAft>
                <a:spcPct val="0"/>
              </a:spcAft>
              <a:buClrTx/>
              <a:buSzTx/>
              <a:buFontTx/>
              <a:buChar char="•"/>
            </a:pPr>
            <a:endParaRPr lang="en-US" altLang="en-US" sz="1800" dirty="0"/>
          </a:p>
          <a:p>
            <a:pPr marL="0" lvl="0" indent="0" eaLnBrk="0" fontAlgn="base" hangingPunct="0">
              <a:lnSpc>
                <a:spcPct val="100000"/>
              </a:lnSpc>
              <a:spcBef>
                <a:spcPct val="0"/>
              </a:spcBef>
              <a:spcAft>
                <a:spcPct val="0"/>
              </a:spcAft>
              <a:buClrTx/>
              <a:buSzTx/>
              <a:buFontTx/>
              <a:buChar char="•"/>
            </a:pPr>
            <a:r>
              <a:rPr lang="en-US" altLang="en-US" sz="1800" b="1" dirty="0"/>
              <a:t>Classification Systems</a:t>
            </a:r>
            <a:r>
              <a:rPr lang="en-US" altLang="en-US" sz="1800" dirty="0"/>
              <a:t>:</a:t>
            </a:r>
          </a:p>
          <a:p>
            <a:pPr marL="0" lvl="0" indent="0" eaLnBrk="0" fontAlgn="base" hangingPunct="0">
              <a:lnSpc>
                <a:spcPct val="100000"/>
              </a:lnSpc>
              <a:spcBef>
                <a:spcPct val="0"/>
              </a:spcBef>
              <a:spcAft>
                <a:spcPct val="0"/>
              </a:spcAft>
              <a:buClrTx/>
              <a:buSzTx/>
              <a:buFontTx/>
              <a:buChar char="•"/>
            </a:pPr>
            <a:r>
              <a:rPr lang="en-US" altLang="en-US" sz="1800" b="1" dirty="0"/>
              <a:t>Ireland</a:t>
            </a:r>
            <a:r>
              <a:rPr lang="en-US" altLang="en-US" sz="1800" dirty="0"/>
              <a:t>: No framework for data classification; Official Secrets Act 1963 defines official secrets.</a:t>
            </a:r>
          </a:p>
          <a:p>
            <a:pPr marL="0" lvl="0" indent="0" eaLnBrk="0" fontAlgn="base" hangingPunct="0">
              <a:lnSpc>
                <a:spcPct val="100000"/>
              </a:lnSpc>
              <a:spcBef>
                <a:spcPct val="0"/>
              </a:spcBef>
              <a:spcAft>
                <a:spcPct val="0"/>
              </a:spcAft>
              <a:buClrTx/>
              <a:buSzTx/>
              <a:buFontTx/>
              <a:buChar char="•"/>
            </a:pPr>
            <a:r>
              <a:rPr lang="en-US" altLang="en-US" sz="1800" b="1" dirty="0"/>
              <a:t>Germany</a:t>
            </a:r>
            <a:r>
              <a:rPr lang="en-US" altLang="en-US" sz="1800" dirty="0"/>
              <a:t>: National security secrets are defined in the German Criminal Code and the Safety Assessment Act, with four levels of classification.</a:t>
            </a:r>
          </a:p>
          <a:p>
            <a:pPr marL="0" lvl="0" indent="0" eaLnBrk="0" fontAlgn="base" hangingPunct="0">
              <a:lnSpc>
                <a:spcPct val="100000"/>
              </a:lnSpc>
              <a:spcBef>
                <a:spcPct val="0"/>
              </a:spcBef>
              <a:spcAft>
                <a:spcPct val="0"/>
              </a:spcAft>
              <a:buClrTx/>
              <a:buSzTx/>
              <a:buFontTx/>
              <a:buChar char="•"/>
            </a:pPr>
            <a:r>
              <a:rPr lang="en-US" altLang="en-US" sz="1800" b="1" dirty="0"/>
              <a:t>Other Countries</a:t>
            </a:r>
            <a:r>
              <a:rPr lang="en-US" altLang="en-US" sz="1800" dirty="0"/>
              <a:t>: Similar classification systems exist in the UK, Italy, Belgium, and France.</a:t>
            </a:r>
          </a:p>
          <a:p>
            <a:endParaRPr lang="en-IN" sz="1800" b="1" i="1" dirty="0"/>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16</a:t>
            </a:fld>
            <a:endParaRPr lang="en-IN"/>
          </a:p>
        </p:txBody>
      </p:sp>
    </p:spTree>
    <p:extLst>
      <p:ext uri="{BB962C8B-B14F-4D97-AF65-F5344CB8AC3E}">
        <p14:creationId xmlns:p14="http://schemas.microsoft.com/office/powerpoint/2010/main" val="2914478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1069848" y="2438644"/>
            <a:ext cx="100584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EU Framework</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The EU lacks specific legislation on security classification; it is a national responsibility (Art. 4 TEU).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EUCI</a:t>
            </a:r>
            <a:r>
              <a:rPr kumimoji="0" lang="en-US" altLang="en-US" sz="1800" b="0" i="0" u="none" strike="noStrike" cap="none" normalizeH="0" baseline="0" dirty="0" smtClean="0">
                <a:ln>
                  <a:noFill/>
                </a:ln>
                <a:solidFill>
                  <a:schemeClr val="tx1"/>
                </a:solidFill>
                <a:effectLst/>
              </a:rPr>
              <a:t>: EU classified information is distinct from national classified information, with rules set by the Council, Commission, and European Parliament.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Barriers to Information Sharing</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Technical and Organizational Requirements</a:t>
            </a:r>
            <a:r>
              <a:rPr kumimoji="0" lang="en-US" altLang="en-US" sz="1800" b="0" i="0" u="none" strike="noStrike" cap="none" normalizeH="0" baseline="0" dirty="0" smtClean="0">
                <a:ln>
                  <a:noFill/>
                </a:ln>
                <a:solidFill>
                  <a:schemeClr val="tx1"/>
                </a:solidFill>
                <a:effectLst/>
              </a:rPr>
              <a:t>: Handling classified info requires security vetting (Council Directive 2008/114).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NIS Directive</a:t>
            </a:r>
            <a:r>
              <a:rPr kumimoji="0" lang="en-US" altLang="en-US" sz="1800" b="0" i="0" u="none" strike="noStrike" cap="none" normalizeH="0" baseline="0" dirty="0" smtClean="0">
                <a:ln>
                  <a:noFill/>
                </a:ln>
                <a:solidFill>
                  <a:schemeClr val="tx1"/>
                </a:solidFill>
                <a:effectLst/>
              </a:rPr>
              <a:t>: Confidential information can only be exchanged if necessary for its application, and must be kept confidential. National security interests may prevent disclosure.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17</a:t>
            </a:fld>
            <a:endParaRPr lang="en-IN"/>
          </a:p>
        </p:txBody>
      </p:sp>
    </p:spTree>
    <p:extLst>
      <p:ext uri="{BB962C8B-B14F-4D97-AF65-F5344CB8AC3E}">
        <p14:creationId xmlns:p14="http://schemas.microsoft.com/office/powerpoint/2010/main" val="1744989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Individual Rights, Data Protection and Fair Balancing Protections</a:t>
            </a:r>
            <a:endParaRPr lang="en-IN" sz="3200" dirty="0"/>
          </a:p>
        </p:txBody>
      </p:sp>
      <p:sp>
        <p:nvSpPr>
          <p:cNvPr id="4" name="Rectangle 1"/>
          <p:cNvSpPr>
            <a:spLocks noGrp="1" noChangeArrowheads="1"/>
          </p:cNvSpPr>
          <p:nvPr>
            <p:ph idx="1"/>
          </p:nvPr>
        </p:nvSpPr>
        <p:spPr bwMode="auto">
          <a:xfrm>
            <a:off x="1069848" y="2023146"/>
            <a:ext cx="100584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Data Protection and Information Sharing</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GDPR Impact</a:t>
            </a:r>
            <a:r>
              <a:rPr kumimoji="0" lang="en-US" altLang="en-US" sz="1800" b="0" i="0" u="none" strike="noStrike" cap="none" normalizeH="0" baseline="0" dirty="0" smtClean="0">
                <a:ln>
                  <a:noFill/>
                </a:ln>
                <a:solidFill>
                  <a:schemeClr val="tx1"/>
                </a:solidFill>
                <a:effectLst/>
              </a:rPr>
              <a:t>: The GDPR (2016) harmonizes data protection across Member States, applying to personal data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Exemptions</a:t>
            </a:r>
            <a:r>
              <a:rPr kumimoji="0" lang="en-US" altLang="en-US" sz="1800" b="0" i="0" u="none" strike="noStrike" cap="none" normalizeH="0" baseline="0" dirty="0" smtClean="0">
                <a:ln>
                  <a:noFill/>
                </a:ln>
                <a:solidFill>
                  <a:schemeClr val="tx1"/>
                </a:solidFill>
                <a:effectLst/>
              </a:rPr>
              <a:t>: GDPR does not apply to national security matters (Art. 2(2)(b)) or criminal investigations (Art. 2(2)(d)).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Critical Infrastructure Operators</a:t>
            </a:r>
            <a:r>
              <a:rPr kumimoji="0" lang="en-US" altLang="en-US" sz="1800" b="0" i="0" u="none" strike="noStrike" cap="none" normalizeH="0" baseline="0" dirty="0" smtClean="0">
                <a:ln>
                  <a:noFill/>
                </a:ln>
                <a:solidFill>
                  <a:schemeClr val="tx1"/>
                </a:solidFill>
                <a:effectLst/>
              </a:rPr>
              <a:t>: Often private entities, meaning they must comply with GDPR if processing personal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GDPR Principles</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Personal data must be processed </a:t>
            </a:r>
            <a:r>
              <a:rPr kumimoji="0" lang="en-US" altLang="en-US" sz="1800" b="1" i="0" u="none" strike="noStrike" cap="none" normalizeH="0" baseline="0" dirty="0" smtClean="0">
                <a:ln>
                  <a:noFill/>
                </a:ln>
                <a:solidFill>
                  <a:schemeClr val="tx1"/>
                </a:solidFill>
                <a:effectLst/>
              </a:rPr>
              <a:t>fairly, lawfully</a:t>
            </a:r>
            <a:r>
              <a:rPr kumimoji="0" lang="en-US" altLang="en-US" sz="1800" b="0" i="0" u="none" strike="noStrike" cap="none" normalizeH="0" baseline="0" dirty="0" smtClean="0">
                <a:ln>
                  <a:noFill/>
                </a:ln>
                <a:solidFill>
                  <a:schemeClr val="tx1"/>
                </a:solidFill>
                <a:effectLst/>
              </a:rPr>
              <a:t>, and </a:t>
            </a:r>
            <a:r>
              <a:rPr kumimoji="0" lang="en-US" altLang="en-US" sz="1800" b="1" i="0" u="none" strike="noStrike" cap="none" normalizeH="0" baseline="0" dirty="0" smtClean="0">
                <a:ln>
                  <a:noFill/>
                </a:ln>
                <a:solidFill>
                  <a:schemeClr val="tx1"/>
                </a:solidFill>
                <a:effectLst/>
              </a:rPr>
              <a:t>transparently</a:t>
            </a:r>
            <a:r>
              <a:rPr kumimoji="0" lang="en-US" altLang="en-US" sz="1800" b="0" i="0" u="none" strike="noStrike" cap="none" normalizeH="0" baseline="0" dirty="0" smtClean="0">
                <a:ln>
                  <a:noFill/>
                </a:ln>
                <a:solidFill>
                  <a:schemeClr val="tx1"/>
                </a:solidFill>
                <a:effectLst/>
              </a:rPr>
              <a:t>, for </a:t>
            </a:r>
            <a:r>
              <a:rPr kumimoji="0" lang="en-US" altLang="en-US" sz="1800" b="1" i="0" u="none" strike="noStrike" cap="none" normalizeH="0" baseline="0" dirty="0" smtClean="0">
                <a:ln>
                  <a:noFill/>
                </a:ln>
                <a:solidFill>
                  <a:schemeClr val="tx1"/>
                </a:solidFill>
                <a:effectLst/>
              </a:rPr>
              <a:t>specified, legitimate purposes</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Data minimization</a:t>
            </a:r>
            <a:r>
              <a:rPr kumimoji="0" lang="en-US" altLang="en-US" sz="1800" b="0" i="0" u="none" strike="noStrike" cap="none" normalizeH="0" baseline="0" dirty="0" smtClean="0">
                <a:ln>
                  <a:noFill/>
                </a:ln>
                <a:solidFill>
                  <a:schemeClr val="tx1"/>
                </a:solidFill>
                <a:effectLst/>
              </a:rPr>
              <a:t>: Only relevant data should be processed.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Security</a:t>
            </a:r>
            <a:r>
              <a:rPr kumimoji="0" lang="en-US" altLang="en-US" sz="1800" b="0" i="0" u="none" strike="noStrike" cap="none" normalizeH="0" baseline="0" dirty="0" smtClean="0">
                <a:ln>
                  <a:noFill/>
                </a:ln>
                <a:solidFill>
                  <a:schemeClr val="tx1"/>
                </a:solidFill>
                <a:effectLst/>
              </a:rPr>
              <a:t>: Appropriate measures must be taken to protect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Data subject rights</a:t>
            </a:r>
            <a:r>
              <a:rPr kumimoji="0" lang="en-US" altLang="en-US" sz="1800" b="0" i="0" u="none" strike="noStrike" cap="none" normalizeH="0" baseline="0" dirty="0" smtClean="0">
                <a:ln>
                  <a:noFill/>
                </a:ln>
                <a:solidFill>
                  <a:schemeClr val="tx1"/>
                </a:solidFill>
                <a:effectLst/>
              </a:rPr>
              <a:t>: Right to access, rectify, erase, and restrict data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18</a:t>
            </a:fld>
            <a:endParaRPr lang="en-IN"/>
          </a:p>
        </p:txBody>
      </p:sp>
    </p:spTree>
    <p:extLst>
      <p:ext uri="{BB962C8B-B14F-4D97-AF65-F5344CB8AC3E}">
        <p14:creationId xmlns:p14="http://schemas.microsoft.com/office/powerpoint/2010/main" val="2202724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1069848" y="2023146"/>
            <a:ext cx="100584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Exemptions &amp; Restrictions</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Member States may restrict rights to protect </a:t>
            </a:r>
            <a:r>
              <a:rPr kumimoji="0" lang="en-US" altLang="en-US" sz="1800" b="1" i="0" u="none" strike="noStrike" cap="none" normalizeH="0" baseline="0" dirty="0" smtClean="0">
                <a:ln>
                  <a:noFill/>
                </a:ln>
                <a:solidFill>
                  <a:schemeClr val="tx1"/>
                </a:solidFill>
                <a:effectLst/>
              </a:rPr>
              <a:t>national security, public security</a:t>
            </a:r>
            <a:r>
              <a:rPr kumimoji="0" lang="en-US" altLang="en-US" sz="1800" b="0" i="0" u="none" strike="noStrike" cap="none" normalizeH="0" baseline="0" dirty="0" smtClean="0">
                <a:ln>
                  <a:noFill/>
                </a:ln>
                <a:solidFill>
                  <a:schemeClr val="tx1"/>
                </a:solidFill>
                <a:effectLst/>
              </a:rPr>
              <a:t>, or public interest.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Data controllers must comply with GDPR principles, ensuring processing is lawful, including when sharing data with processors.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Lawful Grounds for Data Processing</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Legitimate Interests</a:t>
            </a:r>
            <a:r>
              <a:rPr kumimoji="0" lang="en-US" altLang="en-US" sz="1800" b="0" i="0" u="none" strike="noStrike" cap="none" normalizeH="0" baseline="0" dirty="0" smtClean="0">
                <a:ln>
                  <a:noFill/>
                </a:ln>
                <a:solidFill>
                  <a:schemeClr val="tx1"/>
                </a:solidFill>
                <a:effectLst/>
              </a:rPr>
              <a:t>: Data processing is allowed for </a:t>
            </a:r>
            <a:r>
              <a:rPr kumimoji="0" lang="en-US" altLang="en-US" sz="1800" b="1" i="0" u="none" strike="noStrike" cap="none" normalizeH="0" baseline="0" dirty="0" smtClean="0">
                <a:ln>
                  <a:noFill/>
                </a:ln>
                <a:solidFill>
                  <a:schemeClr val="tx1"/>
                </a:solidFill>
                <a:effectLst/>
              </a:rPr>
              <a:t>network and information security</a:t>
            </a:r>
            <a:r>
              <a:rPr kumimoji="0" lang="en-US" altLang="en-US" sz="1800" b="0" i="0" u="none" strike="noStrike" cap="none" normalizeH="0" baseline="0" dirty="0" smtClean="0">
                <a:ln>
                  <a:noFill/>
                </a:ln>
                <a:solidFill>
                  <a:schemeClr val="tx1"/>
                </a:solidFill>
                <a:effectLst/>
              </a:rPr>
              <a:t> under legitimate interests (Art. 6(1)(f)).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Public Authorities</a:t>
            </a:r>
            <a:r>
              <a:rPr kumimoji="0" lang="en-US" altLang="en-US" sz="1800" b="0" i="0" u="none" strike="noStrike" cap="none" normalizeH="0" baseline="0" dirty="0" smtClean="0">
                <a:ln>
                  <a:noFill/>
                </a:ln>
                <a:solidFill>
                  <a:schemeClr val="tx1"/>
                </a:solidFill>
                <a:effectLst/>
              </a:rPr>
              <a:t>: Public authorities may not use legitimate interests if processing falls under their task, instead relying on </a:t>
            </a:r>
            <a:r>
              <a:rPr kumimoji="0" lang="en-US" altLang="en-US" sz="1800" b="1" i="0" u="none" strike="noStrike" cap="none" normalizeH="0" baseline="0" dirty="0" smtClean="0">
                <a:ln>
                  <a:noFill/>
                </a:ln>
                <a:solidFill>
                  <a:schemeClr val="tx1"/>
                </a:solidFill>
                <a:effectLst/>
              </a:rPr>
              <a:t>legal obligations</a:t>
            </a:r>
            <a:r>
              <a:rPr kumimoji="0" lang="en-US" altLang="en-US" sz="1800" b="0" i="0" u="none" strike="noStrike" cap="none" normalizeH="0" baseline="0" dirty="0" smtClean="0">
                <a:ln>
                  <a:noFill/>
                </a:ln>
                <a:solidFill>
                  <a:schemeClr val="tx1"/>
                </a:solidFill>
                <a:effectLst/>
              </a:rPr>
              <a:t> (Art. 6(1)(c)) or </a:t>
            </a:r>
            <a:r>
              <a:rPr kumimoji="0" lang="en-US" altLang="en-US" sz="1800" b="1" i="0" u="none" strike="noStrike" cap="none" normalizeH="0" baseline="0" dirty="0" smtClean="0">
                <a:ln>
                  <a:noFill/>
                </a:ln>
                <a:solidFill>
                  <a:schemeClr val="tx1"/>
                </a:solidFill>
                <a:effectLst/>
              </a:rPr>
              <a:t>public interest</a:t>
            </a:r>
            <a:r>
              <a:rPr kumimoji="0" lang="en-US" altLang="en-US" sz="1800" b="0" i="0" u="none" strike="noStrike" cap="none" normalizeH="0" baseline="0" dirty="0" smtClean="0">
                <a:ln>
                  <a:noFill/>
                </a:ln>
                <a:solidFill>
                  <a:schemeClr val="tx1"/>
                </a:solidFill>
                <a:effectLst/>
              </a:rPr>
              <a:t> tasks (Art. 6(1)(e)).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Balancing Test</a:t>
            </a:r>
            <a:r>
              <a:rPr kumimoji="0" lang="en-US" altLang="en-US" sz="1800" b="0" i="0" u="none" strike="noStrike" cap="none" normalizeH="0" baseline="0" dirty="0" smtClean="0">
                <a:ln>
                  <a:noFill/>
                </a:ln>
                <a:solidFill>
                  <a:schemeClr val="tx1"/>
                </a:solidFill>
                <a:effectLst/>
              </a:rPr>
              <a:t>: Processing must be </a:t>
            </a:r>
            <a:r>
              <a:rPr kumimoji="0" lang="en-US" altLang="en-US" sz="1800" b="1" i="0" u="none" strike="noStrike" cap="none" normalizeH="0" baseline="0" dirty="0" smtClean="0">
                <a:ln>
                  <a:noFill/>
                </a:ln>
                <a:solidFill>
                  <a:schemeClr val="tx1"/>
                </a:solidFill>
                <a:effectLst/>
              </a:rPr>
              <a:t>necessary</a:t>
            </a:r>
            <a:r>
              <a:rPr kumimoji="0" lang="en-US" altLang="en-US" sz="1800" b="0" i="0" u="none" strike="noStrike" cap="none" normalizeH="0" baseline="0" dirty="0" smtClean="0">
                <a:ln>
                  <a:noFill/>
                </a:ln>
                <a:solidFill>
                  <a:schemeClr val="tx1"/>
                </a:solidFill>
                <a:effectLst/>
              </a:rPr>
              <a:t> and </a:t>
            </a:r>
            <a:r>
              <a:rPr kumimoji="0" lang="en-US" altLang="en-US" sz="1800" b="1" i="0" u="none" strike="noStrike" cap="none" normalizeH="0" baseline="0" dirty="0" smtClean="0">
                <a:ln>
                  <a:noFill/>
                </a:ln>
                <a:solidFill>
                  <a:schemeClr val="tx1"/>
                </a:solidFill>
                <a:effectLst/>
              </a:rPr>
              <a:t>proportionate</a:t>
            </a:r>
            <a:r>
              <a:rPr kumimoji="0" lang="en-US" altLang="en-US" sz="1800" b="0" i="0" u="none" strike="noStrike" cap="none" normalizeH="0" baseline="0" dirty="0" smtClean="0">
                <a:ln>
                  <a:noFill/>
                </a:ln>
                <a:solidFill>
                  <a:schemeClr val="tx1"/>
                </a:solidFill>
                <a:effectLst/>
              </a:rPr>
              <a:t> to the security purpose, respecting fairness principles.</a:t>
            </a: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19</a:t>
            </a:fld>
            <a:endParaRPr lang="en-IN"/>
          </a:p>
        </p:txBody>
      </p:sp>
    </p:spTree>
    <p:extLst>
      <p:ext uri="{BB962C8B-B14F-4D97-AF65-F5344CB8AC3E}">
        <p14:creationId xmlns:p14="http://schemas.microsoft.com/office/powerpoint/2010/main" val="2744311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sz="1800" b="1" dirty="0"/>
              <a:t>Breyer Case (CJEU Judgement</a:t>
            </a:r>
            <a:r>
              <a:rPr lang="en-US" sz="1800" b="1" dirty="0" smtClean="0"/>
              <a:t>)</a:t>
            </a:r>
            <a:r>
              <a:rPr lang="en-US" sz="1800" dirty="0" smtClean="0"/>
              <a:t>:</a:t>
            </a:r>
          </a:p>
          <a:p>
            <a:r>
              <a:rPr lang="en-US" sz="1800" dirty="0" smtClean="0"/>
              <a:t>The </a:t>
            </a:r>
            <a:r>
              <a:rPr lang="en-US" sz="1800" b="1" dirty="0"/>
              <a:t>Breyer Case</a:t>
            </a:r>
            <a:r>
              <a:rPr lang="en-US" sz="1800" dirty="0"/>
              <a:t> addressed the </a:t>
            </a:r>
            <a:r>
              <a:rPr lang="en-US" sz="1800" b="1" dirty="0"/>
              <a:t>legitimate interest</a:t>
            </a:r>
            <a:r>
              <a:rPr lang="en-US" sz="1800" dirty="0"/>
              <a:t> as lawful grounds for processing IP addresses, ruling that the </a:t>
            </a:r>
            <a:r>
              <a:rPr lang="en-US" sz="1800" b="1" dirty="0"/>
              <a:t>German </a:t>
            </a:r>
            <a:r>
              <a:rPr lang="en-US" sz="1800" b="1" dirty="0" err="1"/>
              <a:t>Telemedia</a:t>
            </a:r>
            <a:r>
              <a:rPr lang="en-US" sz="1800" b="1" dirty="0"/>
              <a:t> Act</a:t>
            </a:r>
            <a:r>
              <a:rPr lang="en-US" sz="1800" dirty="0"/>
              <a:t>'s restrictions were too limiting.</a:t>
            </a:r>
          </a:p>
          <a:p>
            <a:r>
              <a:rPr lang="en-US" sz="1800" b="1" dirty="0"/>
              <a:t>Legitimate Interests</a:t>
            </a:r>
            <a:r>
              <a:rPr lang="en-US" sz="1800" dirty="0"/>
              <a:t>: CJEU confirmed that </a:t>
            </a:r>
            <a:r>
              <a:rPr lang="en-US" sz="1800" b="1" dirty="0"/>
              <a:t>legitimate interests</a:t>
            </a:r>
            <a:r>
              <a:rPr lang="en-US" sz="1800" dirty="0"/>
              <a:t> could be relied upon instead of consent for processing IP addresses, even though the case referenced </a:t>
            </a:r>
            <a:r>
              <a:rPr lang="en-US" sz="1800" b="1" dirty="0"/>
              <a:t>Directive 95/46/EC</a:t>
            </a:r>
            <a:r>
              <a:rPr lang="en-US" sz="1800" dirty="0"/>
              <a:t>, which has been replaced by the </a:t>
            </a:r>
            <a:r>
              <a:rPr lang="en-US" sz="1800" b="1" dirty="0"/>
              <a:t>GDPR</a:t>
            </a:r>
            <a:r>
              <a:rPr lang="en-US" sz="1800" dirty="0"/>
              <a:t>. This interpretation applies to the GDPR as its processing grounds remain unchanged</a:t>
            </a:r>
            <a:r>
              <a:rPr lang="en-US" sz="1800" dirty="0" smtClean="0"/>
              <a:t>.</a:t>
            </a:r>
          </a:p>
          <a:p>
            <a:endParaRPr lang="en-US" sz="1800" dirty="0" smtClean="0"/>
          </a:p>
          <a:p>
            <a:r>
              <a:rPr lang="en-US" sz="1800" b="1" dirty="0"/>
              <a:t>Purpose </a:t>
            </a:r>
            <a:r>
              <a:rPr lang="en-US" sz="1800" b="1" dirty="0" err="1"/>
              <a:t>Limitation</a:t>
            </a:r>
            <a:r>
              <a:rPr lang="en-US" sz="1800" dirty="0" err="1"/>
              <a:t>:Data</a:t>
            </a:r>
            <a:r>
              <a:rPr lang="en-US" sz="1800" dirty="0"/>
              <a:t> collected for one purpose (e.g., user tracking) must be compatible with the </a:t>
            </a:r>
            <a:r>
              <a:rPr lang="en-US" sz="1800" b="1" dirty="0"/>
              <a:t>new purpose</a:t>
            </a:r>
            <a:r>
              <a:rPr lang="en-US" sz="1800" dirty="0"/>
              <a:t> (e.g., network and information security) to be processed legally.</a:t>
            </a:r>
          </a:p>
          <a:p>
            <a:r>
              <a:rPr lang="en-US" sz="1800" dirty="0"/>
              <a:t>This is particularly important for </a:t>
            </a:r>
            <a:r>
              <a:rPr lang="en-US" sz="1800" b="1" dirty="0"/>
              <a:t>special categories of data</a:t>
            </a:r>
            <a:r>
              <a:rPr lang="en-US" sz="1800" dirty="0"/>
              <a:t> (e.g., health, racial origin, biometric data).</a:t>
            </a:r>
          </a:p>
          <a:p>
            <a:endParaRPr lang="en-US" dirty="0"/>
          </a:p>
          <a:p>
            <a:endParaRPr lang="en-IN" dirty="0"/>
          </a:p>
        </p:txBody>
      </p:sp>
      <p:sp>
        <p:nvSpPr>
          <p:cNvPr id="4" name="Footer Placeholder 3"/>
          <p:cNvSpPr>
            <a:spLocks noGrp="1"/>
          </p:cNvSpPr>
          <p:nvPr>
            <p:ph type="ftr" sz="quarter" idx="11"/>
          </p:nvPr>
        </p:nvSpPr>
        <p:spPr/>
        <p:txBody>
          <a:bodyPr/>
          <a:lstStyle/>
          <a:p>
            <a:r>
              <a:rPr lang="en-IN" smtClean="0"/>
              <a:t>Asst. Prof. Rushikesh Chikane, MIT ACSC. Alandi</a:t>
            </a:r>
            <a:endParaRPr lang="en-IN"/>
          </a:p>
        </p:txBody>
      </p:sp>
      <p:sp>
        <p:nvSpPr>
          <p:cNvPr id="5" name="Slide Number Placeholder 4"/>
          <p:cNvSpPr>
            <a:spLocks noGrp="1"/>
          </p:cNvSpPr>
          <p:nvPr>
            <p:ph type="sldNum" sz="quarter" idx="12"/>
          </p:nvPr>
        </p:nvSpPr>
        <p:spPr/>
        <p:txBody>
          <a:bodyPr/>
          <a:lstStyle/>
          <a:p>
            <a:fld id="{9FA395FF-3764-40F1-9FBF-130C3217C3B0}" type="slidenum">
              <a:rPr lang="en-IN" smtClean="0"/>
              <a:t>20</a:t>
            </a:fld>
            <a:endParaRPr lang="en-IN"/>
          </a:p>
        </p:txBody>
      </p:sp>
    </p:spTree>
    <p:extLst>
      <p:ext uri="{BB962C8B-B14F-4D97-AF65-F5344CB8AC3E}">
        <p14:creationId xmlns:p14="http://schemas.microsoft.com/office/powerpoint/2010/main" val="2362748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1069848" y="2023146"/>
            <a:ext cx="100584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Data Transfer</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EU Transfers</a:t>
            </a:r>
            <a:r>
              <a:rPr kumimoji="0" lang="en-US" altLang="en-US" sz="1800" b="0" i="0" u="none" strike="noStrike" cap="none" normalizeH="0" baseline="0" dirty="0" smtClean="0">
                <a:ln>
                  <a:noFill/>
                </a:ln>
                <a:solidFill>
                  <a:schemeClr val="tx1"/>
                </a:solidFill>
                <a:effectLst/>
              </a:rPr>
              <a:t>: If the recipient is within the EU, the GDPR applies, and the data controller or processor must adhere to GDPR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Non-EU Transfers</a:t>
            </a:r>
            <a:r>
              <a:rPr kumimoji="0" lang="en-US" altLang="en-US" sz="1800" b="0" i="0" u="none" strike="noStrike" cap="none" normalizeH="0" baseline="0" dirty="0" smtClean="0">
                <a:ln>
                  <a:noFill/>
                </a:ln>
                <a:solidFill>
                  <a:schemeClr val="tx1"/>
                </a:solidFill>
                <a:effectLst/>
              </a:rPr>
              <a:t>: Different requirements apply for transferring data to third countries or international organizations.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Processor vs. Controller</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Processor</a:t>
            </a:r>
            <a:r>
              <a:rPr kumimoji="0" lang="en-US" altLang="en-US" sz="1800" b="0" i="0" u="none" strike="noStrike" cap="none" normalizeH="0" baseline="0" dirty="0" smtClean="0">
                <a:ln>
                  <a:noFill/>
                </a:ln>
                <a:solidFill>
                  <a:schemeClr val="tx1"/>
                </a:solidFill>
                <a:effectLst/>
              </a:rPr>
              <a:t>: A recipient who processes data only per the controller's instructions (contractual agreement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Controller</a:t>
            </a:r>
            <a:r>
              <a:rPr kumimoji="0" lang="en-US" altLang="en-US" sz="1800" b="0" i="0" u="none" strike="noStrike" cap="none" normalizeH="0" baseline="0" dirty="0" smtClean="0">
                <a:ln>
                  <a:noFill/>
                </a:ln>
                <a:solidFill>
                  <a:schemeClr val="tx1"/>
                </a:solidFill>
                <a:effectLst/>
              </a:rPr>
              <a:t>: A recipient who determines the purpose and means of processing, which may lead to joint control or separate control arrangements.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Joint Controllers</a:t>
            </a:r>
            <a:r>
              <a:rPr kumimoji="0" lang="en-US" altLang="en-US" sz="1800" b="0" i="0" u="none" strike="noStrike" cap="none" normalizeH="0" baseline="0" dirty="0" smtClean="0">
                <a:ln>
                  <a:noFill/>
                </a:ln>
                <a:solidFill>
                  <a:schemeClr val="tx1"/>
                </a:solidFill>
                <a:effectLst/>
              </a:rPr>
              <a:t>: Occur when different parties share decision-making regarding the processing purpose or means. Separate controllers handle data independently without shared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21</a:t>
            </a:fld>
            <a:endParaRPr lang="en-IN"/>
          </a:p>
        </p:txBody>
      </p:sp>
    </p:spTree>
    <p:extLst>
      <p:ext uri="{BB962C8B-B14F-4D97-AF65-F5344CB8AC3E}">
        <p14:creationId xmlns:p14="http://schemas.microsoft.com/office/powerpoint/2010/main" val="744338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Rectangle 1"/>
          <p:cNvSpPr>
            <a:spLocks noGrp="1" noChangeArrowheads="1"/>
          </p:cNvSpPr>
          <p:nvPr>
            <p:ph idx="1"/>
          </p:nvPr>
        </p:nvSpPr>
        <p:spPr bwMode="auto">
          <a:xfrm>
            <a:off x="1069849" y="2992642"/>
            <a:ext cx="10058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Contractual Arrangements</a:t>
            </a:r>
            <a:r>
              <a:rPr kumimoji="0" lang="en-US" altLang="en-US" sz="1800" b="0" i="0" u="none" strike="noStrike" cap="none" normalizeH="0" baseline="0" dirty="0" smtClean="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rPr>
              <a:t>The distinction between </a:t>
            </a:r>
            <a:r>
              <a:rPr kumimoji="0" lang="en-US" altLang="en-US" sz="1800" b="1" i="0" u="none" strike="noStrike" cap="none" normalizeH="0" baseline="0" dirty="0" smtClean="0">
                <a:ln>
                  <a:noFill/>
                </a:ln>
                <a:solidFill>
                  <a:schemeClr val="tx1"/>
                </a:solidFill>
                <a:effectLst/>
              </a:rPr>
              <a:t>processor</a:t>
            </a:r>
            <a:r>
              <a:rPr kumimoji="0" lang="en-US" altLang="en-US" sz="1800" b="0" i="0" u="none" strike="noStrike" cap="none" normalizeH="0" baseline="0" dirty="0" smtClean="0">
                <a:ln>
                  <a:noFill/>
                </a:ln>
                <a:solidFill>
                  <a:schemeClr val="tx1"/>
                </a:solidFill>
                <a:effectLst/>
              </a:rPr>
              <a:t> and </a:t>
            </a:r>
            <a:r>
              <a:rPr kumimoji="0" lang="en-US" altLang="en-US" sz="1800" b="1" i="0" u="none" strike="noStrike" cap="none" normalizeH="0" baseline="0" dirty="0" smtClean="0">
                <a:ln>
                  <a:noFill/>
                </a:ln>
                <a:solidFill>
                  <a:schemeClr val="tx1"/>
                </a:solidFill>
                <a:effectLst/>
              </a:rPr>
              <a:t>controller</a:t>
            </a:r>
            <a:r>
              <a:rPr kumimoji="0" lang="en-US" altLang="en-US" sz="1800" b="0" i="0" u="none" strike="noStrike" cap="none" normalizeH="0" baseline="0" dirty="0" smtClean="0">
                <a:ln>
                  <a:noFill/>
                </a:ln>
                <a:solidFill>
                  <a:schemeClr val="tx1"/>
                </a:solidFill>
                <a:effectLst/>
              </a:rPr>
              <a:t> depends on </a:t>
            </a:r>
            <a:r>
              <a:rPr kumimoji="0" lang="en-US" altLang="en-US" sz="1800" b="1" i="0" u="none" strike="noStrike" cap="none" normalizeH="0" baseline="0" dirty="0" smtClean="0">
                <a:ln>
                  <a:noFill/>
                </a:ln>
                <a:solidFill>
                  <a:schemeClr val="tx1"/>
                </a:solidFill>
                <a:effectLst/>
              </a:rPr>
              <a:t>factual circumstances</a:t>
            </a:r>
            <a:r>
              <a:rPr kumimoji="0" lang="en-US" altLang="en-US" sz="1800" b="0" i="0" u="none" strike="noStrike" cap="none" normalizeH="0" baseline="0" dirty="0" smtClean="0">
                <a:ln>
                  <a:noFill/>
                </a:ln>
                <a:solidFill>
                  <a:schemeClr val="tx1"/>
                </a:solidFill>
                <a:effectLst/>
              </a:rPr>
              <a:t> rather than just contractual terms.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Processors</a:t>
            </a:r>
            <a:r>
              <a:rPr kumimoji="0" lang="en-US" altLang="en-US" sz="1800" b="0" i="0" u="none" strike="noStrike" cap="none" normalizeH="0" baseline="0" dirty="0" smtClean="0">
                <a:ln>
                  <a:noFill/>
                </a:ln>
                <a:solidFill>
                  <a:schemeClr val="tx1"/>
                </a:solidFill>
                <a:effectLst/>
              </a:rPr>
              <a:t>: Use the original legal grounds for processing.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rPr>
              <a:t>Controllers</a:t>
            </a:r>
            <a:r>
              <a:rPr kumimoji="0" lang="en-US" altLang="en-US" sz="1800" b="0" i="0" u="none" strike="noStrike" cap="none" normalizeH="0" baseline="0" dirty="0" smtClean="0">
                <a:ln>
                  <a:noFill/>
                </a:ln>
                <a:solidFill>
                  <a:schemeClr val="tx1"/>
                </a:solidFill>
                <a:effectLst/>
              </a:rPr>
              <a:t>: Must ensure appropriate lawful grounds for processing, as per the GDPR (e.g., legal obligation, public interest).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endParaRPr>
          </a:p>
        </p:txBody>
      </p:sp>
      <p:sp>
        <p:nvSpPr>
          <p:cNvPr id="5" name="Footer Placeholder 4"/>
          <p:cNvSpPr>
            <a:spLocks noGrp="1"/>
          </p:cNvSpPr>
          <p:nvPr>
            <p:ph type="ftr" sz="quarter" idx="11"/>
          </p:nvPr>
        </p:nvSpPr>
        <p:spPr/>
        <p:txBody>
          <a:bodyPr/>
          <a:lstStyle/>
          <a:p>
            <a:r>
              <a:rPr lang="en-IN" smtClean="0"/>
              <a:t>Asst. Prof. Rushikesh Chikane, MIT ACSC. Alandi</a:t>
            </a:r>
            <a:endParaRPr lang="en-IN"/>
          </a:p>
        </p:txBody>
      </p:sp>
      <p:sp>
        <p:nvSpPr>
          <p:cNvPr id="6" name="Slide Number Placeholder 5"/>
          <p:cNvSpPr>
            <a:spLocks noGrp="1"/>
          </p:cNvSpPr>
          <p:nvPr>
            <p:ph type="sldNum" sz="quarter" idx="12"/>
          </p:nvPr>
        </p:nvSpPr>
        <p:spPr/>
        <p:txBody>
          <a:bodyPr/>
          <a:lstStyle/>
          <a:p>
            <a:fld id="{9FA395FF-3764-40F1-9FBF-130C3217C3B0}" type="slidenum">
              <a:rPr lang="en-IN" smtClean="0"/>
              <a:t>22</a:t>
            </a:fld>
            <a:endParaRPr lang="en-IN"/>
          </a:p>
        </p:txBody>
      </p:sp>
    </p:spTree>
    <p:extLst>
      <p:ext uri="{BB962C8B-B14F-4D97-AF65-F5344CB8AC3E}">
        <p14:creationId xmlns:p14="http://schemas.microsoft.com/office/powerpoint/2010/main" val="17392828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145</TotalTime>
  <Words>2424</Words>
  <Application>Microsoft Office PowerPoint</Application>
  <PresentationFormat>Widescreen</PresentationFormat>
  <Paragraphs>212</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Rockwell</vt:lpstr>
      <vt:lpstr>Rockwell Condensed</vt:lpstr>
      <vt:lpstr>Wingdings</vt:lpstr>
      <vt:lpstr>Wood Type</vt:lpstr>
      <vt:lpstr>Legal Implications of Information Sharing</vt:lpstr>
      <vt:lpstr>Introduction </vt:lpstr>
      <vt:lpstr>Mapping the EU Cybersecurity Legal Framework </vt:lpstr>
      <vt:lpstr>Plotting the Moves toward a More Coordinated EU Cybersecurity Strategy</vt:lpstr>
      <vt:lpstr>Scoping the Applicable Framework</vt:lpstr>
      <vt:lpstr>PowerPoint Presentation</vt:lpstr>
      <vt:lpstr>Information Sharing: Breaches, Threats, and Best Practices</vt:lpstr>
      <vt:lpstr>Breach Notification Obligations and Damage Limitations</vt:lpstr>
      <vt:lpstr>PowerPoint Presentation</vt:lpstr>
      <vt:lpstr>Proactive Information Sharing </vt:lpstr>
      <vt:lpstr>PowerPoint Presentation</vt:lpstr>
      <vt:lpstr>PowerPoint Presentation</vt:lpstr>
      <vt:lpstr>Legal Certainty, Information Sharing, and Potential Legal Barriers to Data Transfer</vt:lpstr>
      <vt:lpstr>Recognizing National Security and Private Economic Interests </vt:lpstr>
      <vt:lpstr>PowerPoint Presentation</vt:lpstr>
      <vt:lpstr>PowerPoint Presentation</vt:lpstr>
      <vt:lpstr>PowerPoint Presentation</vt:lpstr>
      <vt:lpstr>Individual Rights, Data Protection and Fair Balancing Protections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Implications of Information Sharing</dc:title>
  <dc:creator>LL_PC</dc:creator>
  <cp:lastModifiedBy>LL_PC</cp:lastModifiedBy>
  <cp:revision>41</cp:revision>
  <dcterms:created xsi:type="dcterms:W3CDTF">2024-11-08T10:19:20Z</dcterms:created>
  <dcterms:modified xsi:type="dcterms:W3CDTF">2024-11-11T11:54:14Z</dcterms:modified>
</cp:coreProperties>
</file>