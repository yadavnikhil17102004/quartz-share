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91"/>
  </p:notesMasterIdLst>
  <p:sldIdLst>
    <p:sldId id="256" r:id="rId2"/>
    <p:sldId id="257" r:id="rId3"/>
    <p:sldId id="270" r:id="rId4"/>
    <p:sldId id="258" r:id="rId5"/>
    <p:sldId id="271" r:id="rId6"/>
    <p:sldId id="272" r:id="rId7"/>
    <p:sldId id="273" r:id="rId8"/>
    <p:sldId id="274" r:id="rId9"/>
    <p:sldId id="275" r:id="rId10"/>
    <p:sldId id="276" r:id="rId11"/>
    <p:sldId id="277"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59"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260" r:id="rId62"/>
    <p:sldId id="261" r:id="rId63"/>
    <p:sldId id="262" r:id="rId64"/>
    <p:sldId id="263" r:id="rId65"/>
    <p:sldId id="264" r:id="rId66"/>
    <p:sldId id="265" r:id="rId67"/>
    <p:sldId id="266" r:id="rId68"/>
    <p:sldId id="267" r:id="rId69"/>
    <p:sldId id="268" r:id="rId70"/>
    <p:sldId id="327" r:id="rId71"/>
    <p:sldId id="328" r:id="rId72"/>
    <p:sldId id="329" r:id="rId73"/>
    <p:sldId id="330" r:id="rId74"/>
    <p:sldId id="331" r:id="rId75"/>
    <p:sldId id="332" r:id="rId76"/>
    <p:sldId id="333" r:id="rId77"/>
    <p:sldId id="334" r:id="rId78"/>
    <p:sldId id="335" r:id="rId79"/>
    <p:sldId id="336" r:id="rId80"/>
    <p:sldId id="337" r:id="rId81"/>
    <p:sldId id="341" r:id="rId82"/>
    <p:sldId id="338" r:id="rId83"/>
    <p:sldId id="346" r:id="rId84"/>
    <p:sldId id="339" r:id="rId85"/>
    <p:sldId id="340" r:id="rId86"/>
    <p:sldId id="342" r:id="rId87"/>
    <p:sldId id="343" r:id="rId88"/>
    <p:sldId id="344" r:id="rId89"/>
    <p:sldId id="345"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1DE0F8-29BF-432A-A8D1-76B0695DE0A0}"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A0951319-7F0D-4123-9E21-5446222730A8}">
      <dgm:prSet/>
      <dgm:spPr/>
      <dgm:t>
        <a:bodyPr/>
        <a:lstStyle/>
        <a:p>
          <a:pPr rtl="0"/>
          <a:r>
            <a:rPr lang="en-US" b="0" i="1"/>
            <a:t>Asset Identification</a:t>
          </a:r>
          <a:endParaRPr lang="en-US"/>
        </a:p>
      </dgm:t>
    </dgm:pt>
    <dgm:pt modelId="{3F48EC16-C6F6-4B43-B9FD-0AB2C93DFA8E}" type="parTrans" cxnId="{17C826F1-200F-4A74-8DA8-13CADB357A11}">
      <dgm:prSet/>
      <dgm:spPr/>
      <dgm:t>
        <a:bodyPr/>
        <a:lstStyle/>
        <a:p>
          <a:endParaRPr lang="en-US"/>
        </a:p>
      </dgm:t>
    </dgm:pt>
    <dgm:pt modelId="{0665DBB4-42E5-42D0-BFC4-94C45701E20A}" type="sibTrans" cxnId="{17C826F1-200F-4A74-8DA8-13CADB357A11}">
      <dgm:prSet/>
      <dgm:spPr/>
      <dgm:t>
        <a:bodyPr/>
        <a:lstStyle/>
        <a:p>
          <a:endParaRPr lang="en-US"/>
        </a:p>
      </dgm:t>
    </dgm:pt>
    <dgm:pt modelId="{9757EA46-E0B8-48B6-BB81-0123C8B1EC7D}">
      <dgm:prSet/>
      <dgm:spPr/>
      <dgm:t>
        <a:bodyPr/>
        <a:lstStyle/>
        <a:p>
          <a:pPr rtl="0"/>
          <a:r>
            <a:rPr lang="en-US" b="0" i="1"/>
            <a:t>Asset Operation</a:t>
          </a:r>
          <a:endParaRPr lang="en-US"/>
        </a:p>
      </dgm:t>
    </dgm:pt>
    <dgm:pt modelId="{CE2815FB-5CB0-40D9-B373-79EE5AE9CAA7}" type="parTrans" cxnId="{11057ED0-4060-4137-93D6-8404A5F4F69B}">
      <dgm:prSet/>
      <dgm:spPr/>
      <dgm:t>
        <a:bodyPr/>
        <a:lstStyle/>
        <a:p>
          <a:endParaRPr lang="en-US"/>
        </a:p>
      </dgm:t>
    </dgm:pt>
    <dgm:pt modelId="{61F72F11-D598-4374-9073-E23ED4BF4508}" type="sibTrans" cxnId="{11057ED0-4060-4137-93D6-8404A5F4F69B}">
      <dgm:prSet/>
      <dgm:spPr/>
      <dgm:t>
        <a:bodyPr/>
        <a:lstStyle/>
        <a:p>
          <a:endParaRPr lang="en-US"/>
        </a:p>
      </dgm:t>
    </dgm:pt>
    <dgm:pt modelId="{900B9499-4008-4BE3-B620-C17E2AFDE9D7}">
      <dgm:prSet/>
      <dgm:spPr/>
      <dgm:t>
        <a:bodyPr/>
        <a:lstStyle/>
        <a:p>
          <a:pPr rtl="0"/>
          <a:r>
            <a:rPr lang="en-US" b="0" i="1"/>
            <a:t>Asset Adaptation</a:t>
          </a:r>
          <a:endParaRPr lang="en-US"/>
        </a:p>
      </dgm:t>
    </dgm:pt>
    <dgm:pt modelId="{DCBA712D-490B-4B09-B7AB-0DE4F0BCD04F}" type="parTrans" cxnId="{BCC3F679-CC37-4364-8F7B-6E6C89A6AF6B}">
      <dgm:prSet/>
      <dgm:spPr/>
      <dgm:t>
        <a:bodyPr/>
        <a:lstStyle/>
        <a:p>
          <a:endParaRPr lang="en-US"/>
        </a:p>
      </dgm:t>
    </dgm:pt>
    <dgm:pt modelId="{223D4A3F-CB52-4B59-809B-1D45BFD7DB3E}" type="sibTrans" cxnId="{BCC3F679-CC37-4364-8F7B-6E6C89A6AF6B}">
      <dgm:prSet/>
      <dgm:spPr/>
      <dgm:t>
        <a:bodyPr/>
        <a:lstStyle/>
        <a:p>
          <a:endParaRPr lang="en-US"/>
        </a:p>
      </dgm:t>
    </dgm:pt>
    <dgm:pt modelId="{5234314C-CD57-4D2F-8864-0E1F36A9D8C3}">
      <dgm:prSet/>
      <dgm:spPr/>
      <dgm:t>
        <a:bodyPr/>
        <a:lstStyle/>
        <a:p>
          <a:pPr rtl="0"/>
          <a:r>
            <a:rPr lang="en-US" b="0" i="1"/>
            <a:t>Asset Disposal</a:t>
          </a:r>
          <a:endParaRPr lang="en-US"/>
        </a:p>
      </dgm:t>
    </dgm:pt>
    <dgm:pt modelId="{3F25428D-F6D8-48D0-B278-14536DD8FFB8}" type="parTrans" cxnId="{E942F4A2-E05C-491B-85C1-8C5BDB78D073}">
      <dgm:prSet/>
      <dgm:spPr/>
      <dgm:t>
        <a:bodyPr/>
        <a:lstStyle/>
        <a:p>
          <a:endParaRPr lang="en-US"/>
        </a:p>
      </dgm:t>
    </dgm:pt>
    <dgm:pt modelId="{F1EB951C-C753-4814-B249-561B445195AB}" type="sibTrans" cxnId="{E942F4A2-E05C-491B-85C1-8C5BDB78D073}">
      <dgm:prSet/>
      <dgm:spPr/>
      <dgm:t>
        <a:bodyPr/>
        <a:lstStyle/>
        <a:p>
          <a:endParaRPr lang="en-US"/>
        </a:p>
      </dgm:t>
    </dgm:pt>
    <dgm:pt modelId="{FB1AF603-4AC0-40A4-9613-15C823505D17}" type="pres">
      <dgm:prSet presAssocID="{BF1DE0F8-29BF-432A-A8D1-76B0695DE0A0}" presName="CompostProcess" presStyleCnt="0">
        <dgm:presLayoutVars>
          <dgm:dir/>
          <dgm:resizeHandles val="exact"/>
        </dgm:presLayoutVars>
      </dgm:prSet>
      <dgm:spPr/>
    </dgm:pt>
    <dgm:pt modelId="{EED56AA5-9923-4E1F-AA81-EB6887AFFEEC}" type="pres">
      <dgm:prSet presAssocID="{BF1DE0F8-29BF-432A-A8D1-76B0695DE0A0}" presName="arrow" presStyleLbl="bgShp" presStyleIdx="0" presStyleCnt="1"/>
      <dgm:spPr/>
    </dgm:pt>
    <dgm:pt modelId="{D3264B26-FF6F-4F09-8780-CEEB4F359CB7}" type="pres">
      <dgm:prSet presAssocID="{BF1DE0F8-29BF-432A-A8D1-76B0695DE0A0}" presName="linearProcess" presStyleCnt="0"/>
      <dgm:spPr/>
    </dgm:pt>
    <dgm:pt modelId="{28FE5C22-DCB1-484B-B8ED-1289DA7D5661}" type="pres">
      <dgm:prSet presAssocID="{A0951319-7F0D-4123-9E21-5446222730A8}" presName="textNode" presStyleLbl="node1" presStyleIdx="0" presStyleCnt="4">
        <dgm:presLayoutVars>
          <dgm:bulletEnabled val="1"/>
        </dgm:presLayoutVars>
      </dgm:prSet>
      <dgm:spPr/>
    </dgm:pt>
    <dgm:pt modelId="{8380D648-3AE2-4D34-9EEB-E46C79F0F34E}" type="pres">
      <dgm:prSet presAssocID="{0665DBB4-42E5-42D0-BFC4-94C45701E20A}" presName="sibTrans" presStyleCnt="0"/>
      <dgm:spPr/>
    </dgm:pt>
    <dgm:pt modelId="{0F505853-0C70-4EAD-BD89-EDE955A29576}" type="pres">
      <dgm:prSet presAssocID="{9757EA46-E0B8-48B6-BB81-0123C8B1EC7D}" presName="textNode" presStyleLbl="node1" presStyleIdx="1" presStyleCnt="4">
        <dgm:presLayoutVars>
          <dgm:bulletEnabled val="1"/>
        </dgm:presLayoutVars>
      </dgm:prSet>
      <dgm:spPr/>
    </dgm:pt>
    <dgm:pt modelId="{D9DED7AE-DB9A-4283-8611-13E620C9CCE3}" type="pres">
      <dgm:prSet presAssocID="{61F72F11-D598-4374-9073-E23ED4BF4508}" presName="sibTrans" presStyleCnt="0"/>
      <dgm:spPr/>
    </dgm:pt>
    <dgm:pt modelId="{AEC81844-2D05-4B8F-8A4D-97EA2B4BB690}" type="pres">
      <dgm:prSet presAssocID="{900B9499-4008-4BE3-B620-C17E2AFDE9D7}" presName="textNode" presStyleLbl="node1" presStyleIdx="2" presStyleCnt="4">
        <dgm:presLayoutVars>
          <dgm:bulletEnabled val="1"/>
        </dgm:presLayoutVars>
      </dgm:prSet>
      <dgm:spPr/>
    </dgm:pt>
    <dgm:pt modelId="{BBAB0E5D-D5D0-41F7-9360-E47B57DF7E91}" type="pres">
      <dgm:prSet presAssocID="{223D4A3F-CB52-4B59-809B-1D45BFD7DB3E}" presName="sibTrans" presStyleCnt="0"/>
      <dgm:spPr/>
    </dgm:pt>
    <dgm:pt modelId="{640F3638-F391-4CAF-B024-89796AB214C7}" type="pres">
      <dgm:prSet presAssocID="{5234314C-CD57-4D2F-8864-0E1F36A9D8C3}" presName="textNode" presStyleLbl="node1" presStyleIdx="3" presStyleCnt="4">
        <dgm:presLayoutVars>
          <dgm:bulletEnabled val="1"/>
        </dgm:presLayoutVars>
      </dgm:prSet>
      <dgm:spPr/>
    </dgm:pt>
  </dgm:ptLst>
  <dgm:cxnLst>
    <dgm:cxn modelId="{43104608-E2A1-4583-95CD-84683530E261}" type="presOf" srcId="{BF1DE0F8-29BF-432A-A8D1-76B0695DE0A0}" destId="{FB1AF603-4AC0-40A4-9613-15C823505D17}" srcOrd="0" destOrd="0" presId="urn:microsoft.com/office/officeart/2005/8/layout/hProcess9"/>
    <dgm:cxn modelId="{CB0C820D-FD82-4029-8815-130EEC17FD94}" type="presOf" srcId="{A0951319-7F0D-4123-9E21-5446222730A8}" destId="{28FE5C22-DCB1-484B-B8ED-1289DA7D5661}" srcOrd="0" destOrd="0" presId="urn:microsoft.com/office/officeart/2005/8/layout/hProcess9"/>
    <dgm:cxn modelId="{5213813A-B8E0-4246-B230-922825462521}" type="presOf" srcId="{5234314C-CD57-4D2F-8864-0E1F36A9D8C3}" destId="{640F3638-F391-4CAF-B024-89796AB214C7}" srcOrd="0" destOrd="0" presId="urn:microsoft.com/office/officeart/2005/8/layout/hProcess9"/>
    <dgm:cxn modelId="{BCC3F679-CC37-4364-8F7B-6E6C89A6AF6B}" srcId="{BF1DE0F8-29BF-432A-A8D1-76B0695DE0A0}" destId="{900B9499-4008-4BE3-B620-C17E2AFDE9D7}" srcOrd="2" destOrd="0" parTransId="{DCBA712D-490B-4B09-B7AB-0DE4F0BCD04F}" sibTransId="{223D4A3F-CB52-4B59-809B-1D45BFD7DB3E}"/>
    <dgm:cxn modelId="{4C85289D-A32B-4A18-BDFC-6982DC5DB52E}" type="presOf" srcId="{900B9499-4008-4BE3-B620-C17E2AFDE9D7}" destId="{AEC81844-2D05-4B8F-8A4D-97EA2B4BB690}" srcOrd="0" destOrd="0" presId="urn:microsoft.com/office/officeart/2005/8/layout/hProcess9"/>
    <dgm:cxn modelId="{2E7573A0-012C-4CBC-83AE-D4550C9C55AB}" type="presOf" srcId="{9757EA46-E0B8-48B6-BB81-0123C8B1EC7D}" destId="{0F505853-0C70-4EAD-BD89-EDE955A29576}" srcOrd="0" destOrd="0" presId="urn:microsoft.com/office/officeart/2005/8/layout/hProcess9"/>
    <dgm:cxn modelId="{E942F4A2-E05C-491B-85C1-8C5BDB78D073}" srcId="{BF1DE0F8-29BF-432A-A8D1-76B0695DE0A0}" destId="{5234314C-CD57-4D2F-8864-0E1F36A9D8C3}" srcOrd="3" destOrd="0" parTransId="{3F25428D-F6D8-48D0-B278-14536DD8FFB8}" sibTransId="{F1EB951C-C753-4814-B249-561B445195AB}"/>
    <dgm:cxn modelId="{11057ED0-4060-4137-93D6-8404A5F4F69B}" srcId="{BF1DE0F8-29BF-432A-A8D1-76B0695DE0A0}" destId="{9757EA46-E0B8-48B6-BB81-0123C8B1EC7D}" srcOrd="1" destOrd="0" parTransId="{CE2815FB-5CB0-40D9-B373-79EE5AE9CAA7}" sibTransId="{61F72F11-D598-4374-9073-E23ED4BF4508}"/>
    <dgm:cxn modelId="{17C826F1-200F-4A74-8DA8-13CADB357A11}" srcId="{BF1DE0F8-29BF-432A-A8D1-76B0695DE0A0}" destId="{A0951319-7F0D-4123-9E21-5446222730A8}" srcOrd="0" destOrd="0" parTransId="{3F48EC16-C6F6-4B43-B9FD-0AB2C93DFA8E}" sibTransId="{0665DBB4-42E5-42D0-BFC4-94C45701E20A}"/>
    <dgm:cxn modelId="{5DEA2FB2-7D0A-40E4-9587-712B07D61AE5}" type="presParOf" srcId="{FB1AF603-4AC0-40A4-9613-15C823505D17}" destId="{EED56AA5-9923-4E1F-AA81-EB6887AFFEEC}" srcOrd="0" destOrd="0" presId="urn:microsoft.com/office/officeart/2005/8/layout/hProcess9"/>
    <dgm:cxn modelId="{3A9C6D30-BED4-4EAD-AE8E-BBE9F05F2923}" type="presParOf" srcId="{FB1AF603-4AC0-40A4-9613-15C823505D17}" destId="{D3264B26-FF6F-4F09-8780-CEEB4F359CB7}" srcOrd="1" destOrd="0" presId="urn:microsoft.com/office/officeart/2005/8/layout/hProcess9"/>
    <dgm:cxn modelId="{5ED8DDE5-AAC9-4020-8F93-D0C04A6A53E7}" type="presParOf" srcId="{D3264B26-FF6F-4F09-8780-CEEB4F359CB7}" destId="{28FE5C22-DCB1-484B-B8ED-1289DA7D5661}" srcOrd="0" destOrd="0" presId="urn:microsoft.com/office/officeart/2005/8/layout/hProcess9"/>
    <dgm:cxn modelId="{E3229666-69F1-430F-973F-13EA2488419C}" type="presParOf" srcId="{D3264B26-FF6F-4F09-8780-CEEB4F359CB7}" destId="{8380D648-3AE2-4D34-9EEB-E46C79F0F34E}" srcOrd="1" destOrd="0" presId="urn:microsoft.com/office/officeart/2005/8/layout/hProcess9"/>
    <dgm:cxn modelId="{7A255CEF-B5A8-4786-AB57-C9ECEF1EE782}" type="presParOf" srcId="{D3264B26-FF6F-4F09-8780-CEEB4F359CB7}" destId="{0F505853-0C70-4EAD-BD89-EDE955A29576}" srcOrd="2" destOrd="0" presId="urn:microsoft.com/office/officeart/2005/8/layout/hProcess9"/>
    <dgm:cxn modelId="{B46F77BA-62A9-4A8B-984F-D3C8000543DF}" type="presParOf" srcId="{D3264B26-FF6F-4F09-8780-CEEB4F359CB7}" destId="{D9DED7AE-DB9A-4283-8611-13E620C9CCE3}" srcOrd="3" destOrd="0" presId="urn:microsoft.com/office/officeart/2005/8/layout/hProcess9"/>
    <dgm:cxn modelId="{369DEDE3-1D10-4F07-88E6-08F4FE0FB918}" type="presParOf" srcId="{D3264B26-FF6F-4F09-8780-CEEB4F359CB7}" destId="{AEC81844-2D05-4B8F-8A4D-97EA2B4BB690}" srcOrd="4" destOrd="0" presId="urn:microsoft.com/office/officeart/2005/8/layout/hProcess9"/>
    <dgm:cxn modelId="{0BB60875-9300-469F-992A-367F11996FD6}" type="presParOf" srcId="{D3264B26-FF6F-4F09-8780-CEEB4F359CB7}" destId="{BBAB0E5D-D5D0-41F7-9360-E47B57DF7E91}" srcOrd="5" destOrd="0" presId="urn:microsoft.com/office/officeart/2005/8/layout/hProcess9"/>
    <dgm:cxn modelId="{D98B0146-282C-480B-AC81-E09766E0EBD5}" type="presParOf" srcId="{D3264B26-FF6F-4F09-8780-CEEB4F359CB7}" destId="{640F3638-F391-4CAF-B024-89796AB214C7}"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7E8AB7-65A0-4C4B-B16C-53E233EEDD6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4CCB36B-A778-463C-9B33-F82900F40536}">
      <dgm:prSet phldrT="[Text]"/>
      <dgm:spPr/>
      <dgm:t>
        <a:bodyPr/>
        <a:lstStyle/>
        <a:p>
          <a:r>
            <a:rPr lang="en-US" b="1" dirty="0"/>
            <a:t>Point anomaly</a:t>
          </a:r>
        </a:p>
      </dgm:t>
    </dgm:pt>
    <dgm:pt modelId="{77EF23D4-7243-4FCE-8D92-4C060B91EEEC}" type="parTrans" cxnId="{AAD20A2C-3018-40E3-8B33-0A8253E78DEE}">
      <dgm:prSet/>
      <dgm:spPr/>
      <dgm:t>
        <a:bodyPr/>
        <a:lstStyle/>
        <a:p>
          <a:endParaRPr lang="en-US"/>
        </a:p>
      </dgm:t>
    </dgm:pt>
    <dgm:pt modelId="{093F4062-DE41-4EB3-BDD9-5FFCC7A19829}" type="sibTrans" cxnId="{AAD20A2C-3018-40E3-8B33-0A8253E78DEE}">
      <dgm:prSet/>
      <dgm:spPr/>
      <dgm:t>
        <a:bodyPr/>
        <a:lstStyle/>
        <a:p>
          <a:endParaRPr lang="en-US"/>
        </a:p>
      </dgm:t>
    </dgm:pt>
    <dgm:pt modelId="{20853095-FAC9-4791-B79F-24998EA43CC2}">
      <dgm:prSet phldrT="[Text]"/>
      <dgm:spPr/>
      <dgm:t>
        <a:bodyPr/>
        <a:lstStyle/>
        <a:p>
          <a:r>
            <a:rPr lang="en-US" dirty="0"/>
            <a:t>simplest form and is often also </a:t>
          </a:r>
          <a:r>
            <a:rPr lang="en-US" dirty="0">
              <a:solidFill>
                <a:srgbClr val="FF0000"/>
              </a:solidFill>
            </a:rPr>
            <a:t>referred to as outlier,</a:t>
          </a:r>
        </a:p>
      </dgm:t>
    </dgm:pt>
    <dgm:pt modelId="{46596FB5-1549-463A-8252-02C709B70C75}" type="parTrans" cxnId="{96EF7B53-4EFC-4A27-BA51-1DDF694819D0}">
      <dgm:prSet/>
      <dgm:spPr/>
      <dgm:t>
        <a:bodyPr/>
        <a:lstStyle/>
        <a:p>
          <a:endParaRPr lang="en-US"/>
        </a:p>
      </dgm:t>
    </dgm:pt>
    <dgm:pt modelId="{36B8A25C-DF33-4EEB-9659-7E986EC2616A}" type="sibTrans" cxnId="{96EF7B53-4EFC-4A27-BA51-1DDF694819D0}">
      <dgm:prSet/>
      <dgm:spPr/>
      <dgm:t>
        <a:bodyPr/>
        <a:lstStyle/>
        <a:p>
          <a:endParaRPr lang="en-US"/>
        </a:p>
      </dgm:t>
    </dgm:pt>
    <dgm:pt modelId="{62719A97-1E55-4427-90B4-06423F0AB225}">
      <dgm:prSet phldrT="[Text]"/>
      <dgm:spPr/>
      <dgm:t>
        <a:bodyPr/>
        <a:lstStyle/>
        <a:p>
          <a:r>
            <a:rPr lang="en-US" b="1" dirty="0"/>
            <a:t>Contextual anomaly</a:t>
          </a:r>
        </a:p>
      </dgm:t>
    </dgm:pt>
    <dgm:pt modelId="{565B40A4-43B5-47DE-8307-E74ABF41294D}" type="parTrans" cxnId="{3098440F-EA8D-443C-B81A-D71027479FC0}">
      <dgm:prSet/>
      <dgm:spPr/>
      <dgm:t>
        <a:bodyPr/>
        <a:lstStyle/>
        <a:p>
          <a:endParaRPr lang="en-US"/>
        </a:p>
      </dgm:t>
    </dgm:pt>
    <dgm:pt modelId="{A5406E29-2656-4DEF-A4AF-F6CFBBE6DB50}" type="sibTrans" cxnId="{3098440F-EA8D-443C-B81A-D71027479FC0}">
      <dgm:prSet/>
      <dgm:spPr/>
      <dgm:t>
        <a:bodyPr/>
        <a:lstStyle/>
        <a:p>
          <a:endParaRPr lang="en-US"/>
        </a:p>
      </dgm:t>
    </dgm:pt>
    <dgm:pt modelId="{CEC0DA2E-E0A4-4A31-BB41-0259D864F4BF}">
      <dgm:prSet phldrT="[Text]"/>
      <dgm:spPr/>
      <dgm:t>
        <a:bodyPr/>
        <a:lstStyle/>
        <a:p>
          <a:r>
            <a:rPr lang="en-US" dirty="0"/>
            <a:t>an event that is </a:t>
          </a:r>
          <a:r>
            <a:rPr lang="en-US" dirty="0">
              <a:solidFill>
                <a:srgbClr val="FF0000"/>
              </a:solidFill>
            </a:rPr>
            <a:t>anomalous in a specific context but might be normal in another one. </a:t>
          </a:r>
        </a:p>
      </dgm:t>
    </dgm:pt>
    <dgm:pt modelId="{C85A74B2-7501-4F49-AA93-001B845CB2DA}" type="parTrans" cxnId="{7D118052-895E-4D6D-B420-F733C542E9B1}">
      <dgm:prSet/>
      <dgm:spPr/>
      <dgm:t>
        <a:bodyPr/>
        <a:lstStyle/>
        <a:p>
          <a:endParaRPr lang="en-US"/>
        </a:p>
      </dgm:t>
    </dgm:pt>
    <dgm:pt modelId="{6D89AA43-C270-463C-89BA-E472C0EA7E51}" type="sibTrans" cxnId="{7D118052-895E-4D6D-B420-F733C542E9B1}">
      <dgm:prSet/>
      <dgm:spPr/>
      <dgm:t>
        <a:bodyPr/>
        <a:lstStyle/>
        <a:p>
          <a:endParaRPr lang="en-US"/>
        </a:p>
      </dgm:t>
    </dgm:pt>
    <dgm:pt modelId="{A112F67A-52FD-4A98-AA33-4A881DEBB2FD}">
      <dgm:prSet/>
      <dgm:spPr/>
      <dgm:t>
        <a:bodyPr/>
        <a:lstStyle/>
        <a:p>
          <a:r>
            <a:rPr lang="en-US" dirty="0"/>
            <a:t>i.e., an anomalous single event. </a:t>
          </a:r>
        </a:p>
      </dgm:t>
    </dgm:pt>
    <dgm:pt modelId="{C066DA38-E80A-494D-A232-4AF2FCACC78B}" type="parTrans" cxnId="{5F966D61-B769-4016-BE6B-DB94A8624AF5}">
      <dgm:prSet/>
      <dgm:spPr/>
      <dgm:t>
        <a:bodyPr/>
        <a:lstStyle/>
        <a:p>
          <a:endParaRPr lang="en-US"/>
        </a:p>
      </dgm:t>
    </dgm:pt>
    <dgm:pt modelId="{9284616B-5A06-4C2B-B845-B5520DCBED67}" type="sibTrans" cxnId="{5F966D61-B769-4016-BE6B-DB94A8624AF5}">
      <dgm:prSet/>
      <dgm:spPr/>
      <dgm:t>
        <a:bodyPr/>
        <a:lstStyle/>
        <a:p>
          <a:endParaRPr lang="en-US"/>
        </a:p>
      </dgm:t>
    </dgm:pt>
    <dgm:pt modelId="{42ED086B-468C-4700-97BA-C0D26E159C93}">
      <dgm:prSet/>
      <dgm:spPr/>
      <dgm:t>
        <a:bodyPr/>
        <a:lstStyle/>
        <a:p>
          <a:r>
            <a:rPr lang="en-US" dirty="0"/>
            <a:t>In a two-dimensional space, a point </a:t>
          </a:r>
          <a:r>
            <a:rPr lang="en-US" dirty="0" err="1"/>
            <a:t>anomal</a:t>
          </a:r>
          <a:r>
            <a:rPr lang="en-US" dirty="0"/>
            <a:t> is </a:t>
          </a:r>
          <a:r>
            <a:rPr lang="en-US" dirty="0">
              <a:solidFill>
                <a:srgbClr val="FF0000"/>
              </a:solidFill>
            </a:rPr>
            <a:t>an element at a large distance from all the other elements.</a:t>
          </a:r>
        </a:p>
      </dgm:t>
    </dgm:pt>
    <dgm:pt modelId="{098CFF1A-4EF6-4FE7-85D4-DE6EFB5A1B13}" type="parTrans" cxnId="{9768FD78-9EE2-40E6-BBBE-EF3FBA889655}">
      <dgm:prSet/>
      <dgm:spPr/>
      <dgm:t>
        <a:bodyPr/>
        <a:lstStyle/>
        <a:p>
          <a:endParaRPr lang="en-US"/>
        </a:p>
      </dgm:t>
    </dgm:pt>
    <dgm:pt modelId="{B4A2B3E7-A76E-4922-ACEC-5987035B533A}" type="sibTrans" cxnId="{9768FD78-9EE2-40E6-BBBE-EF3FBA889655}">
      <dgm:prSet/>
      <dgm:spPr/>
      <dgm:t>
        <a:bodyPr/>
        <a:lstStyle/>
        <a:p>
          <a:endParaRPr lang="en-US"/>
        </a:p>
      </dgm:t>
    </dgm:pt>
    <dgm:pt modelId="{B95927A5-464E-464B-950A-FD3C27664A2E}">
      <dgm:prSet/>
      <dgm:spPr/>
      <dgm:t>
        <a:bodyPr/>
        <a:lstStyle/>
        <a:p>
          <a:r>
            <a:rPr lang="en-US" dirty="0"/>
            <a:t> In an ICT network this could be an </a:t>
          </a:r>
          <a:r>
            <a:rPr lang="en-US" dirty="0">
              <a:solidFill>
                <a:srgbClr val="FF0000"/>
              </a:solidFill>
            </a:rPr>
            <a:t>unexpected login-name or IP address.</a:t>
          </a:r>
        </a:p>
      </dgm:t>
    </dgm:pt>
    <dgm:pt modelId="{994826A7-D58E-4378-A611-CE45F3FF7B59}" type="parTrans" cxnId="{BAFF1782-3F59-4D9B-91BA-FB79856EF10E}">
      <dgm:prSet/>
      <dgm:spPr/>
      <dgm:t>
        <a:bodyPr/>
        <a:lstStyle/>
        <a:p>
          <a:endParaRPr lang="en-US"/>
        </a:p>
      </dgm:t>
    </dgm:pt>
    <dgm:pt modelId="{BF8EC43A-4A6E-479C-A083-9B462C57485E}" type="sibTrans" cxnId="{BAFF1782-3F59-4D9B-91BA-FB79856EF10E}">
      <dgm:prSet/>
      <dgm:spPr/>
      <dgm:t>
        <a:bodyPr/>
        <a:lstStyle/>
        <a:p>
          <a:endParaRPr lang="en-US"/>
        </a:p>
      </dgm:t>
    </dgm:pt>
    <dgm:pt modelId="{0C174F27-E0A5-43DE-957E-230FC7BA9DCA}">
      <dgm:prSet phldrT="[Text]"/>
      <dgm:spPr/>
      <dgm:t>
        <a:bodyPr/>
        <a:lstStyle/>
        <a:p>
          <a:r>
            <a:rPr lang="en-US" dirty="0"/>
            <a:t>In an ICT network, this can be an anomalous event parameter, </a:t>
          </a:r>
          <a:r>
            <a:rPr lang="en-US" dirty="0">
              <a:solidFill>
                <a:srgbClr val="FF0000"/>
              </a:solidFill>
            </a:rPr>
            <a:t>such as an unexpected timestamp. </a:t>
          </a:r>
        </a:p>
      </dgm:t>
    </dgm:pt>
    <dgm:pt modelId="{5B9B983A-BC53-47F9-B3E3-01C419BA40BB}" type="parTrans" cxnId="{D56C2553-B1E8-46AB-8975-40B31F1AEFD7}">
      <dgm:prSet/>
      <dgm:spPr/>
      <dgm:t>
        <a:bodyPr/>
        <a:lstStyle/>
        <a:p>
          <a:endParaRPr lang="en-US"/>
        </a:p>
      </dgm:t>
    </dgm:pt>
    <dgm:pt modelId="{00BCD296-C7DC-4863-906C-9BD794BF7FA2}" type="sibTrans" cxnId="{D56C2553-B1E8-46AB-8975-40B31F1AEFD7}">
      <dgm:prSet/>
      <dgm:spPr/>
      <dgm:t>
        <a:bodyPr/>
        <a:lstStyle/>
        <a:p>
          <a:endParaRPr lang="en-US"/>
        </a:p>
      </dgm:t>
    </dgm:pt>
    <dgm:pt modelId="{CF2EA53F-C1E7-4835-B350-DA8ACECB8679}">
      <dgm:prSet phldrT="[Text]"/>
      <dgm:spPr/>
      <dgm:t>
        <a:bodyPr/>
        <a:lstStyle/>
        <a:p>
          <a:r>
            <a:rPr lang="en-US" dirty="0"/>
            <a:t>A contextual anomaly could, e.g., be a system </a:t>
          </a:r>
          <a:r>
            <a:rPr lang="en-US" dirty="0">
              <a:solidFill>
                <a:srgbClr val="FF0000"/>
              </a:solidFill>
            </a:rPr>
            <a:t>login of an employee outside the normal working hours, while this login would be normal during normal working time.</a:t>
          </a:r>
        </a:p>
      </dgm:t>
    </dgm:pt>
    <dgm:pt modelId="{E4437417-42A8-4063-BA19-BFCC45CADBBC}" type="parTrans" cxnId="{1184F159-8B0B-467D-B042-A8748426DE0C}">
      <dgm:prSet/>
      <dgm:spPr/>
      <dgm:t>
        <a:bodyPr/>
        <a:lstStyle/>
        <a:p>
          <a:endParaRPr lang="en-US"/>
        </a:p>
      </dgm:t>
    </dgm:pt>
    <dgm:pt modelId="{37769339-CCF1-446B-B6F4-F7D8EB96F905}" type="sibTrans" cxnId="{1184F159-8B0B-467D-B042-A8748426DE0C}">
      <dgm:prSet/>
      <dgm:spPr/>
      <dgm:t>
        <a:bodyPr/>
        <a:lstStyle/>
        <a:p>
          <a:endParaRPr lang="en-US"/>
        </a:p>
      </dgm:t>
    </dgm:pt>
    <dgm:pt modelId="{CEE37BDB-F94C-44C1-841B-FD672A97F0AD}" type="pres">
      <dgm:prSet presAssocID="{7F7E8AB7-65A0-4C4B-B16C-53E233EEDD63}" presName="Name0" presStyleCnt="0">
        <dgm:presLayoutVars>
          <dgm:dir/>
          <dgm:animLvl val="lvl"/>
          <dgm:resizeHandles val="exact"/>
        </dgm:presLayoutVars>
      </dgm:prSet>
      <dgm:spPr/>
    </dgm:pt>
    <dgm:pt modelId="{E3B582FC-59E7-4109-8F90-BE33AD5EE611}" type="pres">
      <dgm:prSet presAssocID="{94CCB36B-A778-463C-9B33-F82900F40536}" presName="composite" presStyleCnt="0"/>
      <dgm:spPr/>
    </dgm:pt>
    <dgm:pt modelId="{EBF7030C-4BFB-4B27-814B-7426A2ED97F2}" type="pres">
      <dgm:prSet presAssocID="{94CCB36B-A778-463C-9B33-F82900F40536}" presName="parTx" presStyleLbl="alignNode1" presStyleIdx="0" presStyleCnt="2">
        <dgm:presLayoutVars>
          <dgm:chMax val="0"/>
          <dgm:chPref val="0"/>
          <dgm:bulletEnabled val="1"/>
        </dgm:presLayoutVars>
      </dgm:prSet>
      <dgm:spPr/>
    </dgm:pt>
    <dgm:pt modelId="{A17A2F78-1E56-4D65-865D-B5E45DEAC8EB}" type="pres">
      <dgm:prSet presAssocID="{94CCB36B-A778-463C-9B33-F82900F40536}" presName="desTx" presStyleLbl="alignAccFollowNode1" presStyleIdx="0" presStyleCnt="2">
        <dgm:presLayoutVars>
          <dgm:bulletEnabled val="1"/>
        </dgm:presLayoutVars>
      </dgm:prSet>
      <dgm:spPr/>
    </dgm:pt>
    <dgm:pt modelId="{B88A5461-94AB-4108-8184-BCB1C78421EC}" type="pres">
      <dgm:prSet presAssocID="{093F4062-DE41-4EB3-BDD9-5FFCC7A19829}" presName="space" presStyleCnt="0"/>
      <dgm:spPr/>
    </dgm:pt>
    <dgm:pt modelId="{8E9776D5-21FA-49A7-A488-1AEF148F8321}" type="pres">
      <dgm:prSet presAssocID="{62719A97-1E55-4427-90B4-06423F0AB225}" presName="composite" presStyleCnt="0"/>
      <dgm:spPr/>
    </dgm:pt>
    <dgm:pt modelId="{849D0715-6E53-43A7-A48D-2EC922CA69FC}" type="pres">
      <dgm:prSet presAssocID="{62719A97-1E55-4427-90B4-06423F0AB225}" presName="parTx" presStyleLbl="alignNode1" presStyleIdx="1" presStyleCnt="2">
        <dgm:presLayoutVars>
          <dgm:chMax val="0"/>
          <dgm:chPref val="0"/>
          <dgm:bulletEnabled val="1"/>
        </dgm:presLayoutVars>
      </dgm:prSet>
      <dgm:spPr/>
    </dgm:pt>
    <dgm:pt modelId="{BD99235B-C1A7-423C-9739-DBF84E2143DD}" type="pres">
      <dgm:prSet presAssocID="{62719A97-1E55-4427-90B4-06423F0AB225}" presName="desTx" presStyleLbl="alignAccFollowNode1" presStyleIdx="1" presStyleCnt="2">
        <dgm:presLayoutVars>
          <dgm:bulletEnabled val="1"/>
        </dgm:presLayoutVars>
      </dgm:prSet>
      <dgm:spPr/>
    </dgm:pt>
  </dgm:ptLst>
  <dgm:cxnLst>
    <dgm:cxn modelId="{3098440F-EA8D-443C-B81A-D71027479FC0}" srcId="{7F7E8AB7-65A0-4C4B-B16C-53E233EEDD63}" destId="{62719A97-1E55-4427-90B4-06423F0AB225}" srcOrd="1" destOrd="0" parTransId="{565B40A4-43B5-47DE-8307-E74ABF41294D}" sibTransId="{A5406E29-2656-4DEF-A4AF-F6CFBBE6DB50}"/>
    <dgm:cxn modelId="{AAD20A2C-3018-40E3-8B33-0A8253E78DEE}" srcId="{7F7E8AB7-65A0-4C4B-B16C-53E233EEDD63}" destId="{94CCB36B-A778-463C-9B33-F82900F40536}" srcOrd="0" destOrd="0" parTransId="{77EF23D4-7243-4FCE-8D92-4C060B91EEEC}" sibTransId="{093F4062-DE41-4EB3-BDD9-5FFCC7A19829}"/>
    <dgm:cxn modelId="{A4AB7539-0685-4824-B3CD-932FA93C1A86}" type="presOf" srcId="{7F7E8AB7-65A0-4C4B-B16C-53E233EEDD63}" destId="{CEE37BDB-F94C-44C1-841B-FD672A97F0AD}" srcOrd="0" destOrd="0" presId="urn:microsoft.com/office/officeart/2005/8/layout/hList1"/>
    <dgm:cxn modelId="{5F966D61-B769-4016-BE6B-DB94A8624AF5}" srcId="{94CCB36B-A778-463C-9B33-F82900F40536}" destId="{A112F67A-52FD-4A98-AA33-4A881DEBB2FD}" srcOrd="1" destOrd="0" parTransId="{C066DA38-E80A-494D-A232-4AF2FCACC78B}" sibTransId="{9284616B-5A06-4C2B-B845-B5520DCBED67}"/>
    <dgm:cxn modelId="{9AA0A445-95C6-44A9-B4E0-A61B4E7E83EF}" type="presOf" srcId="{B95927A5-464E-464B-950A-FD3C27664A2E}" destId="{A17A2F78-1E56-4D65-865D-B5E45DEAC8EB}" srcOrd="0" destOrd="3" presId="urn:microsoft.com/office/officeart/2005/8/layout/hList1"/>
    <dgm:cxn modelId="{E4EB2F52-4F93-4C2B-962A-969E42B33718}" type="presOf" srcId="{0C174F27-E0A5-43DE-957E-230FC7BA9DCA}" destId="{BD99235B-C1A7-423C-9739-DBF84E2143DD}" srcOrd="0" destOrd="1" presId="urn:microsoft.com/office/officeart/2005/8/layout/hList1"/>
    <dgm:cxn modelId="{7D118052-895E-4D6D-B420-F733C542E9B1}" srcId="{62719A97-1E55-4427-90B4-06423F0AB225}" destId="{CEC0DA2E-E0A4-4A31-BB41-0259D864F4BF}" srcOrd="0" destOrd="0" parTransId="{C85A74B2-7501-4F49-AA93-001B845CB2DA}" sibTransId="{6D89AA43-C270-463C-89BA-E472C0EA7E51}"/>
    <dgm:cxn modelId="{D56C2553-B1E8-46AB-8975-40B31F1AEFD7}" srcId="{62719A97-1E55-4427-90B4-06423F0AB225}" destId="{0C174F27-E0A5-43DE-957E-230FC7BA9DCA}" srcOrd="1" destOrd="0" parTransId="{5B9B983A-BC53-47F9-B3E3-01C419BA40BB}" sibTransId="{00BCD296-C7DC-4863-906C-9BD794BF7FA2}"/>
    <dgm:cxn modelId="{96EF7B53-4EFC-4A27-BA51-1DDF694819D0}" srcId="{94CCB36B-A778-463C-9B33-F82900F40536}" destId="{20853095-FAC9-4791-B79F-24998EA43CC2}" srcOrd="0" destOrd="0" parTransId="{46596FB5-1549-463A-8252-02C709B70C75}" sibTransId="{36B8A25C-DF33-4EEB-9659-7E986EC2616A}"/>
    <dgm:cxn modelId="{5F718977-58BF-46CA-B667-8971CB4CFF7D}" type="presOf" srcId="{20853095-FAC9-4791-B79F-24998EA43CC2}" destId="{A17A2F78-1E56-4D65-865D-B5E45DEAC8EB}" srcOrd="0" destOrd="0" presId="urn:microsoft.com/office/officeart/2005/8/layout/hList1"/>
    <dgm:cxn modelId="{9768FD78-9EE2-40E6-BBBE-EF3FBA889655}" srcId="{94CCB36B-A778-463C-9B33-F82900F40536}" destId="{42ED086B-468C-4700-97BA-C0D26E159C93}" srcOrd="2" destOrd="0" parTransId="{098CFF1A-4EF6-4FE7-85D4-DE6EFB5A1B13}" sibTransId="{B4A2B3E7-A76E-4922-ACEC-5987035B533A}"/>
    <dgm:cxn modelId="{1184F159-8B0B-467D-B042-A8748426DE0C}" srcId="{62719A97-1E55-4427-90B4-06423F0AB225}" destId="{CF2EA53F-C1E7-4835-B350-DA8ACECB8679}" srcOrd="2" destOrd="0" parTransId="{E4437417-42A8-4063-BA19-BFCC45CADBBC}" sibTransId="{37769339-CCF1-446B-B6F4-F7D8EB96F905}"/>
    <dgm:cxn modelId="{9780E580-4D78-49AA-8359-AC1926E1FB52}" type="presOf" srcId="{A112F67A-52FD-4A98-AA33-4A881DEBB2FD}" destId="{A17A2F78-1E56-4D65-865D-B5E45DEAC8EB}" srcOrd="0" destOrd="1" presId="urn:microsoft.com/office/officeart/2005/8/layout/hList1"/>
    <dgm:cxn modelId="{BAFF1782-3F59-4D9B-91BA-FB79856EF10E}" srcId="{94CCB36B-A778-463C-9B33-F82900F40536}" destId="{B95927A5-464E-464B-950A-FD3C27664A2E}" srcOrd="3" destOrd="0" parTransId="{994826A7-D58E-4378-A611-CE45F3FF7B59}" sibTransId="{BF8EC43A-4A6E-479C-A083-9B462C57485E}"/>
    <dgm:cxn modelId="{0DDF1982-A6B2-47E6-BF21-37EE16ABA5EE}" type="presOf" srcId="{CF2EA53F-C1E7-4835-B350-DA8ACECB8679}" destId="{BD99235B-C1A7-423C-9739-DBF84E2143DD}" srcOrd="0" destOrd="2" presId="urn:microsoft.com/office/officeart/2005/8/layout/hList1"/>
    <dgm:cxn modelId="{5D80E891-D3B5-457A-99D2-7F579DC0219B}" type="presOf" srcId="{42ED086B-468C-4700-97BA-C0D26E159C93}" destId="{A17A2F78-1E56-4D65-865D-B5E45DEAC8EB}" srcOrd="0" destOrd="2" presId="urn:microsoft.com/office/officeart/2005/8/layout/hList1"/>
    <dgm:cxn modelId="{BEC8ECCB-0BD5-4A74-BB88-54C3C8FFA567}" type="presOf" srcId="{CEC0DA2E-E0A4-4A31-BB41-0259D864F4BF}" destId="{BD99235B-C1A7-423C-9739-DBF84E2143DD}" srcOrd="0" destOrd="0" presId="urn:microsoft.com/office/officeart/2005/8/layout/hList1"/>
    <dgm:cxn modelId="{64B0D6D2-2E22-4C04-8B76-610534DB6F8A}" type="presOf" srcId="{62719A97-1E55-4427-90B4-06423F0AB225}" destId="{849D0715-6E53-43A7-A48D-2EC922CA69FC}" srcOrd="0" destOrd="0" presId="urn:microsoft.com/office/officeart/2005/8/layout/hList1"/>
    <dgm:cxn modelId="{A789A6DC-9B8E-4638-B62F-9E0C15CC3CBC}" type="presOf" srcId="{94CCB36B-A778-463C-9B33-F82900F40536}" destId="{EBF7030C-4BFB-4B27-814B-7426A2ED97F2}" srcOrd="0" destOrd="0" presId="urn:microsoft.com/office/officeart/2005/8/layout/hList1"/>
    <dgm:cxn modelId="{C3A3097E-7B91-4B1A-A760-4CA81DA34947}" type="presParOf" srcId="{CEE37BDB-F94C-44C1-841B-FD672A97F0AD}" destId="{E3B582FC-59E7-4109-8F90-BE33AD5EE611}" srcOrd="0" destOrd="0" presId="urn:microsoft.com/office/officeart/2005/8/layout/hList1"/>
    <dgm:cxn modelId="{5F0B6285-7796-4824-9983-75162703D72A}" type="presParOf" srcId="{E3B582FC-59E7-4109-8F90-BE33AD5EE611}" destId="{EBF7030C-4BFB-4B27-814B-7426A2ED97F2}" srcOrd="0" destOrd="0" presId="urn:microsoft.com/office/officeart/2005/8/layout/hList1"/>
    <dgm:cxn modelId="{BD57B2CC-56E9-4C41-878F-87409BAA206B}" type="presParOf" srcId="{E3B582FC-59E7-4109-8F90-BE33AD5EE611}" destId="{A17A2F78-1E56-4D65-865D-B5E45DEAC8EB}" srcOrd="1" destOrd="0" presId="urn:microsoft.com/office/officeart/2005/8/layout/hList1"/>
    <dgm:cxn modelId="{89B153D6-78A6-4136-9838-0BF20C7F4BE6}" type="presParOf" srcId="{CEE37BDB-F94C-44C1-841B-FD672A97F0AD}" destId="{B88A5461-94AB-4108-8184-BCB1C78421EC}" srcOrd="1" destOrd="0" presId="urn:microsoft.com/office/officeart/2005/8/layout/hList1"/>
    <dgm:cxn modelId="{2E09BB65-1455-4A55-8AF4-8E00FDAE4F72}" type="presParOf" srcId="{CEE37BDB-F94C-44C1-841B-FD672A97F0AD}" destId="{8E9776D5-21FA-49A7-A488-1AEF148F8321}" srcOrd="2" destOrd="0" presId="urn:microsoft.com/office/officeart/2005/8/layout/hList1"/>
    <dgm:cxn modelId="{E7B77EAE-5F48-4B20-84E3-AFDA545413B4}" type="presParOf" srcId="{8E9776D5-21FA-49A7-A488-1AEF148F8321}" destId="{849D0715-6E53-43A7-A48D-2EC922CA69FC}" srcOrd="0" destOrd="0" presId="urn:microsoft.com/office/officeart/2005/8/layout/hList1"/>
    <dgm:cxn modelId="{D02ACC62-0D75-4A0B-BFC4-20875CD3423E}" type="presParOf" srcId="{8E9776D5-21FA-49A7-A488-1AEF148F8321}" destId="{BD99235B-C1A7-423C-9739-DBF84E2143D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10EE37-3407-4266-AAE2-6E2A0211901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2F6C775-3ED6-4EEF-B1E8-16783E7BB345}">
      <dgm:prSet phldrT="[Text]" custT="1"/>
      <dgm:spPr/>
      <dgm:t>
        <a:bodyPr/>
        <a:lstStyle/>
        <a:p>
          <a:r>
            <a:rPr lang="en-US" sz="2000" b="1" dirty="0"/>
            <a:t>collective anomaly</a:t>
          </a:r>
        </a:p>
      </dgm:t>
    </dgm:pt>
    <dgm:pt modelId="{26201FAC-2DA6-423C-81CB-0B42706CC8D2}" type="parTrans" cxnId="{96AE470D-BFB6-4B74-A17F-F9094D6CB699}">
      <dgm:prSet/>
      <dgm:spPr/>
      <dgm:t>
        <a:bodyPr/>
        <a:lstStyle/>
        <a:p>
          <a:endParaRPr lang="en-US"/>
        </a:p>
      </dgm:t>
    </dgm:pt>
    <dgm:pt modelId="{BF76EB85-4129-4E40-8A32-895D4EA8085D}" type="sibTrans" cxnId="{96AE470D-BFB6-4B74-A17F-F9094D6CB699}">
      <dgm:prSet/>
      <dgm:spPr/>
      <dgm:t>
        <a:bodyPr/>
        <a:lstStyle/>
        <a:p>
          <a:endParaRPr lang="en-US"/>
        </a:p>
      </dgm:t>
    </dgm:pt>
    <dgm:pt modelId="{013E4CD0-380D-4B12-AAE3-D3A945F305D7}">
      <dgm:prSet phldrT="[Text]"/>
      <dgm:spPr/>
      <dgm:t>
        <a:bodyPr/>
        <a:lstStyle/>
        <a:p>
          <a:r>
            <a:rPr lang="en-US" dirty="0"/>
            <a:t>originates in an anomalous frequency of a </a:t>
          </a:r>
          <a:r>
            <a:rPr lang="en-US" dirty="0">
              <a:solidFill>
                <a:srgbClr val="FF0000"/>
              </a:solidFill>
            </a:rPr>
            <a:t>usually normal single event.</a:t>
          </a:r>
          <a:r>
            <a:rPr lang="en-US" dirty="0"/>
            <a:t> </a:t>
          </a:r>
        </a:p>
      </dgm:t>
    </dgm:pt>
    <dgm:pt modelId="{D143EE5E-E4E8-469D-A3AC-B49938A07B14}" type="parTrans" cxnId="{4190C87D-1407-4AB3-B5EC-A32BC244D2FC}">
      <dgm:prSet/>
      <dgm:spPr/>
      <dgm:t>
        <a:bodyPr/>
        <a:lstStyle/>
        <a:p>
          <a:endParaRPr lang="en-US"/>
        </a:p>
      </dgm:t>
    </dgm:pt>
    <dgm:pt modelId="{DA112EFE-7981-44A8-9BEF-461FC4E39CE4}" type="sibTrans" cxnId="{4190C87D-1407-4AB3-B5EC-A32BC244D2FC}">
      <dgm:prSet/>
      <dgm:spPr/>
      <dgm:t>
        <a:bodyPr/>
        <a:lstStyle/>
        <a:p>
          <a:endParaRPr lang="en-US"/>
        </a:p>
      </dgm:t>
    </dgm:pt>
    <dgm:pt modelId="{1ED7625E-B719-44AA-AEC4-8FE6FB041D33}">
      <dgm:prSet phldrT="[Text]" custT="1"/>
      <dgm:spPr/>
      <dgm:t>
        <a:bodyPr/>
        <a:lstStyle/>
        <a:p>
          <a:r>
            <a:rPr lang="en-US" sz="2000" b="1" dirty="0"/>
            <a:t>Sequential anomaly</a:t>
          </a:r>
        </a:p>
      </dgm:t>
    </dgm:pt>
    <dgm:pt modelId="{84B20F59-30DF-4B33-9028-C3C171384DAD}" type="parTrans" cxnId="{C4474054-1B1F-4AC6-8E10-EC8ABA2CCB1B}">
      <dgm:prSet/>
      <dgm:spPr/>
      <dgm:t>
        <a:bodyPr/>
        <a:lstStyle/>
        <a:p>
          <a:endParaRPr lang="en-US"/>
        </a:p>
      </dgm:t>
    </dgm:pt>
    <dgm:pt modelId="{DAB61F80-DD78-4E91-8E96-51A8D2B33EFF}" type="sibTrans" cxnId="{C4474054-1B1F-4AC6-8E10-EC8ABA2CCB1B}">
      <dgm:prSet/>
      <dgm:spPr/>
      <dgm:t>
        <a:bodyPr/>
        <a:lstStyle/>
        <a:p>
          <a:endParaRPr lang="en-US"/>
        </a:p>
      </dgm:t>
    </dgm:pt>
    <dgm:pt modelId="{6538E016-A2DE-483F-8F30-EB8E39494E46}">
      <dgm:prSet phldrT="[Text]"/>
      <dgm:spPr/>
      <dgm:t>
        <a:bodyPr/>
        <a:lstStyle/>
        <a:p>
          <a:r>
            <a:rPr lang="en-US" dirty="0"/>
            <a:t>represents an anomalous sequence of single events usually categorized as normal. </a:t>
          </a:r>
        </a:p>
      </dgm:t>
    </dgm:pt>
    <dgm:pt modelId="{63E3638D-0D46-4AC6-8433-BDB45200A6F0}" type="parTrans" cxnId="{3E9CE9A2-520D-403A-A92D-407353FA5007}">
      <dgm:prSet/>
      <dgm:spPr/>
      <dgm:t>
        <a:bodyPr/>
        <a:lstStyle/>
        <a:p>
          <a:endParaRPr lang="en-US"/>
        </a:p>
      </dgm:t>
    </dgm:pt>
    <dgm:pt modelId="{D81D19BE-88FD-43BE-A35B-E0E4886F25E4}" type="sibTrans" cxnId="{3E9CE9A2-520D-403A-A92D-407353FA5007}">
      <dgm:prSet/>
      <dgm:spPr/>
      <dgm:t>
        <a:bodyPr/>
        <a:lstStyle/>
        <a:p>
          <a:endParaRPr lang="en-US"/>
        </a:p>
      </dgm:t>
    </dgm:pt>
    <dgm:pt modelId="{08673A5E-FFF9-4F8C-AE0F-3C204C41AC1E}">
      <dgm:prSet/>
      <dgm:spPr/>
      <dgm:t>
        <a:bodyPr/>
        <a:lstStyle/>
        <a:p>
          <a:r>
            <a:rPr lang="en-US" dirty="0"/>
            <a:t>In an ICT network, </a:t>
          </a:r>
          <a:r>
            <a:rPr lang="en-US" dirty="0">
              <a:solidFill>
                <a:srgbClr val="FF0000"/>
              </a:solidFill>
            </a:rPr>
            <a:t>this could be a database dump which could be caused by a SQL-Injection</a:t>
          </a:r>
          <a:r>
            <a:rPr lang="en-US" dirty="0"/>
            <a:t>.</a:t>
          </a:r>
        </a:p>
      </dgm:t>
    </dgm:pt>
    <dgm:pt modelId="{D835B743-85F4-4ADF-84C1-E565C0227812}" type="parTrans" cxnId="{7697A245-9767-4B22-AF41-FEFF28E850D0}">
      <dgm:prSet/>
      <dgm:spPr/>
      <dgm:t>
        <a:bodyPr/>
        <a:lstStyle/>
        <a:p>
          <a:endParaRPr lang="en-US"/>
        </a:p>
      </dgm:t>
    </dgm:pt>
    <dgm:pt modelId="{8EC66983-0A34-4C9F-BCFF-41480C41500D}" type="sibTrans" cxnId="{7697A245-9767-4B22-AF41-FEFF28E850D0}">
      <dgm:prSet/>
      <dgm:spPr/>
      <dgm:t>
        <a:bodyPr/>
        <a:lstStyle/>
        <a:p>
          <a:endParaRPr lang="en-US"/>
        </a:p>
      </dgm:t>
    </dgm:pt>
    <dgm:pt modelId="{F855959F-5D9F-4544-88B6-7C38FCC9AC59}">
      <dgm:prSet/>
      <dgm:spPr/>
      <dgm:t>
        <a:bodyPr/>
        <a:lstStyle/>
        <a:p>
          <a:r>
            <a:rPr lang="en-US" dirty="0"/>
            <a:t>During a database dump, a large number of log lines that refer to normal SQL-Queries are generated. </a:t>
          </a:r>
        </a:p>
      </dgm:t>
    </dgm:pt>
    <dgm:pt modelId="{799FD038-EF6F-4BED-B507-87B696C74422}" type="parTrans" cxnId="{9647CC0D-DA5E-4F98-95A5-1AF0D6FF5CC9}">
      <dgm:prSet/>
      <dgm:spPr/>
      <dgm:t>
        <a:bodyPr/>
        <a:lstStyle/>
        <a:p>
          <a:endParaRPr lang="en-US"/>
        </a:p>
      </dgm:t>
    </dgm:pt>
    <dgm:pt modelId="{13132520-84DD-4232-BFCE-B3E702D95BBA}" type="sibTrans" cxnId="{9647CC0D-DA5E-4F98-95A5-1AF0D6FF5CC9}">
      <dgm:prSet/>
      <dgm:spPr/>
      <dgm:t>
        <a:bodyPr/>
        <a:lstStyle/>
        <a:p>
          <a:endParaRPr lang="en-US"/>
        </a:p>
      </dgm:t>
    </dgm:pt>
    <dgm:pt modelId="{1050A52F-8F87-45E6-A073-3E89ED74B4EA}">
      <dgm:prSet/>
      <dgm:spPr/>
      <dgm:t>
        <a:bodyPr/>
        <a:lstStyle/>
        <a:p>
          <a:r>
            <a:rPr lang="en-US" dirty="0"/>
            <a:t>In this case, the single lines are normal, but their high frequency is anomalous</a:t>
          </a:r>
        </a:p>
      </dgm:t>
    </dgm:pt>
    <dgm:pt modelId="{41867293-3320-4E66-BD5B-7EFDABDCC28E}" type="parTrans" cxnId="{8836679A-A705-4882-A468-B0EC61523243}">
      <dgm:prSet/>
      <dgm:spPr/>
      <dgm:t>
        <a:bodyPr/>
        <a:lstStyle/>
        <a:p>
          <a:endParaRPr lang="en-US"/>
        </a:p>
      </dgm:t>
    </dgm:pt>
    <dgm:pt modelId="{BBBFF07F-CF65-4570-8F6D-9471EB38CA87}" type="sibTrans" cxnId="{8836679A-A705-4882-A468-B0EC61523243}">
      <dgm:prSet/>
      <dgm:spPr/>
      <dgm:t>
        <a:bodyPr/>
        <a:lstStyle/>
        <a:p>
          <a:endParaRPr lang="en-US"/>
        </a:p>
      </dgm:t>
    </dgm:pt>
    <dgm:pt modelId="{60D85E38-5836-422F-A757-2047838B77CF}">
      <dgm:prSet/>
      <dgm:spPr/>
      <dgm:t>
        <a:bodyPr/>
        <a:lstStyle/>
        <a:p>
          <a:r>
            <a:rPr lang="en-US" dirty="0"/>
            <a:t>e.g., by </a:t>
          </a:r>
          <a:r>
            <a:rPr lang="en-US" dirty="0">
              <a:solidFill>
                <a:srgbClr val="FF0000"/>
              </a:solidFill>
            </a:rPr>
            <a:t>violating an access chain. For example, a normal database server access is usually only allowed via a firewall and a Web server</a:t>
          </a:r>
        </a:p>
      </dgm:t>
    </dgm:pt>
    <dgm:pt modelId="{F84FB0BE-E400-45E8-99FB-9EAC31818B1D}" type="parTrans" cxnId="{6B87A9C3-8172-4E03-8032-A6941D03F46E}">
      <dgm:prSet/>
      <dgm:spPr/>
      <dgm:t>
        <a:bodyPr/>
        <a:lstStyle/>
        <a:p>
          <a:endParaRPr lang="en-US"/>
        </a:p>
      </dgm:t>
    </dgm:pt>
    <dgm:pt modelId="{B2A0B74B-A94B-40CD-843F-A8AE78ED6D19}" type="sibTrans" cxnId="{6B87A9C3-8172-4E03-8032-A6941D03F46E}">
      <dgm:prSet/>
      <dgm:spPr/>
      <dgm:t>
        <a:bodyPr/>
        <a:lstStyle/>
        <a:p>
          <a:endParaRPr lang="en-US"/>
        </a:p>
      </dgm:t>
    </dgm:pt>
    <dgm:pt modelId="{DD06E21D-F2A1-4439-907D-4ACC6AA2107E}">
      <dgm:prSet phldrT="[Text]"/>
      <dgm:spPr/>
      <dgm:t>
        <a:bodyPr/>
        <a:lstStyle/>
        <a:p>
          <a:r>
            <a:rPr lang="en-US" dirty="0"/>
            <a:t>In an ICT network, a sequential anomaly can be caused,</a:t>
          </a:r>
        </a:p>
      </dgm:t>
    </dgm:pt>
    <dgm:pt modelId="{421E3AB4-5A69-463A-9EF2-DB53F9FE5740}" type="parTrans" cxnId="{94519449-6EF9-44ED-9CA8-32E939394047}">
      <dgm:prSet/>
      <dgm:spPr/>
      <dgm:t>
        <a:bodyPr/>
        <a:lstStyle/>
        <a:p>
          <a:endParaRPr lang="en-US"/>
        </a:p>
      </dgm:t>
    </dgm:pt>
    <dgm:pt modelId="{C0E9A4B2-9720-497B-B63D-8B70B5815C17}" type="sibTrans" cxnId="{94519449-6EF9-44ED-9CA8-32E939394047}">
      <dgm:prSet/>
      <dgm:spPr/>
      <dgm:t>
        <a:bodyPr/>
        <a:lstStyle/>
        <a:p>
          <a:endParaRPr lang="en-US"/>
        </a:p>
      </dgm:t>
    </dgm:pt>
    <dgm:pt modelId="{F90C3CE8-DD45-43EB-8A34-A7CDB0C7D71C}">
      <dgm:prSet/>
      <dgm:spPr/>
      <dgm:t>
        <a:bodyPr/>
        <a:lstStyle/>
        <a:p>
          <a:r>
            <a:rPr lang="en-US" dirty="0">
              <a:solidFill>
                <a:srgbClr val="FF0000"/>
              </a:solidFill>
            </a:rPr>
            <a:t>Therefore, it would be malicious if someone accessed the database server directly without accessing the Web server.</a:t>
          </a:r>
        </a:p>
      </dgm:t>
    </dgm:pt>
    <dgm:pt modelId="{F9D74BE9-F512-4E84-89BF-28D9F6E766DF}" type="parTrans" cxnId="{6A39B456-58C8-4FC7-B267-0A2E2B570FA0}">
      <dgm:prSet/>
      <dgm:spPr/>
      <dgm:t>
        <a:bodyPr/>
        <a:lstStyle/>
        <a:p>
          <a:endParaRPr lang="en-US"/>
        </a:p>
      </dgm:t>
    </dgm:pt>
    <dgm:pt modelId="{5D949695-4478-4E94-B942-B49AA587498D}" type="sibTrans" cxnId="{6A39B456-58C8-4FC7-B267-0A2E2B570FA0}">
      <dgm:prSet/>
      <dgm:spPr/>
      <dgm:t>
        <a:bodyPr/>
        <a:lstStyle/>
        <a:p>
          <a:endParaRPr lang="en-US"/>
        </a:p>
      </dgm:t>
    </dgm:pt>
    <dgm:pt modelId="{B07286CC-3A26-4E2C-B935-674E36A32FAE}" type="pres">
      <dgm:prSet presAssocID="{4E10EE37-3407-4266-AAE2-6E2A0211901E}" presName="Name0" presStyleCnt="0">
        <dgm:presLayoutVars>
          <dgm:dir/>
          <dgm:animLvl val="lvl"/>
          <dgm:resizeHandles val="exact"/>
        </dgm:presLayoutVars>
      </dgm:prSet>
      <dgm:spPr/>
    </dgm:pt>
    <dgm:pt modelId="{784B19AD-D38C-4FB0-8977-0B1F88646526}" type="pres">
      <dgm:prSet presAssocID="{92F6C775-3ED6-4EEF-B1E8-16783E7BB345}" presName="composite" presStyleCnt="0"/>
      <dgm:spPr/>
    </dgm:pt>
    <dgm:pt modelId="{092A4E44-B762-486F-A82E-3FB8661E6792}" type="pres">
      <dgm:prSet presAssocID="{92F6C775-3ED6-4EEF-B1E8-16783E7BB345}" presName="parTx" presStyleLbl="alignNode1" presStyleIdx="0" presStyleCnt="2">
        <dgm:presLayoutVars>
          <dgm:chMax val="0"/>
          <dgm:chPref val="0"/>
          <dgm:bulletEnabled val="1"/>
        </dgm:presLayoutVars>
      </dgm:prSet>
      <dgm:spPr/>
    </dgm:pt>
    <dgm:pt modelId="{7CDFFB5A-ECC4-46AA-9CE1-41A48A2895E8}" type="pres">
      <dgm:prSet presAssocID="{92F6C775-3ED6-4EEF-B1E8-16783E7BB345}" presName="desTx" presStyleLbl="alignAccFollowNode1" presStyleIdx="0" presStyleCnt="2">
        <dgm:presLayoutVars>
          <dgm:bulletEnabled val="1"/>
        </dgm:presLayoutVars>
      </dgm:prSet>
      <dgm:spPr/>
    </dgm:pt>
    <dgm:pt modelId="{A6BC1F6E-659B-4183-B4A9-768B1C526276}" type="pres">
      <dgm:prSet presAssocID="{BF76EB85-4129-4E40-8A32-895D4EA8085D}" presName="space" presStyleCnt="0"/>
      <dgm:spPr/>
    </dgm:pt>
    <dgm:pt modelId="{13D4B2CB-C679-455D-9269-8C05A41ADC17}" type="pres">
      <dgm:prSet presAssocID="{1ED7625E-B719-44AA-AEC4-8FE6FB041D33}" presName="composite" presStyleCnt="0"/>
      <dgm:spPr/>
    </dgm:pt>
    <dgm:pt modelId="{4A625CC7-4BB3-464C-8C22-CDF3E7DC7DA5}" type="pres">
      <dgm:prSet presAssocID="{1ED7625E-B719-44AA-AEC4-8FE6FB041D33}" presName="parTx" presStyleLbl="alignNode1" presStyleIdx="1" presStyleCnt="2">
        <dgm:presLayoutVars>
          <dgm:chMax val="0"/>
          <dgm:chPref val="0"/>
          <dgm:bulletEnabled val="1"/>
        </dgm:presLayoutVars>
      </dgm:prSet>
      <dgm:spPr/>
    </dgm:pt>
    <dgm:pt modelId="{A4DFBCB3-1BEF-49AD-8204-78AE6AEEF1D6}" type="pres">
      <dgm:prSet presAssocID="{1ED7625E-B719-44AA-AEC4-8FE6FB041D33}" presName="desTx" presStyleLbl="alignAccFollowNode1" presStyleIdx="1" presStyleCnt="2">
        <dgm:presLayoutVars>
          <dgm:bulletEnabled val="1"/>
        </dgm:presLayoutVars>
      </dgm:prSet>
      <dgm:spPr/>
    </dgm:pt>
  </dgm:ptLst>
  <dgm:cxnLst>
    <dgm:cxn modelId="{96AE470D-BFB6-4B74-A17F-F9094D6CB699}" srcId="{4E10EE37-3407-4266-AAE2-6E2A0211901E}" destId="{92F6C775-3ED6-4EEF-B1E8-16783E7BB345}" srcOrd="0" destOrd="0" parTransId="{26201FAC-2DA6-423C-81CB-0B42706CC8D2}" sibTransId="{BF76EB85-4129-4E40-8A32-895D4EA8085D}"/>
    <dgm:cxn modelId="{9647CC0D-DA5E-4F98-95A5-1AF0D6FF5CC9}" srcId="{92F6C775-3ED6-4EEF-B1E8-16783E7BB345}" destId="{F855959F-5D9F-4544-88B6-7C38FCC9AC59}" srcOrd="2" destOrd="0" parTransId="{799FD038-EF6F-4BED-B507-87B696C74422}" sibTransId="{13132520-84DD-4232-BFCE-B3E702D95BBA}"/>
    <dgm:cxn modelId="{E2D82513-3750-4A8E-898D-73ED91890876}" type="presOf" srcId="{4E10EE37-3407-4266-AAE2-6E2A0211901E}" destId="{B07286CC-3A26-4E2C-B935-674E36A32FAE}" srcOrd="0" destOrd="0" presId="urn:microsoft.com/office/officeart/2005/8/layout/hList1"/>
    <dgm:cxn modelId="{0C173F13-0E31-4226-BFA9-E5101FEF97B0}" type="presOf" srcId="{6538E016-A2DE-483F-8F30-EB8E39494E46}" destId="{A4DFBCB3-1BEF-49AD-8204-78AE6AEEF1D6}" srcOrd="0" destOrd="0" presId="urn:microsoft.com/office/officeart/2005/8/layout/hList1"/>
    <dgm:cxn modelId="{9D590E29-1BA7-4373-831B-5117DE8F94F7}" type="presOf" srcId="{013E4CD0-380D-4B12-AAE3-D3A945F305D7}" destId="{7CDFFB5A-ECC4-46AA-9CE1-41A48A2895E8}" srcOrd="0" destOrd="0" presId="urn:microsoft.com/office/officeart/2005/8/layout/hList1"/>
    <dgm:cxn modelId="{C80F1E2D-8F00-447C-B0A0-1E6615BFEBCF}" type="presOf" srcId="{92F6C775-3ED6-4EEF-B1E8-16783E7BB345}" destId="{092A4E44-B762-486F-A82E-3FB8661E6792}" srcOrd="0" destOrd="0" presId="urn:microsoft.com/office/officeart/2005/8/layout/hList1"/>
    <dgm:cxn modelId="{68137C5C-5174-4056-B154-0F0B1D9F1AC3}" type="presOf" srcId="{F90C3CE8-DD45-43EB-8A34-A7CDB0C7D71C}" destId="{A4DFBCB3-1BEF-49AD-8204-78AE6AEEF1D6}" srcOrd="0" destOrd="3" presId="urn:microsoft.com/office/officeart/2005/8/layout/hList1"/>
    <dgm:cxn modelId="{6E843D5D-9F10-4F8A-9DEA-9C53A7B78681}" type="presOf" srcId="{60D85E38-5836-422F-A757-2047838B77CF}" destId="{A4DFBCB3-1BEF-49AD-8204-78AE6AEEF1D6}" srcOrd="0" destOrd="2" presId="urn:microsoft.com/office/officeart/2005/8/layout/hList1"/>
    <dgm:cxn modelId="{C655735D-52A4-4A04-834D-9CAA0FCFBC5E}" type="presOf" srcId="{DD06E21D-F2A1-4439-907D-4ACC6AA2107E}" destId="{A4DFBCB3-1BEF-49AD-8204-78AE6AEEF1D6}" srcOrd="0" destOrd="1" presId="urn:microsoft.com/office/officeart/2005/8/layout/hList1"/>
    <dgm:cxn modelId="{3DB27D61-F77D-42E3-B1A8-E73395E65595}" type="presOf" srcId="{1050A52F-8F87-45E6-A073-3E89ED74B4EA}" destId="{7CDFFB5A-ECC4-46AA-9CE1-41A48A2895E8}" srcOrd="0" destOrd="3" presId="urn:microsoft.com/office/officeart/2005/8/layout/hList1"/>
    <dgm:cxn modelId="{7697A245-9767-4B22-AF41-FEFF28E850D0}" srcId="{92F6C775-3ED6-4EEF-B1E8-16783E7BB345}" destId="{08673A5E-FFF9-4F8C-AE0F-3C204C41AC1E}" srcOrd="1" destOrd="0" parTransId="{D835B743-85F4-4ADF-84C1-E565C0227812}" sibTransId="{8EC66983-0A34-4C9F-BCFF-41480C41500D}"/>
    <dgm:cxn modelId="{94519449-6EF9-44ED-9CA8-32E939394047}" srcId="{1ED7625E-B719-44AA-AEC4-8FE6FB041D33}" destId="{DD06E21D-F2A1-4439-907D-4ACC6AA2107E}" srcOrd="1" destOrd="0" parTransId="{421E3AB4-5A69-463A-9EF2-DB53F9FE5740}" sibTransId="{C0E9A4B2-9720-497B-B63D-8B70B5815C17}"/>
    <dgm:cxn modelId="{C4474054-1B1F-4AC6-8E10-EC8ABA2CCB1B}" srcId="{4E10EE37-3407-4266-AAE2-6E2A0211901E}" destId="{1ED7625E-B719-44AA-AEC4-8FE6FB041D33}" srcOrd="1" destOrd="0" parTransId="{84B20F59-30DF-4B33-9028-C3C171384DAD}" sibTransId="{DAB61F80-DD78-4E91-8E96-51A8D2B33EFF}"/>
    <dgm:cxn modelId="{6A39B456-58C8-4FC7-B267-0A2E2B570FA0}" srcId="{1ED7625E-B719-44AA-AEC4-8FE6FB041D33}" destId="{F90C3CE8-DD45-43EB-8A34-A7CDB0C7D71C}" srcOrd="3" destOrd="0" parTransId="{F9D74BE9-F512-4E84-89BF-28D9F6E766DF}" sibTransId="{5D949695-4478-4E94-B942-B49AA587498D}"/>
    <dgm:cxn modelId="{4190C87D-1407-4AB3-B5EC-A32BC244D2FC}" srcId="{92F6C775-3ED6-4EEF-B1E8-16783E7BB345}" destId="{013E4CD0-380D-4B12-AAE3-D3A945F305D7}" srcOrd="0" destOrd="0" parTransId="{D143EE5E-E4E8-469D-A3AC-B49938A07B14}" sibTransId="{DA112EFE-7981-44A8-9BEF-461FC4E39CE4}"/>
    <dgm:cxn modelId="{8836679A-A705-4882-A468-B0EC61523243}" srcId="{92F6C775-3ED6-4EEF-B1E8-16783E7BB345}" destId="{1050A52F-8F87-45E6-A073-3E89ED74B4EA}" srcOrd="3" destOrd="0" parTransId="{41867293-3320-4E66-BD5B-7EFDABDCC28E}" sibTransId="{BBBFF07F-CF65-4570-8F6D-9471EB38CA87}"/>
    <dgm:cxn modelId="{3E9CE9A2-520D-403A-A92D-407353FA5007}" srcId="{1ED7625E-B719-44AA-AEC4-8FE6FB041D33}" destId="{6538E016-A2DE-483F-8F30-EB8E39494E46}" srcOrd="0" destOrd="0" parTransId="{63E3638D-0D46-4AC6-8433-BDB45200A6F0}" sibTransId="{D81D19BE-88FD-43BE-A35B-E0E4886F25E4}"/>
    <dgm:cxn modelId="{6B87A9C3-8172-4E03-8032-A6941D03F46E}" srcId="{1ED7625E-B719-44AA-AEC4-8FE6FB041D33}" destId="{60D85E38-5836-422F-A757-2047838B77CF}" srcOrd="2" destOrd="0" parTransId="{F84FB0BE-E400-45E8-99FB-9EAC31818B1D}" sibTransId="{B2A0B74B-A94B-40CD-843F-A8AE78ED6D19}"/>
    <dgm:cxn modelId="{215208DA-D4B0-4747-8E10-C9C199134E3A}" type="presOf" srcId="{08673A5E-FFF9-4F8C-AE0F-3C204C41AC1E}" destId="{7CDFFB5A-ECC4-46AA-9CE1-41A48A2895E8}" srcOrd="0" destOrd="1" presId="urn:microsoft.com/office/officeart/2005/8/layout/hList1"/>
    <dgm:cxn modelId="{2B8132E0-DCB7-46F4-BCB6-128EA54A3819}" type="presOf" srcId="{F855959F-5D9F-4544-88B6-7C38FCC9AC59}" destId="{7CDFFB5A-ECC4-46AA-9CE1-41A48A2895E8}" srcOrd="0" destOrd="2" presId="urn:microsoft.com/office/officeart/2005/8/layout/hList1"/>
    <dgm:cxn modelId="{6A1F0FF8-E148-48B8-BCD0-7B3BD7682550}" type="presOf" srcId="{1ED7625E-B719-44AA-AEC4-8FE6FB041D33}" destId="{4A625CC7-4BB3-464C-8C22-CDF3E7DC7DA5}" srcOrd="0" destOrd="0" presId="urn:microsoft.com/office/officeart/2005/8/layout/hList1"/>
    <dgm:cxn modelId="{4847DA84-2351-4012-BA98-BF62C3D26413}" type="presParOf" srcId="{B07286CC-3A26-4E2C-B935-674E36A32FAE}" destId="{784B19AD-D38C-4FB0-8977-0B1F88646526}" srcOrd="0" destOrd="0" presId="urn:microsoft.com/office/officeart/2005/8/layout/hList1"/>
    <dgm:cxn modelId="{19D40100-C04D-4988-B6BC-790CA7A37A2F}" type="presParOf" srcId="{784B19AD-D38C-4FB0-8977-0B1F88646526}" destId="{092A4E44-B762-486F-A82E-3FB8661E6792}" srcOrd="0" destOrd="0" presId="urn:microsoft.com/office/officeart/2005/8/layout/hList1"/>
    <dgm:cxn modelId="{7B7662DA-0F5A-4250-AB84-5FE61E9F4920}" type="presParOf" srcId="{784B19AD-D38C-4FB0-8977-0B1F88646526}" destId="{7CDFFB5A-ECC4-46AA-9CE1-41A48A2895E8}" srcOrd="1" destOrd="0" presId="urn:microsoft.com/office/officeart/2005/8/layout/hList1"/>
    <dgm:cxn modelId="{666F7695-34DD-4102-B113-949A0562B58F}" type="presParOf" srcId="{B07286CC-3A26-4E2C-B935-674E36A32FAE}" destId="{A6BC1F6E-659B-4183-B4A9-768B1C526276}" srcOrd="1" destOrd="0" presId="urn:microsoft.com/office/officeart/2005/8/layout/hList1"/>
    <dgm:cxn modelId="{E9DCC053-2563-4031-8C35-E83809D59C3D}" type="presParOf" srcId="{B07286CC-3A26-4E2C-B935-674E36A32FAE}" destId="{13D4B2CB-C679-455D-9269-8C05A41ADC17}" srcOrd="2" destOrd="0" presId="urn:microsoft.com/office/officeart/2005/8/layout/hList1"/>
    <dgm:cxn modelId="{8574AD28-0230-43D6-A7B5-ED6C11FDE550}" type="presParOf" srcId="{13D4B2CB-C679-455D-9269-8C05A41ADC17}" destId="{4A625CC7-4BB3-464C-8C22-CDF3E7DC7DA5}" srcOrd="0" destOrd="0" presId="urn:microsoft.com/office/officeart/2005/8/layout/hList1"/>
    <dgm:cxn modelId="{A0C59AC8-4C3D-4C3B-8332-BDAD97DEED22}" type="presParOf" srcId="{13D4B2CB-C679-455D-9269-8C05A41ADC17}" destId="{A4DFBCB3-1BEF-49AD-8204-78AE6AEEF1D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56AA5-9923-4E1F-AA81-EB6887AFFEEC}">
      <dsp:nvSpPr>
        <dsp:cNvPr id="0" name=""/>
        <dsp:cNvSpPr/>
      </dsp:nvSpPr>
      <dsp:spPr>
        <a:xfrm>
          <a:off x="661868" y="0"/>
          <a:ext cx="7501176" cy="34163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E5C22-DCB1-484B-B8ED-1289DA7D5661}">
      <dsp:nvSpPr>
        <dsp:cNvPr id="0" name=""/>
        <dsp:cNvSpPr/>
      </dsp:nvSpPr>
      <dsp:spPr>
        <a:xfrm>
          <a:off x="6840" y="1024890"/>
          <a:ext cx="2117812" cy="13665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b="0" i="1" kern="1200"/>
            <a:t>Asset Identification</a:t>
          </a:r>
          <a:endParaRPr lang="en-US" sz="2200" kern="1200"/>
        </a:p>
      </dsp:txBody>
      <dsp:txXfrm>
        <a:off x="73548" y="1091598"/>
        <a:ext cx="1984396" cy="1233104"/>
      </dsp:txXfrm>
    </dsp:sp>
    <dsp:sp modelId="{0F505853-0C70-4EAD-BD89-EDE955A29576}">
      <dsp:nvSpPr>
        <dsp:cNvPr id="0" name=""/>
        <dsp:cNvSpPr/>
      </dsp:nvSpPr>
      <dsp:spPr>
        <a:xfrm>
          <a:off x="2237980" y="1024890"/>
          <a:ext cx="2117812" cy="13665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b="0" i="1" kern="1200"/>
            <a:t>Asset Operation</a:t>
          </a:r>
          <a:endParaRPr lang="en-US" sz="2200" kern="1200"/>
        </a:p>
      </dsp:txBody>
      <dsp:txXfrm>
        <a:off x="2304688" y="1091598"/>
        <a:ext cx="1984396" cy="1233104"/>
      </dsp:txXfrm>
    </dsp:sp>
    <dsp:sp modelId="{AEC81844-2D05-4B8F-8A4D-97EA2B4BB690}">
      <dsp:nvSpPr>
        <dsp:cNvPr id="0" name=""/>
        <dsp:cNvSpPr/>
      </dsp:nvSpPr>
      <dsp:spPr>
        <a:xfrm>
          <a:off x="4469120" y="1024890"/>
          <a:ext cx="2117812" cy="13665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b="0" i="1" kern="1200"/>
            <a:t>Asset Adaptation</a:t>
          </a:r>
          <a:endParaRPr lang="en-US" sz="2200" kern="1200"/>
        </a:p>
      </dsp:txBody>
      <dsp:txXfrm>
        <a:off x="4535828" y="1091598"/>
        <a:ext cx="1984396" cy="1233104"/>
      </dsp:txXfrm>
    </dsp:sp>
    <dsp:sp modelId="{640F3638-F391-4CAF-B024-89796AB214C7}">
      <dsp:nvSpPr>
        <dsp:cNvPr id="0" name=""/>
        <dsp:cNvSpPr/>
      </dsp:nvSpPr>
      <dsp:spPr>
        <a:xfrm>
          <a:off x="6700260" y="1024890"/>
          <a:ext cx="2117812" cy="13665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b="0" i="1" kern="1200"/>
            <a:t>Asset Disposal</a:t>
          </a:r>
          <a:endParaRPr lang="en-US" sz="2200" kern="1200"/>
        </a:p>
      </dsp:txBody>
      <dsp:txXfrm>
        <a:off x="6766968" y="1091598"/>
        <a:ext cx="1984396" cy="12331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7030C-4BFB-4B27-814B-7426A2ED97F2}">
      <dsp:nvSpPr>
        <dsp:cNvPr id="0" name=""/>
        <dsp:cNvSpPr/>
      </dsp:nvSpPr>
      <dsp:spPr>
        <a:xfrm>
          <a:off x="56" y="83585"/>
          <a:ext cx="5433541" cy="5760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Point anomaly</a:t>
          </a:r>
        </a:p>
      </dsp:txBody>
      <dsp:txXfrm>
        <a:off x="56" y="83585"/>
        <a:ext cx="5433541" cy="576000"/>
      </dsp:txXfrm>
    </dsp:sp>
    <dsp:sp modelId="{A17A2F78-1E56-4D65-865D-B5E45DEAC8EB}">
      <dsp:nvSpPr>
        <dsp:cNvPr id="0" name=""/>
        <dsp:cNvSpPr/>
      </dsp:nvSpPr>
      <dsp:spPr>
        <a:xfrm>
          <a:off x="56" y="659585"/>
          <a:ext cx="5433541" cy="344669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simplest form and is often also </a:t>
          </a:r>
          <a:r>
            <a:rPr lang="en-US" sz="2000" kern="1200" dirty="0">
              <a:solidFill>
                <a:srgbClr val="FF0000"/>
              </a:solidFill>
            </a:rPr>
            <a:t>referred to as outlier,</a:t>
          </a:r>
        </a:p>
        <a:p>
          <a:pPr marL="228600" lvl="1" indent="-228600" algn="l" defTabSz="889000">
            <a:lnSpc>
              <a:spcPct val="90000"/>
            </a:lnSpc>
            <a:spcBef>
              <a:spcPct val="0"/>
            </a:spcBef>
            <a:spcAft>
              <a:spcPct val="15000"/>
            </a:spcAft>
            <a:buChar char="•"/>
          </a:pPr>
          <a:r>
            <a:rPr lang="en-US" sz="2000" kern="1200" dirty="0"/>
            <a:t>i.e., an anomalous single event. </a:t>
          </a:r>
        </a:p>
        <a:p>
          <a:pPr marL="228600" lvl="1" indent="-228600" algn="l" defTabSz="889000">
            <a:lnSpc>
              <a:spcPct val="90000"/>
            </a:lnSpc>
            <a:spcBef>
              <a:spcPct val="0"/>
            </a:spcBef>
            <a:spcAft>
              <a:spcPct val="15000"/>
            </a:spcAft>
            <a:buChar char="•"/>
          </a:pPr>
          <a:r>
            <a:rPr lang="en-US" sz="2000" kern="1200" dirty="0"/>
            <a:t>In a two-dimensional space, a point </a:t>
          </a:r>
          <a:r>
            <a:rPr lang="en-US" sz="2000" kern="1200" dirty="0" err="1"/>
            <a:t>anomal</a:t>
          </a:r>
          <a:r>
            <a:rPr lang="en-US" sz="2000" kern="1200" dirty="0"/>
            <a:t> is </a:t>
          </a:r>
          <a:r>
            <a:rPr lang="en-US" sz="2000" kern="1200" dirty="0">
              <a:solidFill>
                <a:srgbClr val="FF0000"/>
              </a:solidFill>
            </a:rPr>
            <a:t>an element at a large distance from all the other elements.</a:t>
          </a:r>
        </a:p>
        <a:p>
          <a:pPr marL="228600" lvl="1" indent="-228600" algn="l" defTabSz="889000">
            <a:lnSpc>
              <a:spcPct val="90000"/>
            </a:lnSpc>
            <a:spcBef>
              <a:spcPct val="0"/>
            </a:spcBef>
            <a:spcAft>
              <a:spcPct val="15000"/>
            </a:spcAft>
            <a:buChar char="•"/>
          </a:pPr>
          <a:r>
            <a:rPr lang="en-US" sz="2000" kern="1200" dirty="0"/>
            <a:t> In an ICT network this could be an </a:t>
          </a:r>
          <a:r>
            <a:rPr lang="en-US" sz="2000" kern="1200" dirty="0">
              <a:solidFill>
                <a:srgbClr val="FF0000"/>
              </a:solidFill>
            </a:rPr>
            <a:t>unexpected login-name or IP address.</a:t>
          </a:r>
        </a:p>
      </dsp:txBody>
      <dsp:txXfrm>
        <a:off x="56" y="659585"/>
        <a:ext cx="5433541" cy="3446690"/>
      </dsp:txXfrm>
    </dsp:sp>
    <dsp:sp modelId="{849D0715-6E53-43A7-A48D-2EC922CA69FC}">
      <dsp:nvSpPr>
        <dsp:cNvPr id="0" name=""/>
        <dsp:cNvSpPr/>
      </dsp:nvSpPr>
      <dsp:spPr>
        <a:xfrm>
          <a:off x="6194293" y="83585"/>
          <a:ext cx="5433541" cy="5760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Contextual anomaly</a:t>
          </a:r>
        </a:p>
      </dsp:txBody>
      <dsp:txXfrm>
        <a:off x="6194293" y="83585"/>
        <a:ext cx="5433541" cy="576000"/>
      </dsp:txXfrm>
    </dsp:sp>
    <dsp:sp modelId="{BD99235B-C1A7-423C-9739-DBF84E2143DD}">
      <dsp:nvSpPr>
        <dsp:cNvPr id="0" name=""/>
        <dsp:cNvSpPr/>
      </dsp:nvSpPr>
      <dsp:spPr>
        <a:xfrm>
          <a:off x="6194293" y="659585"/>
          <a:ext cx="5433541" cy="344669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an event that is </a:t>
          </a:r>
          <a:r>
            <a:rPr lang="en-US" sz="2000" kern="1200" dirty="0">
              <a:solidFill>
                <a:srgbClr val="FF0000"/>
              </a:solidFill>
            </a:rPr>
            <a:t>anomalous in a specific context but might be normal in another one. </a:t>
          </a:r>
        </a:p>
        <a:p>
          <a:pPr marL="228600" lvl="1" indent="-228600" algn="l" defTabSz="889000">
            <a:lnSpc>
              <a:spcPct val="90000"/>
            </a:lnSpc>
            <a:spcBef>
              <a:spcPct val="0"/>
            </a:spcBef>
            <a:spcAft>
              <a:spcPct val="15000"/>
            </a:spcAft>
            <a:buChar char="•"/>
          </a:pPr>
          <a:r>
            <a:rPr lang="en-US" sz="2000" kern="1200" dirty="0"/>
            <a:t>In an ICT network, this can be an anomalous event parameter, </a:t>
          </a:r>
          <a:r>
            <a:rPr lang="en-US" sz="2000" kern="1200" dirty="0">
              <a:solidFill>
                <a:srgbClr val="FF0000"/>
              </a:solidFill>
            </a:rPr>
            <a:t>such as an unexpected timestamp. </a:t>
          </a:r>
        </a:p>
        <a:p>
          <a:pPr marL="228600" lvl="1" indent="-228600" algn="l" defTabSz="889000">
            <a:lnSpc>
              <a:spcPct val="90000"/>
            </a:lnSpc>
            <a:spcBef>
              <a:spcPct val="0"/>
            </a:spcBef>
            <a:spcAft>
              <a:spcPct val="15000"/>
            </a:spcAft>
            <a:buChar char="•"/>
          </a:pPr>
          <a:r>
            <a:rPr lang="en-US" sz="2000" kern="1200" dirty="0"/>
            <a:t>A contextual anomaly could, e.g., be a system </a:t>
          </a:r>
          <a:r>
            <a:rPr lang="en-US" sz="2000" kern="1200" dirty="0">
              <a:solidFill>
                <a:srgbClr val="FF0000"/>
              </a:solidFill>
            </a:rPr>
            <a:t>login of an employee outside the normal working hours, while this login would be normal during normal working time.</a:t>
          </a:r>
        </a:p>
      </dsp:txBody>
      <dsp:txXfrm>
        <a:off x="6194293" y="659585"/>
        <a:ext cx="5433541" cy="34466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2A4E44-B762-486F-A82E-3FB8661E6792}">
      <dsp:nvSpPr>
        <dsp:cNvPr id="0" name=""/>
        <dsp:cNvSpPr/>
      </dsp:nvSpPr>
      <dsp:spPr>
        <a:xfrm>
          <a:off x="54" y="152604"/>
          <a:ext cx="5197577" cy="5184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collective anomaly</a:t>
          </a:r>
        </a:p>
      </dsp:txBody>
      <dsp:txXfrm>
        <a:off x="54" y="152604"/>
        <a:ext cx="5197577" cy="518400"/>
      </dsp:txXfrm>
    </dsp:sp>
    <dsp:sp modelId="{7CDFFB5A-ECC4-46AA-9CE1-41A48A2895E8}">
      <dsp:nvSpPr>
        <dsp:cNvPr id="0" name=""/>
        <dsp:cNvSpPr/>
      </dsp:nvSpPr>
      <dsp:spPr>
        <a:xfrm>
          <a:off x="54" y="671004"/>
          <a:ext cx="5197577" cy="346178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originates in an anomalous frequency of a </a:t>
          </a:r>
          <a:r>
            <a:rPr lang="en-US" sz="1800" kern="1200" dirty="0">
              <a:solidFill>
                <a:srgbClr val="FF0000"/>
              </a:solidFill>
            </a:rPr>
            <a:t>usually normal single event.</a:t>
          </a:r>
          <a:r>
            <a:rPr lang="en-US" sz="1800" kern="1200" dirty="0"/>
            <a:t> </a:t>
          </a:r>
        </a:p>
        <a:p>
          <a:pPr marL="171450" lvl="1" indent="-171450" algn="l" defTabSz="800100">
            <a:lnSpc>
              <a:spcPct val="90000"/>
            </a:lnSpc>
            <a:spcBef>
              <a:spcPct val="0"/>
            </a:spcBef>
            <a:spcAft>
              <a:spcPct val="15000"/>
            </a:spcAft>
            <a:buChar char="•"/>
          </a:pPr>
          <a:r>
            <a:rPr lang="en-US" sz="1800" kern="1200" dirty="0"/>
            <a:t>In an ICT network, </a:t>
          </a:r>
          <a:r>
            <a:rPr lang="en-US" sz="1800" kern="1200" dirty="0">
              <a:solidFill>
                <a:srgbClr val="FF0000"/>
              </a:solidFill>
            </a:rPr>
            <a:t>this could be a database dump which could be caused by a SQL-Injection</a:t>
          </a:r>
          <a:r>
            <a:rPr lang="en-US" sz="1800" kern="1200" dirty="0"/>
            <a:t>.</a:t>
          </a:r>
        </a:p>
        <a:p>
          <a:pPr marL="171450" lvl="1" indent="-171450" algn="l" defTabSz="800100">
            <a:lnSpc>
              <a:spcPct val="90000"/>
            </a:lnSpc>
            <a:spcBef>
              <a:spcPct val="0"/>
            </a:spcBef>
            <a:spcAft>
              <a:spcPct val="15000"/>
            </a:spcAft>
            <a:buChar char="•"/>
          </a:pPr>
          <a:r>
            <a:rPr lang="en-US" sz="1800" kern="1200" dirty="0"/>
            <a:t>During a database dump, a large number of log lines that refer to normal SQL-Queries are generated. </a:t>
          </a:r>
        </a:p>
        <a:p>
          <a:pPr marL="171450" lvl="1" indent="-171450" algn="l" defTabSz="800100">
            <a:lnSpc>
              <a:spcPct val="90000"/>
            </a:lnSpc>
            <a:spcBef>
              <a:spcPct val="0"/>
            </a:spcBef>
            <a:spcAft>
              <a:spcPct val="15000"/>
            </a:spcAft>
            <a:buChar char="•"/>
          </a:pPr>
          <a:r>
            <a:rPr lang="en-US" sz="1800" kern="1200" dirty="0"/>
            <a:t>In this case, the single lines are normal, but their high frequency is anomalous</a:t>
          </a:r>
        </a:p>
      </dsp:txBody>
      <dsp:txXfrm>
        <a:off x="54" y="671004"/>
        <a:ext cx="5197577" cy="3461788"/>
      </dsp:txXfrm>
    </dsp:sp>
    <dsp:sp modelId="{4A625CC7-4BB3-464C-8C22-CDF3E7DC7DA5}">
      <dsp:nvSpPr>
        <dsp:cNvPr id="0" name=""/>
        <dsp:cNvSpPr/>
      </dsp:nvSpPr>
      <dsp:spPr>
        <a:xfrm>
          <a:off x="5925292" y="152604"/>
          <a:ext cx="5197577" cy="5184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Sequential anomaly</a:t>
          </a:r>
        </a:p>
      </dsp:txBody>
      <dsp:txXfrm>
        <a:off x="5925292" y="152604"/>
        <a:ext cx="5197577" cy="518400"/>
      </dsp:txXfrm>
    </dsp:sp>
    <dsp:sp modelId="{A4DFBCB3-1BEF-49AD-8204-78AE6AEEF1D6}">
      <dsp:nvSpPr>
        <dsp:cNvPr id="0" name=""/>
        <dsp:cNvSpPr/>
      </dsp:nvSpPr>
      <dsp:spPr>
        <a:xfrm>
          <a:off x="5925292" y="671004"/>
          <a:ext cx="5197577" cy="346178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represents an anomalous sequence of single events usually categorized as normal. </a:t>
          </a:r>
        </a:p>
        <a:p>
          <a:pPr marL="171450" lvl="1" indent="-171450" algn="l" defTabSz="800100">
            <a:lnSpc>
              <a:spcPct val="90000"/>
            </a:lnSpc>
            <a:spcBef>
              <a:spcPct val="0"/>
            </a:spcBef>
            <a:spcAft>
              <a:spcPct val="15000"/>
            </a:spcAft>
            <a:buChar char="•"/>
          </a:pPr>
          <a:r>
            <a:rPr lang="en-US" sz="1800" kern="1200" dirty="0"/>
            <a:t>In an ICT network, a sequential anomaly can be caused,</a:t>
          </a:r>
        </a:p>
        <a:p>
          <a:pPr marL="171450" lvl="1" indent="-171450" algn="l" defTabSz="800100">
            <a:lnSpc>
              <a:spcPct val="90000"/>
            </a:lnSpc>
            <a:spcBef>
              <a:spcPct val="0"/>
            </a:spcBef>
            <a:spcAft>
              <a:spcPct val="15000"/>
            </a:spcAft>
            <a:buChar char="•"/>
          </a:pPr>
          <a:r>
            <a:rPr lang="en-US" sz="1800" kern="1200" dirty="0"/>
            <a:t>e.g., by </a:t>
          </a:r>
          <a:r>
            <a:rPr lang="en-US" sz="1800" kern="1200" dirty="0">
              <a:solidFill>
                <a:srgbClr val="FF0000"/>
              </a:solidFill>
            </a:rPr>
            <a:t>violating an access chain. For example, a normal database server access is usually only allowed via a firewall and a Web server</a:t>
          </a:r>
        </a:p>
        <a:p>
          <a:pPr marL="171450" lvl="1" indent="-171450" algn="l" defTabSz="800100">
            <a:lnSpc>
              <a:spcPct val="90000"/>
            </a:lnSpc>
            <a:spcBef>
              <a:spcPct val="0"/>
            </a:spcBef>
            <a:spcAft>
              <a:spcPct val="15000"/>
            </a:spcAft>
            <a:buChar char="•"/>
          </a:pPr>
          <a:r>
            <a:rPr lang="en-US" sz="1800" kern="1200" dirty="0">
              <a:solidFill>
                <a:srgbClr val="FF0000"/>
              </a:solidFill>
            </a:rPr>
            <a:t>Therefore, it would be malicious if someone accessed the database server directly without accessing the Web server.</a:t>
          </a:r>
        </a:p>
      </dsp:txBody>
      <dsp:txXfrm>
        <a:off x="5925292" y="671004"/>
        <a:ext cx="5197577" cy="346178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163A5-B6B0-4711-B32B-B61A78C73AD5}" type="datetimeFigureOut">
              <a:rPr lang="en-US" smtClean="0"/>
              <a:t>8/28/2025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2111D-EAD9-4186-815E-39475E018054}" type="slidenum">
              <a:rPr lang="en-US" smtClean="0"/>
              <a:t>‹#›</a:t>
            </a:fld>
            <a:endParaRPr lang="en-US"/>
          </a:p>
        </p:txBody>
      </p:sp>
    </p:spTree>
    <p:extLst>
      <p:ext uri="{BB962C8B-B14F-4D97-AF65-F5344CB8AC3E}">
        <p14:creationId xmlns:p14="http://schemas.microsoft.com/office/powerpoint/2010/main" val="1267956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2111D-EAD9-4186-815E-39475E018054}" type="slidenum">
              <a:rPr lang="en-US" smtClean="0"/>
              <a:t>11</a:t>
            </a:fld>
            <a:endParaRPr lang="en-US"/>
          </a:p>
        </p:txBody>
      </p:sp>
    </p:spTree>
    <p:extLst>
      <p:ext uri="{BB962C8B-B14F-4D97-AF65-F5344CB8AC3E}">
        <p14:creationId xmlns:p14="http://schemas.microsoft.com/office/powerpoint/2010/main" val="2296519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2111D-EAD9-4186-815E-39475E018054}" type="slidenum">
              <a:rPr lang="en-US" smtClean="0"/>
              <a:t>20</a:t>
            </a:fld>
            <a:endParaRPr lang="en-US"/>
          </a:p>
        </p:txBody>
      </p:sp>
    </p:spTree>
    <p:extLst>
      <p:ext uri="{BB962C8B-B14F-4D97-AF65-F5344CB8AC3E}">
        <p14:creationId xmlns:p14="http://schemas.microsoft.com/office/powerpoint/2010/main" val="2782840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2111D-EAD9-4186-815E-39475E018054}" type="slidenum">
              <a:rPr lang="en-US" smtClean="0"/>
              <a:t>21</a:t>
            </a:fld>
            <a:endParaRPr lang="en-US"/>
          </a:p>
        </p:txBody>
      </p:sp>
    </p:spTree>
    <p:extLst>
      <p:ext uri="{BB962C8B-B14F-4D97-AF65-F5344CB8AC3E}">
        <p14:creationId xmlns:p14="http://schemas.microsoft.com/office/powerpoint/2010/main" val="267049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2111D-EAD9-4186-815E-39475E018054}" type="slidenum">
              <a:rPr lang="en-US" smtClean="0"/>
              <a:t>34</a:t>
            </a:fld>
            <a:endParaRPr lang="en-US"/>
          </a:p>
        </p:txBody>
      </p:sp>
    </p:spTree>
    <p:extLst>
      <p:ext uri="{BB962C8B-B14F-4D97-AF65-F5344CB8AC3E}">
        <p14:creationId xmlns:p14="http://schemas.microsoft.com/office/powerpoint/2010/main" val="62957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2111D-EAD9-4186-815E-39475E018054}" type="slidenum">
              <a:rPr lang="en-US" smtClean="0"/>
              <a:t>66</a:t>
            </a:fld>
            <a:endParaRPr lang="en-US"/>
          </a:p>
        </p:txBody>
      </p:sp>
    </p:spTree>
    <p:extLst>
      <p:ext uri="{BB962C8B-B14F-4D97-AF65-F5344CB8AC3E}">
        <p14:creationId xmlns:p14="http://schemas.microsoft.com/office/powerpoint/2010/main" val="3232150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2825647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3406809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810326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163876-B266-4BCE-8BF5-0EF771CE8E09}"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3695493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163876-B266-4BCE-8BF5-0EF771CE8E09}" type="datetimeFigureOut">
              <a:rPr lang="en-US" smtClean="0"/>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2643474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163876-B266-4BCE-8BF5-0EF771CE8E09}" type="datetimeFigureOut">
              <a:rPr lang="en-US" smtClean="0"/>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638731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63876-B266-4BCE-8BF5-0EF771CE8E09}" type="datetimeFigureOut">
              <a:rPr lang="en-US" smtClean="0"/>
              <a:t>8/28/2025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48316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163876-B266-4BCE-8BF5-0EF771CE8E09}"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27199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163876-B266-4BCE-8BF5-0EF771CE8E09}"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3827093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163876-B266-4BCE-8BF5-0EF771CE8E09}"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2824118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2943692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4158931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346222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163876-B266-4BCE-8BF5-0EF771CE8E09}" type="datetimeFigureOut">
              <a:rPr lang="en-US" smtClean="0"/>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812898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163876-B266-4BCE-8BF5-0EF771CE8E09}" type="datetimeFigureOut">
              <a:rPr lang="en-US" smtClean="0"/>
              <a:t>8/28/2025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284386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1000521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163876-B266-4BCE-8BF5-0EF771CE8E09}"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13F34B-0805-44BA-AD9B-6F444A4905FD}" type="slidenum">
              <a:rPr lang="en-US" smtClean="0"/>
              <a:t>‹#›</a:t>
            </a:fld>
            <a:endParaRPr lang="en-US"/>
          </a:p>
        </p:txBody>
      </p:sp>
    </p:spTree>
    <p:extLst>
      <p:ext uri="{BB962C8B-B14F-4D97-AF65-F5344CB8AC3E}">
        <p14:creationId xmlns:p14="http://schemas.microsoft.com/office/powerpoint/2010/main" val="442880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163876-B266-4BCE-8BF5-0EF771CE8E09}" type="datetimeFigureOut">
              <a:rPr lang="en-US" smtClean="0"/>
              <a:t>8/28/2025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713F34B-0805-44BA-AD9B-6F444A4905FD}" type="slidenum">
              <a:rPr lang="en-US" smtClean="0"/>
              <a:t>‹#›</a:t>
            </a:fld>
            <a:endParaRPr lang="en-US"/>
          </a:p>
        </p:txBody>
      </p:sp>
    </p:spTree>
    <p:extLst>
      <p:ext uri="{BB962C8B-B14F-4D97-AF65-F5344CB8AC3E}">
        <p14:creationId xmlns:p14="http://schemas.microsoft.com/office/powerpoint/2010/main" val="282084418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3</a:t>
            </a:r>
            <a:br>
              <a:rPr lang="en-US" dirty="0"/>
            </a:br>
            <a:endParaRPr lang="en-US" dirty="0"/>
          </a:p>
        </p:txBody>
      </p:sp>
      <p:sp>
        <p:nvSpPr>
          <p:cNvPr id="3" name="Subtitle 2"/>
          <p:cNvSpPr>
            <a:spLocks noGrp="1"/>
          </p:cNvSpPr>
          <p:nvPr>
            <p:ph type="subTitle" idx="1"/>
          </p:nvPr>
        </p:nvSpPr>
        <p:spPr>
          <a:xfrm>
            <a:off x="1154954" y="4107976"/>
            <a:ext cx="9845141" cy="1530824"/>
          </a:xfrm>
        </p:spPr>
        <p:txBody>
          <a:bodyPr>
            <a:noAutofit/>
          </a:bodyPr>
          <a:lstStyle/>
          <a:p>
            <a:r>
              <a:rPr lang="en-US" sz="3200" b="1" dirty="0"/>
              <a:t>Monitoring, Logging, and Network</a:t>
            </a:r>
          </a:p>
          <a:p>
            <a:r>
              <a:rPr lang="en-US" sz="3200" b="1" dirty="0"/>
              <a:t>Analysis to Threat Intelligence Extraction</a:t>
            </a:r>
            <a:endParaRPr lang="en-US" sz="3200" dirty="0"/>
          </a:p>
        </p:txBody>
      </p:sp>
    </p:spTree>
    <p:extLst>
      <p:ext uri="{BB962C8B-B14F-4D97-AF65-F5344CB8AC3E}">
        <p14:creationId xmlns:p14="http://schemas.microsoft.com/office/powerpoint/2010/main" val="239791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154954" y="2603500"/>
            <a:ext cx="10541177" cy="3416300"/>
          </a:xfrm>
        </p:spPr>
        <p:txBody>
          <a:bodyPr>
            <a:normAutofit/>
          </a:bodyPr>
          <a:lstStyle/>
          <a:p>
            <a:r>
              <a:rPr lang="en-US" sz="2400" dirty="0"/>
              <a:t>The importance and high connectivity of today’s information and communication technologies motivate a </a:t>
            </a:r>
            <a:r>
              <a:rPr lang="en-US" sz="2400" dirty="0">
                <a:solidFill>
                  <a:srgbClr val="FF0000"/>
                </a:solidFill>
              </a:rPr>
              <a:t>more coordinated approach to cyber security than is common today. </a:t>
            </a:r>
          </a:p>
          <a:p>
            <a:r>
              <a:rPr lang="en-US" sz="2400" dirty="0"/>
              <a:t>Sharing threat intelligence among companies and state is one approach that we argue is critical to achieving a coordinated push for cyber security.</a:t>
            </a:r>
          </a:p>
        </p:txBody>
      </p:sp>
    </p:spTree>
    <p:extLst>
      <p:ext uri="{BB962C8B-B14F-4D97-AF65-F5344CB8AC3E}">
        <p14:creationId xmlns:p14="http://schemas.microsoft.com/office/powerpoint/2010/main" val="823977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45894" cy="4070256"/>
          </a:xfrm>
        </p:spPr>
        <p:txBody>
          <a:bodyPr>
            <a:normAutofit/>
          </a:bodyPr>
          <a:lstStyle/>
          <a:p>
            <a:r>
              <a:rPr lang="en-US" sz="2400" dirty="0"/>
              <a:t>To encourage participation and improve acceptance, it is critical that </a:t>
            </a:r>
            <a:r>
              <a:rPr lang="en-US" sz="2400" dirty="0">
                <a:solidFill>
                  <a:srgbClr val="FF0000"/>
                </a:solidFill>
              </a:rPr>
              <a:t>proposed solutions take existing security installations at the organization and the state level into account. </a:t>
            </a:r>
          </a:p>
          <a:p>
            <a:r>
              <a:rPr lang="en-US" sz="2400" dirty="0"/>
              <a:t>Moreover, the existing solutions need to be integrated in information sharing solutions.</a:t>
            </a:r>
          </a:p>
          <a:p>
            <a:r>
              <a:rPr lang="en-US" sz="2400" dirty="0"/>
              <a:t>Focus on the following aspects</a:t>
            </a:r>
          </a:p>
          <a:p>
            <a:pPr lvl="1"/>
            <a:r>
              <a:rPr lang="en-US" sz="2000" dirty="0"/>
              <a:t>Concepts of </a:t>
            </a:r>
            <a:r>
              <a:rPr lang="en-US" sz="2000" dirty="0" err="1"/>
              <a:t>cybersecurity</a:t>
            </a:r>
            <a:r>
              <a:rPr lang="en-US" sz="2000" dirty="0"/>
              <a:t> information sharing</a:t>
            </a:r>
          </a:p>
          <a:p>
            <a:pPr lvl="1"/>
            <a:r>
              <a:rPr lang="en-US" sz="2000" dirty="0"/>
              <a:t>Overview of common data sources</a:t>
            </a:r>
          </a:p>
          <a:p>
            <a:pPr lvl="1"/>
            <a:r>
              <a:rPr lang="en-US" sz="2000" dirty="0"/>
              <a:t>Overview of high-level analysis techniques:</a:t>
            </a:r>
          </a:p>
        </p:txBody>
      </p:sp>
    </p:spTree>
    <p:extLst>
      <p:ext uri="{BB962C8B-B14F-4D97-AF65-F5344CB8AC3E}">
        <p14:creationId xmlns:p14="http://schemas.microsoft.com/office/powerpoint/2010/main" val="1084534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Overview of Concepts in Cyber Threat Intelligence</a:t>
            </a:r>
          </a:p>
        </p:txBody>
      </p:sp>
      <p:sp>
        <p:nvSpPr>
          <p:cNvPr id="3" name="Content Placeholder 2"/>
          <p:cNvSpPr>
            <a:spLocks noGrp="1"/>
          </p:cNvSpPr>
          <p:nvPr>
            <p:ph idx="1"/>
          </p:nvPr>
        </p:nvSpPr>
        <p:spPr>
          <a:xfrm>
            <a:off x="1154954" y="2603500"/>
            <a:ext cx="10814133" cy="3416300"/>
          </a:xfrm>
        </p:spPr>
        <p:txBody>
          <a:bodyPr>
            <a:normAutofit/>
          </a:bodyPr>
          <a:lstStyle/>
          <a:p>
            <a:r>
              <a:rPr lang="en-US" sz="2000" dirty="0"/>
              <a:t>In order to understand the </a:t>
            </a:r>
            <a:r>
              <a:rPr lang="en-US" sz="2000" dirty="0">
                <a:solidFill>
                  <a:srgbClr val="FF0000"/>
                </a:solidFill>
              </a:rPr>
              <a:t>effective use of data generated </a:t>
            </a:r>
            <a:r>
              <a:rPr lang="en-US" sz="2000" dirty="0"/>
              <a:t>and </a:t>
            </a:r>
            <a:r>
              <a:rPr lang="en-US" sz="2000" dirty="0">
                <a:solidFill>
                  <a:srgbClr val="FF0000"/>
                </a:solidFill>
              </a:rPr>
              <a:t>used on an organizational level for security analysis </a:t>
            </a:r>
            <a:r>
              <a:rPr lang="en-US" sz="2000" dirty="0"/>
              <a:t>in the context of cyber threat intelligence, </a:t>
            </a:r>
            <a:r>
              <a:rPr lang="en-US" sz="2000" dirty="0">
                <a:solidFill>
                  <a:srgbClr val="FF0000"/>
                </a:solidFill>
              </a:rPr>
              <a:t>a shared terminology needs to be defined for different aspects of shareable information.</a:t>
            </a:r>
          </a:p>
          <a:p>
            <a:r>
              <a:rPr lang="en-US" sz="2000" dirty="0"/>
              <a:t>Further, there is one particular important concept—namely, asset management— that is a basic requirement to make use of threat intelligence information</a:t>
            </a:r>
          </a:p>
        </p:txBody>
      </p:sp>
    </p:spTree>
    <p:extLst>
      <p:ext uri="{BB962C8B-B14F-4D97-AF65-F5344CB8AC3E}">
        <p14:creationId xmlns:p14="http://schemas.microsoft.com/office/powerpoint/2010/main" val="4231730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Artifacts in Cyber Threat Intelligence</a:t>
            </a:r>
            <a:endParaRPr lang="en-US" dirty="0"/>
          </a:p>
        </p:txBody>
      </p:sp>
      <p:sp>
        <p:nvSpPr>
          <p:cNvPr id="3" name="Content Placeholder 2"/>
          <p:cNvSpPr>
            <a:spLocks noGrp="1"/>
          </p:cNvSpPr>
          <p:nvPr>
            <p:ph idx="1"/>
          </p:nvPr>
        </p:nvSpPr>
        <p:spPr>
          <a:xfrm>
            <a:off x="1154954" y="2603500"/>
            <a:ext cx="10896019" cy="3920130"/>
          </a:xfrm>
        </p:spPr>
        <p:txBody>
          <a:bodyPr>
            <a:normAutofit fontScale="92500"/>
          </a:bodyPr>
          <a:lstStyle/>
          <a:p>
            <a:r>
              <a:rPr lang="en-US" sz="2400" b="1" i="1" u="sng" dirty="0"/>
              <a:t>Observables:</a:t>
            </a:r>
            <a:r>
              <a:rPr lang="en-US" sz="2400" i="1" dirty="0"/>
              <a:t> </a:t>
            </a:r>
          </a:p>
          <a:p>
            <a:r>
              <a:rPr lang="en-US" sz="2400" dirty="0"/>
              <a:t>Observables are </a:t>
            </a:r>
            <a:r>
              <a:rPr lang="en-US" sz="2400" dirty="0">
                <a:solidFill>
                  <a:srgbClr val="FF0000"/>
                </a:solidFill>
              </a:rPr>
              <a:t>the lowest level of information </a:t>
            </a:r>
            <a:r>
              <a:rPr lang="en-US" sz="2400" dirty="0"/>
              <a:t>used in threat intelligence.</a:t>
            </a:r>
          </a:p>
          <a:p>
            <a:r>
              <a:rPr lang="en-US" sz="2400" dirty="0"/>
              <a:t>The term describes </a:t>
            </a:r>
            <a:r>
              <a:rPr lang="en-US" sz="2400" dirty="0">
                <a:solidFill>
                  <a:srgbClr val="FF0000"/>
                </a:solidFill>
              </a:rPr>
              <a:t>all </a:t>
            </a:r>
            <a:r>
              <a:rPr lang="en-US" sz="2400" i="1" dirty="0">
                <a:solidFill>
                  <a:srgbClr val="FF0000"/>
                </a:solidFill>
              </a:rPr>
              <a:t>measurable events or </a:t>
            </a:r>
            <a:r>
              <a:rPr lang="en-US" sz="2400" i="1" dirty="0" err="1">
                <a:solidFill>
                  <a:srgbClr val="FF0000"/>
                </a:solidFill>
              </a:rPr>
              <a:t>stateful</a:t>
            </a:r>
            <a:r>
              <a:rPr lang="en-US" sz="2400" i="1" dirty="0">
                <a:solidFill>
                  <a:srgbClr val="FF0000"/>
                </a:solidFill>
              </a:rPr>
              <a:t> properties</a:t>
            </a:r>
            <a:r>
              <a:rPr lang="en-US" sz="2400" dirty="0">
                <a:solidFill>
                  <a:srgbClr val="FF0000"/>
                </a:solidFill>
              </a:rPr>
              <a:t> that can be detected in the cyber domain.</a:t>
            </a:r>
          </a:p>
          <a:p>
            <a:r>
              <a:rPr lang="en-US" sz="2400" dirty="0"/>
              <a:t>The set of observables in a given system is merely the </a:t>
            </a:r>
            <a:r>
              <a:rPr lang="en-US" sz="2400" dirty="0">
                <a:solidFill>
                  <a:srgbClr val="FF0000"/>
                </a:solidFill>
              </a:rPr>
              <a:t>set system aspects that can be measured or detected.</a:t>
            </a:r>
            <a:r>
              <a:rPr lang="en-US" sz="2400" dirty="0"/>
              <a:t> This is the main difference between observables and indicators.</a:t>
            </a:r>
          </a:p>
          <a:p>
            <a:r>
              <a:rPr lang="en-US" sz="2400" b="1" dirty="0"/>
              <a:t>Example</a:t>
            </a:r>
            <a:r>
              <a:rPr lang="en-US" sz="2400" dirty="0"/>
              <a:t> of event-based observables </a:t>
            </a:r>
          </a:p>
          <a:p>
            <a:pPr lvl="1"/>
            <a:r>
              <a:rPr lang="en-US" sz="2200" dirty="0">
                <a:solidFill>
                  <a:srgbClr val="FF0000"/>
                </a:solidFill>
              </a:rPr>
              <a:t>change made to a file or a rule </a:t>
            </a:r>
            <a:r>
              <a:rPr lang="en-US" sz="2200" dirty="0"/>
              <a:t>in an intrusion detection system (IDS) that is fired.</a:t>
            </a:r>
          </a:p>
          <a:p>
            <a:endParaRPr lang="en-US" sz="2400" dirty="0"/>
          </a:p>
        </p:txBody>
      </p:sp>
    </p:spTree>
    <p:extLst>
      <p:ext uri="{BB962C8B-B14F-4D97-AF65-F5344CB8AC3E}">
        <p14:creationId xmlns:p14="http://schemas.microsoft.com/office/powerpoint/2010/main" val="3686239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77672" y="2244789"/>
            <a:ext cx="11423176" cy="4374375"/>
          </a:xfrm>
        </p:spPr>
        <p:txBody>
          <a:bodyPr>
            <a:noAutofit/>
          </a:bodyPr>
          <a:lstStyle/>
          <a:p>
            <a:r>
              <a:rPr lang="en-US" sz="2400" b="1" i="1" u="sng" dirty="0"/>
              <a:t>Indicator:</a:t>
            </a:r>
            <a:r>
              <a:rPr lang="en-US" sz="2400" i="1" dirty="0"/>
              <a:t> </a:t>
            </a:r>
          </a:p>
          <a:p>
            <a:r>
              <a:rPr lang="en-US" sz="2000" dirty="0"/>
              <a:t>An indicator is an observable that suggests that</a:t>
            </a:r>
          </a:p>
          <a:p>
            <a:pPr lvl="1"/>
            <a:r>
              <a:rPr lang="en-US" sz="1800" dirty="0">
                <a:solidFill>
                  <a:srgbClr val="FF0000"/>
                </a:solidFill>
              </a:rPr>
              <a:t>A cyber attack is imminent.</a:t>
            </a:r>
          </a:p>
          <a:p>
            <a:pPr lvl="1"/>
            <a:r>
              <a:rPr lang="en-US" sz="1800" dirty="0">
                <a:solidFill>
                  <a:srgbClr val="FF0000"/>
                </a:solidFill>
              </a:rPr>
              <a:t>A cyber attack is currently present in the system.</a:t>
            </a:r>
          </a:p>
          <a:p>
            <a:pPr lvl="1"/>
            <a:r>
              <a:rPr lang="en-US" sz="1800" dirty="0">
                <a:solidFill>
                  <a:srgbClr val="FF0000"/>
                </a:solidFill>
              </a:rPr>
              <a:t>The system has been compromised at a previous point in time</a:t>
            </a:r>
            <a:r>
              <a:rPr lang="en-US" sz="1800" dirty="0"/>
              <a:t>.</a:t>
            </a:r>
          </a:p>
          <a:p>
            <a:r>
              <a:rPr lang="en-US" sz="2000" dirty="0"/>
              <a:t>An indicator relates the states or events described by observables to malicious behavior.</a:t>
            </a:r>
          </a:p>
          <a:p>
            <a:r>
              <a:rPr lang="en-US" sz="2000" b="1" dirty="0"/>
              <a:t>Example: </a:t>
            </a:r>
          </a:p>
          <a:p>
            <a:pPr lvl="1"/>
            <a:r>
              <a:rPr lang="en-US" sz="1800" dirty="0"/>
              <a:t>The </a:t>
            </a:r>
            <a:r>
              <a:rPr lang="en-US" sz="1800" dirty="0">
                <a:solidFill>
                  <a:srgbClr val="FF0000"/>
                </a:solidFill>
              </a:rPr>
              <a:t>hash value of a file </a:t>
            </a:r>
            <a:r>
              <a:rPr lang="en-US" sz="1800" dirty="0"/>
              <a:t>is an indicator if the file it belongs to is a known piece of malware. </a:t>
            </a:r>
          </a:p>
          <a:p>
            <a:pPr lvl="1"/>
            <a:r>
              <a:rPr lang="en-US" sz="1800" dirty="0"/>
              <a:t>A </a:t>
            </a:r>
            <a:r>
              <a:rPr lang="en-US" sz="1800" dirty="0">
                <a:solidFill>
                  <a:srgbClr val="FF0000"/>
                </a:solidFill>
              </a:rPr>
              <a:t>fired IDS rule </a:t>
            </a:r>
            <a:r>
              <a:rPr lang="en-US" sz="1800" dirty="0"/>
              <a:t>is most likely an indicator for unwanted or malicious system behavior.</a:t>
            </a:r>
          </a:p>
        </p:txBody>
      </p:sp>
    </p:spTree>
    <p:extLst>
      <p:ext uri="{BB962C8B-B14F-4D97-AF65-F5344CB8AC3E}">
        <p14:creationId xmlns:p14="http://schemas.microsoft.com/office/powerpoint/2010/main" val="358926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MALWARE INDICATORS</a:t>
            </a:r>
            <a:endParaRPr lang="en-US" dirty="0"/>
          </a:p>
        </p:txBody>
      </p:sp>
      <p:sp>
        <p:nvSpPr>
          <p:cNvPr id="3" name="Content Placeholder 2"/>
          <p:cNvSpPr>
            <a:spLocks noGrp="1"/>
          </p:cNvSpPr>
          <p:nvPr>
            <p:ph idx="1"/>
          </p:nvPr>
        </p:nvSpPr>
        <p:spPr>
          <a:xfrm>
            <a:off x="1154954" y="2603499"/>
            <a:ext cx="10677655" cy="3851891"/>
          </a:xfrm>
        </p:spPr>
        <p:txBody>
          <a:bodyPr>
            <a:noAutofit/>
          </a:bodyPr>
          <a:lstStyle/>
          <a:p>
            <a:r>
              <a:rPr lang="en-US" sz="2200" dirty="0"/>
              <a:t>One piece of malware that was suppose used in both the attack on the Ukraine power grid and the </a:t>
            </a:r>
            <a:r>
              <a:rPr lang="en-US" sz="2200" dirty="0" err="1"/>
              <a:t>sony</a:t>
            </a:r>
            <a:r>
              <a:rPr lang="en-US" sz="2200" dirty="0"/>
              <a:t> hack was a </a:t>
            </a:r>
            <a:r>
              <a:rPr lang="en-US" sz="2200" dirty="0">
                <a:solidFill>
                  <a:srgbClr val="FF0000"/>
                </a:solidFill>
              </a:rPr>
              <a:t>Server Message Block (SMB) worm that was classified by the US-CERT as Targeted Destructive Malware under Alert TA14-353A.</a:t>
            </a:r>
            <a:r>
              <a:rPr lang="en-US" sz="2200" dirty="0"/>
              <a:t> With the alert, a list of indicators was published.</a:t>
            </a:r>
          </a:p>
          <a:p>
            <a:r>
              <a:rPr lang="en-US" sz="2200" dirty="0">
                <a:solidFill>
                  <a:srgbClr val="FF0000"/>
                </a:solidFill>
              </a:rPr>
              <a:t>These included file hashes of detected instances of different components of the malware, IP addresses commonly used for the command and control (C2) capabilities</a:t>
            </a:r>
            <a:r>
              <a:rPr lang="en-US" sz="2200" dirty="0"/>
              <a:t> as well as rules for the Snort intrusion detection system that can detect network traffic that is characteristic for this worm. Some examples of this information can be found as follows:</a:t>
            </a:r>
          </a:p>
        </p:txBody>
      </p:sp>
    </p:spTree>
    <p:extLst>
      <p:ext uri="{BB962C8B-B14F-4D97-AF65-F5344CB8AC3E}">
        <p14:creationId xmlns:p14="http://schemas.microsoft.com/office/powerpoint/2010/main" val="4018645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1626" y="0"/>
            <a:ext cx="8775580" cy="6812401"/>
          </a:xfrm>
          <a:prstGeom prst="rect">
            <a:avLst/>
          </a:prstGeom>
        </p:spPr>
      </p:pic>
    </p:spTree>
    <p:extLst>
      <p:ext uri="{BB962C8B-B14F-4D97-AF65-F5344CB8AC3E}">
        <p14:creationId xmlns:p14="http://schemas.microsoft.com/office/powerpoint/2010/main" val="1412113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59542" cy="3947425"/>
          </a:xfrm>
        </p:spPr>
        <p:txBody>
          <a:bodyPr>
            <a:normAutofit/>
          </a:bodyPr>
          <a:lstStyle/>
          <a:p>
            <a:r>
              <a:rPr lang="en-US" sz="2000" dirty="0"/>
              <a:t> </a:t>
            </a:r>
            <a:r>
              <a:rPr lang="en-US" sz="2000" dirty="0">
                <a:solidFill>
                  <a:srgbClr val="FF0000"/>
                </a:solidFill>
              </a:rPr>
              <a:t>The classical Indicators of Compromise (</a:t>
            </a:r>
            <a:r>
              <a:rPr lang="en-US" sz="2000" dirty="0" err="1">
                <a:solidFill>
                  <a:srgbClr val="FF0000"/>
                </a:solidFill>
              </a:rPr>
              <a:t>IoC</a:t>
            </a:r>
            <a:r>
              <a:rPr lang="en-US" sz="2000" dirty="0">
                <a:solidFill>
                  <a:srgbClr val="FF0000"/>
                </a:solidFill>
              </a:rPr>
              <a:t>) are said to indicate attacks only after they </a:t>
            </a:r>
            <a:r>
              <a:rPr lang="en-US" sz="2000" dirty="0" err="1">
                <a:solidFill>
                  <a:srgbClr val="FF0000"/>
                </a:solidFill>
              </a:rPr>
              <a:t>occurr</a:t>
            </a:r>
            <a:r>
              <a:rPr lang="en-US" sz="2000" dirty="0">
                <a:solidFill>
                  <a:srgbClr val="FF0000"/>
                </a:solidFill>
              </a:rPr>
              <a:t>, Indicators of Attack (</a:t>
            </a:r>
            <a:r>
              <a:rPr lang="en-US" sz="2000" dirty="0" err="1">
                <a:solidFill>
                  <a:srgbClr val="FF0000"/>
                </a:solidFill>
              </a:rPr>
              <a:t>IoA</a:t>
            </a:r>
            <a:r>
              <a:rPr lang="en-US" sz="2000" dirty="0">
                <a:solidFill>
                  <a:srgbClr val="FF0000"/>
                </a:solidFill>
              </a:rPr>
              <a:t>) allow a more proactive approach, detecting attacks before they happen or while they are happening by looking at system behavior</a:t>
            </a:r>
            <a:r>
              <a:rPr lang="en-US" sz="2000" dirty="0"/>
              <a:t>.</a:t>
            </a:r>
          </a:p>
          <a:p>
            <a:r>
              <a:rPr lang="en-US" sz="2000" dirty="0"/>
              <a:t>It is therefore important to note that a </a:t>
            </a:r>
            <a:r>
              <a:rPr lang="en-US" sz="2000" dirty="0">
                <a:solidFill>
                  <a:srgbClr val="FF0000"/>
                </a:solidFill>
              </a:rPr>
              <a:t>database of indicators is never going to be sufficiently extensive to guarantee detection. </a:t>
            </a:r>
            <a:r>
              <a:rPr lang="en-US" sz="2000" dirty="0"/>
              <a:t>The work necessary to keep indicator databases up to date is hard—if not impossible—to achieve by a single entity. </a:t>
            </a:r>
          </a:p>
          <a:p>
            <a:r>
              <a:rPr lang="en-US" sz="2000" dirty="0"/>
              <a:t>Dividing this task among all participants of a community and sharing the relevant results is one of the goals behind threat intelligence sharing</a:t>
            </a:r>
          </a:p>
        </p:txBody>
      </p:sp>
    </p:spTree>
    <p:extLst>
      <p:ext uri="{BB962C8B-B14F-4D97-AF65-F5344CB8AC3E}">
        <p14:creationId xmlns:p14="http://schemas.microsoft.com/office/powerpoint/2010/main" val="2507162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73189" cy="3974721"/>
          </a:xfrm>
        </p:spPr>
        <p:txBody>
          <a:bodyPr>
            <a:normAutofit/>
          </a:bodyPr>
          <a:lstStyle/>
          <a:p>
            <a:r>
              <a:rPr lang="en-US" sz="2200" b="1" i="1" u="sng" dirty="0"/>
              <a:t>Threat actors and tactics, techniques, and procedures (TTPs):</a:t>
            </a:r>
          </a:p>
          <a:p>
            <a:r>
              <a:rPr lang="en-US" sz="2000" dirty="0"/>
              <a:t>At each stage of the attack, different techniques can be used by the adversary to achieve a certain goal.</a:t>
            </a:r>
          </a:p>
          <a:p>
            <a:r>
              <a:rPr lang="en-US" sz="2000" dirty="0">
                <a:solidFill>
                  <a:srgbClr val="FF0000"/>
                </a:solidFill>
              </a:rPr>
              <a:t>TTPs describe common behavioral patterns of adversaries. Threat actors tend to use similar attack patterns and pieces of malware in their attacks</a:t>
            </a:r>
            <a:r>
              <a:rPr lang="en-US" sz="2000" dirty="0"/>
              <a:t>.</a:t>
            </a:r>
          </a:p>
          <a:p>
            <a:r>
              <a:rPr lang="en-US" sz="2000" dirty="0">
                <a:solidFill>
                  <a:srgbClr val="FF0000"/>
                </a:solidFill>
              </a:rPr>
              <a:t>They leverage resources including service providers (cloud infrastructure, registrars, etc.) and have certain targets and goals</a:t>
            </a:r>
            <a:r>
              <a:rPr lang="en-US" sz="2000" dirty="0"/>
              <a:t>. </a:t>
            </a:r>
          </a:p>
          <a:p>
            <a:r>
              <a:rPr lang="en-US" sz="2000" dirty="0"/>
              <a:t>TTPs structure this information to describe adversary behavior that can be used for attribution</a:t>
            </a:r>
          </a:p>
        </p:txBody>
      </p:sp>
    </p:spTree>
    <p:extLst>
      <p:ext uri="{BB962C8B-B14F-4D97-AF65-F5344CB8AC3E}">
        <p14:creationId xmlns:p14="http://schemas.microsoft.com/office/powerpoint/2010/main" val="2885496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691303" cy="4070256"/>
          </a:xfrm>
        </p:spPr>
        <p:txBody>
          <a:bodyPr>
            <a:normAutofit/>
          </a:bodyPr>
          <a:lstStyle/>
          <a:p>
            <a:r>
              <a:rPr lang="en-US" sz="2200" b="1" i="1" u="sng" dirty="0"/>
              <a:t>Incident:</a:t>
            </a:r>
          </a:p>
          <a:p>
            <a:r>
              <a:rPr lang="en-US" sz="2000" dirty="0"/>
              <a:t>An incident describes the </a:t>
            </a:r>
            <a:r>
              <a:rPr lang="en-US" sz="2000" dirty="0">
                <a:solidFill>
                  <a:srgbClr val="FF0000"/>
                </a:solidFill>
              </a:rPr>
              <a:t>events that took place during a cyber security incident as well as the effects the incident had on the observed systems. </a:t>
            </a:r>
          </a:p>
          <a:p>
            <a:r>
              <a:rPr lang="en-US" sz="2000" dirty="0"/>
              <a:t>On a technical level, it </a:t>
            </a:r>
            <a:r>
              <a:rPr lang="en-US" sz="2000" dirty="0">
                <a:solidFill>
                  <a:srgbClr val="FF0000"/>
                </a:solidFill>
              </a:rPr>
              <a:t>contains the vulnerabilities that were exploited, indicators that were found in the systems, and the TTPs used by the attacker</a:t>
            </a:r>
          </a:p>
          <a:p>
            <a:r>
              <a:rPr lang="en-US" sz="2000" dirty="0"/>
              <a:t>It further </a:t>
            </a:r>
            <a:r>
              <a:rPr lang="en-US" sz="2000" dirty="0">
                <a:solidFill>
                  <a:srgbClr val="FF0000"/>
                </a:solidFill>
              </a:rPr>
              <a:t>describes the impact of the attack on the systems and the organization as a whole: </a:t>
            </a:r>
            <a:r>
              <a:rPr lang="en-US" sz="2000" dirty="0"/>
              <a:t>what was </a:t>
            </a:r>
            <a:r>
              <a:rPr lang="en-US" sz="2000" dirty="0">
                <a:solidFill>
                  <a:srgbClr val="FF0000"/>
                </a:solidFill>
              </a:rPr>
              <a:t>the impact on operations, was sensitive data </a:t>
            </a:r>
            <a:r>
              <a:rPr lang="en-US" sz="2000" dirty="0" err="1">
                <a:solidFill>
                  <a:srgbClr val="FF0000"/>
                </a:solidFill>
              </a:rPr>
              <a:t>exfiltrated</a:t>
            </a:r>
            <a:r>
              <a:rPr lang="en-US" sz="2000" dirty="0">
                <a:solidFill>
                  <a:srgbClr val="FF0000"/>
                </a:solidFill>
              </a:rPr>
              <a:t>, and what was the timeline of the attack?</a:t>
            </a:r>
          </a:p>
          <a:p>
            <a:r>
              <a:rPr lang="en-US" sz="2000" dirty="0"/>
              <a:t>This information is necessary for internal reporting but can also be used to achieve awareness on a national level when shared with governmental organizations or as a guideline for other potential targets to identify the attack.</a:t>
            </a:r>
            <a:endParaRPr lang="en-US" sz="2000" dirty="0">
              <a:solidFill>
                <a:srgbClr val="FF0000"/>
              </a:solidFill>
            </a:endParaRPr>
          </a:p>
        </p:txBody>
      </p:sp>
    </p:spTree>
    <p:extLst>
      <p:ext uri="{BB962C8B-B14F-4D97-AF65-F5344CB8AC3E}">
        <p14:creationId xmlns:p14="http://schemas.microsoft.com/office/powerpoint/2010/main" val="825607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664007" cy="4056607"/>
          </a:xfrm>
        </p:spPr>
        <p:txBody>
          <a:bodyPr>
            <a:normAutofit fontScale="92500" lnSpcReduction="10000"/>
          </a:bodyPr>
          <a:lstStyle/>
          <a:p>
            <a:r>
              <a:rPr lang="en-US" sz="2400" b="1" i="1" u="sng" dirty="0"/>
              <a:t>Course of action</a:t>
            </a:r>
          </a:p>
          <a:p>
            <a:r>
              <a:rPr lang="en-US" sz="2000" dirty="0"/>
              <a:t>When information about new types of malware, vulnerabilities, or attack campaigns is circulated, it usually also contains a </a:t>
            </a:r>
            <a:r>
              <a:rPr lang="en-US" sz="2000" dirty="0">
                <a:solidFill>
                  <a:srgbClr val="FF0000"/>
                </a:solidFill>
              </a:rPr>
              <a:t>set of recommendations or guidelines on how to detect and mitigate the described threat.</a:t>
            </a:r>
          </a:p>
          <a:p>
            <a:r>
              <a:rPr lang="en-US" sz="2000" dirty="0"/>
              <a:t>These </a:t>
            </a:r>
            <a:r>
              <a:rPr lang="en-US" sz="2000" dirty="0">
                <a:solidFill>
                  <a:srgbClr val="FF0000"/>
                </a:solidFill>
              </a:rPr>
              <a:t>recommendations can contain actions that should be taken in advance to prevent a successful compromise or in response to an attack in order to mitigate the effects. </a:t>
            </a:r>
          </a:p>
          <a:p>
            <a:r>
              <a:rPr lang="en-US" sz="2000" dirty="0"/>
              <a:t>This approach is usually used in published CVEs or in security advisories issued by national CERTs.</a:t>
            </a:r>
          </a:p>
          <a:p>
            <a:r>
              <a:rPr lang="en-US" sz="2000" b="1" dirty="0"/>
              <a:t>Examples </a:t>
            </a:r>
          </a:p>
          <a:p>
            <a:r>
              <a:rPr lang="en-US" sz="2000" dirty="0"/>
              <a:t>preventive measures are software updates to remove vulnerable application versions or updated configurations.</a:t>
            </a:r>
          </a:p>
        </p:txBody>
      </p:sp>
    </p:spTree>
    <p:extLst>
      <p:ext uri="{BB962C8B-B14F-4D97-AF65-F5344CB8AC3E}">
        <p14:creationId xmlns:p14="http://schemas.microsoft.com/office/powerpoint/2010/main" val="987013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73189" cy="3879187"/>
          </a:xfrm>
        </p:spPr>
        <p:txBody>
          <a:bodyPr>
            <a:normAutofit/>
          </a:bodyPr>
          <a:lstStyle/>
          <a:p>
            <a:r>
              <a:rPr lang="en-US" sz="2200" b="1" i="1" u="sng" dirty="0"/>
              <a:t>Threat intelligence reports</a:t>
            </a:r>
          </a:p>
          <a:p>
            <a:r>
              <a:rPr lang="en-US" sz="2000" dirty="0"/>
              <a:t>Report is not structured for automated processing but is instead a </a:t>
            </a:r>
            <a:r>
              <a:rPr lang="en-US" sz="2000" dirty="0">
                <a:solidFill>
                  <a:srgbClr val="FF0000"/>
                </a:solidFill>
              </a:rPr>
              <a:t>prose document aimed at decision makers in organizations.</a:t>
            </a:r>
          </a:p>
          <a:p>
            <a:r>
              <a:rPr lang="en-US" sz="2000" dirty="0"/>
              <a:t> </a:t>
            </a:r>
            <a:r>
              <a:rPr lang="en-US" sz="2000" dirty="0">
                <a:solidFill>
                  <a:srgbClr val="FF0000"/>
                </a:solidFill>
              </a:rPr>
              <a:t>A report can be technical with details about a new piece of malware and how it is used by a threat actor or more abstract to provide situational awareness to an organization about a new attack campaign.</a:t>
            </a:r>
          </a:p>
          <a:p>
            <a:r>
              <a:rPr lang="en-US" sz="2000" dirty="0"/>
              <a:t>It can contain specific </a:t>
            </a:r>
            <a:r>
              <a:rPr lang="en-US" sz="2000" dirty="0" err="1"/>
              <a:t>IoCs</a:t>
            </a:r>
            <a:r>
              <a:rPr lang="en-US" sz="2000" dirty="0"/>
              <a:t> useful for detecting future instances of the described attack. </a:t>
            </a:r>
          </a:p>
          <a:p>
            <a:r>
              <a:rPr lang="en-US" sz="2000" dirty="0"/>
              <a:t>Therefore, it is a critical tool for information sharing.</a:t>
            </a:r>
          </a:p>
        </p:txBody>
      </p:sp>
    </p:spTree>
    <p:extLst>
      <p:ext uri="{BB962C8B-B14F-4D97-AF65-F5344CB8AC3E}">
        <p14:creationId xmlns:p14="http://schemas.microsoft.com/office/powerpoint/2010/main" val="3698918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 OPERATION BLOCKBUSTER: THREAT INTELLIGENCE REPORT</a:t>
            </a:r>
            <a:endParaRPr lang="en-US" dirty="0"/>
          </a:p>
        </p:txBody>
      </p:sp>
      <p:sp>
        <p:nvSpPr>
          <p:cNvPr id="3" name="Content Placeholder 2"/>
          <p:cNvSpPr>
            <a:spLocks noGrp="1"/>
          </p:cNvSpPr>
          <p:nvPr>
            <p:ph idx="1"/>
          </p:nvPr>
        </p:nvSpPr>
        <p:spPr>
          <a:xfrm>
            <a:off x="1154954" y="2603500"/>
            <a:ext cx="10541177" cy="3920130"/>
          </a:xfrm>
        </p:spPr>
        <p:txBody>
          <a:bodyPr>
            <a:normAutofit lnSpcReduction="10000"/>
          </a:bodyPr>
          <a:lstStyle/>
          <a:p>
            <a:r>
              <a:rPr lang="en-US" sz="2400" b="1" dirty="0"/>
              <a:t>Blockbuster report from </a:t>
            </a:r>
            <a:r>
              <a:rPr lang="en-US" sz="2400" b="1" dirty="0" err="1"/>
              <a:t>Novetta</a:t>
            </a:r>
            <a:r>
              <a:rPr lang="en-US" sz="2400" b="1" dirty="0"/>
              <a:t> on the </a:t>
            </a:r>
            <a:r>
              <a:rPr lang="en-US" sz="2400" b="1" dirty="0" err="1"/>
              <a:t>sony</a:t>
            </a:r>
            <a:r>
              <a:rPr lang="en-US" sz="2400" b="1" dirty="0"/>
              <a:t> attack .</a:t>
            </a:r>
          </a:p>
          <a:p>
            <a:r>
              <a:rPr lang="en-US" sz="2400" dirty="0">
                <a:solidFill>
                  <a:srgbClr val="FF0000"/>
                </a:solidFill>
              </a:rPr>
              <a:t>It was generated in response to the </a:t>
            </a:r>
            <a:r>
              <a:rPr lang="en-US" sz="2400" dirty="0" err="1">
                <a:solidFill>
                  <a:srgbClr val="FF0000"/>
                </a:solidFill>
              </a:rPr>
              <a:t>sony</a:t>
            </a:r>
            <a:r>
              <a:rPr lang="en-US" sz="2400" dirty="0">
                <a:solidFill>
                  <a:srgbClr val="FF0000"/>
                </a:solidFill>
              </a:rPr>
              <a:t> attack incident to reconstruct the happenings, identify the </a:t>
            </a:r>
            <a:r>
              <a:rPr lang="en-US" sz="2400" i="1" dirty="0">
                <a:solidFill>
                  <a:srgbClr val="FF0000"/>
                </a:solidFill>
              </a:rPr>
              <a:t>threat actor</a:t>
            </a:r>
            <a:r>
              <a:rPr lang="en-US" sz="2400" dirty="0">
                <a:solidFill>
                  <a:srgbClr val="FF0000"/>
                </a:solidFill>
              </a:rPr>
              <a:t>, its </a:t>
            </a:r>
            <a:r>
              <a:rPr lang="en-US" sz="2400" i="1" dirty="0">
                <a:solidFill>
                  <a:srgbClr val="FF0000"/>
                </a:solidFill>
              </a:rPr>
              <a:t>TTPs, </a:t>
            </a:r>
            <a:r>
              <a:rPr lang="en-US" sz="2400" dirty="0">
                <a:solidFill>
                  <a:srgbClr val="FF0000"/>
                </a:solidFill>
              </a:rPr>
              <a:t>and relevant </a:t>
            </a:r>
            <a:r>
              <a:rPr lang="en-US" sz="2400" i="1" dirty="0" err="1">
                <a:solidFill>
                  <a:srgbClr val="FF0000"/>
                </a:solidFill>
              </a:rPr>
              <a:t>IoCs</a:t>
            </a:r>
            <a:r>
              <a:rPr lang="en-US" sz="2400" dirty="0">
                <a:solidFill>
                  <a:srgbClr val="FF0000"/>
                </a:solidFill>
              </a:rPr>
              <a:t>. </a:t>
            </a:r>
          </a:p>
          <a:p>
            <a:r>
              <a:rPr lang="en-US" sz="2400" dirty="0"/>
              <a:t>While the general report provides a timeline of the threat actor’s attacks, the general classes of malware used, and their procedures, the report is also extended with auxiliary material including specific </a:t>
            </a:r>
            <a:r>
              <a:rPr lang="en-US" sz="2400" dirty="0" err="1"/>
              <a:t>IoCs</a:t>
            </a:r>
            <a:r>
              <a:rPr lang="en-US" sz="2400" dirty="0"/>
              <a:t> in STIX format, using YARA signatures (Tool to detect and </a:t>
            </a:r>
            <a:r>
              <a:rPr lang="en-US" sz="2400"/>
              <a:t>Analyze malware) </a:t>
            </a:r>
            <a:r>
              <a:rPr lang="en-US" sz="2400" dirty="0"/>
              <a:t>and a list of known hash values of the different malware families used.</a:t>
            </a:r>
          </a:p>
        </p:txBody>
      </p:sp>
    </p:spTree>
    <p:extLst>
      <p:ext uri="{BB962C8B-B14F-4D97-AF65-F5344CB8AC3E}">
        <p14:creationId xmlns:p14="http://schemas.microsoft.com/office/powerpoint/2010/main" val="648601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Asset Management</a:t>
            </a:r>
            <a:endParaRPr lang="en-US" dirty="0"/>
          </a:p>
        </p:txBody>
      </p:sp>
      <p:sp>
        <p:nvSpPr>
          <p:cNvPr id="3" name="Content Placeholder 2"/>
          <p:cNvSpPr>
            <a:spLocks noGrp="1"/>
          </p:cNvSpPr>
          <p:nvPr>
            <p:ph idx="1"/>
          </p:nvPr>
        </p:nvSpPr>
        <p:spPr>
          <a:xfrm>
            <a:off x="518615" y="2617146"/>
            <a:ext cx="11477767" cy="4029313"/>
          </a:xfrm>
        </p:spPr>
        <p:txBody>
          <a:bodyPr>
            <a:normAutofit fontScale="92500" lnSpcReduction="10000"/>
          </a:bodyPr>
          <a:lstStyle/>
          <a:p>
            <a:r>
              <a:rPr lang="en-US" sz="2000" dirty="0"/>
              <a:t>As cyber threat intelligence is shared in the form of indicators or threat intelligence reports, </a:t>
            </a:r>
            <a:r>
              <a:rPr lang="en-US" sz="2000" b="1" dirty="0">
                <a:solidFill>
                  <a:srgbClr val="FF0000"/>
                </a:solidFill>
              </a:rPr>
              <a:t>asset management is vital for an organization to filter information streams.</a:t>
            </a:r>
          </a:p>
          <a:p>
            <a:r>
              <a:rPr lang="en-US" sz="2000" dirty="0"/>
              <a:t>IT asset management is a corporate process to </a:t>
            </a:r>
            <a:r>
              <a:rPr lang="en-US" sz="2000" dirty="0">
                <a:solidFill>
                  <a:srgbClr val="FF0000"/>
                </a:solidFill>
              </a:rPr>
              <a:t>maintain software and hardware components in a way that guarantees visibility and controllability of the assets.</a:t>
            </a:r>
          </a:p>
          <a:p>
            <a:r>
              <a:rPr lang="en-US" sz="2000" dirty="0">
                <a:solidFill>
                  <a:srgbClr val="FF0000"/>
                </a:solidFill>
              </a:rPr>
              <a:t>Standards and guides that provide a more complete picture about asset management were published by ISO in the 19770 suite (ISO/IEC, 2012, 2015a, 2016) and by NIST (Michael et al., 2015). </a:t>
            </a:r>
          </a:p>
          <a:p>
            <a:r>
              <a:rPr lang="en-US" sz="2000" dirty="0"/>
              <a:t>Further, the </a:t>
            </a:r>
            <a:r>
              <a:rPr lang="en-US" sz="2000" dirty="0">
                <a:solidFill>
                  <a:srgbClr val="FF0000"/>
                </a:solidFill>
              </a:rPr>
              <a:t>Information Technology Infrastructure Library (ITIL</a:t>
            </a:r>
            <a:r>
              <a:rPr lang="en-US" sz="2000" dirty="0"/>
              <a:t>), which underpins the ISO/IEC 20000 (ISO/IEC, 2011) standard on IT service management, </a:t>
            </a:r>
            <a:r>
              <a:rPr lang="en-US" sz="2000" dirty="0">
                <a:solidFill>
                  <a:srgbClr val="FF0000"/>
                </a:solidFill>
              </a:rPr>
              <a:t>formalizes processes and checklists to design and operate IT services in alignment with the core business needs.</a:t>
            </a:r>
          </a:p>
          <a:p>
            <a:r>
              <a:rPr lang="en-US" sz="2000" dirty="0"/>
              <a:t>These processes also include </a:t>
            </a:r>
            <a:r>
              <a:rPr lang="en-US" sz="2000" dirty="0">
                <a:solidFill>
                  <a:srgbClr val="FF0000"/>
                </a:solidFill>
              </a:rPr>
              <a:t>Software Asset Management and Asset and Configuration Management</a:t>
            </a:r>
          </a:p>
        </p:txBody>
      </p:sp>
    </p:spTree>
    <p:extLst>
      <p:ext uri="{BB962C8B-B14F-4D97-AF65-F5344CB8AC3E}">
        <p14:creationId xmlns:p14="http://schemas.microsoft.com/office/powerpoint/2010/main" val="857185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285" y="495996"/>
            <a:ext cx="8761413" cy="706964"/>
          </a:xfrm>
        </p:spPr>
        <p:txBody>
          <a:bodyPr/>
          <a:lstStyle/>
          <a:p>
            <a:r>
              <a:rPr lang="en-US" b="1" dirty="0"/>
              <a:t>IT asset life cycle</a:t>
            </a:r>
            <a:endParaRPr lang="en-US" dirty="0"/>
          </a:p>
        </p:txBody>
      </p:sp>
      <p:pic>
        <p:nvPicPr>
          <p:cNvPr id="4" name="Content Placeholder 3"/>
          <p:cNvPicPr>
            <a:picLocks noGrp="1" noChangeAspect="1"/>
          </p:cNvPicPr>
          <p:nvPr>
            <p:ph idx="1"/>
          </p:nvPr>
        </p:nvPicPr>
        <p:blipFill>
          <a:blip r:embed="rId2"/>
          <a:stretch>
            <a:fillRect/>
          </a:stretch>
        </p:blipFill>
        <p:spPr>
          <a:xfrm>
            <a:off x="1610436" y="1196660"/>
            <a:ext cx="7028598" cy="5531974"/>
          </a:xfrm>
          <a:prstGeom prst="rect">
            <a:avLst/>
          </a:prstGeom>
        </p:spPr>
      </p:pic>
    </p:spTree>
    <p:extLst>
      <p:ext uri="{BB962C8B-B14F-4D97-AF65-F5344CB8AC3E}">
        <p14:creationId xmlns:p14="http://schemas.microsoft.com/office/powerpoint/2010/main" val="666015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dirty="0"/>
              <a:t>there is a wide variety of assets in IT systems. These can range from physical network equipment to services or software components. </a:t>
            </a:r>
          </a:p>
          <a:p>
            <a:r>
              <a:rPr lang="en-US" sz="2200" dirty="0"/>
              <a:t>While each type of asset needs to be managed differently, the broad approach to asset management is generally applicable</a:t>
            </a:r>
            <a:r>
              <a:rPr lang="en-US" dirty="0"/>
              <a:t>.</a:t>
            </a:r>
          </a:p>
        </p:txBody>
      </p:sp>
    </p:spTree>
    <p:extLst>
      <p:ext uri="{BB962C8B-B14F-4D97-AF65-F5344CB8AC3E}">
        <p14:creationId xmlns:p14="http://schemas.microsoft.com/office/powerpoint/2010/main" val="434251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STUXNET</a:t>
            </a:r>
            <a:endParaRPr lang="en-US" dirty="0"/>
          </a:p>
        </p:txBody>
      </p:sp>
      <p:sp>
        <p:nvSpPr>
          <p:cNvPr id="3" name="Content Placeholder 2"/>
          <p:cNvSpPr>
            <a:spLocks noGrp="1"/>
          </p:cNvSpPr>
          <p:nvPr>
            <p:ph idx="1"/>
          </p:nvPr>
        </p:nvSpPr>
        <p:spPr>
          <a:xfrm>
            <a:off x="805218" y="2603500"/>
            <a:ext cx="11095630" cy="3933778"/>
          </a:xfrm>
        </p:spPr>
        <p:txBody>
          <a:bodyPr>
            <a:noAutofit/>
          </a:bodyPr>
          <a:lstStyle/>
          <a:p>
            <a:r>
              <a:rPr lang="en-US" sz="2200" dirty="0"/>
              <a:t>The </a:t>
            </a:r>
            <a:r>
              <a:rPr lang="en-US" sz="2200" dirty="0" err="1">
                <a:solidFill>
                  <a:srgbClr val="FF0000"/>
                </a:solidFill>
              </a:rPr>
              <a:t>Stuxnet</a:t>
            </a:r>
            <a:r>
              <a:rPr lang="en-US" sz="2200" dirty="0">
                <a:solidFill>
                  <a:srgbClr val="FF0000"/>
                </a:solidFill>
              </a:rPr>
              <a:t> attack  </a:t>
            </a:r>
            <a:r>
              <a:rPr lang="en-US" sz="2200" dirty="0"/>
              <a:t>leveraged multiple </a:t>
            </a:r>
            <a:r>
              <a:rPr lang="en-US" sz="2200" dirty="0">
                <a:solidFill>
                  <a:srgbClr val="FF0000"/>
                </a:solidFill>
              </a:rPr>
              <a:t>zero-day</a:t>
            </a:r>
            <a:r>
              <a:rPr lang="en-US" sz="2200" dirty="0"/>
              <a:t> </a:t>
            </a:r>
            <a:r>
              <a:rPr lang="en-US" sz="2200" dirty="0">
                <a:solidFill>
                  <a:srgbClr val="FF0000"/>
                </a:solidFill>
              </a:rPr>
              <a:t>exploits in the windows operating system </a:t>
            </a:r>
            <a:r>
              <a:rPr lang="en-US" sz="2200" dirty="0"/>
              <a:t>to infect vulnerable machines during lateral movement. </a:t>
            </a:r>
          </a:p>
          <a:p>
            <a:r>
              <a:rPr lang="en-US" sz="2200" dirty="0"/>
              <a:t>One of these exploits was the </a:t>
            </a:r>
            <a:r>
              <a:rPr lang="en-US" sz="2200" i="1" dirty="0"/>
              <a:t>Microsoft </a:t>
            </a:r>
            <a:r>
              <a:rPr lang="en-US" sz="2200" i="1" dirty="0">
                <a:solidFill>
                  <a:srgbClr val="FF0000"/>
                </a:solidFill>
              </a:rPr>
              <a:t>Windows Print Spooler Service Remote Code Execution Vulnerability</a:t>
            </a:r>
            <a:r>
              <a:rPr lang="en-US" sz="2200" i="1" dirty="0"/>
              <a:t> </a:t>
            </a:r>
            <a:r>
              <a:rPr lang="en-US" sz="2200" dirty="0"/>
              <a:t>that allowed remote code execution during a vulnerable print spooler implementation in various versions of Windows including Windows XP SP3, Windows Vista SP2, and Windows Server 2008 SP2. </a:t>
            </a:r>
          </a:p>
          <a:p>
            <a:r>
              <a:rPr lang="en-US" sz="2200" dirty="0" err="1"/>
              <a:t>Stuxnet</a:t>
            </a:r>
            <a:r>
              <a:rPr lang="en-US" sz="2200" dirty="0"/>
              <a:t> was </a:t>
            </a:r>
            <a:r>
              <a:rPr lang="en-US" sz="2200" dirty="0">
                <a:solidFill>
                  <a:srgbClr val="FF0000"/>
                </a:solidFill>
              </a:rPr>
              <a:t>first spread in 2008</a:t>
            </a:r>
            <a:r>
              <a:rPr lang="en-US" sz="2200" dirty="0"/>
              <a:t>, and the </a:t>
            </a:r>
            <a:r>
              <a:rPr lang="en-US" sz="2200" dirty="0">
                <a:solidFill>
                  <a:srgbClr val="FF0000"/>
                </a:solidFill>
              </a:rPr>
              <a:t>vulnerability was only published in 2010. </a:t>
            </a:r>
            <a:r>
              <a:rPr lang="en-US" sz="2200" dirty="0"/>
              <a:t>It was a severe security risk, and proper asset management would have helped to minimize the attack surface for an organization.</a:t>
            </a:r>
          </a:p>
        </p:txBody>
      </p:sp>
    </p:spTree>
    <p:extLst>
      <p:ext uri="{BB962C8B-B14F-4D97-AF65-F5344CB8AC3E}">
        <p14:creationId xmlns:p14="http://schemas.microsoft.com/office/powerpoint/2010/main" val="3371983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2780356"/>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4178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18615" y="2374710"/>
            <a:ext cx="11464119" cy="4380932"/>
          </a:xfrm>
        </p:spPr>
        <p:txBody>
          <a:bodyPr>
            <a:normAutofit/>
          </a:bodyPr>
          <a:lstStyle/>
          <a:p>
            <a:pPr algn="ctr"/>
            <a:r>
              <a:rPr lang="en-US" sz="2000" b="1" i="1" dirty="0"/>
              <a:t>Asset Identification    </a:t>
            </a:r>
          </a:p>
          <a:p>
            <a:r>
              <a:rPr lang="en-US" dirty="0">
                <a:solidFill>
                  <a:srgbClr val="FF0000"/>
                </a:solidFill>
              </a:rPr>
              <a:t>Information about assets is collected and correlated.</a:t>
            </a:r>
          </a:p>
          <a:p>
            <a:r>
              <a:rPr lang="en-US" dirty="0"/>
              <a:t>NIST issued report IR 7693 (John et al., 2011) that provides a formal specification of asset identification that the reader is referred to for more detailed information.</a:t>
            </a:r>
          </a:p>
          <a:p>
            <a:r>
              <a:rPr lang="en-US" dirty="0"/>
              <a:t>Asset identification achieves the following goals:</a:t>
            </a:r>
          </a:p>
          <a:p>
            <a:pPr>
              <a:buFont typeface="+mj-lt"/>
              <a:buAutoNum type="arabicPeriod"/>
            </a:pPr>
            <a:r>
              <a:rPr lang="en-US" i="1" dirty="0">
                <a:solidFill>
                  <a:srgbClr val="FF0000"/>
                </a:solidFill>
              </a:rPr>
              <a:t>Identification</a:t>
            </a:r>
            <a:r>
              <a:rPr lang="en-US" dirty="0"/>
              <a:t>: Assets </a:t>
            </a:r>
            <a:r>
              <a:rPr lang="en-US" dirty="0">
                <a:solidFill>
                  <a:srgbClr val="FF0000"/>
                </a:solidFill>
              </a:rPr>
              <a:t>need to be correctly identified in different contexts of the organization</a:t>
            </a:r>
            <a:r>
              <a:rPr lang="en-US" dirty="0"/>
              <a:t>. This is necessary to relate monitoring information with the correct asset</a:t>
            </a:r>
          </a:p>
          <a:p>
            <a:pPr>
              <a:buFont typeface="+mj-lt"/>
              <a:buAutoNum type="arabicPeriod"/>
            </a:pPr>
            <a:r>
              <a:rPr lang="en-US" i="1" dirty="0">
                <a:solidFill>
                  <a:srgbClr val="FF0000"/>
                </a:solidFill>
              </a:rPr>
              <a:t>Responsibility</a:t>
            </a:r>
            <a:r>
              <a:rPr lang="en-US" dirty="0"/>
              <a:t>: Each asset needs to have </a:t>
            </a:r>
            <a:r>
              <a:rPr lang="en-US" dirty="0">
                <a:solidFill>
                  <a:srgbClr val="FF0000"/>
                </a:solidFill>
              </a:rPr>
              <a:t>an owner responsible for the management and operation of the asset during its lifetime </a:t>
            </a:r>
            <a:r>
              <a:rPr lang="en-US" dirty="0"/>
              <a:t>that can be held accountable for mismanagement.</a:t>
            </a:r>
          </a:p>
          <a:p>
            <a:pPr>
              <a:buFont typeface="+mj-lt"/>
              <a:buAutoNum type="arabicPeriod"/>
            </a:pPr>
            <a:r>
              <a:rPr lang="en-US" i="1" dirty="0">
                <a:solidFill>
                  <a:srgbClr val="FF0000"/>
                </a:solidFill>
              </a:rPr>
              <a:t>Structured Access to Asset Information</a:t>
            </a:r>
            <a:r>
              <a:rPr lang="en-US" dirty="0"/>
              <a:t>: </a:t>
            </a:r>
            <a:r>
              <a:rPr lang="en-US" dirty="0">
                <a:solidFill>
                  <a:srgbClr val="FF0000"/>
                </a:solidFill>
              </a:rPr>
              <a:t>Properties of each asset have to be stored and made accessible in a central database.</a:t>
            </a:r>
            <a:r>
              <a:rPr lang="en-US" dirty="0"/>
              <a:t> This is necessary to quickly assess the vulnerability of the system to a newly received report or indicator.</a:t>
            </a:r>
          </a:p>
        </p:txBody>
      </p:sp>
    </p:spTree>
    <p:extLst>
      <p:ext uri="{BB962C8B-B14F-4D97-AF65-F5344CB8AC3E}">
        <p14:creationId xmlns:p14="http://schemas.microsoft.com/office/powerpoint/2010/main" val="744794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82371" cy="4002016"/>
          </a:xfrm>
        </p:spPr>
        <p:txBody>
          <a:bodyPr>
            <a:normAutofit/>
          </a:bodyPr>
          <a:lstStyle/>
          <a:p>
            <a:r>
              <a:rPr lang="en-US" dirty="0"/>
              <a:t>To achieve these goals, the following information should be stored about each asset.</a:t>
            </a:r>
          </a:p>
          <a:p>
            <a:r>
              <a:rPr lang="en-US" b="1" i="1" dirty="0"/>
              <a:t>Identifiers:</a:t>
            </a:r>
            <a:r>
              <a:rPr lang="en-US" i="1" dirty="0"/>
              <a:t> </a:t>
            </a:r>
            <a:r>
              <a:rPr lang="en-US" dirty="0"/>
              <a:t>An </a:t>
            </a:r>
            <a:r>
              <a:rPr lang="en-US" dirty="0">
                <a:solidFill>
                  <a:srgbClr val="FF0000"/>
                </a:solidFill>
              </a:rPr>
              <a:t>asset appears in different organizational contexts with different identifiers</a:t>
            </a:r>
            <a:r>
              <a:rPr lang="en-US" dirty="0"/>
              <a:t>. </a:t>
            </a:r>
          </a:p>
          <a:p>
            <a:r>
              <a:rPr lang="en-US" dirty="0"/>
              <a:t>Example: An office PC will have an inventory number to identify the physical PC, and it will be assigned a location (e.g., room number) to allow easy location. At the same time, it has an IP address in the company network</a:t>
            </a:r>
          </a:p>
          <a:p>
            <a:r>
              <a:rPr lang="en-US" b="1" i="1" dirty="0"/>
              <a:t>Owner: </a:t>
            </a:r>
            <a:r>
              <a:rPr lang="en-US" dirty="0">
                <a:solidFill>
                  <a:srgbClr val="FF0000"/>
                </a:solidFill>
              </a:rPr>
              <a:t>Each asset needs to be owned by a real person in the organization</a:t>
            </a:r>
            <a:r>
              <a:rPr lang="en-US" dirty="0"/>
              <a:t>. This is of high importance to </a:t>
            </a:r>
            <a:r>
              <a:rPr lang="en-US" dirty="0">
                <a:solidFill>
                  <a:srgbClr val="FF0000"/>
                </a:solidFill>
              </a:rPr>
              <a:t>ensure responsible operation and management of the asset</a:t>
            </a:r>
            <a:r>
              <a:rPr lang="en-US" dirty="0"/>
              <a:t>. Further, only a real person can be held accountable in an incident that was caused by mismanagement of the asset in question.</a:t>
            </a:r>
          </a:p>
          <a:p>
            <a:r>
              <a:rPr lang="en-US" b="1" i="1" dirty="0"/>
              <a:t>Asset information</a:t>
            </a:r>
            <a:r>
              <a:rPr lang="en-US" i="1" dirty="0"/>
              <a:t>: </a:t>
            </a:r>
            <a:r>
              <a:rPr lang="en-US" dirty="0">
                <a:solidFill>
                  <a:srgbClr val="FF0000"/>
                </a:solidFill>
              </a:rPr>
              <a:t>For each asset, a number of properties should be stored in a central asset database</a:t>
            </a:r>
            <a:r>
              <a:rPr lang="en-US" dirty="0"/>
              <a:t> that can then be filtered. This is important to </a:t>
            </a:r>
            <a:r>
              <a:rPr lang="en-US" dirty="0">
                <a:solidFill>
                  <a:srgbClr val="FF0000"/>
                </a:solidFill>
              </a:rPr>
              <a:t>respond in a timely manner </a:t>
            </a:r>
            <a:r>
              <a:rPr lang="en-US" dirty="0"/>
              <a:t>and </a:t>
            </a:r>
            <a:r>
              <a:rPr lang="en-US" dirty="0">
                <a:solidFill>
                  <a:srgbClr val="FF0000"/>
                </a:solidFill>
              </a:rPr>
              <a:t>appropriately</a:t>
            </a:r>
            <a:r>
              <a:rPr lang="en-US" dirty="0"/>
              <a:t> to newly shared indicators.</a:t>
            </a:r>
          </a:p>
        </p:txBody>
      </p:sp>
    </p:spTree>
    <p:extLst>
      <p:ext uri="{BB962C8B-B14F-4D97-AF65-F5344CB8AC3E}">
        <p14:creationId xmlns:p14="http://schemas.microsoft.com/office/powerpoint/2010/main" val="3231245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59542" cy="4097551"/>
          </a:xfrm>
        </p:spPr>
        <p:txBody>
          <a:bodyPr>
            <a:noAutofit/>
          </a:bodyPr>
          <a:lstStyle/>
          <a:p>
            <a:pPr algn="ctr"/>
            <a:r>
              <a:rPr lang="en-US" sz="2000" b="1" i="1" dirty="0"/>
              <a:t>Asset Operation</a:t>
            </a:r>
          </a:p>
          <a:p>
            <a:r>
              <a:rPr lang="en-US" sz="2000" dirty="0"/>
              <a:t>Once the asset is properly identified, it has to be </a:t>
            </a:r>
            <a:r>
              <a:rPr lang="en-US" sz="2000" dirty="0">
                <a:solidFill>
                  <a:srgbClr val="FF0000"/>
                </a:solidFill>
              </a:rPr>
              <a:t>managed during operation</a:t>
            </a:r>
          </a:p>
          <a:p>
            <a:r>
              <a:rPr lang="en-US" sz="2000" dirty="0"/>
              <a:t>Two main aspects:  1) timely management of permissions  2) monitoring</a:t>
            </a:r>
          </a:p>
          <a:p>
            <a:r>
              <a:rPr lang="en-US" sz="2000" dirty="0"/>
              <a:t>timely management of permissions</a:t>
            </a:r>
            <a:r>
              <a:rPr lang="en-US" sz="2000" b="1" dirty="0"/>
              <a:t> </a:t>
            </a:r>
          </a:p>
          <a:p>
            <a:pPr lvl="1"/>
            <a:r>
              <a:rPr lang="en-US" sz="1800" dirty="0"/>
              <a:t>As project assignments or personnel changes, so should the </a:t>
            </a:r>
            <a:r>
              <a:rPr lang="en-US" sz="1800" dirty="0">
                <a:solidFill>
                  <a:srgbClr val="FF0000"/>
                </a:solidFill>
              </a:rPr>
              <a:t>permissions people have granted to assets.</a:t>
            </a:r>
            <a:r>
              <a:rPr lang="en-US" sz="1800" dirty="0"/>
              <a:t> </a:t>
            </a:r>
            <a:r>
              <a:rPr lang="en-US" sz="1800" dirty="0">
                <a:solidFill>
                  <a:srgbClr val="FF0000"/>
                </a:solidFill>
              </a:rPr>
              <a:t>The owner of the asset is responsible for keeping the asset secure.</a:t>
            </a:r>
          </a:p>
          <a:p>
            <a:r>
              <a:rPr lang="en-US" dirty="0"/>
              <a:t>Monitoring</a:t>
            </a:r>
          </a:p>
          <a:p>
            <a:pPr lvl="1"/>
            <a:r>
              <a:rPr lang="en-US" sz="1800" dirty="0"/>
              <a:t>As indicators are shared, the </a:t>
            </a:r>
            <a:r>
              <a:rPr lang="en-US" sz="1800" dirty="0">
                <a:solidFill>
                  <a:srgbClr val="FF0000"/>
                </a:solidFill>
              </a:rPr>
              <a:t>behavior of each asset has to be continuously monitored </a:t>
            </a:r>
            <a:r>
              <a:rPr lang="en-US" sz="1800" dirty="0"/>
              <a:t>for these indicators to </a:t>
            </a:r>
            <a:r>
              <a:rPr lang="en-US" sz="1800" dirty="0">
                <a:solidFill>
                  <a:srgbClr val="FF0000"/>
                </a:solidFill>
              </a:rPr>
              <a:t>guarantee timely detection of attack attempts and response to incidents.</a:t>
            </a:r>
            <a:endParaRPr lang="en-US" sz="1800" b="1" dirty="0">
              <a:solidFill>
                <a:srgbClr val="FF0000"/>
              </a:solidFill>
            </a:endParaRPr>
          </a:p>
        </p:txBody>
      </p:sp>
    </p:spTree>
    <p:extLst>
      <p:ext uri="{BB962C8B-B14F-4D97-AF65-F5344CB8AC3E}">
        <p14:creationId xmlns:p14="http://schemas.microsoft.com/office/powerpoint/2010/main" val="831542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45894" cy="4015664"/>
          </a:xfrm>
        </p:spPr>
        <p:txBody>
          <a:bodyPr>
            <a:normAutofit lnSpcReduction="10000"/>
          </a:bodyPr>
          <a:lstStyle/>
          <a:p>
            <a:pPr algn="ctr"/>
            <a:r>
              <a:rPr lang="en-US" sz="2000" b="1" i="1" dirty="0"/>
              <a:t>Asset Adaptation</a:t>
            </a:r>
          </a:p>
          <a:p>
            <a:r>
              <a:rPr lang="en-US" sz="2000" dirty="0"/>
              <a:t>During the lifetime of an asset, various changes to the environment force adaptations.</a:t>
            </a:r>
          </a:p>
          <a:p>
            <a:r>
              <a:rPr lang="en-US" sz="2000" dirty="0"/>
              <a:t>The main causes for adaptations are as follows:</a:t>
            </a:r>
          </a:p>
          <a:p>
            <a:r>
              <a:rPr lang="en-US" sz="2000" dirty="0"/>
              <a:t>1. </a:t>
            </a:r>
            <a:r>
              <a:rPr lang="en-US" sz="2000" dirty="0">
                <a:solidFill>
                  <a:srgbClr val="FF0000"/>
                </a:solidFill>
              </a:rPr>
              <a:t>New information about the asset becomes available</a:t>
            </a:r>
            <a:r>
              <a:rPr lang="en-US" sz="2000" dirty="0"/>
              <a:t>. </a:t>
            </a:r>
          </a:p>
          <a:p>
            <a:r>
              <a:rPr lang="en-US" sz="2000" dirty="0"/>
              <a:t>For example, a CVE that describes a vulnerability in a software component should trigger mitigation strategies.</a:t>
            </a:r>
          </a:p>
          <a:p>
            <a:r>
              <a:rPr lang="en-US" sz="2000" dirty="0"/>
              <a:t>2. </a:t>
            </a:r>
            <a:r>
              <a:rPr lang="en-US" sz="2000" dirty="0">
                <a:solidFill>
                  <a:srgbClr val="FF0000"/>
                </a:solidFill>
              </a:rPr>
              <a:t>Updates are available for the asset</a:t>
            </a:r>
            <a:r>
              <a:rPr lang="en-US" sz="2000" dirty="0"/>
              <a:t>. For each type of asset, there should be organization-wide update policies in place that regulate how updates must be handled. This also includes the management of new user accounts or changed configurations.</a:t>
            </a:r>
            <a:endParaRPr lang="en-US" sz="2000" b="1" dirty="0"/>
          </a:p>
        </p:txBody>
      </p:sp>
    </p:spTree>
    <p:extLst>
      <p:ext uri="{BB962C8B-B14F-4D97-AF65-F5344CB8AC3E}">
        <p14:creationId xmlns:p14="http://schemas.microsoft.com/office/powerpoint/2010/main" val="102225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636712" cy="3742709"/>
          </a:xfrm>
        </p:spPr>
        <p:txBody>
          <a:bodyPr>
            <a:normAutofit/>
          </a:bodyPr>
          <a:lstStyle/>
          <a:p>
            <a:r>
              <a:rPr lang="en-US" sz="2000" dirty="0"/>
              <a:t>3. </a:t>
            </a:r>
            <a:r>
              <a:rPr lang="en-US" sz="2000" dirty="0">
                <a:solidFill>
                  <a:srgbClr val="FF0000"/>
                </a:solidFill>
              </a:rPr>
              <a:t>A related asset is changed</a:t>
            </a:r>
            <a:r>
              <a:rPr lang="en-US" sz="2000" dirty="0"/>
              <a:t>. </a:t>
            </a:r>
          </a:p>
          <a:p>
            <a:r>
              <a:rPr lang="en-US" sz="2000" dirty="0">
                <a:solidFill>
                  <a:srgbClr val="FF0000"/>
                </a:solidFill>
              </a:rPr>
              <a:t>Each asset interacts with other assets</a:t>
            </a:r>
            <a:r>
              <a:rPr lang="en-US" sz="2000" dirty="0"/>
              <a:t>. These interactions are usually well defined to ensure correct operation. Therefore, </a:t>
            </a:r>
            <a:r>
              <a:rPr lang="en-US" sz="2000" dirty="0">
                <a:solidFill>
                  <a:srgbClr val="FF0000"/>
                </a:solidFill>
              </a:rPr>
              <a:t>they need to be evaluated if one of the related assets is changed</a:t>
            </a:r>
            <a:r>
              <a:rPr lang="en-US" sz="2000" dirty="0"/>
              <a:t>. </a:t>
            </a:r>
          </a:p>
          <a:p>
            <a:r>
              <a:rPr lang="en-US" sz="2000" dirty="0"/>
              <a:t>For example, the installation of a software update in response to a newly found vulnerability might violate interoperability constraints</a:t>
            </a:r>
          </a:p>
          <a:p>
            <a:endParaRPr lang="en-US" sz="2000" dirty="0"/>
          </a:p>
          <a:p>
            <a:r>
              <a:rPr lang="en-US" sz="2000" dirty="0">
                <a:solidFill>
                  <a:srgbClr val="FF0000"/>
                </a:solidFill>
              </a:rPr>
              <a:t>To achieve secure asset operation, these adaptations need to be considered. At the same time, the changes need to be correctly documented in the asset database.</a:t>
            </a:r>
          </a:p>
        </p:txBody>
      </p:sp>
    </p:spTree>
    <p:extLst>
      <p:ext uri="{BB962C8B-B14F-4D97-AF65-F5344CB8AC3E}">
        <p14:creationId xmlns:p14="http://schemas.microsoft.com/office/powerpoint/2010/main" val="2073998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b="1" i="1" dirty="0"/>
              <a:t>Asset Disposal</a:t>
            </a:r>
          </a:p>
          <a:p>
            <a:r>
              <a:rPr lang="en-US" sz="2000" dirty="0">
                <a:solidFill>
                  <a:srgbClr val="FF0000"/>
                </a:solidFill>
              </a:rPr>
              <a:t>Before the asset can be removed from the asset database (which concludes the life cycle) its disposal needs to be handled correctly</a:t>
            </a:r>
          </a:p>
          <a:p>
            <a:r>
              <a:rPr lang="en-US" sz="2000" dirty="0"/>
              <a:t>Assets depend on each other. Before an asset can be removed, it is therefore important to resolve all dependencies</a:t>
            </a:r>
          </a:p>
          <a:p>
            <a:r>
              <a:rPr lang="en-US" sz="2000" dirty="0"/>
              <a:t>IT will involve correct change management in the related assets</a:t>
            </a:r>
          </a:p>
          <a:p>
            <a:r>
              <a:rPr lang="en-US" sz="2000" dirty="0"/>
              <a:t>Due to the dependencies, assets are often not removed unconditionally but replaced. </a:t>
            </a:r>
            <a:endParaRPr lang="en-US" sz="2000" b="1" dirty="0"/>
          </a:p>
        </p:txBody>
      </p:sp>
    </p:spTree>
    <p:extLst>
      <p:ext uri="{BB962C8B-B14F-4D97-AF65-F5344CB8AC3E}">
        <p14:creationId xmlns:p14="http://schemas.microsoft.com/office/powerpoint/2010/main" val="4018281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Raw Monitoring Data: Origin, Structure, and Insights</a:t>
            </a:r>
          </a:p>
        </p:txBody>
      </p:sp>
      <p:sp>
        <p:nvSpPr>
          <p:cNvPr id="3" name="Content Placeholder 2"/>
          <p:cNvSpPr>
            <a:spLocks noGrp="1"/>
          </p:cNvSpPr>
          <p:nvPr>
            <p:ph idx="1"/>
          </p:nvPr>
        </p:nvSpPr>
        <p:spPr>
          <a:xfrm>
            <a:off x="1154954" y="2603499"/>
            <a:ext cx="10773189" cy="3974721"/>
          </a:xfrm>
        </p:spPr>
        <p:txBody>
          <a:bodyPr>
            <a:normAutofit lnSpcReduction="10000"/>
          </a:bodyPr>
          <a:lstStyle/>
          <a:p>
            <a:r>
              <a:rPr lang="en-US" sz="2000" dirty="0">
                <a:solidFill>
                  <a:srgbClr val="FF0000"/>
                </a:solidFill>
              </a:rPr>
              <a:t>In order to detect indicators and attacks in systems, their state and behavior need to be monitored.</a:t>
            </a:r>
          </a:p>
          <a:p>
            <a:r>
              <a:rPr lang="en-US" sz="2000" dirty="0"/>
              <a:t>During monitoring, </a:t>
            </a:r>
            <a:r>
              <a:rPr lang="en-US" sz="2000" dirty="0">
                <a:solidFill>
                  <a:srgbClr val="FF0000"/>
                </a:solidFill>
              </a:rPr>
              <a:t>different types of data elements are generated and then picked up by analysis tools to draw conclusions about the state of a monitored system.</a:t>
            </a:r>
          </a:p>
          <a:p>
            <a:r>
              <a:rPr lang="en-US" sz="2000" dirty="0"/>
              <a:t>It is necessary to understand what data sources are available to the analysis techniques.</a:t>
            </a:r>
          </a:p>
          <a:p>
            <a:r>
              <a:rPr lang="en-US" sz="2000" dirty="0"/>
              <a:t>It introduces three sources of monitoring data: </a:t>
            </a:r>
          </a:p>
          <a:p>
            <a:pPr lvl="1"/>
            <a:r>
              <a:rPr lang="en-US" sz="1800" dirty="0">
                <a:solidFill>
                  <a:srgbClr val="FF0000"/>
                </a:solidFill>
              </a:rPr>
              <a:t>log data, </a:t>
            </a:r>
          </a:p>
          <a:p>
            <a:pPr lvl="1"/>
            <a:r>
              <a:rPr lang="en-US" sz="1800" dirty="0">
                <a:solidFill>
                  <a:srgbClr val="FF0000"/>
                </a:solidFill>
              </a:rPr>
              <a:t>network traffic, and </a:t>
            </a:r>
          </a:p>
          <a:p>
            <a:pPr lvl="1"/>
            <a:r>
              <a:rPr lang="en-US" sz="1800" dirty="0">
                <a:solidFill>
                  <a:srgbClr val="FF0000"/>
                </a:solidFill>
              </a:rPr>
              <a:t>information about files and processes.</a:t>
            </a:r>
          </a:p>
        </p:txBody>
      </p:sp>
    </p:spTree>
    <p:extLst>
      <p:ext uri="{BB962C8B-B14F-4D97-AF65-F5344CB8AC3E}">
        <p14:creationId xmlns:p14="http://schemas.microsoft.com/office/powerpoint/2010/main" val="1943177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677655" cy="4042960"/>
          </a:xfrm>
        </p:spPr>
        <p:txBody>
          <a:bodyPr/>
          <a:lstStyle/>
          <a:p>
            <a:pPr algn="ctr"/>
            <a:r>
              <a:rPr lang="en-US" sz="2800" b="1" i="1" dirty="0"/>
              <a:t>Log Data</a:t>
            </a:r>
          </a:p>
          <a:p>
            <a:r>
              <a:rPr lang="en-US" dirty="0">
                <a:solidFill>
                  <a:srgbClr val="FF0000"/>
                </a:solidFill>
              </a:rPr>
              <a:t>Log data contains automatically generated traces of all processes that run in ICT network environments and computer systems.</a:t>
            </a:r>
          </a:p>
          <a:p>
            <a:r>
              <a:rPr lang="en-US" dirty="0"/>
              <a:t>Log data is usually </a:t>
            </a:r>
            <a:r>
              <a:rPr lang="en-US" dirty="0">
                <a:solidFill>
                  <a:srgbClr val="FF0000"/>
                </a:solidFill>
              </a:rPr>
              <a:t>represented in human readable text format. This makes it easy to access the provided information.</a:t>
            </a:r>
          </a:p>
          <a:p>
            <a:r>
              <a:rPr lang="en-US" dirty="0"/>
              <a:t>logging takes place on various abstraction levels such as the data link layer (switch logs), the network and transport layer (firewall logs), to the application layer (web server logs, data base logs, mail server logs, etc.). </a:t>
            </a:r>
          </a:p>
          <a:p>
            <a:r>
              <a:rPr lang="en-US" dirty="0">
                <a:solidFill>
                  <a:srgbClr val="FF0000"/>
                </a:solidFill>
              </a:rPr>
              <a:t>One drawback of logging is that usually only lower log levels, i.e., warning and error logs, are used for security analysis.</a:t>
            </a:r>
          </a:p>
        </p:txBody>
      </p:sp>
    </p:spTree>
    <p:extLst>
      <p:ext uri="{BB962C8B-B14F-4D97-AF65-F5344CB8AC3E}">
        <p14:creationId xmlns:p14="http://schemas.microsoft.com/office/powerpoint/2010/main" val="1866832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923315" cy="3416300"/>
          </a:xfrm>
        </p:spPr>
        <p:txBody>
          <a:bodyPr>
            <a:normAutofit/>
          </a:bodyPr>
          <a:lstStyle/>
          <a:p>
            <a:r>
              <a:rPr lang="en-US" sz="2000" dirty="0">
                <a:solidFill>
                  <a:srgbClr val="FF0000"/>
                </a:solidFill>
              </a:rPr>
              <a:t>When log data is collected, organizations have to ensure protection of their employees’ and customers’ privacy. </a:t>
            </a:r>
          </a:p>
          <a:p>
            <a:r>
              <a:rPr lang="en-US" sz="2000" dirty="0"/>
              <a:t>Log data </a:t>
            </a:r>
            <a:r>
              <a:rPr lang="en-US" sz="2000" dirty="0">
                <a:solidFill>
                  <a:srgbClr val="FF0000"/>
                </a:solidFill>
              </a:rPr>
              <a:t>contain sensitive information</a:t>
            </a:r>
            <a:r>
              <a:rPr lang="en-US" sz="2000" dirty="0"/>
              <a:t> such as user names, names of machines, IP addresses, and machine fingerprints. </a:t>
            </a:r>
          </a:p>
          <a:p>
            <a:r>
              <a:rPr lang="en-US" sz="2000" dirty="0"/>
              <a:t>Sometimes </a:t>
            </a:r>
            <a:r>
              <a:rPr lang="en-US" sz="2000" dirty="0">
                <a:solidFill>
                  <a:srgbClr val="FF0000"/>
                </a:solidFill>
              </a:rPr>
              <a:t>users’ passwords are present in readable format,</a:t>
            </a:r>
            <a:r>
              <a:rPr lang="en-US" sz="2000" dirty="0"/>
              <a:t> when users accidently enter them into the name field instead of the password field of a login dialogue.</a:t>
            </a:r>
          </a:p>
        </p:txBody>
      </p:sp>
    </p:spTree>
    <p:extLst>
      <p:ext uri="{BB962C8B-B14F-4D97-AF65-F5344CB8AC3E}">
        <p14:creationId xmlns:p14="http://schemas.microsoft.com/office/powerpoint/2010/main" val="3543413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41428" cy="4015664"/>
          </a:xfrm>
        </p:spPr>
        <p:txBody>
          <a:bodyPr>
            <a:normAutofit/>
          </a:bodyPr>
          <a:lstStyle/>
          <a:p>
            <a:r>
              <a:rPr lang="en-US" b="1" i="1" u="sng" dirty="0"/>
              <a:t>Observables</a:t>
            </a:r>
          </a:p>
          <a:p>
            <a:r>
              <a:rPr lang="en-US" dirty="0">
                <a:solidFill>
                  <a:srgbClr val="FF0000"/>
                </a:solidFill>
              </a:rPr>
              <a:t>A single log line usually consists of a time stamp and one protocolled event.</a:t>
            </a:r>
          </a:p>
          <a:p>
            <a:r>
              <a:rPr lang="en-US" dirty="0"/>
              <a:t>The time </a:t>
            </a:r>
            <a:r>
              <a:rPr lang="en-US" dirty="0">
                <a:solidFill>
                  <a:srgbClr val="FF0000"/>
                </a:solidFill>
              </a:rPr>
              <a:t>stamp carries the information when a log message was generated, the event stores information about where and why the log message was created.</a:t>
            </a:r>
          </a:p>
          <a:p>
            <a:r>
              <a:rPr lang="en-US" dirty="0">
                <a:solidFill>
                  <a:srgbClr val="FF0000"/>
                </a:solidFill>
              </a:rPr>
              <a:t>The protocoled events stored in log files include observables of malicious activities in a computer network. Besides user activities, observables of harmful program processes and network connections occur in log data.</a:t>
            </a:r>
          </a:p>
          <a:p>
            <a:r>
              <a:rPr lang="en-US" dirty="0"/>
              <a:t>Every log message is labeled with a severity level between 0 and 7: </a:t>
            </a:r>
          </a:p>
          <a:p>
            <a:pPr lvl="1"/>
            <a:r>
              <a:rPr lang="en-US" sz="1800" dirty="0">
                <a:solidFill>
                  <a:srgbClr val="FF0000"/>
                </a:solidFill>
              </a:rPr>
              <a:t>emergency (0), alert (1), critical (2), error (3), warning (4), notice (5), informational (6), and debug (7).</a:t>
            </a:r>
          </a:p>
        </p:txBody>
      </p:sp>
    </p:spTree>
    <p:extLst>
      <p:ext uri="{BB962C8B-B14F-4D97-AF65-F5344CB8AC3E}">
        <p14:creationId xmlns:p14="http://schemas.microsoft.com/office/powerpoint/2010/main" val="1319834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65753" y="1514901"/>
            <a:ext cx="11321784" cy="5172501"/>
          </a:xfrm>
          <a:prstGeom prst="rect">
            <a:avLst/>
          </a:prstGeom>
        </p:spPr>
      </p:pic>
    </p:spTree>
    <p:extLst>
      <p:ext uri="{BB962C8B-B14F-4D97-AF65-F5344CB8AC3E}">
        <p14:creationId xmlns:p14="http://schemas.microsoft.com/office/powerpoint/2010/main" val="699324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59542" cy="4029312"/>
          </a:xfrm>
        </p:spPr>
        <p:txBody>
          <a:bodyPr>
            <a:normAutofit/>
          </a:bodyPr>
          <a:lstStyle/>
          <a:p>
            <a:r>
              <a:rPr lang="en-US" b="1" i="1" u="sng" dirty="0"/>
              <a:t>Monitoring Infrastructure</a:t>
            </a:r>
          </a:p>
          <a:p>
            <a:r>
              <a:rPr lang="en-US" dirty="0"/>
              <a:t>Usually, by default, </a:t>
            </a:r>
            <a:r>
              <a:rPr lang="en-US" dirty="0">
                <a:solidFill>
                  <a:srgbClr val="FF0000"/>
                </a:solidFill>
              </a:rPr>
              <a:t>log files are stored as simple text files. This has the advantage of easy access in the case of a system crash.</a:t>
            </a:r>
          </a:p>
          <a:p>
            <a:r>
              <a:rPr lang="en-US" dirty="0">
                <a:solidFill>
                  <a:srgbClr val="FF0000"/>
                </a:solidFill>
              </a:rPr>
              <a:t>Log management comprises collecting logs, storing log data, and analyzing log data, as well as searching and reporting log data.</a:t>
            </a:r>
          </a:p>
          <a:p>
            <a:r>
              <a:rPr lang="en-US" dirty="0"/>
              <a:t>For logging, usually three components are required: a logger, a formatter, and a handler.</a:t>
            </a:r>
          </a:p>
          <a:p>
            <a:r>
              <a:rPr lang="en-US" dirty="0">
                <a:solidFill>
                  <a:srgbClr val="FF0000"/>
                </a:solidFill>
              </a:rPr>
              <a:t>The common standard for transmitting log messages is syslog (</a:t>
            </a:r>
            <a:r>
              <a:rPr lang="en-US" dirty="0" err="1">
                <a:solidFill>
                  <a:srgbClr val="FF0000"/>
                </a:solidFill>
              </a:rPr>
              <a:t>Gerhards</a:t>
            </a:r>
            <a:r>
              <a:rPr lang="en-US" dirty="0">
                <a:solidFill>
                  <a:srgbClr val="FF0000"/>
                </a:solidFill>
              </a:rPr>
              <a:t>, 2009).</a:t>
            </a:r>
          </a:p>
          <a:p>
            <a:r>
              <a:rPr lang="en-US" dirty="0">
                <a:solidFill>
                  <a:srgbClr val="FF0000"/>
                </a:solidFill>
              </a:rPr>
              <a:t>The key advantage of the syslog protocol is that it is supported by a wide range of devices and network components. </a:t>
            </a:r>
          </a:p>
          <a:p>
            <a:r>
              <a:rPr lang="en-US" dirty="0"/>
              <a:t>Its primary use is to send log messages to a centralized location - syslog server.</a:t>
            </a:r>
          </a:p>
        </p:txBody>
      </p:sp>
    </p:spTree>
    <p:extLst>
      <p:ext uri="{BB962C8B-B14F-4D97-AF65-F5344CB8AC3E}">
        <p14:creationId xmlns:p14="http://schemas.microsoft.com/office/powerpoint/2010/main" val="2711371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636712" cy="3947425"/>
          </a:xfrm>
        </p:spPr>
        <p:txBody>
          <a:bodyPr>
            <a:normAutofit/>
          </a:bodyPr>
          <a:lstStyle/>
          <a:p>
            <a:r>
              <a:rPr lang="en-US" sz="2000" dirty="0">
                <a:solidFill>
                  <a:srgbClr val="FF0000"/>
                </a:solidFill>
              </a:rPr>
              <a:t>Centralized logging makes log management much easier and simplifies the correlation of information collected at different locations of a network.</a:t>
            </a:r>
          </a:p>
          <a:p>
            <a:r>
              <a:rPr lang="en-US" sz="2000" dirty="0"/>
              <a:t>Drawbacks:</a:t>
            </a:r>
          </a:p>
          <a:p>
            <a:pPr>
              <a:buFont typeface="+mj-lt"/>
              <a:buAutoNum type="arabicPeriod"/>
            </a:pPr>
            <a:r>
              <a:rPr lang="en-US" sz="2000" dirty="0"/>
              <a:t>syslog </a:t>
            </a:r>
            <a:r>
              <a:rPr lang="en-US" sz="2000" dirty="0">
                <a:solidFill>
                  <a:srgbClr val="FF0000"/>
                </a:solidFill>
              </a:rPr>
              <a:t>does not define a standard for formatting messages. This results in inconsistency,</a:t>
            </a:r>
            <a:r>
              <a:rPr lang="en-US" sz="2000" dirty="0"/>
              <a:t> since every developer can define his/her own log message format.</a:t>
            </a:r>
          </a:p>
          <a:p>
            <a:pPr>
              <a:buFont typeface="+mj-lt"/>
              <a:buAutoNum type="arabicPeriod"/>
            </a:pPr>
            <a:r>
              <a:rPr lang="en-US" sz="2000" dirty="0">
                <a:solidFill>
                  <a:srgbClr val="FF0000"/>
                </a:solidFill>
              </a:rPr>
              <a:t>syslog uses the User Datagram Protocol (UDP) to transmit the log messages over the network </a:t>
            </a:r>
            <a:r>
              <a:rPr lang="en-US" sz="2000" dirty="0"/>
              <a:t>. Since UDP is connectionless, log messages can be lost because of network congestion and packet loss.</a:t>
            </a:r>
          </a:p>
          <a:p>
            <a:endParaRPr lang="en-US" sz="2000" dirty="0"/>
          </a:p>
        </p:txBody>
      </p:sp>
    </p:spTree>
    <p:extLst>
      <p:ext uri="{BB962C8B-B14F-4D97-AF65-F5344CB8AC3E}">
        <p14:creationId xmlns:p14="http://schemas.microsoft.com/office/powerpoint/2010/main" val="1806183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04967" y="2344193"/>
            <a:ext cx="11395881" cy="4343210"/>
          </a:xfrm>
        </p:spPr>
        <p:txBody>
          <a:bodyPr>
            <a:normAutofit/>
          </a:bodyPr>
          <a:lstStyle/>
          <a:p>
            <a:r>
              <a:rPr lang="en-US" sz="2000" b="1" i="1" u="sng" dirty="0"/>
              <a:t>Evasion Techniques</a:t>
            </a:r>
          </a:p>
          <a:p>
            <a:r>
              <a:rPr lang="en-US" sz="2000" dirty="0">
                <a:solidFill>
                  <a:srgbClr val="FF0000"/>
                </a:solidFill>
              </a:rPr>
              <a:t>While the information log data carries is essential for detecting security incidents and invaders, it can also be used as a source of information about an ICT network infrastructure by the attacker.</a:t>
            </a:r>
          </a:p>
          <a:p>
            <a:r>
              <a:rPr lang="en-US" sz="2000" dirty="0">
                <a:solidFill>
                  <a:srgbClr val="FF0000"/>
                </a:solidFill>
              </a:rPr>
              <a:t>Especially the (stealthy) passive phase of advanced persistent threats can be used to learn about the logging mechanisms in place. </a:t>
            </a:r>
          </a:p>
          <a:p>
            <a:r>
              <a:rPr lang="en-US" sz="2000" dirty="0"/>
              <a:t>This information can then be used during the active phase to hide the attack through the manipulation of logs.</a:t>
            </a:r>
          </a:p>
          <a:p>
            <a:r>
              <a:rPr lang="en-US" sz="2000" dirty="0">
                <a:solidFill>
                  <a:srgbClr val="FF0000"/>
                </a:solidFill>
              </a:rPr>
              <a:t>An attacker could disable the database log to hide a SQL-injection. Therefore, it is critically important to protect the logging from manipulation.</a:t>
            </a:r>
          </a:p>
          <a:p>
            <a:r>
              <a:rPr lang="en-US" sz="2000" dirty="0">
                <a:solidFill>
                  <a:srgbClr val="FF0000"/>
                </a:solidFill>
              </a:rPr>
              <a:t>A simple solution is</a:t>
            </a:r>
            <a:r>
              <a:rPr lang="en-US" sz="2000" dirty="0"/>
              <a:t> offered by </a:t>
            </a:r>
            <a:r>
              <a:rPr lang="en-US" sz="2000" dirty="0">
                <a:solidFill>
                  <a:srgbClr val="FF0000"/>
                </a:solidFill>
              </a:rPr>
              <a:t>digital signatures</a:t>
            </a:r>
            <a:r>
              <a:rPr lang="en-US" sz="2000" dirty="0"/>
              <a:t> that can be added to new log entries</a:t>
            </a:r>
          </a:p>
        </p:txBody>
      </p:sp>
    </p:spTree>
    <p:extLst>
      <p:ext uri="{BB962C8B-B14F-4D97-AF65-F5344CB8AC3E}">
        <p14:creationId xmlns:p14="http://schemas.microsoft.com/office/powerpoint/2010/main" val="2433230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04968" y="2412432"/>
            <a:ext cx="11532358" cy="4002016"/>
          </a:xfrm>
        </p:spPr>
        <p:txBody>
          <a:bodyPr>
            <a:normAutofit/>
          </a:bodyPr>
          <a:lstStyle/>
          <a:p>
            <a:r>
              <a:rPr lang="en-US" sz="2000" b="1" i="1" u="sng" dirty="0"/>
              <a:t>Current Applications</a:t>
            </a:r>
          </a:p>
          <a:p>
            <a:r>
              <a:rPr lang="en-US" sz="2000" dirty="0"/>
              <a:t>Log data is an important source </a:t>
            </a:r>
            <a:r>
              <a:rPr lang="en-US" sz="2000" dirty="0">
                <a:solidFill>
                  <a:srgbClr val="FF0000"/>
                </a:solidFill>
              </a:rPr>
              <a:t>for system monitoring that comprises acquisition of data and knowledge.</a:t>
            </a:r>
            <a:endParaRPr lang="en-US" sz="2000" dirty="0"/>
          </a:p>
          <a:p>
            <a:pPr lvl="1"/>
            <a:r>
              <a:rPr lang="en-US" sz="1800" dirty="0">
                <a:solidFill>
                  <a:srgbClr val="FF0000"/>
                </a:solidFill>
              </a:rPr>
              <a:t>System analysis and diagnostics rely on system monitoring.</a:t>
            </a:r>
            <a:r>
              <a:rPr lang="en-US" sz="1800" dirty="0"/>
              <a:t> Empirical and statistical properties of logs are analyzed to acquire knowledge about changes is the system behavior.</a:t>
            </a:r>
          </a:p>
          <a:p>
            <a:pPr lvl="1"/>
            <a:r>
              <a:rPr lang="en-US" sz="1800" dirty="0"/>
              <a:t> In this course, e.g., </a:t>
            </a:r>
            <a:r>
              <a:rPr lang="en-US" sz="1800" dirty="0">
                <a:solidFill>
                  <a:srgbClr val="FF0000"/>
                </a:solidFill>
              </a:rPr>
              <a:t>log data can be used for error analysis</a:t>
            </a:r>
          </a:p>
          <a:p>
            <a:r>
              <a:rPr lang="en-US" sz="2000" dirty="0">
                <a:solidFill>
                  <a:srgbClr val="FF0000"/>
                </a:solidFill>
              </a:rPr>
              <a:t>log data is investigated in course of digital forensics</a:t>
            </a:r>
          </a:p>
          <a:p>
            <a:pPr lvl="1"/>
            <a:r>
              <a:rPr lang="en-US" sz="1800" dirty="0"/>
              <a:t>It can be applied </a:t>
            </a:r>
            <a:r>
              <a:rPr lang="en-US" sz="1800" dirty="0">
                <a:solidFill>
                  <a:srgbClr val="FF0000"/>
                </a:solidFill>
              </a:rPr>
              <a:t>after an attack was detected to investigate its origin and find information about the attacker</a:t>
            </a:r>
            <a:r>
              <a:rPr lang="en-US" sz="1800" dirty="0"/>
              <a:t> and the purpose of the attack.</a:t>
            </a:r>
          </a:p>
        </p:txBody>
      </p:sp>
    </p:spTree>
    <p:extLst>
      <p:ext uri="{BB962C8B-B14F-4D97-AF65-F5344CB8AC3E}">
        <p14:creationId xmlns:p14="http://schemas.microsoft.com/office/powerpoint/2010/main" val="2847257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00485" cy="4029312"/>
          </a:xfrm>
        </p:spPr>
        <p:txBody>
          <a:bodyPr>
            <a:normAutofit/>
          </a:bodyPr>
          <a:lstStyle/>
          <a:p>
            <a:r>
              <a:rPr lang="en-US" sz="2400" dirty="0">
                <a:solidFill>
                  <a:srgbClr val="FF0000"/>
                </a:solidFill>
              </a:rPr>
              <a:t>log data can be used for real-time intrusion detection</a:t>
            </a:r>
          </a:p>
          <a:p>
            <a:pPr lvl="1"/>
            <a:r>
              <a:rPr lang="en-US" sz="2200" dirty="0"/>
              <a:t>signature-based detection methods that analyze single log lines to identify erratic and malicious system behavior, which might be caused by an attacker or malware, can be utilized.</a:t>
            </a:r>
          </a:p>
          <a:p>
            <a:r>
              <a:rPr lang="en-US" sz="2400" dirty="0">
                <a:solidFill>
                  <a:srgbClr val="FF0000"/>
                </a:solidFill>
              </a:rPr>
              <a:t>Database logs can be used to back up and restore database content in case of a system crash or destruction caused by an access violation</a:t>
            </a:r>
          </a:p>
          <a:p>
            <a:pPr lvl="1"/>
            <a:r>
              <a:rPr lang="en-US" sz="2200" dirty="0"/>
              <a:t>Transactions and activities stored in a text format in log data are easier to restore than those in a corrupted binary file.</a:t>
            </a:r>
          </a:p>
        </p:txBody>
      </p:sp>
    </p:spTree>
    <p:extLst>
      <p:ext uri="{BB962C8B-B14F-4D97-AF65-F5344CB8AC3E}">
        <p14:creationId xmlns:p14="http://schemas.microsoft.com/office/powerpoint/2010/main" val="3336294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589852"/>
            <a:ext cx="10732246" cy="3416300"/>
          </a:xfrm>
        </p:spPr>
        <p:txBody>
          <a:bodyPr>
            <a:noAutofit/>
          </a:bodyPr>
          <a:lstStyle/>
          <a:p>
            <a:r>
              <a:rPr lang="en-US" sz="2400" dirty="0">
                <a:solidFill>
                  <a:srgbClr val="FF0000"/>
                </a:solidFill>
              </a:rPr>
              <a:t>Firewall logs can be used to validate, if implemented firewall rules are working properly.</a:t>
            </a:r>
          </a:p>
          <a:p>
            <a:pPr lvl="1"/>
            <a:r>
              <a:rPr lang="en-US" sz="2000" dirty="0"/>
              <a:t>They can provide information if the firewall is the reason for application errors. </a:t>
            </a:r>
          </a:p>
          <a:p>
            <a:pPr lvl="1"/>
            <a:r>
              <a:rPr lang="en-US" sz="2000" dirty="0"/>
              <a:t>They can also be used to </a:t>
            </a:r>
            <a:r>
              <a:rPr lang="en-US" sz="2000" dirty="0">
                <a:solidFill>
                  <a:srgbClr val="FF0000"/>
                </a:solidFill>
              </a:rPr>
              <a:t>detect malicious activities</a:t>
            </a:r>
            <a:r>
              <a:rPr lang="en-US" sz="2000" dirty="0"/>
              <a:t> such as multiple </a:t>
            </a:r>
            <a:r>
              <a:rPr lang="en-US" sz="2000" dirty="0">
                <a:solidFill>
                  <a:srgbClr val="FF0000"/>
                </a:solidFill>
              </a:rPr>
              <a:t>unsuccessful attempts to overcome the firewall,</a:t>
            </a:r>
            <a:r>
              <a:rPr lang="en-US" sz="2000" dirty="0"/>
              <a:t> which is an indication of an intrusion attempt. </a:t>
            </a:r>
          </a:p>
          <a:p>
            <a:pPr lvl="1"/>
            <a:r>
              <a:rPr lang="en-US" sz="2000" dirty="0"/>
              <a:t>Also </a:t>
            </a:r>
            <a:r>
              <a:rPr lang="en-US" sz="2000" dirty="0">
                <a:solidFill>
                  <a:srgbClr val="FF0000"/>
                </a:solidFill>
              </a:rPr>
              <a:t>suspicious outgoing connections</a:t>
            </a:r>
            <a:r>
              <a:rPr lang="en-US" sz="2000" dirty="0"/>
              <a:t> might be an indication that malware is used to launch an attack</a:t>
            </a:r>
          </a:p>
        </p:txBody>
      </p:sp>
    </p:spTree>
    <p:extLst>
      <p:ext uri="{BB962C8B-B14F-4D97-AF65-F5344CB8AC3E}">
        <p14:creationId xmlns:p14="http://schemas.microsoft.com/office/powerpoint/2010/main" val="2201899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909667" cy="4083903"/>
          </a:xfrm>
        </p:spPr>
        <p:txBody>
          <a:bodyPr>
            <a:normAutofit/>
          </a:bodyPr>
          <a:lstStyle/>
          <a:p>
            <a:pPr algn="ctr"/>
            <a:r>
              <a:rPr lang="en-US" sz="2400" b="1" i="1" dirty="0"/>
              <a:t>Network Traffic</a:t>
            </a:r>
          </a:p>
          <a:p>
            <a:r>
              <a:rPr lang="en-US" sz="2100" b="1" i="1" u="sng" dirty="0"/>
              <a:t>Observables</a:t>
            </a:r>
          </a:p>
          <a:p>
            <a:r>
              <a:rPr lang="en-US" sz="2100" dirty="0"/>
              <a:t>In corporate IT networks, </a:t>
            </a:r>
            <a:r>
              <a:rPr lang="en-US" sz="2100" dirty="0">
                <a:solidFill>
                  <a:srgbClr val="FF0000"/>
                </a:solidFill>
              </a:rPr>
              <a:t>traffic is usually transmitted with the use of packet-switched network protocols. </a:t>
            </a:r>
          </a:p>
          <a:p>
            <a:r>
              <a:rPr lang="en-US" sz="2100" dirty="0"/>
              <a:t>In these protocols, </a:t>
            </a:r>
            <a:r>
              <a:rPr lang="en-US" sz="2100" dirty="0">
                <a:solidFill>
                  <a:srgbClr val="FF0000"/>
                </a:solidFill>
              </a:rPr>
              <a:t>the bit stream of information is broken up into multiple packets that are sent over the network independently.</a:t>
            </a:r>
          </a:p>
          <a:p>
            <a:r>
              <a:rPr lang="en-US" sz="2100" dirty="0"/>
              <a:t>During incidents, </a:t>
            </a:r>
            <a:r>
              <a:rPr lang="en-US" sz="2100" dirty="0">
                <a:solidFill>
                  <a:srgbClr val="FF0000"/>
                </a:solidFill>
              </a:rPr>
              <a:t>the threat actors need to make use of network communications</a:t>
            </a:r>
            <a:r>
              <a:rPr lang="en-US" sz="2100" dirty="0"/>
              <a:t> for various attack steps like </a:t>
            </a:r>
            <a:r>
              <a:rPr lang="en-US" sz="2100" dirty="0">
                <a:solidFill>
                  <a:srgbClr val="FF0000"/>
                </a:solidFill>
              </a:rPr>
              <a:t>reconnaissance, lateral movement, or exfiltration.</a:t>
            </a:r>
          </a:p>
        </p:txBody>
      </p:sp>
    </p:spTree>
    <p:extLst>
      <p:ext uri="{BB962C8B-B14F-4D97-AF65-F5344CB8AC3E}">
        <p14:creationId xmlns:p14="http://schemas.microsoft.com/office/powerpoint/2010/main" val="1663181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27780" cy="3416300"/>
          </a:xfrm>
        </p:spPr>
        <p:txBody>
          <a:bodyPr>
            <a:noAutofit/>
          </a:bodyPr>
          <a:lstStyle/>
          <a:p>
            <a:r>
              <a:rPr lang="en-US" sz="2000" dirty="0"/>
              <a:t>There are two approaches to monitoring network traffic. </a:t>
            </a:r>
          </a:p>
          <a:p>
            <a:r>
              <a:rPr lang="en-US" sz="2000" dirty="0">
                <a:solidFill>
                  <a:srgbClr val="FF0000"/>
                </a:solidFill>
              </a:rPr>
              <a:t>1.When traffic flow is monitored, only the data contained in the protocol envelopes is stored and analyzed. </a:t>
            </a:r>
          </a:p>
          <a:p>
            <a:r>
              <a:rPr lang="en-US" sz="2000" dirty="0">
                <a:solidFill>
                  <a:srgbClr val="FF0000"/>
                </a:solidFill>
              </a:rPr>
              <a:t>2. Packet captures on the other hand store the full packet, which contains the header information as well as the payload.</a:t>
            </a:r>
          </a:p>
          <a:p>
            <a:r>
              <a:rPr lang="en-US" sz="2000" dirty="0"/>
              <a:t>Observables are present in both parts of a packet: the envelope and the payload.</a:t>
            </a:r>
          </a:p>
          <a:p>
            <a:r>
              <a:rPr lang="en-US" sz="2000" dirty="0"/>
              <a:t>Categorizes them as follows in four categories:</a:t>
            </a:r>
          </a:p>
          <a:p>
            <a:r>
              <a:rPr lang="en-US" sz="2000" dirty="0"/>
              <a:t> </a:t>
            </a:r>
            <a:r>
              <a:rPr lang="en-US" sz="2000" dirty="0">
                <a:solidFill>
                  <a:srgbClr val="FF0000"/>
                </a:solidFill>
              </a:rPr>
              <a:t>a) transport oriented observables, b) application oriented </a:t>
            </a:r>
            <a:r>
              <a:rPr lang="en-US" sz="2000" dirty="0" err="1">
                <a:solidFill>
                  <a:srgbClr val="FF0000"/>
                </a:solidFill>
              </a:rPr>
              <a:t>observables,c</a:t>
            </a:r>
            <a:r>
              <a:rPr lang="en-US" sz="2000" dirty="0">
                <a:solidFill>
                  <a:srgbClr val="FF0000"/>
                </a:solidFill>
              </a:rPr>
              <a:t>) payload, and d) general traffic observables.</a:t>
            </a:r>
          </a:p>
        </p:txBody>
      </p:sp>
    </p:spTree>
    <p:extLst>
      <p:ext uri="{BB962C8B-B14F-4D97-AF65-F5344CB8AC3E}">
        <p14:creationId xmlns:p14="http://schemas.microsoft.com/office/powerpoint/2010/main" val="2398974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691303" cy="3416300"/>
          </a:xfrm>
        </p:spPr>
        <p:txBody>
          <a:bodyPr>
            <a:normAutofit/>
          </a:bodyPr>
          <a:lstStyle/>
          <a:p>
            <a:r>
              <a:rPr lang="en-US" sz="2000" dirty="0">
                <a:solidFill>
                  <a:srgbClr val="FF0000"/>
                </a:solidFill>
              </a:rPr>
              <a:t>While transport oriented and application-oriented observables are found in the protocol envelopes</a:t>
            </a:r>
            <a:r>
              <a:rPr lang="en-US" sz="2000" dirty="0"/>
              <a:t> payload observables require access to the actual data.</a:t>
            </a:r>
          </a:p>
          <a:p>
            <a:r>
              <a:rPr lang="en-US" sz="2000" dirty="0"/>
              <a:t> </a:t>
            </a:r>
            <a:r>
              <a:rPr lang="en-US" sz="2000" dirty="0">
                <a:solidFill>
                  <a:srgbClr val="FF0000"/>
                </a:solidFill>
              </a:rPr>
              <a:t>General traffic observables are found in helper protocol</a:t>
            </a:r>
            <a:r>
              <a:rPr lang="en-US" sz="2000" dirty="0"/>
              <a:t>s that are used implicitly by network components or by analyzing traffic occurrence over time.</a:t>
            </a:r>
          </a:p>
        </p:txBody>
      </p:sp>
    </p:spTree>
    <p:extLst>
      <p:ext uri="{BB962C8B-B14F-4D97-AF65-F5344CB8AC3E}">
        <p14:creationId xmlns:p14="http://schemas.microsoft.com/office/powerpoint/2010/main" val="2898359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SONY HACK</a:t>
            </a:r>
            <a:endParaRPr lang="en-US" dirty="0"/>
          </a:p>
        </p:txBody>
      </p:sp>
      <p:sp>
        <p:nvSpPr>
          <p:cNvPr id="3" name="Content Placeholder 2"/>
          <p:cNvSpPr>
            <a:spLocks noGrp="1"/>
          </p:cNvSpPr>
          <p:nvPr>
            <p:ph idx="1"/>
          </p:nvPr>
        </p:nvSpPr>
        <p:spPr>
          <a:xfrm>
            <a:off x="327546" y="2603500"/>
            <a:ext cx="11737075" cy="4042960"/>
          </a:xfrm>
        </p:spPr>
        <p:txBody>
          <a:bodyPr>
            <a:normAutofit/>
          </a:bodyPr>
          <a:lstStyle/>
          <a:p>
            <a:r>
              <a:rPr lang="en-US" sz="2000" dirty="0"/>
              <a:t>In the </a:t>
            </a:r>
            <a:r>
              <a:rPr lang="en-US" sz="2000" dirty="0" err="1"/>
              <a:t>sony</a:t>
            </a:r>
            <a:r>
              <a:rPr lang="en-US" sz="2000" dirty="0"/>
              <a:t> hack  the loader malware was programmed to connect to the C2 infrastructure over various IP addresses. </a:t>
            </a:r>
          </a:p>
          <a:p>
            <a:r>
              <a:rPr lang="en-US" sz="2000" dirty="0"/>
              <a:t>The addressed machines were mainly unaffiliated with the threat actor. Instead, infected machines (e.g., mail servers, gaming servers, public VPNs, etc.) were used as proxies to disguise the real C2 infrastructure.</a:t>
            </a:r>
          </a:p>
          <a:p>
            <a:r>
              <a:rPr lang="en-US" sz="2000" dirty="0"/>
              <a:t> The high number of accessible IP addresses that can be leveraged on the Internet by threat actors as proxies makes it hard for any one organization to detect novel malware reliably. </a:t>
            </a:r>
          </a:p>
          <a:p>
            <a:r>
              <a:rPr lang="en-US" sz="2000" dirty="0"/>
              <a:t>However, with the use of cyber threat intelligence, this high number of IP addresses can easily be shared as indicators and automatically used in local monitoring infrastructures to detect infections quickly.</a:t>
            </a:r>
          </a:p>
        </p:txBody>
      </p:sp>
    </p:spTree>
    <p:extLst>
      <p:ext uri="{BB962C8B-B14F-4D97-AF65-F5344CB8AC3E}">
        <p14:creationId xmlns:p14="http://schemas.microsoft.com/office/powerpoint/2010/main" val="4128228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13900" y="2603500"/>
            <a:ext cx="11532358" cy="4138494"/>
          </a:xfrm>
        </p:spPr>
        <p:txBody>
          <a:bodyPr>
            <a:normAutofit/>
          </a:bodyPr>
          <a:lstStyle/>
          <a:p>
            <a:r>
              <a:rPr lang="en-US" b="1" i="1" u="sng" dirty="0"/>
              <a:t>Transport-oriented observables</a:t>
            </a:r>
            <a:r>
              <a:rPr lang="en-US" dirty="0"/>
              <a:t> </a:t>
            </a:r>
            <a:r>
              <a:rPr lang="en-US" dirty="0">
                <a:solidFill>
                  <a:srgbClr val="FF0000"/>
                </a:solidFill>
              </a:rPr>
              <a:t>are found in the packet envelopes that are introduced at the layers 1–4 of the ISO/OSI model.</a:t>
            </a:r>
            <a:r>
              <a:rPr lang="en-US" dirty="0"/>
              <a:t> </a:t>
            </a:r>
          </a:p>
          <a:p>
            <a:r>
              <a:rPr lang="en-US" dirty="0">
                <a:solidFill>
                  <a:srgbClr val="FF0000"/>
                </a:solidFill>
              </a:rPr>
              <a:t>The information in the packet headers provides the most common observables used in network traffic monitoring.</a:t>
            </a:r>
          </a:p>
          <a:p>
            <a:r>
              <a:rPr lang="en-US" dirty="0"/>
              <a:t>Examples for observables are the </a:t>
            </a:r>
            <a:r>
              <a:rPr lang="en-US" dirty="0">
                <a:solidFill>
                  <a:srgbClr val="FF0000"/>
                </a:solidFill>
              </a:rPr>
              <a:t>source and destination IP address of a given packet.</a:t>
            </a:r>
          </a:p>
          <a:p>
            <a:r>
              <a:rPr lang="en-US" dirty="0"/>
              <a:t>Whenever the </a:t>
            </a:r>
            <a:r>
              <a:rPr lang="en-US" dirty="0">
                <a:solidFill>
                  <a:srgbClr val="FF0000"/>
                </a:solidFill>
              </a:rPr>
              <a:t>malware connects to the command and control server(C2), the packets with the suspicious IP address in the source IP address field can be detected.</a:t>
            </a:r>
          </a:p>
          <a:p>
            <a:r>
              <a:rPr lang="en-US" dirty="0"/>
              <a:t>Whenever the initial infection of a host happened, the malware pings the C2 infrastructure regularly to make it aware that it is ready to accept further commands. This traffic usually leverages </a:t>
            </a:r>
            <a:r>
              <a:rPr lang="en-US" dirty="0">
                <a:solidFill>
                  <a:srgbClr val="FF0000"/>
                </a:solidFill>
              </a:rPr>
              <a:t>ports of well-known protocols that are most likely not blocked by firewalls in operative networks (e.g., HTTP (80), HTTPS (443).</a:t>
            </a:r>
          </a:p>
        </p:txBody>
      </p:sp>
    </p:spTree>
    <p:extLst>
      <p:ext uri="{BB962C8B-B14F-4D97-AF65-F5344CB8AC3E}">
        <p14:creationId xmlns:p14="http://schemas.microsoft.com/office/powerpoint/2010/main" val="258518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18598" cy="3879187"/>
          </a:xfrm>
        </p:spPr>
        <p:txBody>
          <a:bodyPr>
            <a:normAutofit/>
          </a:bodyPr>
          <a:lstStyle/>
          <a:p>
            <a:r>
              <a:rPr lang="en-US" sz="2000" b="1" i="1" u="sng" dirty="0"/>
              <a:t>Application-Oriented Observables</a:t>
            </a:r>
          </a:p>
          <a:p>
            <a:r>
              <a:rPr lang="en-US" sz="2000" dirty="0"/>
              <a:t>The </a:t>
            </a:r>
            <a:r>
              <a:rPr lang="en-US" sz="2000" dirty="0">
                <a:solidFill>
                  <a:srgbClr val="FF0000"/>
                </a:solidFill>
              </a:rPr>
              <a:t>application layer protocols manage higher level functionality of services</a:t>
            </a:r>
            <a:r>
              <a:rPr lang="en-US" sz="2000" dirty="0"/>
              <a:t> rather than the classical transmission. </a:t>
            </a:r>
          </a:p>
          <a:p>
            <a:r>
              <a:rPr lang="en-US" sz="2000" dirty="0"/>
              <a:t>As such, </a:t>
            </a:r>
            <a:r>
              <a:rPr lang="en-US" sz="2000" dirty="0">
                <a:solidFill>
                  <a:srgbClr val="FF0000"/>
                </a:solidFill>
              </a:rPr>
              <a:t>they often contain valuable observables that can be used to detect the use of well-known application protocols for malicious activities. </a:t>
            </a:r>
          </a:p>
          <a:p>
            <a:r>
              <a:rPr lang="en-US" sz="2000" dirty="0"/>
              <a:t>For threat actors, the use of well-known protocols is very beneficial.</a:t>
            </a:r>
          </a:p>
          <a:p>
            <a:r>
              <a:rPr lang="en-US" sz="2000" dirty="0">
                <a:solidFill>
                  <a:srgbClr val="FF0000"/>
                </a:solidFill>
              </a:rPr>
              <a:t>Malicious traffic can be hidden more easily between the large amounts of legitimate traffic sent with the same protocols.</a:t>
            </a:r>
          </a:p>
        </p:txBody>
      </p:sp>
    </p:spTree>
    <p:extLst>
      <p:ext uri="{BB962C8B-B14F-4D97-AF65-F5344CB8AC3E}">
        <p14:creationId xmlns:p14="http://schemas.microsoft.com/office/powerpoint/2010/main" val="1029727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86854" y="2603499"/>
            <a:ext cx="11341289" cy="4070255"/>
          </a:xfrm>
        </p:spPr>
        <p:txBody>
          <a:bodyPr>
            <a:normAutofit/>
          </a:bodyPr>
          <a:lstStyle/>
          <a:p>
            <a:r>
              <a:rPr lang="en-US" sz="2000" dirty="0"/>
              <a:t>Based on observables at the application layer, it is possible to monitor whether the respective underlying application is used as expected. </a:t>
            </a:r>
          </a:p>
          <a:p>
            <a:r>
              <a:rPr lang="en-US" sz="2000" dirty="0"/>
              <a:t>The </a:t>
            </a:r>
            <a:r>
              <a:rPr lang="en-US" sz="2000" dirty="0">
                <a:solidFill>
                  <a:srgbClr val="FF0000"/>
                </a:solidFill>
              </a:rPr>
              <a:t>HTTP connection attempts to various well-known paths</a:t>
            </a:r>
            <a:r>
              <a:rPr lang="en-US" sz="2000" dirty="0"/>
              <a:t> of the administration section of widely used content management systems (CMSs) can be an indicator for probing, </a:t>
            </a:r>
            <a:r>
              <a:rPr lang="en-US" sz="2000" dirty="0">
                <a:solidFill>
                  <a:srgbClr val="FF0000"/>
                </a:solidFill>
              </a:rPr>
              <a:t>which could be part of the reconnaissance phase.</a:t>
            </a:r>
          </a:p>
          <a:p>
            <a:r>
              <a:rPr lang="en-US" sz="2000" dirty="0"/>
              <a:t>Another example is the </a:t>
            </a:r>
            <a:r>
              <a:rPr lang="en-US" sz="2000" dirty="0">
                <a:solidFill>
                  <a:srgbClr val="FF0000"/>
                </a:solidFill>
              </a:rPr>
              <a:t>header information in e-mails that were sent using SMTP.</a:t>
            </a:r>
            <a:r>
              <a:rPr lang="en-US" sz="2000" dirty="0"/>
              <a:t> </a:t>
            </a:r>
          </a:p>
          <a:p>
            <a:r>
              <a:rPr lang="en-US" sz="2000" dirty="0"/>
              <a:t>They </a:t>
            </a:r>
            <a:r>
              <a:rPr lang="en-US" sz="2000" dirty="0">
                <a:solidFill>
                  <a:srgbClr val="FF0000"/>
                </a:solidFill>
              </a:rPr>
              <a:t>contain the route of the mail</a:t>
            </a:r>
            <a:r>
              <a:rPr lang="en-US" sz="2000" dirty="0"/>
              <a:t> over various mail servers between sender and receiver.</a:t>
            </a:r>
          </a:p>
          <a:p>
            <a:r>
              <a:rPr lang="en-US" sz="2000" dirty="0"/>
              <a:t> This information can be </a:t>
            </a:r>
            <a:r>
              <a:rPr lang="en-US" sz="2000" dirty="0">
                <a:solidFill>
                  <a:srgbClr val="FF0000"/>
                </a:solidFill>
              </a:rPr>
              <a:t>used to detect suspicious routes between two mail addresses, which can be an indication for a spoofed mail.</a:t>
            </a:r>
          </a:p>
        </p:txBody>
      </p:sp>
    </p:spTree>
    <p:extLst>
      <p:ext uri="{BB962C8B-B14F-4D97-AF65-F5344CB8AC3E}">
        <p14:creationId xmlns:p14="http://schemas.microsoft.com/office/powerpoint/2010/main" val="1005417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POWER OUTAGE IN UKRAINE</a:t>
            </a:r>
            <a:endParaRPr lang="en-US" dirty="0"/>
          </a:p>
        </p:txBody>
      </p:sp>
      <p:sp>
        <p:nvSpPr>
          <p:cNvPr id="3" name="Content Placeholder 2"/>
          <p:cNvSpPr>
            <a:spLocks noGrp="1"/>
          </p:cNvSpPr>
          <p:nvPr>
            <p:ph idx="1"/>
          </p:nvPr>
        </p:nvSpPr>
        <p:spPr>
          <a:xfrm>
            <a:off x="1154954" y="2603500"/>
            <a:ext cx="10704950" cy="4002016"/>
          </a:xfrm>
        </p:spPr>
        <p:txBody>
          <a:bodyPr>
            <a:normAutofit/>
          </a:bodyPr>
          <a:lstStyle/>
          <a:p>
            <a:r>
              <a:rPr lang="en-US" sz="2000" dirty="0"/>
              <a:t>In the case of the attack on a Ukrainian power distributor, the initial intrusion was achieved through spear fishing. </a:t>
            </a:r>
          </a:p>
          <a:p>
            <a:r>
              <a:rPr lang="en-US" sz="2000" dirty="0"/>
              <a:t>After intensive reconnaissance with the use of social engineering, it is believed that a well-targeted mail (sent to a victim in the organization) contained a </a:t>
            </a:r>
            <a:r>
              <a:rPr lang="en-US" sz="2000" dirty="0" err="1"/>
              <a:t>weaponized</a:t>
            </a:r>
            <a:r>
              <a:rPr lang="en-US" sz="2000" dirty="0"/>
              <a:t> Microsoft Office document that installed the initial loader malware. </a:t>
            </a:r>
          </a:p>
          <a:p>
            <a:r>
              <a:rPr lang="en-US" sz="2000" dirty="0"/>
              <a:t>While the most important step to limiting the effectiveness of this type of attack is user education, the header information of the delivered mail could have contained clues about the malicious intent of the attachment (i.e., the path of the mail would not have matched the path contained in the headers of previous mails).</a:t>
            </a:r>
          </a:p>
        </p:txBody>
      </p:sp>
    </p:spTree>
    <p:extLst>
      <p:ext uri="{BB962C8B-B14F-4D97-AF65-F5344CB8AC3E}">
        <p14:creationId xmlns:p14="http://schemas.microsoft.com/office/powerpoint/2010/main" val="1010383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73189" cy="3879187"/>
          </a:xfrm>
        </p:spPr>
        <p:txBody>
          <a:bodyPr>
            <a:normAutofit/>
          </a:bodyPr>
          <a:lstStyle/>
          <a:p>
            <a:r>
              <a:rPr lang="en-US" sz="2000" b="1" i="1" u="sng" dirty="0"/>
              <a:t>Payload</a:t>
            </a:r>
          </a:p>
          <a:p>
            <a:r>
              <a:rPr lang="en-US" sz="2000" dirty="0"/>
              <a:t>Another source for observables is the payload of the packets.</a:t>
            </a:r>
          </a:p>
          <a:p>
            <a:r>
              <a:rPr lang="en-US" sz="2000" dirty="0">
                <a:solidFill>
                  <a:srgbClr val="FF0000"/>
                </a:solidFill>
              </a:rPr>
              <a:t>Attachments to e-mails</a:t>
            </a:r>
            <a:r>
              <a:rPr lang="en-US" sz="2000" dirty="0"/>
              <a:t> are good examples of payloads that can be monitored at the mail server before the mail is transmitted to the end user to limit the risk for infection. </a:t>
            </a:r>
          </a:p>
          <a:p>
            <a:r>
              <a:rPr lang="en-US" sz="2000" dirty="0"/>
              <a:t>Similarly, </a:t>
            </a:r>
            <a:r>
              <a:rPr lang="en-US" sz="2000" dirty="0">
                <a:solidFill>
                  <a:srgbClr val="FF0000"/>
                </a:solidFill>
              </a:rPr>
              <a:t>outgoing FTP or HTTP file transfers can be monitored to check for confidential documents that leave the controlled perimeter.</a:t>
            </a:r>
          </a:p>
        </p:txBody>
      </p:sp>
    </p:spTree>
    <p:extLst>
      <p:ext uri="{BB962C8B-B14F-4D97-AF65-F5344CB8AC3E}">
        <p14:creationId xmlns:p14="http://schemas.microsoft.com/office/powerpoint/2010/main" val="4031949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2263" y="2412431"/>
            <a:ext cx="11354937" cy="4083903"/>
          </a:xfrm>
        </p:spPr>
        <p:txBody>
          <a:bodyPr>
            <a:normAutofit/>
          </a:bodyPr>
          <a:lstStyle/>
          <a:p>
            <a:r>
              <a:rPr lang="en-US" b="1" i="1" u="sng" dirty="0"/>
              <a:t>Traffic-Specific Observables</a:t>
            </a:r>
          </a:p>
          <a:p>
            <a:r>
              <a:rPr lang="en-US" dirty="0"/>
              <a:t>The </a:t>
            </a:r>
            <a:r>
              <a:rPr lang="en-US" i="1" u="sng" dirty="0">
                <a:solidFill>
                  <a:srgbClr val="FF0000"/>
                </a:solidFill>
              </a:rPr>
              <a:t>Dynamic Host Configuration Protocol (DHCP)</a:t>
            </a:r>
            <a:r>
              <a:rPr lang="en-US" i="1" dirty="0">
                <a:solidFill>
                  <a:srgbClr val="FF0000"/>
                </a:solidFill>
              </a:rPr>
              <a:t> </a:t>
            </a:r>
            <a:r>
              <a:rPr lang="en-US" dirty="0"/>
              <a:t>is used by clients that connect to DHCP-managed IP networks. </a:t>
            </a:r>
          </a:p>
          <a:p>
            <a:r>
              <a:rPr lang="en-US" dirty="0">
                <a:solidFill>
                  <a:srgbClr val="FF0000"/>
                </a:solidFill>
              </a:rPr>
              <a:t>A DHCP server listens for client requests and assigns them a free IP address through a DHCP lease, which is time limited. </a:t>
            </a:r>
          </a:p>
          <a:p>
            <a:r>
              <a:rPr lang="en-US" dirty="0">
                <a:solidFill>
                  <a:srgbClr val="FF0000"/>
                </a:solidFill>
              </a:rPr>
              <a:t>As DHCP does not include encryption, an infected or malicious node in the network can act as a rogue DHCP server. </a:t>
            </a:r>
          </a:p>
          <a:p>
            <a:r>
              <a:rPr lang="en-US" dirty="0"/>
              <a:t>As a consequence, </a:t>
            </a:r>
            <a:r>
              <a:rPr lang="en-US" dirty="0">
                <a:solidFill>
                  <a:srgbClr val="FF0000"/>
                </a:solidFill>
              </a:rPr>
              <a:t>manipulated leases can be issued that can either cause a denial-of-service attack </a:t>
            </a:r>
            <a:r>
              <a:rPr lang="en-US" dirty="0"/>
              <a:t>(invalid IP addresses will prohibit the client from connection) </a:t>
            </a:r>
            <a:r>
              <a:rPr lang="en-US" dirty="0">
                <a:solidFill>
                  <a:srgbClr val="FF0000"/>
                </a:solidFill>
              </a:rPr>
              <a:t>or a man-in-the-middle attack </a:t>
            </a:r>
            <a:r>
              <a:rPr lang="en-US" dirty="0"/>
              <a:t>(e.g., when the lease specifies a wrong DNS server for DNS lookups, which redirects HTTP traffic to malicious servers).</a:t>
            </a:r>
          </a:p>
        </p:txBody>
      </p:sp>
    </p:spTree>
    <p:extLst>
      <p:ext uri="{BB962C8B-B14F-4D97-AF65-F5344CB8AC3E}">
        <p14:creationId xmlns:p14="http://schemas.microsoft.com/office/powerpoint/2010/main" val="2510078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86837" cy="3416300"/>
          </a:xfrm>
        </p:spPr>
        <p:txBody>
          <a:bodyPr>
            <a:normAutofit/>
          </a:bodyPr>
          <a:lstStyle/>
          <a:p>
            <a:r>
              <a:rPr lang="en-US" sz="2000" dirty="0">
                <a:solidFill>
                  <a:srgbClr val="FF0000"/>
                </a:solidFill>
              </a:rPr>
              <a:t>The </a:t>
            </a:r>
            <a:r>
              <a:rPr lang="en-US" sz="2000" i="1" u="sng" dirty="0">
                <a:solidFill>
                  <a:srgbClr val="FF0000"/>
                </a:solidFill>
              </a:rPr>
              <a:t>Address Resolution Protocol (ARP)</a:t>
            </a:r>
            <a:r>
              <a:rPr lang="en-US" sz="2000" dirty="0">
                <a:solidFill>
                  <a:srgbClr val="FF0000"/>
                </a:solidFill>
              </a:rPr>
              <a:t> is used within the boundaries of a single network  to find out the MAC address for a machine when the IP address is known.</a:t>
            </a:r>
          </a:p>
          <a:p>
            <a:r>
              <a:rPr lang="en-US" sz="2000" dirty="0"/>
              <a:t>If an intended receiver’s mapping is not known, a broadcast request (ARP request) is sent to all machines in the local network.</a:t>
            </a:r>
          </a:p>
          <a:p>
            <a:r>
              <a:rPr lang="en-US" sz="2000" dirty="0"/>
              <a:t>Despite well-known vulnerabilities (e.g., ARP cache poisoning), </a:t>
            </a:r>
            <a:r>
              <a:rPr lang="en-US" sz="2000" dirty="0">
                <a:solidFill>
                  <a:srgbClr val="FF0000"/>
                </a:solidFill>
              </a:rPr>
              <a:t>the broadcast nature of this protocol makes it a prime candidate for monitoring the behavior of machines in a network.</a:t>
            </a:r>
          </a:p>
        </p:txBody>
      </p:sp>
    </p:spTree>
    <p:extLst>
      <p:ext uri="{BB962C8B-B14F-4D97-AF65-F5344CB8AC3E}">
        <p14:creationId xmlns:p14="http://schemas.microsoft.com/office/powerpoint/2010/main" val="3495258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800485" cy="3879187"/>
          </a:xfrm>
        </p:spPr>
        <p:txBody>
          <a:bodyPr/>
          <a:lstStyle/>
          <a:p>
            <a:r>
              <a:rPr lang="en-US" sz="2000" b="1" i="1" u="sng" dirty="0"/>
              <a:t>Monitoring</a:t>
            </a:r>
            <a:endParaRPr lang="en-US" sz="2000" b="1" u="sng" dirty="0"/>
          </a:p>
          <a:p>
            <a:r>
              <a:rPr lang="en-US" dirty="0"/>
              <a:t>There are two main formats in which network traffic is usually collected.</a:t>
            </a:r>
          </a:p>
          <a:p>
            <a:r>
              <a:rPr lang="en-US" dirty="0"/>
              <a:t>1) network traffic flow information</a:t>
            </a:r>
          </a:p>
          <a:p>
            <a:r>
              <a:rPr lang="en-US" dirty="0"/>
              <a:t>2) Packet captures</a:t>
            </a:r>
          </a:p>
          <a:p>
            <a:endParaRPr lang="en-US" dirty="0"/>
          </a:p>
          <a:p>
            <a:r>
              <a:rPr lang="en-US" sz="2000" u="sng" dirty="0"/>
              <a:t>1) network traffic flow information</a:t>
            </a:r>
            <a:r>
              <a:rPr lang="en-US" sz="2000" dirty="0"/>
              <a:t> </a:t>
            </a:r>
          </a:p>
          <a:p>
            <a:r>
              <a:rPr lang="en-US" dirty="0"/>
              <a:t>It was first </a:t>
            </a:r>
            <a:r>
              <a:rPr lang="en-US" dirty="0">
                <a:solidFill>
                  <a:srgbClr val="FF0000"/>
                </a:solidFill>
              </a:rPr>
              <a:t>developed by Cisco as </a:t>
            </a:r>
            <a:r>
              <a:rPr lang="en-US" dirty="0" err="1">
                <a:solidFill>
                  <a:srgbClr val="FF0000"/>
                </a:solidFill>
              </a:rPr>
              <a:t>NetFlow</a:t>
            </a:r>
            <a:r>
              <a:rPr lang="en-US" dirty="0">
                <a:solidFill>
                  <a:srgbClr val="FF0000"/>
                </a:solidFill>
              </a:rPr>
              <a:t>.</a:t>
            </a:r>
          </a:p>
          <a:p>
            <a:r>
              <a:rPr lang="en-US" dirty="0">
                <a:solidFill>
                  <a:srgbClr val="FF0000"/>
                </a:solidFill>
              </a:rPr>
              <a:t>The router collects and aggregates the information about different flows of IP traffic.</a:t>
            </a:r>
          </a:p>
          <a:p>
            <a:endParaRPr lang="en-US" dirty="0"/>
          </a:p>
        </p:txBody>
      </p:sp>
    </p:spTree>
    <p:extLst>
      <p:ext uri="{BB962C8B-B14F-4D97-AF65-F5344CB8AC3E}">
        <p14:creationId xmlns:p14="http://schemas.microsoft.com/office/powerpoint/2010/main" val="682269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154954" y="2603500"/>
            <a:ext cx="10704950" cy="3416300"/>
          </a:xfrm>
        </p:spPr>
        <p:txBody>
          <a:bodyPr>
            <a:normAutofit/>
          </a:bodyPr>
          <a:lstStyle/>
          <a:p>
            <a:r>
              <a:rPr lang="en-US" b="1" dirty="0"/>
              <a:t>A </a:t>
            </a:r>
            <a:r>
              <a:rPr lang="en-US" b="1" dirty="0" err="1"/>
              <a:t>NetFlow</a:t>
            </a:r>
            <a:r>
              <a:rPr lang="en-US" b="1" dirty="0"/>
              <a:t> record contains:</a:t>
            </a:r>
            <a:r>
              <a:rPr lang="en-US" dirty="0"/>
              <a:t> </a:t>
            </a:r>
            <a:r>
              <a:rPr lang="en-US" dirty="0">
                <a:solidFill>
                  <a:srgbClr val="FF0000"/>
                </a:solidFill>
              </a:rPr>
              <a:t>Version, Sequence Number, Input and Output Interface ID, timestamps for start and end time of the flow, number of bytes and packets observed, IP header information (source and destination IP address and port numbers), and a union of all TCP flags that were observed throughout the lifetime of the flow.</a:t>
            </a:r>
          </a:p>
          <a:p>
            <a:r>
              <a:rPr lang="en-US" dirty="0"/>
              <a:t>The flow records observed at the router are then forwarded to a collector using UDP and deleted at the router. To limit the overhead from the newly introduced network traffic, the collector should be located in close proximity to the recording device.</a:t>
            </a:r>
          </a:p>
          <a:p>
            <a:r>
              <a:rPr lang="en-US" dirty="0">
                <a:solidFill>
                  <a:srgbClr val="FF0000"/>
                </a:solidFill>
              </a:rPr>
              <a:t>The generation of flow records is very resource demanding at the router.</a:t>
            </a:r>
            <a:r>
              <a:rPr lang="en-US" dirty="0"/>
              <a:t> Further, the </a:t>
            </a:r>
            <a:r>
              <a:rPr lang="en-US" dirty="0">
                <a:solidFill>
                  <a:srgbClr val="FF0000"/>
                </a:solidFill>
              </a:rPr>
              <a:t>content of the packets is not stored and therefore cannot be analyzed when flow records are used for monitoring.</a:t>
            </a:r>
          </a:p>
        </p:txBody>
      </p:sp>
    </p:spTree>
    <p:extLst>
      <p:ext uri="{BB962C8B-B14F-4D97-AF65-F5344CB8AC3E}">
        <p14:creationId xmlns:p14="http://schemas.microsoft.com/office/powerpoint/2010/main" val="4107335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00485" cy="3416300"/>
          </a:xfrm>
        </p:spPr>
        <p:txBody>
          <a:bodyPr>
            <a:normAutofit/>
          </a:bodyPr>
          <a:lstStyle/>
          <a:p>
            <a:r>
              <a:rPr lang="en-US" sz="2000" u="sng" dirty="0"/>
              <a:t>2) Packet captures</a:t>
            </a:r>
          </a:p>
          <a:p>
            <a:r>
              <a:rPr lang="en-US" sz="2000" dirty="0">
                <a:solidFill>
                  <a:srgbClr val="FF0000"/>
                </a:solidFill>
              </a:rPr>
              <a:t>The complete packet (i.e., header information and payload) is collected, stored and parsed. This approach is usually necessary for deep-packet inspection.</a:t>
            </a:r>
          </a:p>
          <a:p>
            <a:r>
              <a:rPr lang="en-US" sz="2000" dirty="0"/>
              <a:t>Since the complete packet information is stored, the same observables that are captured by flow records are also present in packet captures. </a:t>
            </a:r>
          </a:p>
          <a:p>
            <a:r>
              <a:rPr lang="en-US" sz="2000" dirty="0"/>
              <a:t>However, </a:t>
            </a:r>
            <a:r>
              <a:rPr lang="en-US" sz="2000" dirty="0">
                <a:solidFill>
                  <a:srgbClr val="FF0000"/>
                </a:solidFill>
              </a:rPr>
              <a:t>the amount of data stored in packet captures is much greater</a:t>
            </a:r>
            <a:r>
              <a:rPr lang="en-US" sz="2000" dirty="0"/>
              <a:t>, and thus, </a:t>
            </a:r>
            <a:r>
              <a:rPr lang="en-US" sz="2000" dirty="0">
                <a:solidFill>
                  <a:srgbClr val="FF0000"/>
                </a:solidFill>
              </a:rPr>
              <a:t>algorithms need to be applied to process the data and extract observables of interest.</a:t>
            </a:r>
          </a:p>
        </p:txBody>
      </p:sp>
    </p:spTree>
    <p:extLst>
      <p:ext uri="{BB962C8B-B14F-4D97-AF65-F5344CB8AC3E}">
        <p14:creationId xmlns:p14="http://schemas.microsoft.com/office/powerpoint/2010/main" val="1430464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814133" cy="4056607"/>
          </a:xfrm>
        </p:spPr>
        <p:txBody>
          <a:bodyPr>
            <a:noAutofit/>
          </a:bodyPr>
          <a:lstStyle/>
          <a:p>
            <a:r>
              <a:rPr lang="en-US" sz="2000" b="1" i="1" u="sng" dirty="0"/>
              <a:t>Evasion Techniques</a:t>
            </a:r>
          </a:p>
          <a:p>
            <a:r>
              <a:rPr lang="en-US" sz="2000" dirty="0"/>
              <a:t>Adversaries can use various approaches to disguise attack indicators in network traffic in order to circumvent detection.</a:t>
            </a:r>
          </a:p>
          <a:p>
            <a:r>
              <a:rPr lang="en-US" sz="2000" u="sng" dirty="0"/>
              <a:t>1) One technique is Encryption.</a:t>
            </a:r>
          </a:p>
          <a:p>
            <a:r>
              <a:rPr lang="en-US" sz="2000" dirty="0">
                <a:solidFill>
                  <a:srgbClr val="FF0000"/>
                </a:solidFill>
              </a:rPr>
              <a:t>Encryption is an important security and privacy feature, it is also widely used by adversaries to prevent payload analysis. </a:t>
            </a:r>
          </a:p>
          <a:p>
            <a:r>
              <a:rPr lang="en-US" sz="2000" dirty="0">
                <a:solidFill>
                  <a:srgbClr val="FF0000"/>
                </a:solidFill>
              </a:rPr>
              <a:t>A detection mechanism can only analyze the payload if it has a copy of the private key used during the encryption. </a:t>
            </a:r>
          </a:p>
          <a:p>
            <a:r>
              <a:rPr lang="en-US" sz="2000" dirty="0">
                <a:solidFill>
                  <a:srgbClr val="FF0000"/>
                </a:solidFill>
              </a:rPr>
              <a:t>Packet headers of transport protocols</a:t>
            </a:r>
            <a:r>
              <a:rPr lang="en-US" sz="2000" dirty="0"/>
              <a:t>, usually </a:t>
            </a:r>
            <a:r>
              <a:rPr lang="en-US" sz="2000" dirty="0">
                <a:solidFill>
                  <a:srgbClr val="FF0000"/>
                </a:solidFill>
              </a:rPr>
              <a:t>cannot be encrypted by the attacker</a:t>
            </a:r>
            <a:r>
              <a:rPr lang="en-US" sz="2000" dirty="0"/>
              <a:t>, as </a:t>
            </a:r>
            <a:r>
              <a:rPr lang="en-US" sz="2000" dirty="0">
                <a:solidFill>
                  <a:srgbClr val="FF0000"/>
                </a:solidFill>
              </a:rPr>
              <a:t>they need to be readable</a:t>
            </a:r>
            <a:r>
              <a:rPr lang="en-US" sz="2000" dirty="0"/>
              <a:t> by the network equipment </a:t>
            </a:r>
            <a:r>
              <a:rPr lang="en-US" sz="2000" dirty="0">
                <a:solidFill>
                  <a:srgbClr val="FF0000"/>
                </a:solidFill>
              </a:rPr>
              <a:t>to ensure correct delivery.</a:t>
            </a:r>
          </a:p>
        </p:txBody>
      </p:sp>
    </p:spTree>
    <p:extLst>
      <p:ext uri="{BB962C8B-B14F-4D97-AF65-F5344CB8AC3E}">
        <p14:creationId xmlns:p14="http://schemas.microsoft.com/office/powerpoint/2010/main" val="1636234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86837" cy="4029312"/>
          </a:xfrm>
        </p:spPr>
        <p:txBody>
          <a:bodyPr>
            <a:normAutofit/>
          </a:bodyPr>
          <a:lstStyle/>
          <a:p>
            <a:r>
              <a:rPr lang="en-US" sz="2000" dirty="0"/>
              <a:t>2) </a:t>
            </a:r>
            <a:r>
              <a:rPr lang="en-US" sz="2000" u="sng" dirty="0"/>
              <a:t>Another possibility to evade payload inspection is fragmentation.</a:t>
            </a:r>
          </a:p>
          <a:p>
            <a:r>
              <a:rPr lang="en-US" sz="2000" dirty="0">
                <a:solidFill>
                  <a:srgbClr val="FF0000"/>
                </a:solidFill>
              </a:rPr>
              <a:t>The attacker can split the payload in multiple very small packets that need to be reassembled by the IDS to identify the malicious payload. </a:t>
            </a:r>
          </a:p>
          <a:p>
            <a:r>
              <a:rPr lang="en-US" sz="2000" dirty="0"/>
              <a:t>The attacker can then </a:t>
            </a:r>
            <a:r>
              <a:rPr lang="en-US" sz="2000" dirty="0">
                <a:solidFill>
                  <a:srgbClr val="FF0000"/>
                </a:solidFill>
              </a:rPr>
              <a:t>send packets out of order or introduce random delays during transmission to make the reassembling process harder</a:t>
            </a:r>
            <a:r>
              <a:rPr lang="en-US" sz="2000" dirty="0"/>
              <a:t> for the IDS in the hope that the IDS times out or fails to reassemble while the target machine does not.</a:t>
            </a:r>
          </a:p>
        </p:txBody>
      </p:sp>
    </p:spTree>
    <p:extLst>
      <p:ext uri="{BB962C8B-B14F-4D97-AF65-F5344CB8AC3E}">
        <p14:creationId xmlns:p14="http://schemas.microsoft.com/office/powerpoint/2010/main" val="174894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73189" cy="3416300"/>
          </a:xfrm>
        </p:spPr>
        <p:txBody>
          <a:bodyPr>
            <a:normAutofit/>
          </a:bodyPr>
          <a:lstStyle/>
          <a:p>
            <a:r>
              <a:rPr lang="en-US" sz="2400" dirty="0"/>
              <a:t>3) </a:t>
            </a:r>
            <a:r>
              <a:rPr lang="en-US" sz="2400" u="sng" dirty="0"/>
              <a:t>Encoding can be used to circumvent detection by signatures.</a:t>
            </a:r>
          </a:p>
          <a:p>
            <a:r>
              <a:rPr lang="en-US" sz="2400" dirty="0"/>
              <a:t>For example, Web servers accept ASCII strings that are encoded in hexadecimal.</a:t>
            </a:r>
          </a:p>
          <a:p>
            <a:r>
              <a:rPr lang="en-US" sz="2400" dirty="0"/>
              <a:t>If the IDS is not aware of the full range of encoding possibilities, signatures can be avoided, while the victim accepts the attack.</a:t>
            </a:r>
          </a:p>
        </p:txBody>
      </p:sp>
    </p:spTree>
    <p:extLst>
      <p:ext uri="{BB962C8B-B14F-4D97-AF65-F5344CB8AC3E}">
        <p14:creationId xmlns:p14="http://schemas.microsoft.com/office/powerpoint/2010/main" val="4075489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923315" cy="4042960"/>
          </a:xfrm>
        </p:spPr>
        <p:txBody>
          <a:bodyPr>
            <a:normAutofit lnSpcReduction="10000"/>
          </a:bodyPr>
          <a:lstStyle/>
          <a:p>
            <a:pPr algn="ctr"/>
            <a:r>
              <a:rPr lang="en-US" sz="2000" b="1" i="1" u="sng" dirty="0"/>
              <a:t>Files and Processes</a:t>
            </a:r>
          </a:p>
          <a:p>
            <a:r>
              <a:rPr lang="en-US" sz="2000" dirty="0">
                <a:solidFill>
                  <a:srgbClr val="FF0000"/>
                </a:solidFill>
              </a:rPr>
              <a:t>Malware</a:t>
            </a:r>
            <a:r>
              <a:rPr lang="en-US" sz="2000" dirty="0"/>
              <a:t>, short for malicious software, refers to </a:t>
            </a:r>
            <a:r>
              <a:rPr lang="en-US" sz="2000" dirty="0">
                <a:solidFill>
                  <a:srgbClr val="FF0000"/>
                </a:solidFill>
              </a:rPr>
              <a:t>software programs designed to damage a computer system or perform other unwanted actions. </a:t>
            </a:r>
          </a:p>
          <a:p>
            <a:r>
              <a:rPr lang="en-US" sz="2000" dirty="0"/>
              <a:t>Since </a:t>
            </a:r>
            <a:r>
              <a:rPr lang="en-US" sz="2000" dirty="0">
                <a:solidFill>
                  <a:srgbClr val="FF0000"/>
                </a:solidFill>
              </a:rPr>
              <a:t>malware tries to access computer systems, collect sensitive information, disrupt system operations, and cause damage to the system</a:t>
            </a:r>
            <a:r>
              <a:rPr lang="en-US" sz="2000" dirty="0"/>
              <a:t>, malware detection is essential to secure a computer system.</a:t>
            </a:r>
          </a:p>
          <a:p>
            <a:r>
              <a:rPr lang="en-US" sz="2000" dirty="0" err="1">
                <a:solidFill>
                  <a:srgbClr val="FF0000"/>
                </a:solidFill>
              </a:rPr>
              <a:t>Stuxnet</a:t>
            </a:r>
            <a:r>
              <a:rPr lang="en-US" sz="2000" dirty="0">
                <a:solidFill>
                  <a:srgbClr val="FF0000"/>
                </a:solidFill>
              </a:rPr>
              <a:t> (</a:t>
            </a:r>
            <a:r>
              <a:rPr lang="en-US" sz="2000" dirty="0" err="1">
                <a:solidFill>
                  <a:srgbClr val="FF0000"/>
                </a:solidFill>
              </a:rPr>
              <a:t>Karnouskos</a:t>
            </a:r>
            <a:r>
              <a:rPr lang="en-US" sz="2000" dirty="0">
                <a:solidFill>
                  <a:srgbClr val="FF0000"/>
                </a:solidFill>
              </a:rPr>
              <a:t>, 2011), </a:t>
            </a:r>
            <a:r>
              <a:rPr lang="en-US" sz="2000" dirty="0" err="1">
                <a:solidFill>
                  <a:srgbClr val="FF0000"/>
                </a:solidFill>
              </a:rPr>
              <a:t>Havex</a:t>
            </a:r>
            <a:r>
              <a:rPr lang="en-US" sz="2000" dirty="0">
                <a:solidFill>
                  <a:srgbClr val="FF0000"/>
                </a:solidFill>
              </a:rPr>
              <a:t> (ICS-CERT, 2014), and </a:t>
            </a:r>
            <a:r>
              <a:rPr lang="en-US" sz="2000" dirty="0" err="1">
                <a:solidFill>
                  <a:srgbClr val="FF0000"/>
                </a:solidFill>
              </a:rPr>
              <a:t>BlackEnergy</a:t>
            </a:r>
            <a:r>
              <a:rPr lang="en-US" sz="2000" dirty="0">
                <a:solidFill>
                  <a:srgbClr val="FF0000"/>
                </a:solidFill>
              </a:rPr>
              <a:t> (ICS-CERT, 2016) are well-known malware examples that targeted power infrastructures in recent years</a:t>
            </a:r>
          </a:p>
          <a:p>
            <a:r>
              <a:rPr lang="en-US" sz="2000" dirty="0"/>
              <a:t>Malware detection methods capture any malicious content or behavior by monitoring observables at the host machine including binary patterns, instructions, or system calls.</a:t>
            </a:r>
          </a:p>
        </p:txBody>
      </p:sp>
    </p:spTree>
    <p:extLst>
      <p:ext uri="{BB962C8B-B14F-4D97-AF65-F5344CB8AC3E}">
        <p14:creationId xmlns:p14="http://schemas.microsoft.com/office/powerpoint/2010/main" val="2001186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27797" y="2603500"/>
            <a:ext cx="11232107" cy="4015664"/>
          </a:xfrm>
        </p:spPr>
        <p:txBody>
          <a:bodyPr>
            <a:normAutofit/>
          </a:bodyPr>
          <a:lstStyle/>
          <a:p>
            <a:r>
              <a:rPr lang="en-US" sz="2000" b="1" i="1" u="sng" dirty="0"/>
              <a:t>Observables</a:t>
            </a:r>
          </a:p>
          <a:p>
            <a:r>
              <a:rPr lang="en-US" sz="2000" dirty="0"/>
              <a:t>Depending on the method of analysis, different observables are used to identify malware.</a:t>
            </a:r>
          </a:p>
          <a:p>
            <a:r>
              <a:rPr lang="en-US" sz="2000" u="sng" dirty="0"/>
              <a:t>Binary Patterns</a:t>
            </a:r>
          </a:p>
          <a:p>
            <a:r>
              <a:rPr lang="en-US" sz="2000" dirty="0">
                <a:solidFill>
                  <a:srgbClr val="FF0000"/>
                </a:solidFill>
              </a:rPr>
              <a:t>Malware consists of single or multiple files that contain malicious contents. </a:t>
            </a:r>
          </a:p>
          <a:p>
            <a:r>
              <a:rPr lang="en-US" sz="2000" dirty="0">
                <a:solidFill>
                  <a:srgbClr val="FF0000"/>
                </a:solidFill>
              </a:rPr>
              <a:t>These files are usually stored as binaries after they are compiled by the threat actor. </a:t>
            </a:r>
            <a:r>
              <a:rPr lang="en-US" sz="2000" dirty="0"/>
              <a:t>Often, these </a:t>
            </a:r>
            <a:r>
              <a:rPr lang="en-US" sz="2000" dirty="0">
                <a:solidFill>
                  <a:srgbClr val="FF0000"/>
                </a:solidFill>
              </a:rPr>
              <a:t>binaries contain unique code patterns</a:t>
            </a:r>
            <a:r>
              <a:rPr lang="en-US" sz="2000" dirty="0"/>
              <a:t> that can be extracted directly or from decoded data. </a:t>
            </a:r>
          </a:p>
          <a:p>
            <a:r>
              <a:rPr lang="en-US" sz="2000" dirty="0"/>
              <a:t>Malware may further </a:t>
            </a:r>
            <a:r>
              <a:rPr lang="en-US" sz="2000" dirty="0">
                <a:solidFill>
                  <a:srgbClr val="FF0000"/>
                </a:solidFill>
              </a:rPr>
              <a:t>include additional information such as commands, the control server, or target locations</a:t>
            </a:r>
            <a:r>
              <a:rPr lang="en-US" sz="2000" dirty="0"/>
              <a:t>.</a:t>
            </a:r>
          </a:p>
        </p:txBody>
      </p:sp>
    </p:spTree>
    <p:extLst>
      <p:ext uri="{BB962C8B-B14F-4D97-AF65-F5344CB8AC3E}">
        <p14:creationId xmlns:p14="http://schemas.microsoft.com/office/powerpoint/2010/main" val="41180479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18616" y="2497541"/>
            <a:ext cx="11286698" cy="4067032"/>
          </a:xfrm>
        </p:spPr>
        <p:txBody>
          <a:bodyPr>
            <a:normAutofit/>
          </a:bodyPr>
          <a:lstStyle/>
          <a:p>
            <a:r>
              <a:rPr lang="en-US" sz="2000" u="sng" dirty="0"/>
              <a:t>Operation Codes (</a:t>
            </a:r>
            <a:r>
              <a:rPr lang="en-US" sz="2000" u="sng" dirty="0" err="1"/>
              <a:t>opcodes</a:t>
            </a:r>
            <a:r>
              <a:rPr lang="en-US" sz="2000" u="sng" dirty="0"/>
              <a:t>)</a:t>
            </a:r>
          </a:p>
          <a:p>
            <a:r>
              <a:rPr lang="en-US" sz="2000" dirty="0">
                <a:solidFill>
                  <a:srgbClr val="FF0000"/>
                </a:solidFill>
              </a:rPr>
              <a:t>As malware is a program, executable code can be extracted and analyzed </a:t>
            </a:r>
            <a:r>
              <a:rPr lang="en-US" sz="2000" dirty="0"/>
              <a:t>for malware detection in addition to static binary analysis. </a:t>
            </a:r>
            <a:r>
              <a:rPr lang="en-US" sz="2000" dirty="0">
                <a:solidFill>
                  <a:srgbClr val="FF0000"/>
                </a:solidFill>
              </a:rPr>
              <a:t>Executable code reveals more information about the program than the binary does, e.g., instructions, functions, or system calls. </a:t>
            </a:r>
          </a:p>
          <a:p>
            <a:r>
              <a:rPr lang="en-US" sz="2000" dirty="0"/>
              <a:t>In order to perform its task, the program executes various instructions sequentially where any instruction consists of exactly one </a:t>
            </a:r>
            <a:r>
              <a:rPr lang="en-US" sz="2000" dirty="0" err="1"/>
              <a:t>opcode</a:t>
            </a:r>
            <a:r>
              <a:rPr lang="en-US" sz="2000" dirty="0"/>
              <a:t> and optionally (depending on the </a:t>
            </a:r>
            <a:r>
              <a:rPr lang="en-US" sz="2000" dirty="0" err="1"/>
              <a:t>opcode</a:t>
            </a:r>
            <a:r>
              <a:rPr lang="en-US" sz="2000" dirty="0"/>
              <a:t>) one or more operands. </a:t>
            </a:r>
          </a:p>
          <a:p>
            <a:r>
              <a:rPr lang="en-US" sz="2000" dirty="0" err="1">
                <a:solidFill>
                  <a:srgbClr val="FF0000"/>
                </a:solidFill>
              </a:rPr>
              <a:t>Opcodes</a:t>
            </a:r>
            <a:r>
              <a:rPr lang="en-US" sz="2000" dirty="0">
                <a:solidFill>
                  <a:srgbClr val="FF0000"/>
                </a:solidFill>
              </a:rPr>
              <a:t> are primitive operations of programs such as register and memory operations, but they represent the behavioral information of the programs.</a:t>
            </a:r>
            <a:r>
              <a:rPr lang="en-US" sz="2000" dirty="0"/>
              <a:t> </a:t>
            </a:r>
            <a:r>
              <a:rPr lang="en-US" sz="2000" dirty="0" err="1"/>
              <a:t>Opcode</a:t>
            </a:r>
            <a:r>
              <a:rPr lang="en-US" sz="2000" dirty="0"/>
              <a:t>-based malware detection methods include sequence, frequency analysis, or both.</a:t>
            </a:r>
          </a:p>
          <a:p>
            <a:endParaRPr lang="en-US" dirty="0"/>
          </a:p>
        </p:txBody>
      </p:sp>
    </p:spTree>
    <p:extLst>
      <p:ext uri="{BB962C8B-B14F-4D97-AF65-F5344CB8AC3E}">
        <p14:creationId xmlns:p14="http://schemas.microsoft.com/office/powerpoint/2010/main" val="35312136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677655" cy="3416300"/>
          </a:xfrm>
        </p:spPr>
        <p:txBody>
          <a:bodyPr>
            <a:normAutofit/>
          </a:bodyPr>
          <a:lstStyle/>
          <a:p>
            <a:r>
              <a:rPr lang="en-US" sz="2000" u="sng" dirty="0"/>
              <a:t>System Calls</a:t>
            </a:r>
          </a:p>
          <a:p>
            <a:r>
              <a:rPr lang="en-US" sz="2000" dirty="0">
                <a:solidFill>
                  <a:srgbClr val="FF0000"/>
                </a:solidFill>
              </a:rPr>
              <a:t>System calls are responsible for primitive and essential functions in operating systems, such as memory access, network communication, etc.</a:t>
            </a:r>
          </a:p>
          <a:p>
            <a:r>
              <a:rPr lang="en-US" sz="2000" dirty="0"/>
              <a:t> It is almost impossible to develop a program with no system call. System calls have been recognized as a promising feature that can be monitored and used for malware detection. </a:t>
            </a:r>
          </a:p>
          <a:p>
            <a:r>
              <a:rPr lang="en-US" sz="2000" dirty="0">
                <a:solidFill>
                  <a:srgbClr val="FF0000"/>
                </a:solidFill>
              </a:rPr>
              <a:t>System call patterns provide effective information about the runtime activities of a program, which can be used to characterize malicious behavior.</a:t>
            </a:r>
          </a:p>
          <a:p>
            <a:endParaRPr lang="en-US" dirty="0"/>
          </a:p>
          <a:p>
            <a:endParaRPr lang="en-US" dirty="0"/>
          </a:p>
        </p:txBody>
      </p:sp>
    </p:spTree>
    <p:extLst>
      <p:ext uri="{BB962C8B-B14F-4D97-AF65-F5344CB8AC3E}">
        <p14:creationId xmlns:p14="http://schemas.microsoft.com/office/powerpoint/2010/main" val="13024079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882371" cy="3906482"/>
          </a:xfrm>
        </p:spPr>
        <p:txBody>
          <a:bodyPr>
            <a:normAutofit/>
          </a:bodyPr>
          <a:lstStyle/>
          <a:p>
            <a:endParaRPr lang="en-US" dirty="0"/>
          </a:p>
          <a:p>
            <a:r>
              <a:rPr lang="en-US" sz="2200" u="sng" dirty="0"/>
              <a:t>Information Flow</a:t>
            </a:r>
          </a:p>
          <a:p>
            <a:r>
              <a:rPr lang="en-US" sz="2200" dirty="0"/>
              <a:t>Data can be located (or generated) inside programs or delivered from outside (e.g., input files, data transmission, and user actions). </a:t>
            </a:r>
          </a:p>
          <a:p>
            <a:r>
              <a:rPr lang="en-US" sz="2200" dirty="0">
                <a:solidFill>
                  <a:srgbClr val="FF0000"/>
                </a:solidFill>
              </a:rPr>
              <a:t>What data (or resource) are accessed by programs can be traced, and links between data accesses can be identified that might indicate suspicious activities. </a:t>
            </a:r>
          </a:p>
          <a:p>
            <a:r>
              <a:rPr lang="en-US" sz="2200" dirty="0">
                <a:solidFill>
                  <a:srgbClr val="FF0000"/>
                </a:solidFill>
              </a:rPr>
              <a:t>Hidden information can be identified by monitoring operations that programs perform on data rather than monitoring all operations.</a:t>
            </a:r>
          </a:p>
        </p:txBody>
      </p:sp>
    </p:spTree>
    <p:extLst>
      <p:ext uri="{BB962C8B-B14F-4D97-AF65-F5344CB8AC3E}">
        <p14:creationId xmlns:p14="http://schemas.microsoft.com/office/powerpoint/2010/main" val="23061833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73206" y="2603500"/>
            <a:ext cx="11204812" cy="3810948"/>
          </a:xfrm>
        </p:spPr>
        <p:txBody>
          <a:bodyPr>
            <a:normAutofit/>
          </a:bodyPr>
          <a:lstStyle/>
          <a:p>
            <a:r>
              <a:rPr lang="en-US" sz="2000" b="1" i="1" u="sng" dirty="0"/>
              <a:t>Obfuscation(Mess, Anxiety) Methods</a:t>
            </a:r>
          </a:p>
          <a:p>
            <a:r>
              <a:rPr lang="en-US" sz="2000" dirty="0"/>
              <a:t>Antivirus, scanners, and anti-malware tools, use signatures for malware detection. Unique sequence of bytes can be identified from malware and used to detect the same malware. </a:t>
            </a:r>
          </a:p>
          <a:p>
            <a:r>
              <a:rPr lang="en-US" sz="2000" dirty="0"/>
              <a:t>Unfortunately, </a:t>
            </a:r>
            <a:r>
              <a:rPr lang="en-US" sz="2000" dirty="0">
                <a:solidFill>
                  <a:srgbClr val="FF0000"/>
                </a:solidFill>
              </a:rPr>
              <a:t>malware authors use obfuscation techniques (e.g., code compressions and encryption) and write variants of the same malware to avoid the signature detection. </a:t>
            </a:r>
          </a:p>
          <a:p>
            <a:r>
              <a:rPr lang="en-US" sz="2000" dirty="0"/>
              <a:t>Besides that, signature generation requires a lot of manpower and time to extract the signatures of each malware.</a:t>
            </a:r>
          </a:p>
        </p:txBody>
      </p:sp>
    </p:spTree>
    <p:extLst>
      <p:ext uri="{BB962C8B-B14F-4D97-AF65-F5344CB8AC3E}">
        <p14:creationId xmlns:p14="http://schemas.microsoft.com/office/powerpoint/2010/main" val="11567974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82388" y="2603500"/>
            <a:ext cx="11177516" cy="4029312"/>
          </a:xfrm>
        </p:spPr>
        <p:txBody>
          <a:bodyPr>
            <a:normAutofit/>
          </a:bodyPr>
          <a:lstStyle/>
          <a:p>
            <a:r>
              <a:rPr lang="en-US" sz="2000" dirty="0"/>
              <a:t>As a first line of defense against signature detection, malware can be encrypted or “packed” (i.e., compressed). The advantage of encryption is that a signature that is present in the unencrypted code will not appear in the encrypted version.</a:t>
            </a:r>
          </a:p>
          <a:p>
            <a:r>
              <a:rPr lang="en-US" sz="2000" dirty="0"/>
              <a:t>From the malware author’s perspective, the disadvantage of encryption is that the code must be decrypted at some point, and the decryption code itself cannot be encrypted. Consequently, the decryption code can be the signature.</a:t>
            </a:r>
          </a:p>
          <a:p>
            <a:r>
              <a:rPr lang="en-US" sz="2000" dirty="0">
                <a:solidFill>
                  <a:srgbClr val="FF0000"/>
                </a:solidFill>
              </a:rPr>
              <a:t>Malware authors use advanced techniques (e.g., anti-virtual machine inspection and anti-debuggers) to hide the malicious activity and finally avoid detection. </a:t>
            </a:r>
          </a:p>
          <a:p>
            <a:r>
              <a:rPr lang="en-US" sz="2000" dirty="0">
                <a:solidFill>
                  <a:srgbClr val="FF0000"/>
                </a:solidFill>
              </a:rPr>
              <a:t>For example, a malware uses anti-debugger techniques including anti-</a:t>
            </a:r>
            <a:r>
              <a:rPr lang="en-US" sz="2000" dirty="0" err="1">
                <a:solidFill>
                  <a:srgbClr val="FF0000"/>
                </a:solidFill>
              </a:rPr>
              <a:t>ptrace</a:t>
            </a:r>
            <a:r>
              <a:rPr lang="en-US" sz="2000" dirty="0">
                <a:solidFill>
                  <a:srgbClr val="FF0000"/>
                </a:solidFill>
              </a:rPr>
              <a:t>, anti-</a:t>
            </a:r>
            <a:r>
              <a:rPr lang="en-US" sz="2000" dirty="0" err="1">
                <a:solidFill>
                  <a:srgbClr val="FF0000"/>
                </a:solidFill>
              </a:rPr>
              <a:t>sigtrap</a:t>
            </a:r>
            <a:r>
              <a:rPr lang="en-US" sz="2000" dirty="0">
                <a:solidFill>
                  <a:srgbClr val="FF0000"/>
                </a:solidFill>
              </a:rPr>
              <a:t> and anti-breakpoint to detect the presence of malware detectors on the host machine and exits cleanly once it finds any malware detectors.</a:t>
            </a:r>
          </a:p>
        </p:txBody>
      </p:sp>
    </p:spTree>
    <p:extLst>
      <p:ext uri="{BB962C8B-B14F-4D97-AF65-F5344CB8AC3E}">
        <p14:creationId xmlns:p14="http://schemas.microsoft.com/office/powerpoint/2010/main" val="13202759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and Analysis of Monitoring Data to Derive Cyber</a:t>
            </a:r>
          </a:p>
        </p:txBody>
      </p:sp>
      <p:sp>
        <p:nvSpPr>
          <p:cNvPr id="3" name="Content Placeholder 2"/>
          <p:cNvSpPr>
            <a:spLocks noGrp="1"/>
          </p:cNvSpPr>
          <p:nvPr>
            <p:ph idx="1"/>
          </p:nvPr>
        </p:nvSpPr>
        <p:spPr>
          <a:xfrm>
            <a:off x="1154954" y="2603499"/>
            <a:ext cx="10650359" cy="3974721"/>
          </a:xfrm>
        </p:spPr>
        <p:txBody>
          <a:bodyPr>
            <a:normAutofit/>
          </a:bodyPr>
          <a:lstStyle/>
          <a:p>
            <a:r>
              <a:rPr lang="en-US" dirty="0"/>
              <a:t>Five categories of analysis techniques: </a:t>
            </a:r>
          </a:p>
          <a:p>
            <a:r>
              <a:rPr lang="en-US" dirty="0"/>
              <a:t>(1) signature-based analysis,</a:t>
            </a:r>
          </a:p>
          <a:p>
            <a:r>
              <a:rPr lang="en-US" dirty="0"/>
              <a:t>(2) </a:t>
            </a:r>
            <a:r>
              <a:rPr lang="en-US" dirty="0" err="1"/>
              <a:t>stateful</a:t>
            </a:r>
            <a:r>
              <a:rPr lang="en-US" dirty="0"/>
              <a:t> analysis, </a:t>
            </a:r>
          </a:p>
          <a:p>
            <a:r>
              <a:rPr lang="en-US" dirty="0"/>
              <a:t>(3) cross-layer analysis,</a:t>
            </a:r>
          </a:p>
          <a:p>
            <a:r>
              <a:rPr lang="en-US" dirty="0"/>
              <a:t> (4) anomaly detection, and </a:t>
            </a:r>
          </a:p>
          <a:p>
            <a:r>
              <a:rPr lang="en-US" dirty="0"/>
              <a:t>(5)ontologies.</a:t>
            </a:r>
          </a:p>
          <a:p>
            <a:endParaRPr lang="en-US" dirty="0"/>
          </a:p>
          <a:p>
            <a:r>
              <a:rPr lang="en-US" dirty="0"/>
              <a:t>Figure  presents the approaches on a plane, where one axis describes their requirements on the analyzed information, while the other axis shows for each approach whether it is more suitable for detecting known attacks or novel or highly sophisticated attacks.</a:t>
            </a:r>
          </a:p>
        </p:txBody>
      </p:sp>
    </p:spTree>
    <p:extLst>
      <p:ext uri="{BB962C8B-B14F-4D97-AF65-F5344CB8AC3E}">
        <p14:creationId xmlns:p14="http://schemas.microsoft.com/office/powerpoint/2010/main" val="412205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68905" y="874946"/>
            <a:ext cx="7847462" cy="5863717"/>
          </a:xfrm>
          <a:prstGeom prst="rect">
            <a:avLst/>
          </a:prstGeom>
        </p:spPr>
      </p:pic>
    </p:spTree>
    <p:extLst>
      <p:ext uri="{BB962C8B-B14F-4D97-AF65-F5344CB8AC3E}">
        <p14:creationId xmlns:p14="http://schemas.microsoft.com/office/powerpoint/2010/main" val="28847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9080867" cy="4083903"/>
          </a:xfrm>
        </p:spPr>
        <p:txBody>
          <a:bodyPr>
            <a:normAutofit/>
          </a:bodyPr>
          <a:lstStyle/>
          <a:p>
            <a:r>
              <a:rPr lang="en-US" sz="2200" dirty="0"/>
              <a:t>Signature based analysis and </a:t>
            </a:r>
            <a:r>
              <a:rPr lang="en-US" sz="2200" dirty="0" err="1"/>
              <a:t>stateful</a:t>
            </a:r>
            <a:r>
              <a:rPr lang="en-US" sz="2200" dirty="0"/>
              <a:t> analysis are described under the umbrella of rule-based analysis, </a:t>
            </a:r>
          </a:p>
          <a:p>
            <a:r>
              <a:rPr lang="en-US" sz="2200" dirty="0"/>
              <a:t>whereas cross-layer analysis is described with anomaly detection.</a:t>
            </a:r>
          </a:p>
        </p:txBody>
      </p:sp>
    </p:spTree>
    <p:extLst>
      <p:ext uri="{BB962C8B-B14F-4D97-AF65-F5344CB8AC3E}">
        <p14:creationId xmlns:p14="http://schemas.microsoft.com/office/powerpoint/2010/main" val="1957070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773189" cy="4029312"/>
          </a:xfrm>
        </p:spPr>
        <p:txBody>
          <a:bodyPr>
            <a:normAutofit/>
          </a:bodyPr>
          <a:lstStyle/>
          <a:p>
            <a:r>
              <a:rPr lang="en-US" sz="2200" b="1" i="1" dirty="0"/>
              <a:t>Rule-Based Analysis:</a:t>
            </a:r>
          </a:p>
          <a:p>
            <a:r>
              <a:rPr lang="en-US" sz="2200" dirty="0"/>
              <a:t>There are two concepts for establishing rule-based analysis:</a:t>
            </a:r>
          </a:p>
          <a:p>
            <a:r>
              <a:rPr lang="en-US" sz="2200" dirty="0"/>
              <a:t>1. Black-listing</a:t>
            </a:r>
          </a:p>
          <a:p>
            <a:r>
              <a:rPr lang="en-US" sz="2200" dirty="0"/>
              <a:t>2. White-listing</a:t>
            </a:r>
          </a:p>
          <a:p>
            <a:r>
              <a:rPr lang="en-US" sz="2200" dirty="0"/>
              <a:t>While black-listing is about detecting pre-defined malicious activities, the focus of white-listing is on allowing pre-defined normal activities.</a:t>
            </a:r>
          </a:p>
        </p:txBody>
      </p:sp>
    </p:spTree>
    <p:extLst>
      <p:ext uri="{BB962C8B-B14F-4D97-AF65-F5344CB8AC3E}">
        <p14:creationId xmlns:p14="http://schemas.microsoft.com/office/powerpoint/2010/main" val="6348201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73206" y="2617148"/>
            <a:ext cx="11068334" cy="4015664"/>
          </a:xfrm>
        </p:spPr>
        <p:txBody>
          <a:bodyPr>
            <a:normAutofit/>
          </a:bodyPr>
          <a:lstStyle/>
          <a:p>
            <a:r>
              <a:rPr lang="en-US" sz="2000" b="1" i="1" dirty="0"/>
              <a:t>Black-Listing</a:t>
            </a:r>
          </a:p>
          <a:p>
            <a:r>
              <a:rPr lang="en-US" sz="2000" dirty="0"/>
              <a:t>A black-listing rule </a:t>
            </a:r>
            <a:r>
              <a:rPr lang="en-US" sz="2000" dirty="0">
                <a:solidFill>
                  <a:srgbClr val="FF0000"/>
                </a:solidFill>
              </a:rPr>
              <a:t>detects pre-defined values in the monitored data.</a:t>
            </a:r>
            <a:r>
              <a:rPr lang="en-US" sz="2000" dirty="0"/>
              <a:t> </a:t>
            </a:r>
          </a:p>
          <a:p>
            <a:r>
              <a:rPr lang="en-US" sz="2000" dirty="0"/>
              <a:t>Black-lists are applied to </a:t>
            </a:r>
            <a:r>
              <a:rPr lang="en-US" sz="2000" dirty="0">
                <a:solidFill>
                  <a:srgbClr val="FF0000"/>
                </a:solidFill>
              </a:rPr>
              <a:t>detect specific IP addresses, port numbers, user names, or clients that should not occur in an organization’s network. </a:t>
            </a:r>
          </a:p>
          <a:p>
            <a:r>
              <a:rPr lang="en-US" sz="2000" dirty="0"/>
              <a:t>A major drawback of black-list approaches is that it is easy for attackers to avoid the prohibited values and circumvent security tools applying black-listing. </a:t>
            </a:r>
          </a:p>
          <a:p>
            <a:r>
              <a:rPr lang="en-US" sz="2000" dirty="0"/>
              <a:t>While those approaches are very effective to prevent known attacks, it is difficult to keep them up to date, which makes these approaches vulnerable to unknown attacks that, e.g., make use of </a:t>
            </a:r>
            <a:r>
              <a:rPr lang="en-US" sz="2000" dirty="0" err="1"/>
              <a:t>zeroday</a:t>
            </a:r>
            <a:r>
              <a:rPr lang="en-US" sz="2000" dirty="0"/>
              <a:t> exploits</a:t>
            </a:r>
          </a:p>
        </p:txBody>
      </p:sp>
    </p:spTree>
    <p:extLst>
      <p:ext uri="{BB962C8B-B14F-4D97-AF65-F5344CB8AC3E}">
        <p14:creationId xmlns:p14="http://schemas.microsoft.com/office/powerpoint/2010/main" val="2201169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27798" y="2603499"/>
            <a:ext cx="11204812" cy="4056607"/>
          </a:xfrm>
        </p:spPr>
        <p:txBody>
          <a:bodyPr>
            <a:normAutofit/>
          </a:bodyPr>
          <a:lstStyle/>
          <a:p>
            <a:r>
              <a:rPr lang="en-US" sz="2000" dirty="0">
                <a:solidFill>
                  <a:srgbClr val="FF0000"/>
                </a:solidFill>
              </a:rPr>
              <a:t>Common security solutions such as firewalls, signature-based detection approaches, and antivirus programs utilize black-listing approaches. </a:t>
            </a:r>
          </a:p>
          <a:p>
            <a:r>
              <a:rPr lang="en-US" sz="2000" dirty="0"/>
              <a:t>Black-listing rules are in general </a:t>
            </a:r>
            <a:r>
              <a:rPr lang="en-US" sz="2000" dirty="0">
                <a:solidFill>
                  <a:srgbClr val="FF0000"/>
                </a:solidFill>
              </a:rPr>
              <a:t>relatively easy to set-up and update and are very effective against known attacks, which are the majority of malicious activities</a:t>
            </a:r>
            <a:r>
              <a:rPr lang="en-US" sz="2000" dirty="0"/>
              <a:t>. </a:t>
            </a:r>
          </a:p>
          <a:p>
            <a:r>
              <a:rPr lang="en-US" sz="2000" dirty="0"/>
              <a:t>Hence, they form the </a:t>
            </a:r>
            <a:r>
              <a:rPr lang="en-US" sz="2000" dirty="0">
                <a:solidFill>
                  <a:srgbClr val="FF0000"/>
                </a:solidFill>
              </a:rPr>
              <a:t>important base of security analysis especially in smaller companies</a:t>
            </a:r>
            <a:r>
              <a:rPr lang="en-US" sz="2000" dirty="0"/>
              <a:t> that cannot afford the resources and the personnel to set up complex security solutions.</a:t>
            </a:r>
          </a:p>
        </p:txBody>
      </p:sp>
    </p:spTree>
    <p:extLst>
      <p:ext uri="{BB962C8B-B14F-4D97-AF65-F5344CB8AC3E}">
        <p14:creationId xmlns:p14="http://schemas.microsoft.com/office/powerpoint/2010/main" val="42626096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499"/>
            <a:ext cx="10759542" cy="4097551"/>
          </a:xfrm>
        </p:spPr>
        <p:txBody>
          <a:bodyPr>
            <a:normAutofit/>
          </a:bodyPr>
          <a:lstStyle/>
          <a:p>
            <a:r>
              <a:rPr lang="en-US" sz="2000" b="1" i="1" dirty="0"/>
              <a:t>White-Listing</a:t>
            </a:r>
          </a:p>
          <a:p>
            <a:r>
              <a:rPr lang="en-US" sz="2000" dirty="0"/>
              <a:t>white-listing </a:t>
            </a:r>
            <a:r>
              <a:rPr lang="en-US" sz="2000" dirty="0">
                <a:solidFill>
                  <a:srgbClr val="FF0000"/>
                </a:solidFill>
              </a:rPr>
              <a:t>does not prohibit specific actions or values visible in the monitored data.</a:t>
            </a:r>
          </a:p>
          <a:p>
            <a:r>
              <a:rPr lang="en-US" sz="2000" dirty="0"/>
              <a:t>Those approaches </a:t>
            </a:r>
            <a:r>
              <a:rPr lang="en-US" sz="2000" dirty="0">
                <a:solidFill>
                  <a:srgbClr val="FF0000"/>
                </a:solidFill>
              </a:rPr>
              <a:t>allow a specific baseline of normal system behavior, which forms the so-called ground truth. </a:t>
            </a:r>
          </a:p>
          <a:p>
            <a:r>
              <a:rPr lang="en-US" sz="2000" dirty="0"/>
              <a:t>Continuously collected data are then compared against the previously defined ground truth. </a:t>
            </a:r>
          </a:p>
          <a:p>
            <a:r>
              <a:rPr lang="en-US" sz="2000" dirty="0">
                <a:solidFill>
                  <a:srgbClr val="FF0000"/>
                </a:solidFill>
              </a:rPr>
              <a:t>It is more difficult for an attacker to not violate this ground truth, since the attacker’s actions usually cause the generation of log and network events that differ from the normal system behavior.</a:t>
            </a:r>
          </a:p>
        </p:txBody>
      </p:sp>
    </p:spTree>
    <p:extLst>
      <p:ext uri="{BB962C8B-B14F-4D97-AF65-F5344CB8AC3E}">
        <p14:creationId xmlns:p14="http://schemas.microsoft.com/office/powerpoint/2010/main" val="52561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186336" cy="3416300"/>
          </a:xfrm>
        </p:spPr>
        <p:txBody>
          <a:bodyPr>
            <a:normAutofit/>
          </a:bodyPr>
          <a:lstStyle/>
          <a:p>
            <a:r>
              <a:rPr lang="en-US" sz="2000" dirty="0"/>
              <a:t>Simple white-listing rules can analyze single events, such as one log line, and allow using, e.g., only specific IP addresses, ports or Web browsers, and the correlation of multiple events.</a:t>
            </a:r>
          </a:p>
          <a:p>
            <a:r>
              <a:rPr lang="en-US" sz="2000" dirty="0"/>
              <a:t>White-listing approaches </a:t>
            </a:r>
            <a:r>
              <a:rPr lang="en-US" sz="2000" dirty="0">
                <a:solidFill>
                  <a:srgbClr val="FF0000"/>
                </a:solidFill>
              </a:rPr>
              <a:t>attempt to avoid the drawback of black-listing</a:t>
            </a:r>
            <a:r>
              <a:rPr lang="en-US" sz="2000" dirty="0"/>
              <a:t>, that rules can be possibly avoided by an attacker, after s/he recognizes them.</a:t>
            </a:r>
          </a:p>
          <a:p>
            <a:r>
              <a:rPr lang="en-US" sz="2000" dirty="0"/>
              <a:t>White-listing approaches </a:t>
            </a:r>
            <a:r>
              <a:rPr lang="en-US" sz="2000" dirty="0">
                <a:solidFill>
                  <a:srgbClr val="FF0000"/>
                </a:solidFill>
              </a:rPr>
              <a:t>enhance security against unknown attacks that make use of zero-day exploits or attack vectors</a:t>
            </a:r>
            <a:r>
              <a:rPr lang="en-US" sz="2000" dirty="0"/>
              <a:t> nobody thought about when designing the rules, because they only allow normal user and system activities.</a:t>
            </a:r>
          </a:p>
        </p:txBody>
      </p:sp>
    </p:spTree>
    <p:extLst>
      <p:ext uri="{BB962C8B-B14F-4D97-AF65-F5344CB8AC3E}">
        <p14:creationId xmlns:p14="http://schemas.microsoft.com/office/powerpoint/2010/main" val="886560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344193"/>
            <a:ext cx="8825659" cy="3416300"/>
          </a:xfrm>
        </p:spPr>
        <p:txBody>
          <a:bodyPr>
            <a:normAutofit/>
          </a:bodyPr>
          <a:lstStyle/>
          <a:p>
            <a:r>
              <a:rPr lang="en-US" sz="2000" b="1" i="1" dirty="0"/>
              <a:t>Black- vs. White-Listing</a:t>
            </a:r>
            <a:endParaRPr lang="en-US" sz="2000" b="1" dirty="0"/>
          </a:p>
        </p:txBody>
      </p:sp>
      <p:graphicFrame>
        <p:nvGraphicFramePr>
          <p:cNvPr id="4" name="Table 3"/>
          <p:cNvGraphicFramePr>
            <a:graphicFrameLocks noGrp="1"/>
          </p:cNvGraphicFramePr>
          <p:nvPr>
            <p:extLst>
              <p:ext uri="{D42A27DB-BD31-4B8C-83A1-F6EECF244321}">
                <p14:modId xmlns:p14="http://schemas.microsoft.com/office/powerpoint/2010/main" val="3547133104"/>
              </p:ext>
            </p:extLst>
          </p:nvPr>
        </p:nvGraphicFramePr>
        <p:xfrm>
          <a:off x="1788368" y="3012489"/>
          <a:ext cx="9621159" cy="2778760"/>
        </p:xfrm>
        <a:graphic>
          <a:graphicData uri="http://schemas.openxmlformats.org/drawingml/2006/table">
            <a:tbl>
              <a:tblPr firstRow="1" bandRow="1">
                <a:tableStyleId>{5C22544A-7EE6-4342-B048-85BDC9FD1C3A}</a:tableStyleId>
              </a:tblPr>
              <a:tblGrid>
                <a:gridCol w="3207053">
                  <a:extLst>
                    <a:ext uri="{9D8B030D-6E8A-4147-A177-3AD203B41FA5}">
                      <a16:colId xmlns:a16="http://schemas.microsoft.com/office/drawing/2014/main" val="20000"/>
                    </a:ext>
                  </a:extLst>
                </a:gridCol>
                <a:gridCol w="3207053">
                  <a:extLst>
                    <a:ext uri="{9D8B030D-6E8A-4147-A177-3AD203B41FA5}">
                      <a16:colId xmlns:a16="http://schemas.microsoft.com/office/drawing/2014/main" val="20001"/>
                    </a:ext>
                  </a:extLst>
                </a:gridCol>
                <a:gridCol w="3207053">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sz="1800" b="1" i="1" u="none" strike="noStrike" kern="1200" baseline="0" dirty="0">
                          <a:solidFill>
                            <a:schemeClr val="lt1"/>
                          </a:solidFill>
                          <a:latin typeface="+mn-lt"/>
                          <a:ea typeface="+mn-ea"/>
                          <a:cs typeface="+mn-cs"/>
                        </a:rPr>
                        <a:t>Black-Listing</a:t>
                      </a:r>
                      <a:endParaRPr lang="en-US" b="1" dirty="0"/>
                    </a:p>
                  </a:txBody>
                  <a:tcPr/>
                </a:tc>
                <a:tc>
                  <a:txBody>
                    <a:bodyPr/>
                    <a:lstStyle/>
                    <a:p>
                      <a:r>
                        <a:rPr lang="en-US" sz="1800" b="1" i="1" u="none" strike="noStrike" kern="1200" baseline="0" dirty="0">
                          <a:solidFill>
                            <a:schemeClr val="lt1"/>
                          </a:solidFill>
                          <a:latin typeface="+mn-lt"/>
                          <a:ea typeface="+mn-ea"/>
                          <a:cs typeface="+mn-cs"/>
                        </a:rPr>
                        <a:t>White-Listing</a:t>
                      </a:r>
                      <a:endParaRPr lang="en-US" b="1" dirty="0"/>
                    </a:p>
                  </a:txBody>
                  <a:tcPr/>
                </a:tc>
                <a:extLst>
                  <a:ext uri="{0D108BD9-81ED-4DB2-BD59-A6C34878D82A}">
                    <a16:rowId xmlns:a16="http://schemas.microsoft.com/office/drawing/2014/main" val="10000"/>
                  </a:ext>
                </a:extLst>
              </a:tr>
              <a:tr h="370840">
                <a:tc rowSpan="3">
                  <a:txBody>
                    <a:bodyPr/>
                    <a:lstStyle/>
                    <a:p>
                      <a:pPr algn="ctr"/>
                      <a:r>
                        <a:rPr lang="en-US" sz="2000" b="0" i="0" u="none" strike="noStrike" kern="1200" baseline="0" dirty="0">
                          <a:solidFill>
                            <a:schemeClr val="dk1"/>
                          </a:solidFill>
                          <a:latin typeface="+mn-lt"/>
                          <a:ea typeface="+mn-ea"/>
                          <a:cs typeface="+mn-cs"/>
                        </a:rPr>
                        <a:t>Advantages</a:t>
                      </a:r>
                      <a:endParaRPr lang="en-US" sz="2000" dirty="0"/>
                    </a:p>
                  </a:txBody>
                  <a:tcPr anchor="ctr"/>
                </a:tc>
                <a:tc>
                  <a:txBody>
                    <a:bodyPr/>
                    <a:lstStyle/>
                    <a:p>
                      <a:r>
                        <a:rPr lang="en-US" sz="2000" b="0" i="0" u="none" strike="noStrike" kern="1200" baseline="0" dirty="0">
                          <a:solidFill>
                            <a:schemeClr val="dk1"/>
                          </a:solidFill>
                          <a:latin typeface="+mn-lt"/>
                          <a:ea typeface="+mn-ea"/>
                          <a:cs typeface="+mn-cs"/>
                        </a:rPr>
                        <a:t>• Simple and effective </a:t>
                      </a:r>
                      <a:r>
                        <a:rPr lang="en-US" sz="2000" b="0" i="0" u="none" strike="noStrike" kern="1200" baseline="0" dirty="0" err="1">
                          <a:solidFill>
                            <a:schemeClr val="dk1"/>
                          </a:solidFill>
                          <a:latin typeface="+mn-lt"/>
                          <a:ea typeface="+mn-ea"/>
                          <a:cs typeface="+mn-cs"/>
                        </a:rPr>
                        <a:t>agains</a:t>
                      </a:r>
                      <a:r>
                        <a:rPr lang="en-US" sz="2000" b="0" i="0" u="none" strike="noStrike" kern="1200" baseline="0" dirty="0">
                          <a:solidFill>
                            <a:schemeClr val="dk1"/>
                          </a:solidFill>
                          <a:latin typeface="+mn-lt"/>
                          <a:ea typeface="+mn-ea"/>
                          <a:cs typeface="+mn-cs"/>
                        </a:rPr>
                        <a:t> known attacks</a:t>
                      </a:r>
                      <a:endParaRPr lang="en-US" sz="2000" dirty="0"/>
                    </a:p>
                  </a:txBody>
                  <a:tcPr/>
                </a:tc>
                <a:tc>
                  <a:txBody>
                    <a:bodyPr/>
                    <a:lstStyle/>
                    <a:p>
                      <a:r>
                        <a:rPr lang="en-US" sz="2000" b="0" i="0" u="none" strike="noStrike" kern="1200" baseline="0" dirty="0">
                          <a:solidFill>
                            <a:schemeClr val="dk1"/>
                          </a:solidFill>
                          <a:latin typeface="+mn-lt"/>
                          <a:ea typeface="+mn-ea"/>
                          <a:cs typeface="+mn-cs"/>
                        </a:rPr>
                        <a:t>• Effective to detect</a:t>
                      </a:r>
                    </a:p>
                    <a:p>
                      <a:r>
                        <a:rPr lang="en-US" sz="2000" b="0" i="0" u="none" strike="noStrike" kern="1200" baseline="0" dirty="0">
                          <a:solidFill>
                            <a:schemeClr val="dk1"/>
                          </a:solidFill>
                          <a:latin typeface="+mn-lt"/>
                          <a:ea typeface="+mn-ea"/>
                          <a:cs typeface="+mn-cs"/>
                        </a:rPr>
                        <a:t>unknown attacks</a:t>
                      </a:r>
                    </a:p>
                  </a:txBody>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r>
                        <a:rPr lang="en-US" sz="2000" b="0" i="0" u="none" strike="noStrike" kern="1200" baseline="0" dirty="0">
                          <a:solidFill>
                            <a:schemeClr val="dk1"/>
                          </a:solidFill>
                          <a:latin typeface="+mn-lt"/>
                          <a:ea typeface="+mn-ea"/>
                          <a:cs typeface="+mn-cs"/>
                        </a:rPr>
                        <a:t>Detailed contextual analysis</a:t>
                      </a:r>
                      <a:endParaRPr lang="en-US" sz="2000" dirty="0"/>
                    </a:p>
                  </a:txBody>
                  <a:tcPr/>
                </a:tc>
                <a:tc>
                  <a:txBody>
                    <a:bodyPr/>
                    <a:lstStyle/>
                    <a:p>
                      <a:r>
                        <a:rPr lang="en-US" sz="2000" b="0" i="0" u="none" strike="noStrike" kern="1200" baseline="0" dirty="0">
                          <a:solidFill>
                            <a:schemeClr val="dk1"/>
                          </a:solidFill>
                          <a:latin typeface="+mn-lt"/>
                          <a:ea typeface="+mn-ea"/>
                          <a:cs typeface="+mn-cs"/>
                        </a:rPr>
                        <a:t>• More independent</a:t>
                      </a:r>
                    </a:p>
                    <a:p>
                      <a:r>
                        <a:rPr lang="en-US" sz="2000" b="0" i="0" u="none" strike="noStrike" kern="1200" baseline="0" dirty="0">
                          <a:solidFill>
                            <a:schemeClr val="dk1"/>
                          </a:solidFill>
                          <a:latin typeface="+mn-lt"/>
                          <a:ea typeface="+mn-ea"/>
                          <a:cs typeface="+mn-cs"/>
                        </a:rPr>
                        <a:t>from OS</a:t>
                      </a:r>
                    </a:p>
                  </a:txBody>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r>
                        <a:rPr lang="en-US" sz="2000" b="0" i="0" u="none" strike="noStrike" kern="1200" baseline="0" dirty="0">
                          <a:solidFill>
                            <a:schemeClr val="dk1"/>
                          </a:solidFill>
                          <a:latin typeface="+mn-lt"/>
                          <a:ea typeface="+mn-ea"/>
                          <a:cs typeface="+mn-cs"/>
                        </a:rPr>
                        <a:t>Easy to share</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b="0" i="0" u="none" strike="noStrike" kern="1200" baseline="0" dirty="0">
                          <a:solidFill>
                            <a:schemeClr val="dk1"/>
                          </a:solidFill>
                          <a:latin typeface="+mn-lt"/>
                          <a:ea typeface="+mn-ea"/>
                          <a:cs typeface="+mn-cs"/>
                        </a:rPr>
                        <a:t>• Easy to keep up to date</a:t>
                      </a:r>
                      <a:endParaRPr lang="en-US" sz="2000" dirty="0"/>
                    </a:p>
                    <a:p>
                      <a:endParaRPr lang="en-US" sz="20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679381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4175552"/>
              </p:ext>
            </p:extLst>
          </p:nvPr>
        </p:nvGraphicFramePr>
        <p:xfrm>
          <a:off x="1155700" y="2521612"/>
          <a:ext cx="10226532" cy="2382520"/>
        </p:xfrm>
        <a:graphic>
          <a:graphicData uri="http://schemas.openxmlformats.org/drawingml/2006/table">
            <a:tbl>
              <a:tblPr firstRow="1" bandRow="1">
                <a:tableStyleId>{5C22544A-7EE6-4342-B048-85BDC9FD1C3A}</a:tableStyleId>
              </a:tblPr>
              <a:tblGrid>
                <a:gridCol w="3408844">
                  <a:extLst>
                    <a:ext uri="{9D8B030D-6E8A-4147-A177-3AD203B41FA5}">
                      <a16:colId xmlns:a16="http://schemas.microsoft.com/office/drawing/2014/main" val="20000"/>
                    </a:ext>
                  </a:extLst>
                </a:gridCol>
                <a:gridCol w="3408844">
                  <a:extLst>
                    <a:ext uri="{9D8B030D-6E8A-4147-A177-3AD203B41FA5}">
                      <a16:colId xmlns:a16="http://schemas.microsoft.com/office/drawing/2014/main" val="20001"/>
                    </a:ext>
                  </a:extLst>
                </a:gridCol>
                <a:gridCol w="3408844">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sz="1800" b="0" i="1" u="none" strike="noStrike" kern="1200" baseline="0" dirty="0">
                          <a:solidFill>
                            <a:schemeClr val="lt1"/>
                          </a:solidFill>
                          <a:latin typeface="+mn-lt"/>
                          <a:ea typeface="+mn-ea"/>
                          <a:cs typeface="+mn-cs"/>
                        </a:rPr>
                        <a:t>Black-Listing</a:t>
                      </a:r>
                      <a:endParaRPr lang="en-US" dirty="0"/>
                    </a:p>
                  </a:txBody>
                  <a:tcPr/>
                </a:tc>
                <a:tc>
                  <a:txBody>
                    <a:bodyPr/>
                    <a:lstStyle/>
                    <a:p>
                      <a:r>
                        <a:rPr lang="en-US" sz="1800" b="0" i="1" u="none" strike="noStrike" kern="1200" baseline="0" dirty="0">
                          <a:solidFill>
                            <a:schemeClr val="lt1"/>
                          </a:solidFill>
                          <a:latin typeface="+mn-lt"/>
                          <a:ea typeface="+mn-ea"/>
                          <a:cs typeface="+mn-cs"/>
                        </a:rPr>
                        <a:t>White-Listing</a:t>
                      </a:r>
                      <a:endParaRPr lang="en-US" dirty="0"/>
                    </a:p>
                  </a:txBody>
                  <a:tcPr/>
                </a:tc>
                <a:extLst>
                  <a:ext uri="{0D108BD9-81ED-4DB2-BD59-A6C34878D82A}">
                    <a16:rowId xmlns:a16="http://schemas.microsoft.com/office/drawing/2014/main" val="10000"/>
                  </a:ext>
                </a:extLst>
              </a:tr>
              <a:tr h="370840">
                <a:tc>
                  <a:txBody>
                    <a:bodyPr/>
                    <a:lstStyle/>
                    <a:p>
                      <a:pPr algn="ctr"/>
                      <a:r>
                        <a:rPr lang="en-US" sz="1800" b="0" i="0" u="none" strike="noStrike" kern="1200" baseline="0" dirty="0">
                          <a:solidFill>
                            <a:schemeClr val="dk1"/>
                          </a:solidFill>
                          <a:latin typeface="+mn-lt"/>
                          <a:ea typeface="+mn-ea"/>
                          <a:cs typeface="+mn-cs"/>
                        </a:rPr>
                        <a:t>Disadvantages</a:t>
                      </a:r>
                      <a:endParaRPr lang="en-US" dirty="0"/>
                    </a:p>
                  </a:txBody>
                  <a:tcPr anchor="ctr"/>
                </a:tc>
                <a:tc>
                  <a:txBody>
                    <a:bodyPr/>
                    <a:lstStyle/>
                    <a:p>
                      <a:r>
                        <a:rPr lang="en-US" sz="1800" b="0" i="0" u="none" strike="noStrike" kern="1200" baseline="0" dirty="0">
                          <a:solidFill>
                            <a:schemeClr val="dk1"/>
                          </a:solidFill>
                          <a:latin typeface="+mn-lt"/>
                          <a:ea typeface="+mn-ea"/>
                          <a:cs typeface="+mn-cs"/>
                        </a:rPr>
                        <a:t>•  Ineffective against unknown attacks</a:t>
                      </a:r>
                    </a:p>
                    <a:p>
                      <a:r>
                        <a:rPr lang="en-US" sz="1800" b="0" i="0" u="none" strike="noStrike" kern="1200" baseline="0" dirty="0">
                          <a:solidFill>
                            <a:schemeClr val="dk1"/>
                          </a:solidFill>
                          <a:latin typeface="+mn-lt"/>
                          <a:ea typeface="+mn-ea"/>
                          <a:cs typeface="+mn-cs"/>
                        </a:rPr>
                        <a:t>• Hard to keep up to date</a:t>
                      </a:r>
                    </a:p>
                    <a:p>
                      <a:r>
                        <a:rPr lang="en-US" sz="1800" b="0" i="0" u="none" strike="noStrike" kern="1200" baseline="0" dirty="0">
                          <a:solidFill>
                            <a:schemeClr val="dk1"/>
                          </a:solidFill>
                          <a:latin typeface="+mn-lt"/>
                          <a:ea typeface="+mn-ea"/>
                          <a:cs typeface="+mn-cs"/>
                        </a:rPr>
                        <a:t>• Time consuming to maintain</a:t>
                      </a:r>
                    </a:p>
                    <a:p>
                      <a:r>
                        <a:rPr lang="en-US" sz="1800" b="0" i="0" u="none" strike="noStrike" kern="1200" baseline="0" dirty="0">
                          <a:solidFill>
                            <a:schemeClr val="dk1"/>
                          </a:solidFill>
                          <a:latin typeface="+mn-lt"/>
                          <a:ea typeface="+mn-ea"/>
                          <a:cs typeface="+mn-cs"/>
                        </a:rPr>
                        <a:t>• Vulnerable to</a:t>
                      </a:r>
                    </a:p>
                    <a:p>
                      <a:r>
                        <a:rPr lang="en-US" sz="1800" b="0" i="0" u="none" strike="noStrike" kern="1200" baseline="0" dirty="0">
                          <a:solidFill>
                            <a:schemeClr val="dk1"/>
                          </a:solidFill>
                          <a:latin typeface="+mn-lt"/>
                          <a:ea typeface="+mn-ea"/>
                          <a:cs typeface="+mn-cs"/>
                        </a:rPr>
                        <a:t>incompleteness of black-list</a:t>
                      </a:r>
                      <a:endParaRPr lang="en-US" dirty="0"/>
                    </a:p>
                  </a:txBody>
                  <a:tcPr/>
                </a:tc>
                <a:tc>
                  <a:txBody>
                    <a:bodyPr/>
                    <a:lstStyle/>
                    <a:p>
                      <a:pPr marL="285750" indent="-285750">
                        <a:buFont typeface="Arial" panose="020B0604020202020204" pitchFamily="34" charset="0"/>
                        <a:buChar char="•"/>
                      </a:pPr>
                      <a:r>
                        <a:rPr lang="en-US" sz="1800" b="0" i="0" u="none" strike="noStrike" kern="1200" baseline="0" dirty="0">
                          <a:solidFill>
                            <a:schemeClr val="dk1"/>
                          </a:solidFill>
                          <a:latin typeface="+mn-lt"/>
                          <a:ea typeface="+mn-ea"/>
                          <a:cs typeface="+mn-cs"/>
                        </a:rPr>
                        <a:t>High false positive</a:t>
                      </a:r>
                    </a:p>
                    <a:p>
                      <a:r>
                        <a:rPr lang="en-US" sz="1800" b="0" i="0" u="none" strike="noStrike" kern="1200" baseline="0" dirty="0">
                          <a:solidFill>
                            <a:schemeClr val="dk1"/>
                          </a:solidFill>
                          <a:latin typeface="+mn-lt"/>
                          <a:ea typeface="+mn-ea"/>
                          <a:cs typeface="+mn-cs"/>
                        </a:rPr>
                        <a:t>rate (FPR)</a:t>
                      </a:r>
                    </a:p>
                    <a:p>
                      <a:r>
                        <a:rPr lang="en-US" sz="1800" b="0" i="0" u="none" strike="noStrike" kern="1200" baseline="0" dirty="0">
                          <a:solidFill>
                            <a:schemeClr val="dk1"/>
                          </a:solidFill>
                          <a:latin typeface="+mn-lt"/>
                          <a:ea typeface="+mn-ea"/>
                          <a:cs typeface="+mn-cs"/>
                        </a:rPr>
                        <a:t>• Unavailable while</a:t>
                      </a:r>
                    </a:p>
                    <a:p>
                      <a:r>
                        <a:rPr lang="en-US" sz="1800" b="0" i="0" u="none" strike="noStrike" kern="1200" baseline="0" dirty="0">
                          <a:solidFill>
                            <a:schemeClr val="dk1"/>
                          </a:solidFill>
                          <a:latin typeface="+mn-lt"/>
                          <a:ea typeface="+mn-ea"/>
                          <a:cs typeface="+mn-cs"/>
                        </a:rPr>
                        <a:t>behavior profiles are</a:t>
                      </a:r>
                    </a:p>
                    <a:p>
                      <a:r>
                        <a:rPr lang="en-US" sz="1800" b="0" i="0" u="none" strike="noStrike" kern="1200" baseline="0" dirty="0">
                          <a:solidFill>
                            <a:schemeClr val="dk1"/>
                          </a:solidFill>
                          <a:latin typeface="+mn-lt"/>
                          <a:ea typeface="+mn-ea"/>
                          <a:cs typeface="+mn-cs"/>
                        </a:rPr>
                        <a:t>rebuilt</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673205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09433" y="2603499"/>
            <a:ext cx="11464119" cy="4056607"/>
          </a:xfrm>
        </p:spPr>
        <p:txBody>
          <a:bodyPr/>
          <a:lstStyle/>
          <a:p>
            <a:pPr algn="ctr"/>
            <a:r>
              <a:rPr lang="en-US" sz="2000" b="1" i="1" dirty="0"/>
              <a:t>Intrusion and Anomaly Detection</a:t>
            </a:r>
          </a:p>
          <a:p>
            <a:r>
              <a:rPr lang="en-US" sz="2000" dirty="0"/>
              <a:t>Anomaly detection </a:t>
            </a:r>
            <a:r>
              <a:rPr lang="en-US" sz="2000" dirty="0">
                <a:solidFill>
                  <a:srgbClr val="FF0000"/>
                </a:solidFill>
              </a:rPr>
              <a:t>deals with identifying patterns in an ICT network that contradict normal system behavior.</a:t>
            </a:r>
          </a:p>
          <a:p>
            <a:r>
              <a:rPr lang="en-US" sz="2000" dirty="0"/>
              <a:t>Reasons for this anomalous system behavior that usually refers to malicious activities include the following:</a:t>
            </a:r>
          </a:p>
          <a:p>
            <a:pPr lvl="1"/>
            <a:r>
              <a:rPr lang="en-US" sz="1800" dirty="0"/>
              <a:t>Invaders</a:t>
            </a:r>
          </a:p>
          <a:p>
            <a:pPr lvl="1"/>
            <a:r>
              <a:rPr lang="en-US" sz="1800" dirty="0"/>
              <a:t>Cyber attacks</a:t>
            </a:r>
          </a:p>
          <a:p>
            <a:pPr lvl="1"/>
            <a:r>
              <a:rPr lang="en-US" sz="1800" dirty="0"/>
              <a:t>Misconfiguration</a:t>
            </a:r>
          </a:p>
          <a:p>
            <a:pPr lvl="1"/>
            <a:r>
              <a:rPr lang="en-US" sz="1800" dirty="0"/>
              <a:t>System failures</a:t>
            </a:r>
          </a:p>
        </p:txBody>
      </p:sp>
    </p:spTree>
    <p:extLst>
      <p:ext uri="{BB962C8B-B14F-4D97-AF65-F5344CB8AC3E}">
        <p14:creationId xmlns:p14="http://schemas.microsoft.com/office/powerpoint/2010/main" val="25060504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4513" y="2371487"/>
            <a:ext cx="11300346" cy="3988369"/>
          </a:xfrm>
        </p:spPr>
        <p:txBody>
          <a:bodyPr/>
          <a:lstStyle/>
          <a:p>
            <a:pPr algn="ctr"/>
            <a:r>
              <a:rPr lang="en-US" sz="2000" b="1" i="1" dirty="0"/>
              <a:t>What Are Anomalies?</a:t>
            </a:r>
          </a:p>
          <a:p>
            <a:endParaRPr lang="en-US" dirty="0"/>
          </a:p>
        </p:txBody>
      </p:sp>
      <p:graphicFrame>
        <p:nvGraphicFramePr>
          <p:cNvPr id="5" name="Diagram 4"/>
          <p:cNvGraphicFramePr/>
          <p:nvPr>
            <p:extLst>
              <p:ext uri="{D42A27DB-BD31-4B8C-83A1-F6EECF244321}">
                <p14:modId xmlns:p14="http://schemas.microsoft.com/office/powerpoint/2010/main" val="1648952913"/>
              </p:ext>
            </p:extLst>
          </p:nvPr>
        </p:nvGraphicFramePr>
        <p:xfrm>
          <a:off x="218365" y="2797791"/>
          <a:ext cx="11627892" cy="41898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18332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04327241"/>
              </p:ext>
            </p:extLst>
          </p:nvPr>
        </p:nvGraphicFramePr>
        <p:xfrm>
          <a:off x="477672" y="2374709"/>
          <a:ext cx="11122925" cy="4285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6857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50626" y="2603499"/>
            <a:ext cx="11109277" cy="4097551"/>
          </a:xfrm>
        </p:spPr>
        <p:txBody>
          <a:bodyPr>
            <a:normAutofit/>
          </a:bodyPr>
          <a:lstStyle/>
          <a:p>
            <a:r>
              <a:rPr lang="en-US" sz="2000" b="1" i="1" dirty="0"/>
              <a:t>Intrusion and Anomaly Detection Approaches</a:t>
            </a:r>
          </a:p>
          <a:p>
            <a:r>
              <a:rPr lang="en-US" dirty="0"/>
              <a:t>There are three general methods that are used in intrusion detection systems (IDS):</a:t>
            </a:r>
          </a:p>
          <a:p>
            <a:r>
              <a:rPr lang="en-US" b="1" dirty="0">
                <a:solidFill>
                  <a:schemeClr val="tx1"/>
                </a:solidFill>
                <a:latin typeface="+mj-lt"/>
              </a:rPr>
              <a:t>Signature-Based Detection (SD)</a:t>
            </a:r>
            <a:r>
              <a:rPr lang="en-US" dirty="0">
                <a:solidFill>
                  <a:schemeClr val="tx1"/>
                </a:solidFill>
                <a:latin typeface="+mj-lt"/>
              </a:rPr>
              <a:t>: </a:t>
            </a:r>
            <a:r>
              <a:rPr lang="en-US" dirty="0">
                <a:solidFill>
                  <a:srgbClr val="FF0000"/>
                </a:solidFill>
                <a:latin typeface="+mj-lt"/>
              </a:rPr>
              <a:t>Uses predefined patterns to detect known attacks</a:t>
            </a:r>
            <a:r>
              <a:rPr lang="en-US" dirty="0">
                <a:solidFill>
                  <a:schemeClr val="tx1"/>
                </a:solidFill>
                <a:latin typeface="+mj-lt"/>
              </a:rPr>
              <a:t>. While effective for familiar threats, </a:t>
            </a:r>
            <a:r>
              <a:rPr lang="en-US" dirty="0">
                <a:solidFill>
                  <a:srgbClr val="FF0000"/>
                </a:solidFill>
                <a:latin typeface="+mj-lt"/>
              </a:rPr>
              <a:t>it struggles with unknown attacks and requires constant updates.</a:t>
            </a:r>
          </a:p>
          <a:p>
            <a:r>
              <a:rPr lang="en-US" b="1" dirty="0" err="1">
                <a:solidFill>
                  <a:schemeClr val="tx1"/>
                </a:solidFill>
                <a:latin typeface="+mj-lt"/>
              </a:rPr>
              <a:t>Stateful</a:t>
            </a:r>
            <a:r>
              <a:rPr lang="en-US" b="1" dirty="0">
                <a:solidFill>
                  <a:schemeClr val="tx1"/>
                </a:solidFill>
                <a:latin typeface="+mj-lt"/>
              </a:rPr>
              <a:t> Protocol Analysis (SPA)</a:t>
            </a:r>
            <a:r>
              <a:rPr lang="en-US" dirty="0">
                <a:solidFill>
                  <a:schemeClr val="tx1"/>
                </a:solidFill>
                <a:latin typeface="+mj-lt"/>
              </a:rPr>
              <a:t>: </a:t>
            </a:r>
            <a:r>
              <a:rPr lang="en-US" dirty="0">
                <a:solidFill>
                  <a:srgbClr val="FF0000"/>
                </a:solidFill>
                <a:latin typeface="+mj-lt"/>
              </a:rPr>
              <a:t>Compares network activity against predetermined profiles to ensure correct protocol usage.</a:t>
            </a:r>
            <a:r>
              <a:rPr lang="en-US" dirty="0">
                <a:solidFill>
                  <a:schemeClr val="tx1"/>
                </a:solidFill>
                <a:latin typeface="+mj-lt"/>
              </a:rPr>
              <a:t> It tracks protocol states but relies on vendor support and can miss new attack methods.</a:t>
            </a:r>
          </a:p>
          <a:p>
            <a:r>
              <a:rPr lang="en-US" b="1" dirty="0">
                <a:solidFill>
                  <a:schemeClr val="tx1"/>
                </a:solidFill>
                <a:latin typeface="+mj-lt"/>
              </a:rPr>
              <a:t>Anomaly-Based Detection (AD)</a:t>
            </a:r>
            <a:r>
              <a:rPr lang="en-US" dirty="0">
                <a:solidFill>
                  <a:schemeClr val="tx1"/>
                </a:solidFill>
                <a:latin typeface="+mj-lt"/>
              </a:rPr>
              <a:t>: </a:t>
            </a:r>
            <a:r>
              <a:rPr lang="en-US" dirty="0">
                <a:solidFill>
                  <a:srgbClr val="FF0000"/>
                </a:solidFill>
                <a:latin typeface="+mj-lt"/>
              </a:rPr>
              <a:t>Establishes a baseline of normal behavior and flags deviations as potential threats.</a:t>
            </a:r>
            <a:r>
              <a:rPr lang="en-US" dirty="0">
                <a:solidFill>
                  <a:schemeClr val="tx1"/>
                </a:solidFill>
                <a:latin typeface="+mj-lt"/>
              </a:rPr>
              <a:t> This method can detect novel attacks but often suffers from a high false positive rate</a:t>
            </a:r>
            <a:r>
              <a:rPr lang="en-US" dirty="0">
                <a:solidFill>
                  <a:schemeClr val="tx1"/>
                </a:solidFill>
                <a:latin typeface="Arial" panose="020B0604020202020204" pitchFamily="34" charset="0"/>
              </a:rPr>
              <a:t>.</a:t>
            </a:r>
          </a:p>
          <a:p>
            <a:endParaRPr lang="en-US" dirty="0"/>
          </a:p>
        </p:txBody>
      </p:sp>
    </p:spTree>
    <p:extLst>
      <p:ext uri="{BB962C8B-B14F-4D97-AF65-F5344CB8AC3E}">
        <p14:creationId xmlns:p14="http://schemas.microsoft.com/office/powerpoint/2010/main" val="511936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0502" y="2603500"/>
            <a:ext cx="11368586" cy="3906482"/>
          </a:xfrm>
        </p:spPr>
        <p:txBody>
          <a:bodyPr>
            <a:normAutofit/>
          </a:bodyPr>
          <a:lstStyle/>
          <a:p>
            <a:r>
              <a:rPr lang="en-US" dirty="0"/>
              <a:t>IDS (Intrusion Detection System) can be categorized based on their scope:</a:t>
            </a:r>
          </a:p>
          <a:p>
            <a:r>
              <a:rPr lang="en-US" b="1" dirty="0"/>
              <a:t>Host-Based IDS (HIDS)</a:t>
            </a:r>
            <a:r>
              <a:rPr lang="en-US" dirty="0"/>
              <a:t>: </a:t>
            </a:r>
            <a:r>
              <a:rPr lang="en-US" dirty="0">
                <a:solidFill>
                  <a:srgbClr val="FF0000"/>
                </a:solidFill>
              </a:rPr>
              <a:t>Monitors individual systems and provides detailed attack information</a:t>
            </a:r>
            <a:r>
              <a:rPr lang="en-US" dirty="0"/>
              <a:t> but can be compromised if the host is attacked.</a:t>
            </a:r>
          </a:p>
          <a:p>
            <a:r>
              <a:rPr lang="en-US" b="1" dirty="0"/>
              <a:t>Network-Based IDS (NIDS)</a:t>
            </a:r>
            <a:r>
              <a:rPr lang="en-US" dirty="0"/>
              <a:t>: </a:t>
            </a:r>
            <a:r>
              <a:rPr lang="en-US" dirty="0">
                <a:solidFill>
                  <a:srgbClr val="FF0000"/>
                </a:solidFill>
              </a:rPr>
              <a:t>Analyzes network traffic for threats.</a:t>
            </a:r>
            <a:r>
              <a:rPr lang="en-US" dirty="0"/>
              <a:t> While it can cover the entire network, it may suffer from performance issues if the network is overloaded.</a:t>
            </a:r>
          </a:p>
          <a:p>
            <a:r>
              <a:rPr lang="en-US" b="1" dirty="0"/>
              <a:t>Hybrid/Cross-Layer IDS</a:t>
            </a:r>
            <a:r>
              <a:rPr lang="en-US" dirty="0"/>
              <a:t>: </a:t>
            </a:r>
            <a:r>
              <a:rPr lang="en-US" dirty="0">
                <a:solidFill>
                  <a:srgbClr val="FF0000"/>
                </a:solidFill>
              </a:rPr>
              <a:t>Combines HIDS and NIDS </a:t>
            </a:r>
            <a:r>
              <a:rPr lang="en-US" dirty="0"/>
              <a:t>to leverage their strengths and mitigate their weaknesses, enhancing overall detection capabilities and minimizing false alarms.</a:t>
            </a:r>
          </a:p>
          <a:p>
            <a:r>
              <a:rPr lang="en-US" dirty="0"/>
              <a:t>These approaches vary in flexibility, ease of deployment, and effectiveness, with AD offering the advantage of detecting new attacks but facing challenges in managing false positives.</a:t>
            </a:r>
          </a:p>
          <a:p>
            <a:endParaRPr lang="en-US" dirty="0"/>
          </a:p>
        </p:txBody>
      </p:sp>
    </p:spTree>
    <p:extLst>
      <p:ext uri="{BB962C8B-B14F-4D97-AF65-F5344CB8AC3E}">
        <p14:creationId xmlns:p14="http://schemas.microsoft.com/office/powerpoint/2010/main" val="2592690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32012" y="2603499"/>
            <a:ext cx="11600597" cy="4097551"/>
          </a:xfrm>
        </p:spPr>
        <p:txBody>
          <a:bodyPr>
            <a:normAutofit/>
          </a:bodyPr>
          <a:lstStyle/>
          <a:p>
            <a:r>
              <a:rPr lang="en-US" sz="1900" b="1" i="1" dirty="0"/>
              <a:t>Self-Learning and Adaptive Approaches</a:t>
            </a:r>
          </a:p>
          <a:p>
            <a:r>
              <a:rPr lang="en-US" sz="2000" b="1" dirty="0"/>
              <a:t>Challenges and Solutions in Intrusion Detection:</a:t>
            </a:r>
            <a:endParaRPr lang="en-US" sz="2000" dirty="0"/>
          </a:p>
          <a:p>
            <a:r>
              <a:rPr lang="en-US" sz="2000" b="1" dirty="0"/>
              <a:t>Black-Listing Drawbacks</a:t>
            </a:r>
            <a:r>
              <a:rPr lang="en-US" sz="2000" dirty="0"/>
              <a:t>: </a:t>
            </a:r>
            <a:r>
              <a:rPr lang="en-US" sz="2000" dirty="0">
                <a:solidFill>
                  <a:srgbClr val="FF0000"/>
                </a:solidFill>
              </a:rPr>
              <a:t>Black-listing can only detect known attack patterns and often requires regular updates. </a:t>
            </a:r>
            <a:r>
              <a:rPr lang="en-US" sz="2000" dirty="0"/>
              <a:t>Small companies may struggle with maintaining up-to-date signatures, relying on vendors or expensive Managed Security Service Providers (MSSPs). Large companies face issues with legacy systems that lack documentation and vendor support.</a:t>
            </a:r>
          </a:p>
          <a:p>
            <a:r>
              <a:rPr lang="en-US" sz="2000" b="1" dirty="0"/>
              <a:t>Self-Learning Anomaly Detection</a:t>
            </a:r>
            <a:r>
              <a:rPr lang="en-US" sz="2000" dirty="0"/>
              <a:t>: To address these challenges, self-learning anomaly detection methods build a baseline of normal behavior:</a:t>
            </a:r>
          </a:p>
          <a:p>
            <a:pPr lvl="1"/>
            <a:r>
              <a:rPr lang="en-US" sz="1800" b="1" dirty="0"/>
              <a:t>Unsupervised Learning</a:t>
            </a:r>
            <a:r>
              <a:rPr lang="en-US" sz="1800" dirty="0"/>
              <a:t>: No labeled data needed; learns to distinguish normal from malicious behavior autonomously.</a:t>
            </a:r>
          </a:p>
          <a:p>
            <a:endParaRPr lang="en-US" dirty="0"/>
          </a:p>
        </p:txBody>
      </p:sp>
    </p:spTree>
    <p:extLst>
      <p:ext uri="{BB962C8B-B14F-4D97-AF65-F5344CB8AC3E}">
        <p14:creationId xmlns:p14="http://schemas.microsoft.com/office/powerpoint/2010/main" val="2644585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2138" y="2603499"/>
            <a:ext cx="11436824" cy="4111199"/>
          </a:xfrm>
        </p:spPr>
        <p:txBody>
          <a:bodyPr>
            <a:normAutofit lnSpcReduction="10000"/>
          </a:bodyPr>
          <a:lstStyle/>
          <a:p>
            <a:pPr lvl="1"/>
            <a:r>
              <a:rPr lang="en-US" sz="1800" b="1" dirty="0"/>
              <a:t>Semi-Supervised Learning</a:t>
            </a:r>
            <a:r>
              <a:rPr lang="en-US" sz="1800" dirty="0"/>
              <a:t>: Uses anomaly-free data for training; effective but hard to obtain anomaly-free datasets.</a:t>
            </a:r>
          </a:p>
          <a:p>
            <a:pPr lvl="1"/>
            <a:r>
              <a:rPr lang="en-US" sz="1800" b="1" dirty="0"/>
              <a:t>Supervised Learning</a:t>
            </a:r>
            <a:r>
              <a:rPr lang="en-US" sz="1800" dirty="0"/>
              <a:t>: Requires labeled data (both normal and malicious); provides the most accurate results but is resource-intensive.</a:t>
            </a:r>
          </a:p>
          <a:p>
            <a:endParaRPr lang="en-US" sz="2000" b="1" dirty="0"/>
          </a:p>
          <a:p>
            <a:r>
              <a:rPr lang="en-US" sz="2000" b="1" dirty="0"/>
              <a:t>Supported Self-Learning</a:t>
            </a:r>
            <a:r>
              <a:rPr lang="en-US" sz="2000" dirty="0"/>
              <a:t>: Administrators can influence the learning process by validating anomalies, which helps refine detection and reduce false positives.</a:t>
            </a:r>
          </a:p>
          <a:p>
            <a:r>
              <a:rPr lang="en-US" sz="2000" b="1" dirty="0"/>
              <a:t>Cross-Layer Detection</a:t>
            </a:r>
            <a:r>
              <a:rPr lang="en-US" sz="2000" dirty="0"/>
              <a:t>: Combines data from various detection systems to improve accuracy and minimize false alarms.</a:t>
            </a:r>
          </a:p>
          <a:p>
            <a:r>
              <a:rPr lang="en-US" sz="2000" dirty="0"/>
              <a:t>Overall, while self-learning methods can adapt to new threats and systems, they often generate false positives. Combining multiple detection approaches can enhance accuracy and effectiveness.</a:t>
            </a:r>
          </a:p>
          <a:p>
            <a:endParaRPr lang="en-US" dirty="0"/>
          </a:p>
        </p:txBody>
      </p:sp>
    </p:spTree>
    <p:extLst>
      <p:ext uri="{BB962C8B-B14F-4D97-AF65-F5344CB8AC3E}">
        <p14:creationId xmlns:p14="http://schemas.microsoft.com/office/powerpoint/2010/main" val="28505273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2138" y="2603499"/>
            <a:ext cx="11668836" cy="4097551"/>
          </a:xfrm>
        </p:spPr>
        <p:txBody>
          <a:bodyPr>
            <a:normAutofit/>
          </a:bodyPr>
          <a:lstStyle/>
          <a:p>
            <a:r>
              <a:rPr lang="en-US" sz="2000" b="1" dirty="0"/>
              <a:t>Sharing and Threat Intelligence in IDS:</a:t>
            </a:r>
            <a:endParaRPr lang="en-US" sz="2000" dirty="0"/>
          </a:p>
          <a:p>
            <a:r>
              <a:rPr lang="en-US" sz="2000" b="1" dirty="0"/>
              <a:t>Black-Listing vs. White-Listing</a:t>
            </a:r>
            <a:r>
              <a:rPr lang="en-US" sz="2000" dirty="0"/>
              <a:t>: Signature-Based (SD) and </a:t>
            </a:r>
            <a:r>
              <a:rPr lang="en-US" sz="2000" dirty="0" err="1"/>
              <a:t>Stateful</a:t>
            </a:r>
            <a:r>
              <a:rPr lang="en-US" sz="2000" dirty="0"/>
              <a:t> Protocol Analysis (SPA) use black-listing (detecting known attacks), while Anomaly-Based Detection (AD) uses white-listing (detecting deviations from normal behavior).</a:t>
            </a:r>
          </a:p>
          <a:p>
            <a:r>
              <a:rPr lang="en-US" sz="2000" b="1" dirty="0"/>
              <a:t>Role of Threat Intelligence (TI)</a:t>
            </a:r>
            <a:r>
              <a:rPr lang="en-US" sz="2000" dirty="0"/>
              <a:t>: Sharing detailed information on detected attacks (e.g., Indicators of Compromise, attack steps) allows organizations to adjust their AD systems. This helps focus monitoring on specific threats, such as anomalies in DNS logs for new botnets.</a:t>
            </a:r>
          </a:p>
          <a:p>
            <a:endParaRPr lang="en-US" dirty="0"/>
          </a:p>
        </p:txBody>
      </p:sp>
    </p:spTree>
    <p:extLst>
      <p:ext uri="{BB962C8B-B14F-4D97-AF65-F5344CB8AC3E}">
        <p14:creationId xmlns:p14="http://schemas.microsoft.com/office/powerpoint/2010/main" val="801725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95785" y="2603500"/>
            <a:ext cx="11395881" cy="3416300"/>
          </a:xfrm>
        </p:spPr>
        <p:txBody>
          <a:bodyPr>
            <a:normAutofit/>
          </a:bodyPr>
          <a:lstStyle/>
          <a:p>
            <a:r>
              <a:rPr lang="en-US" sz="2400" b="1" dirty="0"/>
              <a:t>Dynamic Configuration</a:t>
            </a:r>
            <a:r>
              <a:rPr lang="en-US" sz="2400" dirty="0"/>
              <a:t>: It enables organizations to dynamically adjust anomaly detection thresholds for specific network segments, improving threat detection without increasing overall administrative burden.</a:t>
            </a:r>
          </a:p>
          <a:p>
            <a:r>
              <a:rPr lang="en-US" sz="2400" b="1" dirty="0"/>
              <a:t>Enhanced Cyber Situational Awareness</a:t>
            </a:r>
            <a:r>
              <a:rPr lang="en-US" sz="2400" dirty="0"/>
              <a:t>: By sharing TI and Tactics, Techniques, and Procedures (TTPs), organizations can better allocate monitoring resources and enhance their ability to detect and respond to threats effectively.</a:t>
            </a:r>
          </a:p>
          <a:p>
            <a:endParaRPr lang="en-US" dirty="0"/>
          </a:p>
        </p:txBody>
      </p:sp>
    </p:spTree>
    <p:extLst>
      <p:ext uri="{BB962C8B-B14F-4D97-AF65-F5344CB8AC3E}">
        <p14:creationId xmlns:p14="http://schemas.microsoft.com/office/powerpoint/2010/main" val="1812133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46160" y="2593075"/>
            <a:ext cx="10986449" cy="4094327"/>
          </a:xfrm>
        </p:spPr>
        <p:txBody>
          <a:bodyPr>
            <a:normAutofit/>
          </a:bodyPr>
          <a:lstStyle/>
          <a:p>
            <a:r>
              <a:rPr lang="en-US" sz="2000" b="1" i="1" dirty="0"/>
              <a:t>Ontologies</a:t>
            </a:r>
          </a:p>
          <a:p>
            <a:endParaRPr lang="en-US" b="1" i="1" dirty="0"/>
          </a:p>
          <a:p>
            <a:pPr marL="0" lvl="0" indent="0" defTabSz="914400" eaLnBrk="0" fontAlgn="base" hangingPunct="0">
              <a:spcBef>
                <a:spcPct val="0"/>
              </a:spcBef>
              <a:spcAft>
                <a:spcPct val="0"/>
              </a:spcAft>
              <a:buClrTx/>
              <a:buSzTx/>
              <a:buNone/>
            </a:pPr>
            <a:r>
              <a:rPr lang="en-US" sz="2000" b="1" dirty="0">
                <a:solidFill>
                  <a:schemeClr val="tx1"/>
                </a:solidFill>
                <a:latin typeface="+mj-lt"/>
              </a:rPr>
              <a:t>Definition</a:t>
            </a:r>
            <a:r>
              <a:rPr lang="en-US" sz="2000" dirty="0">
                <a:solidFill>
                  <a:schemeClr val="tx1"/>
                </a:solidFill>
                <a:latin typeface="+mj-lt"/>
              </a:rPr>
              <a:t>: </a:t>
            </a:r>
            <a:r>
              <a:rPr lang="en-US" sz="2000" dirty="0">
                <a:solidFill>
                  <a:srgbClr val="FF0000"/>
                </a:solidFill>
                <a:latin typeface="+mj-lt"/>
              </a:rPr>
              <a:t>An ontology represents knowledge by defining concepts and their relationships within a specific domain.</a:t>
            </a:r>
            <a:r>
              <a:rPr lang="en-US" sz="2000" dirty="0">
                <a:solidFill>
                  <a:schemeClr val="tx1"/>
                </a:solidFill>
                <a:latin typeface="+mj-lt"/>
              </a:rPr>
              <a:t> It originated from metaphysics but is now used in AI and computer sciences for automated reasoning.</a:t>
            </a:r>
          </a:p>
          <a:p>
            <a:pPr marL="0" lvl="0" indent="0" defTabSz="914400" eaLnBrk="0" fontAlgn="base" hangingPunct="0">
              <a:spcBef>
                <a:spcPct val="0"/>
              </a:spcBef>
              <a:spcAft>
                <a:spcPct val="0"/>
              </a:spcAft>
              <a:buClrTx/>
              <a:buSzTx/>
              <a:buFontTx/>
              <a:buChar char="•"/>
            </a:pPr>
            <a:r>
              <a:rPr lang="en-US" sz="2000" b="1" dirty="0">
                <a:solidFill>
                  <a:schemeClr val="tx1"/>
                </a:solidFill>
                <a:latin typeface="+mj-lt"/>
              </a:rPr>
              <a:t>Key Components</a:t>
            </a:r>
            <a:r>
              <a:rPr lang="en-US" sz="2000" dirty="0">
                <a:solidFill>
                  <a:schemeClr val="tx1"/>
                </a:solidFill>
                <a:latin typeface="+mj-lt"/>
              </a:rPr>
              <a:t>:</a:t>
            </a:r>
          </a:p>
          <a:p>
            <a:pPr marL="0" lvl="0" indent="0" defTabSz="914400" eaLnBrk="0" fontAlgn="base" hangingPunct="0">
              <a:spcBef>
                <a:spcPct val="0"/>
              </a:spcBef>
              <a:spcAft>
                <a:spcPct val="0"/>
              </a:spcAft>
              <a:buClrTx/>
              <a:buSzTx/>
              <a:buFontTx/>
              <a:buChar char="•"/>
            </a:pPr>
            <a:r>
              <a:rPr lang="en-US" sz="2000" b="1" dirty="0">
                <a:solidFill>
                  <a:schemeClr val="tx1"/>
                </a:solidFill>
                <a:latin typeface="+mj-lt"/>
              </a:rPr>
              <a:t>Classes/Concepts</a:t>
            </a:r>
            <a:r>
              <a:rPr lang="en-US" sz="2000" dirty="0">
                <a:solidFill>
                  <a:schemeClr val="tx1"/>
                </a:solidFill>
                <a:latin typeface="+mj-lt"/>
              </a:rPr>
              <a:t>: Broad categories or groups (e.g., departments, roles).</a:t>
            </a:r>
          </a:p>
          <a:p>
            <a:pPr marL="0" lvl="0" indent="0" defTabSz="914400" eaLnBrk="0" fontAlgn="base" hangingPunct="0">
              <a:spcBef>
                <a:spcPct val="0"/>
              </a:spcBef>
              <a:spcAft>
                <a:spcPct val="0"/>
              </a:spcAft>
              <a:buClrTx/>
              <a:buSzTx/>
              <a:buFontTx/>
              <a:buChar char="•"/>
            </a:pPr>
            <a:r>
              <a:rPr lang="en-US" sz="2000" b="1" dirty="0">
                <a:solidFill>
                  <a:schemeClr val="tx1"/>
                </a:solidFill>
                <a:latin typeface="+mj-lt"/>
              </a:rPr>
              <a:t>Instances/Individuals</a:t>
            </a:r>
            <a:r>
              <a:rPr lang="en-US" sz="2000" dirty="0">
                <a:solidFill>
                  <a:schemeClr val="tx1"/>
                </a:solidFill>
                <a:latin typeface="+mj-lt"/>
              </a:rPr>
              <a:t>: Specific entities (e.g., John, ERPserver03).</a:t>
            </a:r>
          </a:p>
          <a:p>
            <a:endParaRPr lang="en-US" dirty="0">
              <a:latin typeface="Comic Sans MS" panose="030F0702030302020204" pitchFamily="66" charset="0"/>
            </a:endParaRPr>
          </a:p>
        </p:txBody>
      </p:sp>
    </p:spTree>
    <p:extLst>
      <p:ext uri="{BB962C8B-B14F-4D97-AF65-F5344CB8AC3E}">
        <p14:creationId xmlns:p14="http://schemas.microsoft.com/office/powerpoint/2010/main" val="21551207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2137" y="2603500"/>
            <a:ext cx="10931857" cy="3416300"/>
          </a:xfrm>
        </p:spPr>
        <p:txBody>
          <a:bodyPr/>
          <a:lstStyle/>
          <a:p>
            <a:pPr marL="0" lvl="0" indent="0" defTabSz="914400" eaLnBrk="0" fontAlgn="base" hangingPunct="0">
              <a:spcBef>
                <a:spcPct val="0"/>
              </a:spcBef>
              <a:spcAft>
                <a:spcPct val="0"/>
              </a:spcAft>
              <a:buClrTx/>
              <a:buSzTx/>
              <a:buFontTx/>
              <a:buChar char="•"/>
            </a:pPr>
            <a:r>
              <a:rPr lang="en-US" sz="2000" b="1" dirty="0">
                <a:solidFill>
                  <a:schemeClr val="tx1"/>
                </a:solidFill>
              </a:rPr>
              <a:t>Attributes/Properties</a:t>
            </a:r>
            <a:r>
              <a:rPr lang="en-US" sz="2000" dirty="0">
                <a:solidFill>
                  <a:schemeClr val="tx1"/>
                </a:solidFill>
              </a:rPr>
              <a:t>: Characteristics and relationships (object properties for class relations, data properties for data values).</a:t>
            </a:r>
          </a:p>
          <a:p>
            <a:pPr marL="0" lvl="0" indent="0" defTabSz="914400" eaLnBrk="0" fontAlgn="base" hangingPunct="0">
              <a:spcBef>
                <a:spcPct val="0"/>
              </a:spcBef>
              <a:spcAft>
                <a:spcPct val="0"/>
              </a:spcAft>
              <a:buClrTx/>
              <a:buSzTx/>
              <a:buFontTx/>
              <a:buChar char="•"/>
            </a:pPr>
            <a:r>
              <a:rPr lang="en-US" sz="2000" b="1" dirty="0">
                <a:solidFill>
                  <a:schemeClr val="tx1"/>
                </a:solidFill>
              </a:rPr>
              <a:t>Rules and Axioms</a:t>
            </a:r>
            <a:r>
              <a:rPr lang="en-US" sz="2000" dirty="0">
                <a:solidFill>
                  <a:schemeClr val="tx1"/>
                </a:solidFill>
              </a:rPr>
              <a:t>: Statements for inferring new knowledge based on existing facts.</a:t>
            </a:r>
          </a:p>
          <a:p>
            <a:pPr marL="0" lvl="0" indent="0" defTabSz="914400" eaLnBrk="0" fontAlgn="base" hangingPunct="0">
              <a:spcBef>
                <a:spcPct val="0"/>
              </a:spcBef>
              <a:spcAft>
                <a:spcPct val="0"/>
              </a:spcAft>
              <a:buClrTx/>
              <a:buSzTx/>
              <a:buFontTx/>
              <a:buChar char="•"/>
            </a:pPr>
            <a:r>
              <a:rPr lang="en-US" sz="2000" b="1" dirty="0">
                <a:solidFill>
                  <a:schemeClr val="tx1"/>
                </a:solidFill>
              </a:rPr>
              <a:t>Example</a:t>
            </a:r>
            <a:r>
              <a:rPr lang="en-US" sz="2000" dirty="0">
                <a:solidFill>
                  <a:schemeClr val="tx1"/>
                </a:solidFill>
              </a:rPr>
              <a:t>: In </a:t>
            </a:r>
            <a:r>
              <a:rPr lang="en-US" sz="2000" dirty="0" err="1">
                <a:solidFill>
                  <a:schemeClr val="tx1"/>
                </a:solidFill>
              </a:rPr>
              <a:t>cybersecurity</a:t>
            </a:r>
            <a:r>
              <a:rPr lang="en-US" sz="2000" dirty="0">
                <a:solidFill>
                  <a:schemeClr val="tx1"/>
                </a:solidFill>
              </a:rPr>
              <a:t>, an ontology might include classes like Attack, Attacker, Vulnerability, Asset, and Impact. For instance, SQL Injection could be an instance under Database Attacks, with relationships like "attacker exploits vulnerability."</a:t>
            </a:r>
          </a:p>
          <a:p>
            <a:endParaRPr lang="en-US" dirty="0"/>
          </a:p>
        </p:txBody>
      </p:sp>
    </p:spTree>
    <p:extLst>
      <p:ext uri="{BB962C8B-B14F-4D97-AF65-F5344CB8AC3E}">
        <p14:creationId xmlns:p14="http://schemas.microsoft.com/office/powerpoint/2010/main" val="26494317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91319" y="2548908"/>
            <a:ext cx="11532359" cy="3920130"/>
          </a:xfrm>
        </p:spPr>
        <p:txBody>
          <a:bodyPr>
            <a:normAutofit/>
          </a:bodyPr>
          <a:lstStyle/>
          <a:p>
            <a:r>
              <a:rPr lang="en-US" sz="2000" b="1" i="1" dirty="0"/>
              <a:t>Features of an Ontology (Why to Use an Ontology?)</a:t>
            </a:r>
          </a:p>
          <a:p>
            <a:endParaRPr lang="en-US" sz="2400" b="1" i="1" dirty="0"/>
          </a:p>
          <a:p>
            <a:pPr marL="0" lvl="0" indent="0" defTabSz="914400" eaLnBrk="0" fontAlgn="base" hangingPunct="0">
              <a:spcBef>
                <a:spcPct val="0"/>
              </a:spcBef>
              <a:spcAft>
                <a:spcPct val="0"/>
              </a:spcAft>
              <a:buClrTx/>
              <a:buSzTx/>
              <a:buFontTx/>
              <a:buAutoNum type="arabicPeriod"/>
            </a:pPr>
            <a:r>
              <a:rPr lang="en-US" sz="2000" b="1" dirty="0">
                <a:solidFill>
                  <a:schemeClr val="tx1"/>
                </a:solidFill>
                <a:latin typeface="+mj-lt"/>
              </a:rPr>
              <a:t>Formal Representation</a:t>
            </a:r>
            <a:r>
              <a:rPr lang="en-US" sz="2000" dirty="0">
                <a:solidFill>
                  <a:schemeClr val="tx1"/>
                </a:solidFill>
                <a:latin typeface="+mj-lt"/>
              </a:rPr>
              <a:t>: Ontologies </a:t>
            </a:r>
            <a:r>
              <a:rPr lang="en-US" sz="2000" dirty="0">
                <a:solidFill>
                  <a:srgbClr val="FF0000"/>
                </a:solidFill>
                <a:latin typeface="+mj-lt"/>
              </a:rPr>
              <a:t>provide a structured format that machines can interpret, improving data access and search capabilities.</a:t>
            </a:r>
          </a:p>
          <a:p>
            <a:pPr marL="0" lvl="0" indent="0" defTabSz="914400" eaLnBrk="0" fontAlgn="base" hangingPunct="0">
              <a:spcBef>
                <a:spcPct val="0"/>
              </a:spcBef>
              <a:spcAft>
                <a:spcPct val="0"/>
              </a:spcAft>
              <a:buClrTx/>
              <a:buSzTx/>
              <a:buFontTx/>
              <a:buAutoNum type="arabicPeriod"/>
            </a:pPr>
            <a:endParaRPr lang="en-US" sz="2000" dirty="0">
              <a:solidFill>
                <a:schemeClr val="tx1"/>
              </a:solidFill>
              <a:latin typeface="+mj-lt"/>
            </a:endParaRPr>
          </a:p>
          <a:p>
            <a:pPr marL="0" lvl="0" indent="0" defTabSz="914400" eaLnBrk="0" fontAlgn="base" hangingPunct="0">
              <a:spcBef>
                <a:spcPct val="0"/>
              </a:spcBef>
              <a:spcAft>
                <a:spcPct val="0"/>
              </a:spcAft>
              <a:buClrTx/>
              <a:buSzTx/>
              <a:buFontTx/>
              <a:buAutoNum type="arabicPeriod" startAt="2"/>
            </a:pPr>
            <a:r>
              <a:rPr lang="en-US" sz="2000" b="1" dirty="0">
                <a:solidFill>
                  <a:schemeClr val="tx1"/>
                </a:solidFill>
                <a:latin typeface="+mj-lt"/>
              </a:rPr>
              <a:t>Flexible Abstraction</a:t>
            </a:r>
            <a:r>
              <a:rPr lang="en-US" sz="2000" dirty="0">
                <a:solidFill>
                  <a:schemeClr val="tx1"/>
                </a:solidFill>
                <a:latin typeface="+mj-lt"/>
              </a:rPr>
              <a:t>: </a:t>
            </a:r>
            <a:r>
              <a:rPr lang="en-US" sz="2000" dirty="0">
                <a:solidFill>
                  <a:srgbClr val="FF0000"/>
                </a:solidFill>
                <a:latin typeface="+mj-lt"/>
              </a:rPr>
              <a:t>Knowledge can be represented at various levels of detail,</a:t>
            </a:r>
            <a:r>
              <a:rPr lang="en-US" sz="2000" dirty="0">
                <a:solidFill>
                  <a:schemeClr val="tx1"/>
                </a:solidFill>
                <a:latin typeface="+mj-lt"/>
              </a:rPr>
              <a:t> allowing for high-level summaries and focused analysis of complex information.</a:t>
            </a:r>
          </a:p>
          <a:p>
            <a:pPr marL="0" lvl="0" indent="0" defTabSz="914400" eaLnBrk="0" fontAlgn="base" hangingPunct="0">
              <a:spcBef>
                <a:spcPct val="0"/>
              </a:spcBef>
              <a:spcAft>
                <a:spcPct val="0"/>
              </a:spcAft>
              <a:buClrTx/>
              <a:buSzTx/>
              <a:buNone/>
            </a:pPr>
            <a:endParaRPr lang="en-US" sz="2000" dirty="0">
              <a:solidFill>
                <a:schemeClr val="tx1"/>
              </a:solidFill>
              <a:latin typeface="+mj-lt"/>
            </a:endParaRPr>
          </a:p>
          <a:p>
            <a:pPr marL="0" lvl="0" indent="0" defTabSz="914400" eaLnBrk="0" fontAlgn="base" hangingPunct="0">
              <a:spcBef>
                <a:spcPct val="0"/>
              </a:spcBef>
              <a:spcAft>
                <a:spcPct val="0"/>
              </a:spcAft>
              <a:buClrTx/>
              <a:buSzTx/>
              <a:buFontTx/>
              <a:buAutoNum type="arabicPeriod" startAt="3"/>
            </a:pPr>
            <a:r>
              <a:rPr lang="en-US" sz="2000" b="1" dirty="0">
                <a:solidFill>
                  <a:schemeClr val="tx1"/>
                </a:solidFill>
                <a:latin typeface="+mj-lt"/>
              </a:rPr>
              <a:t>Interoperability</a:t>
            </a:r>
            <a:r>
              <a:rPr lang="en-US" sz="2000" dirty="0">
                <a:solidFill>
                  <a:schemeClr val="tx1"/>
                </a:solidFill>
                <a:latin typeface="+mj-lt"/>
              </a:rPr>
              <a:t>: Ontologies </a:t>
            </a:r>
            <a:r>
              <a:rPr lang="en-US" sz="2000" dirty="0">
                <a:solidFill>
                  <a:srgbClr val="FF0000"/>
                </a:solidFill>
                <a:latin typeface="+mj-lt"/>
              </a:rPr>
              <a:t>integrate diverse information from different sources and formats,</a:t>
            </a:r>
            <a:r>
              <a:rPr lang="en-US" sz="2000" dirty="0">
                <a:solidFill>
                  <a:schemeClr val="tx1"/>
                </a:solidFill>
                <a:latin typeface="+mj-lt"/>
              </a:rPr>
              <a:t> linking technical and operational knowledge to </a:t>
            </a:r>
            <a:r>
              <a:rPr lang="en-US" sz="2000" dirty="0">
                <a:solidFill>
                  <a:srgbClr val="FF0000"/>
                </a:solidFill>
                <a:latin typeface="+mj-lt"/>
              </a:rPr>
              <a:t>reduce manual analysis and false alarms.</a:t>
            </a:r>
            <a:endParaRPr lang="en-US" sz="2000" dirty="0">
              <a:solidFill>
                <a:srgbClr val="FF0000"/>
              </a:solidFill>
            </a:endParaRPr>
          </a:p>
        </p:txBody>
      </p:sp>
      <p:sp>
        <p:nvSpPr>
          <p:cNvPr id="5" name="Rectangle 2"/>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2904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758787"/>
            <a:ext cx="10363756" cy="3105727"/>
          </a:xfrm>
        </p:spPr>
        <p:txBody>
          <a:bodyPr>
            <a:normAutofit/>
          </a:bodyPr>
          <a:lstStyle/>
          <a:p>
            <a:pPr marL="0" lvl="0" indent="0" defTabSz="914400" eaLnBrk="0" fontAlgn="base" hangingPunct="0">
              <a:spcBef>
                <a:spcPct val="0"/>
              </a:spcBef>
              <a:spcAft>
                <a:spcPct val="0"/>
              </a:spcAft>
              <a:buClrTx/>
              <a:buSzTx/>
              <a:buFontTx/>
              <a:buAutoNum type="arabicPeriod" startAt="3"/>
            </a:pPr>
            <a:endParaRPr lang="en-US" dirty="0">
              <a:solidFill>
                <a:schemeClr val="tx1"/>
              </a:solidFill>
            </a:endParaRPr>
          </a:p>
          <a:p>
            <a:pPr marL="0" lvl="0" indent="0" defTabSz="914400" eaLnBrk="0" fontAlgn="base" hangingPunct="0">
              <a:spcBef>
                <a:spcPct val="0"/>
              </a:spcBef>
              <a:spcAft>
                <a:spcPct val="0"/>
              </a:spcAft>
              <a:buClrTx/>
              <a:buSzTx/>
              <a:buFontTx/>
              <a:buAutoNum type="arabicPeriod" startAt="4"/>
            </a:pPr>
            <a:r>
              <a:rPr lang="en-US" sz="2000" b="1" dirty="0">
                <a:solidFill>
                  <a:schemeClr val="tx1"/>
                </a:solidFill>
              </a:rPr>
              <a:t>Semantic Search and Reasoning</a:t>
            </a:r>
            <a:r>
              <a:rPr lang="en-US" sz="2000" dirty="0">
                <a:solidFill>
                  <a:schemeClr val="tx1"/>
                </a:solidFill>
              </a:rPr>
              <a:t>: </a:t>
            </a:r>
            <a:r>
              <a:rPr lang="en-US" sz="2000" dirty="0">
                <a:solidFill>
                  <a:srgbClr val="FF0000"/>
                </a:solidFill>
              </a:rPr>
              <a:t>They enable advanced reasoning and relationship identification</a:t>
            </a:r>
            <a:r>
              <a:rPr lang="en-US" sz="2000" dirty="0">
                <a:solidFill>
                  <a:schemeClr val="tx1"/>
                </a:solidFill>
              </a:rPr>
              <a:t>, deriving additional insights from structured knowledge.</a:t>
            </a:r>
          </a:p>
          <a:p>
            <a:pPr marL="0" lvl="0" indent="0" defTabSz="914400" eaLnBrk="0" fontAlgn="base" hangingPunct="0">
              <a:spcBef>
                <a:spcPct val="0"/>
              </a:spcBef>
              <a:spcAft>
                <a:spcPct val="0"/>
              </a:spcAft>
              <a:buClrTx/>
              <a:buSzTx/>
              <a:buNone/>
            </a:pPr>
            <a:endParaRPr lang="en-US" sz="2000" dirty="0">
              <a:solidFill>
                <a:schemeClr val="tx1"/>
              </a:solidFill>
            </a:endParaRPr>
          </a:p>
          <a:p>
            <a:pPr marL="0" lvl="0" indent="0" defTabSz="914400" eaLnBrk="0" fontAlgn="base" hangingPunct="0">
              <a:spcBef>
                <a:spcPct val="0"/>
              </a:spcBef>
              <a:spcAft>
                <a:spcPct val="0"/>
              </a:spcAft>
              <a:buClrTx/>
              <a:buSzTx/>
              <a:buFontTx/>
              <a:buAutoNum type="arabicPeriod" startAt="5"/>
            </a:pPr>
            <a:r>
              <a:rPr lang="en-US" sz="2000" b="1" dirty="0">
                <a:solidFill>
                  <a:schemeClr val="tx1"/>
                </a:solidFill>
              </a:rPr>
              <a:t>Extensibility and Reusability</a:t>
            </a:r>
            <a:r>
              <a:rPr lang="en-US" sz="2000" dirty="0">
                <a:solidFill>
                  <a:schemeClr val="tx1"/>
                </a:solidFill>
              </a:rPr>
              <a:t>: </a:t>
            </a:r>
            <a:r>
              <a:rPr lang="en-US" sz="2000" dirty="0">
                <a:solidFill>
                  <a:srgbClr val="FF0000"/>
                </a:solidFill>
              </a:rPr>
              <a:t>Ontologies can be shared and reused across different applications,</a:t>
            </a:r>
            <a:r>
              <a:rPr lang="en-US" sz="2000" dirty="0">
                <a:solidFill>
                  <a:schemeClr val="tx1"/>
                </a:solidFill>
              </a:rPr>
              <a:t> facilitating automated analysis and reducing the need for expert intervention.</a:t>
            </a:r>
          </a:p>
        </p:txBody>
      </p:sp>
    </p:spTree>
    <p:extLst>
      <p:ext uri="{BB962C8B-B14F-4D97-AF65-F5344CB8AC3E}">
        <p14:creationId xmlns:p14="http://schemas.microsoft.com/office/powerpoint/2010/main" val="20219939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36728" y="2603499"/>
            <a:ext cx="11600597" cy="3974721"/>
          </a:xfrm>
        </p:spPr>
        <p:txBody>
          <a:bodyPr>
            <a:normAutofit lnSpcReduction="10000"/>
          </a:bodyPr>
          <a:lstStyle/>
          <a:p>
            <a:r>
              <a:rPr lang="en-US" sz="2000" b="1" i="1" dirty="0"/>
              <a:t>What Are Ontologies Used For?</a:t>
            </a:r>
          </a:p>
          <a:p>
            <a:r>
              <a:rPr lang="en-US" dirty="0"/>
              <a:t>Ontology approaches are </a:t>
            </a:r>
            <a:r>
              <a:rPr lang="en-US" dirty="0">
                <a:solidFill>
                  <a:srgbClr val="FF0000"/>
                </a:solidFill>
              </a:rPr>
              <a:t>widely used in knowledge engineering and reasoning, enabling problem-solving across various domains</a:t>
            </a:r>
            <a:r>
              <a:rPr lang="en-US" dirty="0"/>
              <a:t>. </a:t>
            </a:r>
          </a:p>
          <a:p>
            <a:r>
              <a:rPr lang="en-US" dirty="0">
                <a:solidFill>
                  <a:srgbClr val="FF0000"/>
                </a:solidFill>
              </a:rPr>
              <a:t>Their capabilities in data modeling, description logics, and machine-readable information have led to increased adoption in diverse applications,</a:t>
            </a:r>
            <a:r>
              <a:rPr lang="en-US" dirty="0"/>
              <a:t> including context management, incident handling, system modeling, alert correlation, data mining, intrusion detection, and cyber attack classification.</a:t>
            </a:r>
          </a:p>
          <a:p>
            <a:r>
              <a:rPr lang="en-US" b="1" dirty="0"/>
              <a:t>Key objectives of ontologies include:</a:t>
            </a:r>
          </a:p>
          <a:p>
            <a:r>
              <a:rPr lang="en-US" dirty="0">
                <a:solidFill>
                  <a:srgbClr val="FF0000"/>
                </a:solidFill>
              </a:rPr>
              <a:t>Sharing a common understanding of concepts</a:t>
            </a:r>
            <a:r>
              <a:rPr lang="en-US" dirty="0"/>
              <a:t> within a community and with software agents</a:t>
            </a:r>
          </a:p>
          <a:p>
            <a:r>
              <a:rPr lang="en-US" dirty="0">
                <a:solidFill>
                  <a:srgbClr val="FF0000"/>
                </a:solidFill>
              </a:rPr>
              <a:t>Facilitating integration and interoperability</a:t>
            </a:r>
            <a:r>
              <a:rPr lang="en-US" dirty="0"/>
              <a:t> across heterogeneous knowledge sources</a:t>
            </a:r>
          </a:p>
          <a:p>
            <a:r>
              <a:rPr lang="en-US" dirty="0">
                <a:solidFill>
                  <a:srgbClr val="FF0000"/>
                </a:solidFill>
              </a:rPr>
              <a:t>Enabling reuse of domain knowledge</a:t>
            </a:r>
          </a:p>
          <a:p>
            <a:r>
              <a:rPr lang="en-US" dirty="0">
                <a:solidFill>
                  <a:srgbClr val="FF0000"/>
                </a:solidFill>
              </a:rPr>
              <a:t>Automating knowledge analysis within the domain</a:t>
            </a:r>
          </a:p>
          <a:p>
            <a:endParaRPr lang="en-US" i="1" dirty="0"/>
          </a:p>
          <a:p>
            <a:endParaRPr lang="en-US" dirty="0"/>
          </a:p>
        </p:txBody>
      </p:sp>
    </p:spTree>
    <p:extLst>
      <p:ext uri="{BB962C8B-B14F-4D97-AF65-F5344CB8AC3E}">
        <p14:creationId xmlns:p14="http://schemas.microsoft.com/office/powerpoint/2010/main" val="25983709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09434" y="2603499"/>
            <a:ext cx="11627892" cy="4111199"/>
          </a:xfrm>
        </p:spPr>
        <p:txBody>
          <a:bodyPr>
            <a:normAutofit lnSpcReduction="10000"/>
          </a:bodyPr>
          <a:lstStyle/>
          <a:p>
            <a:r>
              <a:rPr lang="en-US" sz="2000" b="1" i="1" dirty="0"/>
              <a:t>Ontology Design and Implementation</a:t>
            </a:r>
          </a:p>
          <a:p>
            <a:r>
              <a:rPr lang="en-US" dirty="0"/>
              <a:t>Building ontologies is more of an art than a strict engineering process, as different perspectives can lead to varying structures. </a:t>
            </a:r>
          </a:p>
          <a:p>
            <a:r>
              <a:rPr lang="en-US" dirty="0">
                <a:solidFill>
                  <a:srgbClr val="FF0000"/>
                </a:solidFill>
              </a:rPr>
              <a:t>The quality and applicability of an ontology depend on factors like the activities undertaken, domain expertise, and defined scope. </a:t>
            </a:r>
          </a:p>
          <a:p>
            <a:r>
              <a:rPr lang="en-US" dirty="0">
                <a:solidFill>
                  <a:srgbClr val="FF0000"/>
                </a:solidFill>
              </a:rPr>
              <a:t>Key design criteria for ontologies include clarity, coherence, extensibility, minimal encoding bias, and minimal ontological commitment.</a:t>
            </a:r>
          </a:p>
          <a:p>
            <a:r>
              <a:rPr lang="en-US" dirty="0">
                <a:solidFill>
                  <a:srgbClr val="FF0000"/>
                </a:solidFill>
              </a:rPr>
              <a:t>Various methodologies</a:t>
            </a:r>
            <a:r>
              <a:rPr lang="en-US" dirty="0"/>
              <a:t> guide ontology development throughout its lifecycle, such as </a:t>
            </a:r>
            <a:r>
              <a:rPr lang="en-US" dirty="0">
                <a:solidFill>
                  <a:srgbClr val="FF0000"/>
                </a:solidFill>
              </a:rPr>
              <a:t>TOVE, KBSI IDEF5, and </a:t>
            </a:r>
            <a:r>
              <a:rPr lang="en-US" dirty="0" err="1">
                <a:solidFill>
                  <a:srgbClr val="FF0000"/>
                </a:solidFill>
              </a:rPr>
              <a:t>Ontolingua</a:t>
            </a:r>
            <a:r>
              <a:rPr lang="en-US" dirty="0">
                <a:solidFill>
                  <a:srgbClr val="FF0000"/>
                </a:solidFill>
              </a:rPr>
              <a:t>. </a:t>
            </a:r>
          </a:p>
          <a:p>
            <a:r>
              <a:rPr lang="en-US" dirty="0"/>
              <a:t>Additionally, </a:t>
            </a:r>
            <a:r>
              <a:rPr lang="en-US" dirty="0">
                <a:solidFill>
                  <a:srgbClr val="FF0000"/>
                </a:solidFill>
              </a:rPr>
              <a:t>several formal languages for encoding ontology</a:t>
            </a:r>
            <a:r>
              <a:rPr lang="en-US" dirty="0"/>
              <a:t> models exist, including </a:t>
            </a:r>
            <a:r>
              <a:rPr lang="en-US" dirty="0">
                <a:solidFill>
                  <a:srgbClr val="FF0000"/>
                </a:solidFill>
              </a:rPr>
              <a:t>KIF, </a:t>
            </a:r>
            <a:r>
              <a:rPr lang="en-US" dirty="0" err="1">
                <a:solidFill>
                  <a:srgbClr val="FF0000"/>
                </a:solidFill>
              </a:rPr>
              <a:t>Flogic</a:t>
            </a:r>
            <a:r>
              <a:rPr lang="en-US" dirty="0">
                <a:solidFill>
                  <a:srgbClr val="FF0000"/>
                </a:solidFill>
              </a:rPr>
              <a:t>, XML, RDF, RDFS, DAML+OIL, and OWL. </a:t>
            </a:r>
          </a:p>
          <a:p>
            <a:r>
              <a:rPr lang="en-US" dirty="0"/>
              <a:t>Each methodology and language has its pros and cons, leaving the choice to the designer's preferences.</a:t>
            </a:r>
          </a:p>
          <a:p>
            <a:endParaRPr lang="en-US" i="1" dirty="0"/>
          </a:p>
          <a:p>
            <a:endParaRPr lang="en-US" dirty="0"/>
          </a:p>
        </p:txBody>
      </p:sp>
    </p:spTree>
    <p:extLst>
      <p:ext uri="{BB962C8B-B14F-4D97-AF65-F5344CB8AC3E}">
        <p14:creationId xmlns:p14="http://schemas.microsoft.com/office/powerpoint/2010/main" val="23878199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796120" y="2535260"/>
            <a:ext cx="11395880" cy="3974721"/>
          </a:xfrm>
        </p:spPr>
        <p:txBody>
          <a:bodyPr>
            <a:normAutofit/>
          </a:bodyPr>
          <a:lstStyle/>
          <a:p>
            <a:r>
              <a:rPr lang="en-US" sz="2400" b="1" i="1" dirty="0"/>
              <a:t>Ontological Approaches for </a:t>
            </a:r>
            <a:r>
              <a:rPr lang="en-US" sz="2400" b="1" i="1" dirty="0" err="1"/>
              <a:t>Cybersecurity</a:t>
            </a:r>
            <a:r>
              <a:rPr lang="en-US" sz="2400" b="1" i="1" dirty="0"/>
              <a:t> Information Sharing</a:t>
            </a:r>
          </a:p>
          <a:p>
            <a:pPr defTabSz="914400" eaLnBrk="0" fontAlgn="base" hangingPunct="0">
              <a:spcBef>
                <a:spcPct val="0"/>
              </a:spcBef>
              <a:spcAft>
                <a:spcPct val="0"/>
              </a:spcAft>
              <a:buClrTx/>
              <a:buSzTx/>
            </a:pPr>
            <a:r>
              <a:rPr lang="en-US" sz="2400" dirty="0">
                <a:solidFill>
                  <a:srgbClr val="FF0000"/>
                </a:solidFill>
                <a:latin typeface="+mj-lt"/>
              </a:rPr>
              <a:t>T</a:t>
            </a:r>
            <a:r>
              <a:rPr lang="en-US" sz="2000" dirty="0">
                <a:solidFill>
                  <a:srgbClr val="FF0000"/>
                </a:solidFill>
                <a:latin typeface="+mj-lt"/>
              </a:rPr>
              <a:t>he vast volume and complexity of available information in </a:t>
            </a:r>
            <a:r>
              <a:rPr lang="en-US" sz="2000" dirty="0" err="1">
                <a:solidFill>
                  <a:srgbClr val="FF0000"/>
                </a:solidFill>
                <a:latin typeface="+mj-lt"/>
              </a:rPr>
              <a:t>cybersecurity</a:t>
            </a:r>
            <a:r>
              <a:rPr lang="en-US" sz="2000" dirty="0">
                <a:solidFill>
                  <a:srgbClr val="FF0000"/>
                </a:solidFill>
                <a:latin typeface="+mj-lt"/>
              </a:rPr>
              <a:t> make data exchange challenging,</a:t>
            </a:r>
            <a:r>
              <a:rPr lang="en-US" sz="2000" dirty="0">
                <a:solidFill>
                  <a:schemeClr val="tx1"/>
                </a:solidFill>
                <a:latin typeface="+mj-lt"/>
              </a:rPr>
              <a:t> especially due to </a:t>
            </a:r>
            <a:r>
              <a:rPr lang="en-US" sz="2000" dirty="0">
                <a:solidFill>
                  <a:srgbClr val="FF0000"/>
                </a:solidFill>
                <a:latin typeface="+mj-lt"/>
              </a:rPr>
              <a:t>varying formats generated by different tools</a:t>
            </a:r>
            <a:r>
              <a:rPr lang="en-US" sz="2000" dirty="0">
                <a:solidFill>
                  <a:schemeClr val="tx1"/>
                </a:solidFill>
                <a:latin typeface="+mj-lt"/>
              </a:rPr>
              <a:t> and systems, leading to interoperability issues. </a:t>
            </a:r>
          </a:p>
          <a:p>
            <a:pPr defTabSz="914400" eaLnBrk="0" fontAlgn="base" hangingPunct="0">
              <a:spcBef>
                <a:spcPct val="0"/>
              </a:spcBef>
              <a:spcAft>
                <a:spcPct val="0"/>
              </a:spcAft>
              <a:buClrTx/>
              <a:buSzTx/>
            </a:pPr>
            <a:r>
              <a:rPr lang="en-US" sz="2000" dirty="0">
                <a:solidFill>
                  <a:schemeClr val="tx1"/>
                </a:solidFill>
                <a:latin typeface="+mj-lt"/>
              </a:rPr>
              <a:t>To address this, </a:t>
            </a:r>
            <a:r>
              <a:rPr lang="en-US" sz="2000" dirty="0">
                <a:solidFill>
                  <a:srgbClr val="FF0000"/>
                </a:solidFill>
                <a:latin typeface="+mj-lt"/>
              </a:rPr>
              <a:t>several standards have been proposed for threat intelligence modeling and information exchange, including EISAS, CVE, CPE, CCE, CAPEC, OVAL, IODEF, and CYBEX. </a:t>
            </a:r>
          </a:p>
          <a:p>
            <a:pPr defTabSz="914400" eaLnBrk="0" fontAlgn="base" hangingPunct="0">
              <a:spcBef>
                <a:spcPct val="0"/>
              </a:spcBef>
              <a:spcAft>
                <a:spcPct val="0"/>
              </a:spcAft>
              <a:buClrTx/>
              <a:buSzTx/>
            </a:pPr>
            <a:r>
              <a:rPr lang="en-US" sz="2000" dirty="0">
                <a:solidFill>
                  <a:schemeClr val="tx1"/>
                </a:solidFill>
                <a:latin typeface="+mj-lt"/>
              </a:rPr>
              <a:t>However, these differing standards often result in isolated information and hinder integration, particularly when connecting operational context with technical features.</a:t>
            </a:r>
          </a:p>
          <a:p>
            <a:pPr defTabSz="914400" eaLnBrk="0" fontAlgn="base" hangingPunct="0">
              <a:spcBef>
                <a:spcPct val="0"/>
              </a:spcBef>
              <a:spcAft>
                <a:spcPct val="0"/>
              </a:spcAft>
              <a:buClrTx/>
              <a:buSzTx/>
            </a:pPr>
            <a:r>
              <a:rPr lang="en-US" sz="2000" dirty="0">
                <a:solidFill>
                  <a:srgbClr val="FF0000"/>
                </a:solidFill>
                <a:latin typeface="+mj-lt"/>
              </a:rPr>
              <a:t>Current </a:t>
            </a:r>
            <a:r>
              <a:rPr lang="en-US" sz="2000" dirty="0" err="1">
                <a:solidFill>
                  <a:srgbClr val="FF0000"/>
                </a:solidFill>
                <a:latin typeface="+mj-lt"/>
              </a:rPr>
              <a:t>cybersecurity</a:t>
            </a:r>
            <a:r>
              <a:rPr lang="en-US" sz="2000" dirty="0">
                <a:solidFill>
                  <a:srgbClr val="FF0000"/>
                </a:solidFill>
                <a:latin typeface="+mj-lt"/>
              </a:rPr>
              <a:t> event management solutions struggle with large volumes of heterogeneous data and lack automated methods to handle dynamic information, </a:t>
            </a:r>
            <a:r>
              <a:rPr lang="en-US" sz="2000" dirty="0">
                <a:solidFill>
                  <a:schemeClr val="tx1"/>
                </a:solidFill>
                <a:latin typeface="+mj-lt"/>
              </a:rPr>
              <a:t>limiting their effectiveness against sophisticated attacks like </a:t>
            </a:r>
            <a:r>
              <a:rPr lang="en-US" sz="2000" dirty="0" err="1">
                <a:solidFill>
                  <a:schemeClr val="tx1"/>
                </a:solidFill>
                <a:latin typeface="+mj-lt"/>
              </a:rPr>
              <a:t>Stuxnet</a:t>
            </a:r>
            <a:r>
              <a:rPr lang="en-US" sz="2000" dirty="0">
                <a:solidFill>
                  <a:schemeClr val="tx1"/>
                </a:solidFill>
                <a:latin typeface="+mj-lt"/>
              </a:rPr>
              <a:t>. </a:t>
            </a:r>
          </a:p>
          <a:p>
            <a:pPr marL="0" lvl="0" indent="0" defTabSz="914400" eaLnBrk="0" fontAlgn="base" hangingPunct="0">
              <a:spcBef>
                <a:spcPct val="0"/>
              </a:spcBef>
              <a:spcAft>
                <a:spcPct val="0"/>
              </a:spcAft>
              <a:buClrTx/>
              <a:buSzTx/>
              <a:buNone/>
            </a:pPr>
            <a:endParaRPr lang="en-US" sz="2000" dirty="0">
              <a:solidFill>
                <a:schemeClr val="tx1"/>
              </a:solidFill>
              <a:latin typeface="+mj-lt"/>
            </a:endParaRPr>
          </a:p>
          <a:p>
            <a:endParaRPr lang="en-US" sz="2000" b="1" i="1" dirty="0"/>
          </a:p>
          <a:p>
            <a:endParaRPr lang="en-US" sz="2000" b="1" dirty="0"/>
          </a:p>
        </p:txBody>
      </p:sp>
    </p:spTree>
    <p:extLst>
      <p:ext uri="{BB962C8B-B14F-4D97-AF65-F5344CB8AC3E}">
        <p14:creationId xmlns:p14="http://schemas.microsoft.com/office/powerpoint/2010/main" val="3816838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2263" y="2603500"/>
            <a:ext cx="11368585" cy="3416300"/>
          </a:xfrm>
        </p:spPr>
        <p:txBody>
          <a:bodyPr>
            <a:noAutofit/>
          </a:bodyPr>
          <a:lstStyle/>
          <a:p>
            <a:r>
              <a:rPr lang="en-US" sz="2000" dirty="0">
                <a:solidFill>
                  <a:schemeClr val="tx1"/>
                </a:solidFill>
                <a:latin typeface="+mj-lt"/>
              </a:rPr>
              <a:t>Recent research highlights </a:t>
            </a:r>
            <a:r>
              <a:rPr lang="en-US" sz="2000" dirty="0">
                <a:solidFill>
                  <a:srgbClr val="FF0000"/>
                </a:solidFill>
                <a:latin typeface="+mj-lt"/>
              </a:rPr>
              <a:t>ontology-based approaches as a promising solution, allowing for flexible modeling of big data, integration of contextual information, and improved reasoning capabilities..</a:t>
            </a:r>
          </a:p>
        </p:txBody>
      </p:sp>
    </p:spTree>
    <p:extLst>
      <p:ext uri="{BB962C8B-B14F-4D97-AF65-F5344CB8AC3E}">
        <p14:creationId xmlns:p14="http://schemas.microsoft.com/office/powerpoint/2010/main" val="22652666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0502" y="2603499"/>
            <a:ext cx="11204812" cy="3865539"/>
          </a:xfrm>
        </p:spPr>
        <p:txBody>
          <a:bodyPr>
            <a:normAutofit fontScale="92500" lnSpcReduction="20000"/>
          </a:bodyPr>
          <a:lstStyle/>
          <a:p>
            <a:r>
              <a:rPr lang="en-US" sz="2600" b="1" i="1" dirty="0">
                <a:latin typeface="+mj-lt"/>
              </a:rPr>
              <a:t>Limitations and Research Challenges</a:t>
            </a:r>
          </a:p>
          <a:p>
            <a:endParaRPr lang="en-US" sz="2100" i="1" dirty="0">
              <a:latin typeface="+mj-lt"/>
            </a:endParaRPr>
          </a:p>
          <a:p>
            <a:pPr marL="0" lvl="0" indent="0" defTabSz="914400" eaLnBrk="0" fontAlgn="base" hangingPunct="0">
              <a:spcBef>
                <a:spcPct val="0"/>
              </a:spcBef>
              <a:spcAft>
                <a:spcPct val="0"/>
              </a:spcAft>
              <a:buClrTx/>
              <a:buSzTx/>
              <a:buNone/>
            </a:pPr>
            <a:r>
              <a:rPr lang="en-US" sz="2200" dirty="0">
                <a:solidFill>
                  <a:schemeClr val="tx1"/>
                </a:solidFill>
                <a:latin typeface="+mj-lt"/>
              </a:rPr>
              <a:t>Despite the potential of ontology approaches in </a:t>
            </a:r>
            <a:r>
              <a:rPr lang="en-US" sz="2200" dirty="0" err="1">
                <a:solidFill>
                  <a:schemeClr val="tx1"/>
                </a:solidFill>
                <a:latin typeface="+mj-lt"/>
              </a:rPr>
              <a:t>cybersecurity</a:t>
            </a:r>
            <a:r>
              <a:rPr lang="en-US" sz="2200" dirty="0">
                <a:solidFill>
                  <a:schemeClr val="tx1"/>
                </a:solidFill>
                <a:latin typeface="+mj-lt"/>
              </a:rPr>
              <a:t>, several research challenges limit their practical implementation:</a:t>
            </a:r>
          </a:p>
          <a:p>
            <a:pPr marL="0" lvl="0" indent="0" defTabSz="914400" eaLnBrk="0" fontAlgn="base" hangingPunct="0">
              <a:spcBef>
                <a:spcPct val="0"/>
              </a:spcBef>
              <a:spcAft>
                <a:spcPct val="0"/>
              </a:spcAft>
              <a:buClrTx/>
              <a:buSzTx/>
              <a:buNone/>
            </a:pPr>
            <a:endParaRPr lang="en-US" sz="2200" dirty="0">
              <a:solidFill>
                <a:schemeClr val="tx1"/>
              </a:solidFill>
              <a:latin typeface="+mj-lt"/>
            </a:endParaRPr>
          </a:p>
          <a:p>
            <a:pPr marL="0" lvl="0" indent="0" defTabSz="914400" eaLnBrk="0" fontAlgn="base" hangingPunct="0">
              <a:spcBef>
                <a:spcPct val="0"/>
              </a:spcBef>
              <a:spcAft>
                <a:spcPct val="0"/>
              </a:spcAft>
              <a:buClrTx/>
              <a:buSzTx/>
              <a:buFontTx/>
              <a:buAutoNum type="arabicPeriod"/>
            </a:pPr>
            <a:r>
              <a:rPr lang="en-US" sz="2200" b="1" dirty="0">
                <a:solidFill>
                  <a:schemeClr val="tx1"/>
                </a:solidFill>
                <a:latin typeface="+mj-lt"/>
              </a:rPr>
              <a:t>Agreed Vocabulary</a:t>
            </a:r>
            <a:r>
              <a:rPr lang="en-US" sz="2200" dirty="0">
                <a:solidFill>
                  <a:schemeClr val="tx1"/>
                </a:solidFill>
                <a:latin typeface="+mj-lt"/>
              </a:rPr>
              <a:t>: </a:t>
            </a:r>
            <a:r>
              <a:rPr lang="en-US" sz="2200" dirty="0">
                <a:solidFill>
                  <a:srgbClr val="FF0000"/>
                </a:solidFill>
                <a:latin typeface="+mj-lt"/>
              </a:rPr>
              <a:t>Difficulty in establishing a common vocabulary</a:t>
            </a:r>
            <a:r>
              <a:rPr lang="en-US" sz="2200" dirty="0">
                <a:solidFill>
                  <a:schemeClr val="tx1"/>
                </a:solidFill>
                <a:latin typeface="+mj-lt"/>
              </a:rPr>
              <a:t> for domain terms.</a:t>
            </a:r>
          </a:p>
          <a:p>
            <a:pPr marL="0" lvl="0" indent="0" defTabSz="914400" eaLnBrk="0" fontAlgn="base" hangingPunct="0">
              <a:spcBef>
                <a:spcPct val="0"/>
              </a:spcBef>
              <a:spcAft>
                <a:spcPct val="0"/>
              </a:spcAft>
              <a:buClrTx/>
              <a:buSzTx/>
              <a:buNone/>
            </a:pPr>
            <a:endParaRPr lang="en-US" sz="2200" dirty="0">
              <a:solidFill>
                <a:schemeClr val="tx1"/>
              </a:solidFill>
              <a:latin typeface="+mj-lt"/>
            </a:endParaRPr>
          </a:p>
          <a:p>
            <a:pPr marL="0" lvl="0" indent="0" defTabSz="914400" eaLnBrk="0" fontAlgn="base" hangingPunct="0">
              <a:spcBef>
                <a:spcPct val="0"/>
              </a:spcBef>
              <a:spcAft>
                <a:spcPct val="0"/>
              </a:spcAft>
              <a:buClrTx/>
              <a:buSzTx/>
              <a:buFontTx/>
              <a:buAutoNum type="arabicPeriod" startAt="2"/>
            </a:pPr>
            <a:r>
              <a:rPr lang="en-US" sz="2200" b="1" dirty="0">
                <a:solidFill>
                  <a:schemeClr val="tx1"/>
                </a:solidFill>
                <a:latin typeface="+mj-lt"/>
              </a:rPr>
              <a:t>Privacy Issues</a:t>
            </a:r>
            <a:r>
              <a:rPr lang="en-US" sz="2200" dirty="0">
                <a:solidFill>
                  <a:schemeClr val="tx1"/>
                </a:solidFill>
                <a:latin typeface="+mj-lt"/>
              </a:rPr>
              <a:t>: Concerns over </a:t>
            </a:r>
            <a:r>
              <a:rPr lang="en-US" sz="2200" dirty="0">
                <a:solidFill>
                  <a:srgbClr val="FF0000"/>
                </a:solidFill>
                <a:latin typeface="+mj-lt"/>
              </a:rPr>
              <a:t>sharing sensitive security incident information.</a:t>
            </a:r>
          </a:p>
          <a:p>
            <a:pPr marL="0" lvl="0" indent="0" defTabSz="914400" eaLnBrk="0" fontAlgn="base" hangingPunct="0">
              <a:spcBef>
                <a:spcPct val="0"/>
              </a:spcBef>
              <a:spcAft>
                <a:spcPct val="0"/>
              </a:spcAft>
              <a:buClrTx/>
              <a:buSzTx/>
              <a:buNone/>
            </a:pPr>
            <a:endParaRPr lang="en-US" sz="2200" dirty="0">
              <a:solidFill>
                <a:schemeClr val="tx1"/>
              </a:solidFill>
              <a:latin typeface="+mj-lt"/>
            </a:endParaRPr>
          </a:p>
          <a:p>
            <a:pPr marL="0" lvl="0" indent="0" defTabSz="914400" eaLnBrk="0" fontAlgn="base" hangingPunct="0">
              <a:spcBef>
                <a:spcPct val="0"/>
              </a:spcBef>
              <a:spcAft>
                <a:spcPct val="0"/>
              </a:spcAft>
              <a:buClrTx/>
              <a:buSzTx/>
              <a:buFontTx/>
              <a:buAutoNum type="arabicPeriod" startAt="3"/>
            </a:pPr>
            <a:r>
              <a:rPr lang="en-US" sz="2200" b="1" dirty="0">
                <a:solidFill>
                  <a:schemeClr val="tx1"/>
                </a:solidFill>
                <a:latin typeface="+mj-lt"/>
              </a:rPr>
              <a:t>Expert Availability</a:t>
            </a:r>
            <a:r>
              <a:rPr lang="en-US" sz="2200" dirty="0">
                <a:solidFill>
                  <a:schemeClr val="tx1"/>
                </a:solidFill>
                <a:latin typeface="+mj-lt"/>
              </a:rPr>
              <a:t>: </a:t>
            </a:r>
            <a:r>
              <a:rPr lang="en-US" sz="2200" dirty="0">
                <a:solidFill>
                  <a:srgbClr val="FF0000"/>
                </a:solidFill>
                <a:latin typeface="+mj-lt"/>
              </a:rPr>
              <a:t>Ensuring domain experts are available</a:t>
            </a:r>
            <a:r>
              <a:rPr lang="en-US" sz="2200" dirty="0">
                <a:solidFill>
                  <a:schemeClr val="tx1"/>
                </a:solidFill>
                <a:latin typeface="+mj-lt"/>
              </a:rPr>
              <a:t> during model development.</a:t>
            </a:r>
          </a:p>
          <a:p>
            <a:pPr marL="0" lvl="0" indent="0" defTabSz="914400" eaLnBrk="0" fontAlgn="base" hangingPunct="0">
              <a:spcBef>
                <a:spcPct val="0"/>
              </a:spcBef>
              <a:spcAft>
                <a:spcPct val="0"/>
              </a:spcAft>
              <a:buClrTx/>
              <a:buSzTx/>
              <a:buNone/>
            </a:pPr>
            <a:endParaRPr lang="en-US" sz="2200" dirty="0">
              <a:solidFill>
                <a:schemeClr val="tx1"/>
              </a:solidFill>
              <a:latin typeface="+mj-lt"/>
            </a:endParaRPr>
          </a:p>
          <a:p>
            <a:pPr marL="0" lvl="0" indent="0" defTabSz="914400" eaLnBrk="0" fontAlgn="base" hangingPunct="0">
              <a:spcBef>
                <a:spcPct val="0"/>
              </a:spcBef>
              <a:spcAft>
                <a:spcPct val="0"/>
              </a:spcAft>
              <a:buClrTx/>
              <a:buSzTx/>
              <a:buFontTx/>
              <a:buAutoNum type="arabicPeriod" startAt="4"/>
            </a:pPr>
            <a:r>
              <a:rPr lang="en-US" sz="2200" b="1" dirty="0">
                <a:solidFill>
                  <a:schemeClr val="tx1"/>
                </a:solidFill>
                <a:latin typeface="+mj-lt"/>
              </a:rPr>
              <a:t>High Computational Requirements</a:t>
            </a:r>
            <a:r>
              <a:rPr lang="en-US" sz="2200" dirty="0">
                <a:solidFill>
                  <a:schemeClr val="tx1"/>
                </a:solidFill>
                <a:latin typeface="+mj-lt"/>
              </a:rPr>
              <a:t>: </a:t>
            </a:r>
            <a:r>
              <a:rPr lang="en-US" sz="2200" dirty="0">
                <a:solidFill>
                  <a:srgbClr val="FF0000"/>
                </a:solidFill>
                <a:latin typeface="+mj-lt"/>
              </a:rPr>
              <a:t>Significant resources needed</a:t>
            </a:r>
            <a:r>
              <a:rPr lang="en-US" sz="2200" dirty="0">
                <a:solidFill>
                  <a:schemeClr val="tx1"/>
                </a:solidFill>
                <a:latin typeface="+mj-lt"/>
              </a:rPr>
              <a:t> for ontology implementation.</a:t>
            </a:r>
          </a:p>
          <a:p>
            <a:pPr marL="0" lvl="0" indent="0" defTabSz="914400" eaLnBrk="0" fontAlgn="base" hangingPunct="0">
              <a:spcBef>
                <a:spcPct val="0"/>
              </a:spcBef>
              <a:spcAft>
                <a:spcPct val="0"/>
              </a:spcAft>
              <a:buClrTx/>
              <a:buSzTx/>
              <a:buNone/>
            </a:pPr>
            <a:br>
              <a:rPr lang="en-US" sz="1900" dirty="0">
                <a:solidFill>
                  <a:schemeClr val="tx1"/>
                </a:solidFill>
                <a:latin typeface="Arial" panose="020B0604020202020204" pitchFamily="34" charset="0"/>
              </a:rPr>
            </a:br>
            <a:endParaRPr lang="en-US" sz="1900" dirty="0">
              <a:solidFill>
                <a:schemeClr val="tx1"/>
              </a:solidFill>
              <a:latin typeface="Arial" panose="020B0604020202020204" pitchFamily="34" charset="0"/>
            </a:endParaRPr>
          </a:p>
          <a:p>
            <a:endParaRPr lang="en-US" i="1" dirty="0"/>
          </a:p>
          <a:p>
            <a:endParaRPr lang="en-US" dirty="0"/>
          </a:p>
        </p:txBody>
      </p:sp>
    </p:spTree>
    <p:extLst>
      <p:ext uri="{BB962C8B-B14F-4D97-AF65-F5344CB8AC3E}">
        <p14:creationId xmlns:p14="http://schemas.microsoft.com/office/powerpoint/2010/main" val="28332108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64276" y="2603500"/>
            <a:ext cx="11177516" cy="3416300"/>
          </a:xfrm>
        </p:spPr>
        <p:txBody>
          <a:bodyPr>
            <a:normAutofit/>
          </a:bodyPr>
          <a:lstStyle/>
          <a:p>
            <a:pPr defTabSz="914400" eaLnBrk="0" fontAlgn="base" hangingPunct="0">
              <a:spcBef>
                <a:spcPct val="0"/>
              </a:spcBef>
              <a:spcAft>
                <a:spcPct val="0"/>
              </a:spcAft>
              <a:buClrTx/>
              <a:buSzTx/>
            </a:pPr>
            <a:r>
              <a:rPr lang="en-US" sz="2000" dirty="0">
                <a:solidFill>
                  <a:schemeClr val="tx1"/>
                </a:solidFill>
              </a:rPr>
              <a:t>Proposed solutions include:</a:t>
            </a:r>
          </a:p>
          <a:p>
            <a:pPr marL="0" lvl="0" indent="0" defTabSz="914400" eaLnBrk="0" fontAlgn="base" hangingPunct="0">
              <a:spcBef>
                <a:spcPct val="0"/>
              </a:spcBef>
              <a:spcAft>
                <a:spcPct val="0"/>
              </a:spcAft>
              <a:buClrTx/>
              <a:buSzTx/>
              <a:buFontTx/>
              <a:buChar char="•"/>
            </a:pPr>
            <a:r>
              <a:rPr lang="en-US" sz="2000" b="1" dirty="0">
                <a:solidFill>
                  <a:schemeClr val="tx1"/>
                </a:solidFill>
              </a:rPr>
              <a:t>Upper Level Ontology</a:t>
            </a:r>
            <a:r>
              <a:rPr lang="en-US" sz="2000" dirty="0">
                <a:solidFill>
                  <a:schemeClr val="tx1"/>
                </a:solidFill>
              </a:rPr>
              <a:t>: Build a foundational ontology to standardize definitions </a:t>
            </a:r>
          </a:p>
          <a:p>
            <a:pPr marL="0" lvl="0" indent="0" defTabSz="914400" eaLnBrk="0" fontAlgn="base" hangingPunct="0">
              <a:spcBef>
                <a:spcPct val="0"/>
              </a:spcBef>
              <a:spcAft>
                <a:spcPct val="0"/>
              </a:spcAft>
              <a:buClrTx/>
              <a:buSzTx/>
              <a:buFontTx/>
              <a:buChar char="•"/>
            </a:pPr>
            <a:r>
              <a:rPr lang="en-US" sz="2000" b="1" dirty="0">
                <a:solidFill>
                  <a:schemeClr val="tx1"/>
                </a:solidFill>
              </a:rPr>
              <a:t>Expert Collaboration</a:t>
            </a:r>
            <a:r>
              <a:rPr lang="en-US" sz="2000" dirty="0">
                <a:solidFill>
                  <a:schemeClr val="tx1"/>
                </a:solidFill>
              </a:rPr>
              <a:t>: Encourage unified efforts from domain experts to enhance knowledge and completeness.</a:t>
            </a:r>
          </a:p>
          <a:p>
            <a:pPr marL="0" lvl="0" indent="0" defTabSz="914400" eaLnBrk="0" fontAlgn="base" hangingPunct="0">
              <a:spcBef>
                <a:spcPct val="0"/>
              </a:spcBef>
              <a:spcAft>
                <a:spcPct val="0"/>
              </a:spcAft>
              <a:buClrTx/>
              <a:buSzTx/>
              <a:buFontTx/>
              <a:buChar char="•"/>
            </a:pPr>
            <a:r>
              <a:rPr lang="en-US" sz="2000" b="1" dirty="0">
                <a:solidFill>
                  <a:schemeClr val="tx1"/>
                </a:solidFill>
              </a:rPr>
              <a:t>Privacy Management</a:t>
            </a:r>
            <a:r>
              <a:rPr lang="en-US" sz="2000" dirty="0">
                <a:solidFill>
                  <a:schemeClr val="tx1"/>
                </a:solidFill>
              </a:rPr>
              <a:t>: Establish a trusted authority to govern information handling and protection.</a:t>
            </a:r>
          </a:p>
          <a:p>
            <a:pPr marL="0" lvl="0" indent="0" defTabSz="914400" eaLnBrk="0" fontAlgn="base" hangingPunct="0">
              <a:spcBef>
                <a:spcPct val="0"/>
              </a:spcBef>
              <a:spcAft>
                <a:spcPct val="0"/>
              </a:spcAft>
              <a:buClrTx/>
              <a:buSzTx/>
              <a:buFontTx/>
              <a:buChar char="•"/>
            </a:pPr>
            <a:r>
              <a:rPr lang="en-US" sz="2000" b="1" dirty="0">
                <a:solidFill>
                  <a:schemeClr val="tx1"/>
                </a:solidFill>
              </a:rPr>
              <a:t>Distributed Architecture</a:t>
            </a:r>
            <a:r>
              <a:rPr lang="en-US" sz="2000" dirty="0">
                <a:solidFill>
                  <a:schemeClr val="tx1"/>
                </a:solidFill>
              </a:rPr>
              <a:t>: Use distributed systems and scalable storage (e.g., </a:t>
            </a:r>
            <a:r>
              <a:rPr lang="en-US" sz="2000" dirty="0" err="1">
                <a:solidFill>
                  <a:schemeClr val="tx1"/>
                </a:solidFill>
              </a:rPr>
              <a:t>Hadoop</a:t>
            </a:r>
            <a:r>
              <a:rPr lang="en-US" sz="2000" dirty="0">
                <a:solidFill>
                  <a:schemeClr val="tx1"/>
                </a:solidFill>
              </a:rPr>
              <a:t>, Map-Reduce) to address computational demands.</a:t>
            </a:r>
          </a:p>
          <a:p>
            <a:endParaRPr lang="en-US" dirty="0"/>
          </a:p>
        </p:txBody>
      </p:sp>
    </p:spTree>
    <p:extLst>
      <p:ext uri="{BB962C8B-B14F-4D97-AF65-F5344CB8AC3E}">
        <p14:creationId xmlns:p14="http://schemas.microsoft.com/office/powerpoint/2010/main" val="30459204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2892</TotalTime>
  <Words>7766</Words>
  <Application>Microsoft Office PowerPoint</Application>
  <PresentationFormat>Widescreen</PresentationFormat>
  <Paragraphs>449</Paragraphs>
  <Slides>89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Century Gothic</vt:lpstr>
      <vt:lpstr>Comic Sans MS</vt:lpstr>
      <vt:lpstr>Wingdings 3</vt:lpstr>
      <vt:lpstr>Ion Boardroom</vt:lpstr>
      <vt:lpstr>Chapter 3 </vt:lpstr>
      <vt:lpstr>Introduction</vt:lpstr>
      <vt:lpstr>PowerPoint Presentation</vt:lpstr>
      <vt:lpstr>An Overview of Concepts in Cyber Threat Intelligence</vt:lpstr>
      <vt:lpstr>Artifacts in Cyber Threat Intelligence</vt:lpstr>
      <vt:lpstr>PowerPoint Presentation</vt:lpstr>
      <vt:lpstr>EXAMPLE OF MALWARE INDICATORS</vt:lpstr>
      <vt:lpstr>PowerPoint Presentation</vt:lpstr>
      <vt:lpstr>PowerPoint Presentation</vt:lpstr>
      <vt:lpstr>PowerPoint Presentation</vt:lpstr>
      <vt:lpstr>PowerPoint Presentation</vt:lpstr>
      <vt:lpstr>PowerPoint Presentation</vt:lpstr>
      <vt:lpstr>PowerPoint Presentation</vt:lpstr>
      <vt:lpstr>Example : OPERATION BLOCKBUSTER: THREAT INTELLIGENCE REPORT</vt:lpstr>
      <vt:lpstr>Asset Management</vt:lpstr>
      <vt:lpstr>IT asset life cycle</vt:lpstr>
      <vt:lpstr>PowerPoint Presentation</vt:lpstr>
      <vt:lpstr>EXAMPLE: STUXNET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Raw Monitoring Data: Origin, Structure, and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SONY HACK</vt:lpstr>
      <vt:lpstr>PowerPoint Presentation</vt:lpstr>
      <vt:lpstr>PowerPoint Presentation</vt:lpstr>
      <vt:lpstr>PowerPoint Presentation</vt:lpstr>
      <vt:lpstr>EXAMPLE: POWER OUTAGE IN UKRAINE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Evaluation and Analysis of Monitoring Data to Derive Cyber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c:title>
  <dc:creator>Rushikesh</dc:creator>
  <cp:lastModifiedBy>LL_PC</cp:lastModifiedBy>
  <cp:revision>625</cp:revision>
  <dcterms:created xsi:type="dcterms:W3CDTF">2024-08-10T11:26:39Z</dcterms:created>
  <dcterms:modified xsi:type="dcterms:W3CDTF">2025-08-28T03:08:56Z</dcterms:modified>
</cp:coreProperties>
</file>