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7"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 name="Google Shape;394;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8" name="Google Shape;418;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4" name="Google Shape;454;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0" name="Google Shape;460;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957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6640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6257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5986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615157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70653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9658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423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102387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41625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22690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818995"/>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3"/>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6000"/>
              <a:buFont typeface="Algerian"/>
              <a:buNone/>
            </a:pPr>
            <a:r>
              <a:rPr lang="en-US" sz="6000">
                <a:latin typeface="Algerian"/>
                <a:ea typeface="Algerian"/>
                <a:cs typeface="Algerian"/>
                <a:sym typeface="Algerian"/>
              </a:rPr>
              <a:t>Domains of IT Security</a:t>
            </a:r>
            <a:br>
              <a:rPr lang="en-US" sz="6000">
                <a:latin typeface="Algerian"/>
                <a:ea typeface="Algerian"/>
                <a:cs typeface="Algerian"/>
                <a:sym typeface="Algerian"/>
              </a:rPr>
            </a:br>
            <a:endParaRPr sz="6000">
              <a:latin typeface="Algerian"/>
              <a:ea typeface="Algerian"/>
              <a:cs typeface="Algerian"/>
              <a:sym typeface="Algerian"/>
            </a:endParaRPr>
          </a:p>
        </p:txBody>
      </p:sp>
      <p:sp>
        <p:nvSpPr>
          <p:cNvPr id="109" name="Google Shape;109;p13"/>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64008" lvl="0" indent="0" algn="l" rtl="0">
              <a:spcBef>
                <a:spcPts val="0"/>
              </a:spcBef>
              <a:spcAft>
                <a:spcPts val="0"/>
              </a:spcAft>
              <a:buSzPts val="4000"/>
              <a:buNone/>
            </a:pPr>
            <a:r>
              <a:rPr lang="en-US" sz="4000"/>
              <a:t>Unit 3</a:t>
            </a:r>
            <a:endParaRPr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457200" y="857232"/>
            <a:ext cx="7467600" cy="98759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Algerian"/>
              <a:buNone/>
            </a:pPr>
            <a:r>
              <a:rPr lang="en-US" sz="3600">
                <a:latin typeface="Algerian"/>
                <a:ea typeface="Algerian"/>
                <a:cs typeface="Algerian"/>
                <a:sym typeface="Algerian"/>
              </a:rPr>
              <a:t>Cyber</a:t>
            </a:r>
            <a:br>
              <a:rPr lang="en-US" sz="3600">
                <a:latin typeface="Algerian"/>
                <a:ea typeface="Algerian"/>
                <a:cs typeface="Algerian"/>
                <a:sym typeface="Algerian"/>
              </a:rPr>
            </a:br>
            <a:r>
              <a:rPr lang="en-US" sz="3600">
                <a:latin typeface="Algerian"/>
                <a:ea typeface="Algerian"/>
                <a:cs typeface="Algerian"/>
                <a:sym typeface="Algerian"/>
              </a:rPr>
              <a:t>security Domains</a:t>
            </a:r>
            <a:br>
              <a:rPr lang="en-US" sz="3600">
                <a:latin typeface="Algerian"/>
                <a:ea typeface="Algerian"/>
                <a:cs typeface="Algerian"/>
                <a:sym typeface="Algerian"/>
              </a:rPr>
            </a:br>
            <a:endParaRPr sz="3600">
              <a:latin typeface="Algerian"/>
              <a:ea typeface="Algerian"/>
              <a:cs typeface="Algerian"/>
              <a:sym typeface="Algerian"/>
            </a:endParaRPr>
          </a:p>
        </p:txBody>
      </p:sp>
      <p:sp>
        <p:nvSpPr>
          <p:cNvPr id="115" name="Google Shape;115;p14"/>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Cyber security is the collective process of protecting computer systems, networks, and programs from cyber attacks. With the recent hike in demand for cyber security professionals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Cyber security domains refer to the various forms where cyber security methodologies can be implemented.</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Application security, physical security, risk assessment, and threat intelligence are some of the most common domains in cyber security.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457200" y="-1035496"/>
            <a:ext cx="7467600" cy="302433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000"/>
              <a:buFont typeface="Algerian"/>
              <a:buNone/>
            </a:pPr>
            <a:r>
              <a:rPr lang="en-US" sz="4000">
                <a:latin typeface="Algerian"/>
                <a:ea typeface="Algerian"/>
                <a:cs typeface="Algerian"/>
                <a:sym typeface="Algerian"/>
              </a:rPr>
              <a:t>.</a:t>
            </a:r>
            <a:endParaRPr sz="4000">
              <a:latin typeface="Algerian"/>
              <a:ea typeface="Algerian"/>
              <a:cs typeface="Algerian"/>
              <a:sym typeface="Algerian"/>
            </a:endParaRPr>
          </a:p>
        </p:txBody>
      </p:sp>
      <p:sp>
        <p:nvSpPr>
          <p:cNvPr id="121" name="Google Shape;121;p15"/>
          <p:cNvSpPr txBox="1">
            <a:spLocks noGrp="1"/>
          </p:cNvSpPr>
          <p:nvPr>
            <p:ph idx="1"/>
          </p:nvPr>
        </p:nvSpPr>
        <p:spPr>
          <a:xfrm>
            <a:off x="457200" y="1000108"/>
            <a:ext cx="8229600" cy="5574428"/>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An organization considers the various cyber security domains while building a cyber security policy. </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The following is a comprehensive cyber security domains list:</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Career development</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Computer operations security</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Cyber forensics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ERM</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Identity management</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User / Accepted Usage / Access</a:t>
            </a:r>
            <a:endParaRPr>
              <a:latin typeface="Algerian"/>
              <a:ea typeface="Algerian"/>
              <a:cs typeface="Algerian"/>
              <a:sym typeface="Algerian"/>
            </a:endParaRPr>
          </a:p>
        </p:txBody>
      </p:sp>
      <p:sp>
        <p:nvSpPr>
          <p:cNvPr id="127" name="Google Shape;127;p1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User access management ensures that only authorized individuals can use organizational IT resources.</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 Accepted usage policies govern how users are expected to behave when accessing systems to protect assets and data from misuse.</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User Identification &amp; Authentication:</a:t>
            </a:r>
            <a:r>
              <a:rPr lang="en-US" sz="2400">
                <a:latin typeface="Times New Roman"/>
                <a:ea typeface="Times New Roman"/>
                <a:cs typeface="Times New Roman"/>
                <a:sym typeface="Times New Roman"/>
              </a:rPr>
              <a:t> Mechanisms like usernames, passwords, multi-factor authentication (MFA), biometrics, or smart cards to verify identity.</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Authorization &amp; Role-Based Access Control (RBAC):</a:t>
            </a:r>
            <a:r>
              <a:rPr lang="en-US" sz="2400">
                <a:latin typeface="Times New Roman"/>
                <a:ea typeface="Times New Roman"/>
                <a:cs typeface="Times New Roman"/>
                <a:sym typeface="Times New Roman"/>
              </a:rPr>
              <a:t> Granting users access only to resources necessary for their job, minimizing risk.</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User / Accepted Usage / Access</a:t>
            </a:r>
            <a:endParaRPr/>
          </a:p>
        </p:txBody>
      </p:sp>
      <p:sp>
        <p:nvSpPr>
          <p:cNvPr id="133" name="Google Shape;133;p1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1" algn="l" rtl="0">
              <a:spcBef>
                <a:spcPts val="0"/>
              </a:spcBef>
              <a:spcAft>
                <a:spcPts val="0"/>
              </a:spcAft>
              <a:buSzPct val="100000"/>
              <a:buChar char="•"/>
            </a:pPr>
            <a:r>
              <a:rPr lang="en-US" b="1">
                <a:latin typeface="Times New Roman"/>
                <a:ea typeface="Times New Roman"/>
                <a:cs typeface="Times New Roman"/>
                <a:sym typeface="Times New Roman"/>
              </a:rPr>
              <a:t>Account Management:</a:t>
            </a:r>
            <a:r>
              <a:rPr lang="en-US">
                <a:latin typeface="Times New Roman"/>
                <a:ea typeface="Times New Roman"/>
                <a:cs typeface="Times New Roman"/>
                <a:sym typeface="Times New Roman"/>
              </a:rPr>
              <a:t> Processes for creating, modifying, disabling, and deleting user accounts promptly, including periodic access reviews.</a:t>
            </a:r>
            <a:endParaRPr/>
          </a:p>
          <a:p>
            <a:pPr marL="365760" lvl="0" indent="-256031" algn="l" rtl="0">
              <a:spcBef>
                <a:spcPts val="300"/>
              </a:spcBef>
              <a:spcAft>
                <a:spcPts val="0"/>
              </a:spcAft>
              <a:buSzPct val="100000"/>
              <a:buChar char="•"/>
            </a:pPr>
            <a:r>
              <a:rPr lang="en-US" b="1">
                <a:latin typeface="Times New Roman"/>
                <a:ea typeface="Times New Roman"/>
                <a:cs typeface="Times New Roman"/>
                <a:sym typeface="Times New Roman"/>
              </a:rPr>
              <a:t>Accepted Usage Policies:</a:t>
            </a:r>
            <a:r>
              <a:rPr lang="en-US">
                <a:latin typeface="Times New Roman"/>
                <a:ea typeface="Times New Roman"/>
                <a:cs typeface="Times New Roman"/>
                <a:sym typeface="Times New Roman"/>
              </a:rPr>
              <a:t> Clear rules outlining appropriate use of IT systems, consequences for violations, and guidance on safe practices (e.g., no sharing passwords, no unauthorized software installation).</a:t>
            </a:r>
            <a:endParaRPr/>
          </a:p>
          <a:p>
            <a:pPr marL="365760" lvl="0" indent="-256031" algn="l" rtl="0">
              <a:spcBef>
                <a:spcPts val="300"/>
              </a:spcBef>
              <a:spcAft>
                <a:spcPts val="0"/>
              </a:spcAft>
              <a:buSzPct val="100000"/>
              <a:buChar char="•"/>
            </a:pPr>
            <a:r>
              <a:rPr lang="en-US" b="1">
                <a:latin typeface="Times New Roman"/>
                <a:ea typeface="Times New Roman"/>
                <a:cs typeface="Times New Roman"/>
                <a:sym typeface="Times New Roman"/>
              </a:rPr>
              <a:t>Session Management:</a:t>
            </a:r>
            <a:r>
              <a:rPr lang="en-US">
                <a:latin typeface="Times New Roman"/>
                <a:ea typeface="Times New Roman"/>
                <a:cs typeface="Times New Roman"/>
                <a:sym typeface="Times New Roman"/>
              </a:rPr>
              <a:t> Controls to limit session duration, auto-logout after inactivity, and monitoring of concurrent sessions.</a:t>
            </a:r>
            <a:endParaRPr/>
          </a:p>
          <a:p>
            <a:pPr marL="365760" lvl="0" indent="-256031" algn="l" rtl="0">
              <a:spcBef>
                <a:spcPts val="300"/>
              </a:spcBef>
              <a:spcAft>
                <a:spcPts val="0"/>
              </a:spcAft>
              <a:buSzPct val="100000"/>
              <a:buChar char="•"/>
            </a:pPr>
            <a:r>
              <a:rPr lang="en-US" b="1">
                <a:latin typeface="Times New Roman"/>
                <a:ea typeface="Times New Roman"/>
                <a:cs typeface="Times New Roman"/>
                <a:sym typeface="Times New Roman"/>
              </a:rPr>
              <a:t>Logging and Monitoring:</a:t>
            </a:r>
            <a:r>
              <a:rPr lang="en-US">
                <a:latin typeface="Times New Roman"/>
                <a:ea typeface="Times New Roman"/>
                <a:cs typeface="Times New Roman"/>
                <a:sym typeface="Times New Roman"/>
              </a:rPr>
              <a:t> Record user activities to detect suspicious behavior or policy violations.</a:t>
            </a:r>
            <a:endParaRPr/>
          </a:p>
          <a:p>
            <a:pPr marL="365760" lvl="0" indent="-104901"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Data Access</a:t>
            </a:r>
            <a:br>
              <a:rPr lang="en-US">
                <a:latin typeface="Algerian"/>
                <a:ea typeface="Algerian"/>
                <a:cs typeface="Algerian"/>
                <a:sym typeface="Algerian"/>
              </a:rPr>
            </a:br>
            <a:endParaRPr>
              <a:latin typeface="Algerian"/>
              <a:ea typeface="Algerian"/>
              <a:cs typeface="Algerian"/>
              <a:sym typeface="Algerian"/>
            </a:endParaRPr>
          </a:p>
        </p:txBody>
      </p:sp>
      <p:sp>
        <p:nvSpPr>
          <p:cNvPr id="139" name="Google Shape;139;p1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None/>
            </a:pPr>
            <a:r>
              <a:rPr lang="en-US" sz="2400">
                <a:latin typeface="Times New Roman"/>
                <a:ea typeface="Times New Roman"/>
                <a:cs typeface="Times New Roman"/>
                <a:sym typeface="Times New Roman"/>
              </a:rPr>
              <a:t>Data access controls protect sensitive and critical information from unauthorized disclosure, modification, or destruction</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Access Control Models:</a:t>
            </a:r>
            <a:r>
              <a:rPr lang="en-US" sz="2400">
                <a:latin typeface="Times New Roman"/>
                <a:ea typeface="Times New Roman"/>
                <a:cs typeface="Times New Roman"/>
                <a:sym typeface="Times New Roman"/>
              </a:rPr>
              <a:t> Such as discretionary access control (DAC), mandatory access control (MAC), and role-based access control (RBAC).</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Data Classification:</a:t>
            </a:r>
            <a:r>
              <a:rPr lang="en-US" sz="2400">
                <a:latin typeface="Times New Roman"/>
                <a:ea typeface="Times New Roman"/>
                <a:cs typeface="Times New Roman"/>
                <a:sym typeface="Times New Roman"/>
              </a:rPr>
              <a:t> Categorizing data (e.g., public, confidential, secret) to apply appropriate protection measures.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Encryption:</a:t>
            </a:r>
            <a:r>
              <a:rPr lang="en-US" sz="2400">
                <a:latin typeface="Times New Roman"/>
                <a:ea typeface="Times New Roman"/>
                <a:cs typeface="Times New Roman"/>
                <a:sym typeface="Times New Roman"/>
              </a:rPr>
              <a:t> Protects data at rest and in transit, ensuring confidentiality even if accessed by unauthorized parties.</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Data Access</a:t>
            </a:r>
            <a:br>
              <a:rPr lang="en-US">
                <a:latin typeface="Algerian"/>
                <a:ea typeface="Algerian"/>
                <a:cs typeface="Algerian"/>
                <a:sym typeface="Algerian"/>
              </a:rPr>
            </a:br>
            <a:endParaRPr/>
          </a:p>
        </p:txBody>
      </p:sp>
      <p:sp>
        <p:nvSpPr>
          <p:cNvPr id="145" name="Google Shape;145;p1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b="1">
                <a:latin typeface="Times New Roman"/>
                <a:ea typeface="Times New Roman"/>
                <a:cs typeface="Times New Roman"/>
                <a:sym typeface="Times New Roman"/>
              </a:rPr>
              <a:t>Access Logging &amp; Auditing:</a:t>
            </a:r>
            <a:r>
              <a:rPr lang="en-US" sz="2400">
                <a:latin typeface="Times New Roman"/>
                <a:ea typeface="Times New Roman"/>
                <a:cs typeface="Times New Roman"/>
                <a:sym typeface="Times New Roman"/>
              </a:rPr>
              <a:t> Track who accessed data, when, and what actions were taken to detect breaches or misuse.</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Least Privilege Principle:</a:t>
            </a:r>
            <a:r>
              <a:rPr lang="en-US" sz="2400">
                <a:latin typeface="Times New Roman"/>
                <a:ea typeface="Times New Roman"/>
                <a:cs typeface="Times New Roman"/>
                <a:sym typeface="Times New Roman"/>
              </a:rPr>
              <a:t> Users receive the minimum data access necessary for their tasks.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Data Masking and Tokenization:</a:t>
            </a:r>
            <a:r>
              <a:rPr lang="en-US" sz="2400">
                <a:latin typeface="Times New Roman"/>
                <a:ea typeface="Times New Roman"/>
                <a:cs typeface="Times New Roman"/>
                <a:sym typeface="Times New Roman"/>
              </a:rPr>
              <a:t> Techniques to hide sensitive data elements in non-production environments or for unauthorized users.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Data Loss Prevention (DLP):</a:t>
            </a:r>
            <a:r>
              <a:rPr lang="en-US" sz="2400">
                <a:latin typeface="Times New Roman"/>
                <a:ea typeface="Times New Roman"/>
                <a:cs typeface="Times New Roman"/>
                <a:sym typeface="Times New Roman"/>
              </a:rPr>
              <a:t> Tools and policies to monitor and block unauthorized data transfers.</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Physical Access</a:t>
            </a:r>
            <a:br>
              <a:rPr lang="en-US">
                <a:latin typeface="Algerian"/>
                <a:ea typeface="Algerian"/>
                <a:cs typeface="Algerian"/>
                <a:sym typeface="Algerian"/>
              </a:rPr>
            </a:br>
            <a:endParaRPr>
              <a:latin typeface="Algerian"/>
              <a:ea typeface="Algerian"/>
              <a:cs typeface="Algerian"/>
              <a:sym typeface="Algerian"/>
            </a:endParaRPr>
          </a:p>
        </p:txBody>
      </p:sp>
      <p:sp>
        <p:nvSpPr>
          <p:cNvPr id="151" name="Google Shape;151;p2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None/>
            </a:pPr>
            <a:r>
              <a:rPr lang="en-US" sz="2400">
                <a:latin typeface="Times New Roman"/>
                <a:ea typeface="Times New Roman"/>
                <a:cs typeface="Times New Roman"/>
                <a:sym typeface="Times New Roman"/>
              </a:rPr>
              <a:t>Physical security protects facilities, infrastructure, and hardware against unauthorized access, damage, or theft.</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Access Control Systems:</a:t>
            </a:r>
            <a:r>
              <a:rPr lang="en-US" sz="2400">
                <a:latin typeface="Times New Roman"/>
                <a:ea typeface="Times New Roman"/>
                <a:cs typeface="Times New Roman"/>
                <a:sym typeface="Times New Roman"/>
              </a:rPr>
              <a:t> Use badges, PIN codes, biometrics (fingerprints, retina scans), and mantraps to restrict entry.</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Security Guards &amp; Surveillance:</a:t>
            </a:r>
            <a:r>
              <a:rPr lang="en-US" sz="2400">
                <a:latin typeface="Times New Roman"/>
                <a:ea typeface="Times New Roman"/>
                <a:cs typeface="Times New Roman"/>
                <a:sym typeface="Times New Roman"/>
              </a:rPr>
              <a:t> Personnel and CCTV to monitor and respond to suspicious activity.</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Environmental Controls:</a:t>
            </a:r>
            <a:r>
              <a:rPr lang="en-US" sz="2400">
                <a:latin typeface="Times New Roman"/>
                <a:ea typeface="Times New Roman"/>
                <a:cs typeface="Times New Roman"/>
                <a:sym typeface="Times New Roman"/>
              </a:rPr>
              <a:t> Fire suppression systems, HVAC controls, water leakage detection.</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Visitor Management:</a:t>
            </a:r>
            <a:r>
              <a:rPr lang="en-US" sz="2400">
                <a:latin typeface="Times New Roman"/>
                <a:ea typeface="Times New Roman"/>
                <a:cs typeface="Times New Roman"/>
                <a:sym typeface="Times New Roman"/>
              </a:rPr>
              <a:t> Registration, escorts, and access limitations for non-employees.</a:t>
            </a:r>
            <a:endParaRPr sz="24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Physical Access</a:t>
            </a:r>
            <a:br>
              <a:rPr lang="en-US">
                <a:latin typeface="Algerian"/>
                <a:ea typeface="Algerian"/>
                <a:cs typeface="Algerian"/>
                <a:sym typeface="Algerian"/>
              </a:rPr>
            </a:br>
            <a:endParaRPr/>
          </a:p>
        </p:txBody>
      </p:sp>
      <p:sp>
        <p:nvSpPr>
          <p:cNvPr id="157" name="Google Shape;157;p2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b="1">
                <a:latin typeface="Times New Roman"/>
                <a:ea typeface="Times New Roman"/>
                <a:cs typeface="Times New Roman"/>
                <a:sym typeface="Times New Roman"/>
              </a:rPr>
              <a:t>Secured Areas:</a:t>
            </a:r>
            <a:r>
              <a:rPr lang="en-US" sz="2400">
                <a:latin typeface="Times New Roman"/>
                <a:ea typeface="Times New Roman"/>
                <a:cs typeface="Times New Roman"/>
                <a:sym typeface="Times New Roman"/>
              </a:rPr>
              <a:t> Data centers, server rooms, and storage areas physically isolated with additional protections.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Asset Tracking:</a:t>
            </a:r>
            <a:r>
              <a:rPr lang="en-US" sz="2400">
                <a:latin typeface="Times New Roman"/>
                <a:ea typeface="Times New Roman"/>
                <a:cs typeface="Times New Roman"/>
                <a:sym typeface="Times New Roman"/>
              </a:rPr>
              <a:t> Inventory management for hardware to detect missing or misplaced equipment.</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Alarm Systems:</a:t>
            </a:r>
            <a:r>
              <a:rPr lang="en-US" sz="2400">
                <a:latin typeface="Times New Roman"/>
                <a:ea typeface="Times New Roman"/>
                <a:cs typeface="Times New Roman"/>
                <a:sym typeface="Times New Roman"/>
              </a:rPr>
              <a:t> Intrusion detection with alerts to security teams.</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Internet Access</a:t>
            </a:r>
            <a:br>
              <a:rPr lang="en-US">
                <a:latin typeface="Algerian"/>
                <a:ea typeface="Algerian"/>
                <a:cs typeface="Algerian"/>
                <a:sym typeface="Algerian"/>
              </a:rPr>
            </a:br>
            <a:endParaRPr>
              <a:latin typeface="Algerian"/>
              <a:ea typeface="Algerian"/>
              <a:cs typeface="Algerian"/>
              <a:sym typeface="Algerian"/>
            </a:endParaRPr>
          </a:p>
        </p:txBody>
      </p:sp>
      <p:sp>
        <p:nvSpPr>
          <p:cNvPr id="163" name="Google Shape;163;p22"/>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Controls over internet access protect organizational networks from external threats and ensure appropriate usage.</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Firewalls:</a:t>
            </a:r>
            <a:r>
              <a:rPr lang="en-US" sz="2400">
                <a:latin typeface="Times New Roman"/>
                <a:ea typeface="Times New Roman"/>
                <a:cs typeface="Times New Roman"/>
                <a:sym typeface="Times New Roman"/>
              </a:rPr>
              <a:t> Filter inbound and outbound traffic based on rules to block malicious or unauthorized communications.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Proxy Servers:</a:t>
            </a:r>
            <a:r>
              <a:rPr lang="en-US" sz="2400">
                <a:latin typeface="Times New Roman"/>
                <a:ea typeface="Times New Roman"/>
                <a:cs typeface="Times New Roman"/>
                <a:sym typeface="Times New Roman"/>
              </a:rPr>
              <a:t> Intercept and monitor web traffic to enforce browsing policies and cache content.</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Content Filtering:</a:t>
            </a:r>
            <a:r>
              <a:rPr lang="en-US" sz="2400">
                <a:latin typeface="Times New Roman"/>
                <a:ea typeface="Times New Roman"/>
                <a:cs typeface="Times New Roman"/>
                <a:sym typeface="Times New Roman"/>
              </a:rPr>
              <a:t> Block access to inappropriate or risky websites (e.g., malware, gambling).</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Intrusion Detection/Prevention Systems (IDS/IPS):</a:t>
            </a:r>
            <a:r>
              <a:rPr lang="en-US" sz="2400">
                <a:latin typeface="Times New Roman"/>
                <a:ea typeface="Times New Roman"/>
                <a:cs typeface="Times New Roman"/>
                <a:sym typeface="Times New Roman"/>
              </a:rPr>
              <a:t> Detect and prevent attacks from the internet.</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Internet Access</a:t>
            </a:r>
            <a:br>
              <a:rPr lang="en-US">
                <a:latin typeface="Algerian"/>
                <a:ea typeface="Algerian"/>
                <a:cs typeface="Algerian"/>
                <a:sym typeface="Algerian"/>
              </a:rPr>
            </a:br>
            <a:endParaRPr/>
          </a:p>
        </p:txBody>
      </p:sp>
      <p:sp>
        <p:nvSpPr>
          <p:cNvPr id="169" name="Google Shape;169;p2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b="1">
                <a:latin typeface="Times New Roman"/>
                <a:ea typeface="Times New Roman"/>
                <a:cs typeface="Times New Roman"/>
                <a:sym typeface="Times New Roman"/>
              </a:rPr>
              <a:t>VPNs (Virtual Private Networks):</a:t>
            </a:r>
            <a:r>
              <a:rPr lang="en-US" sz="2400">
                <a:latin typeface="Times New Roman"/>
                <a:ea typeface="Times New Roman"/>
                <a:cs typeface="Times New Roman"/>
                <a:sym typeface="Times New Roman"/>
              </a:rPr>
              <a:t> Secure remote internet access for employees.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Bandwidth Management:</a:t>
            </a:r>
            <a:r>
              <a:rPr lang="en-US" sz="2400">
                <a:latin typeface="Times New Roman"/>
                <a:ea typeface="Times New Roman"/>
                <a:cs typeface="Times New Roman"/>
                <a:sym typeface="Times New Roman"/>
              </a:rPr>
              <a:t> Prioritize critical business applications and limit non-essential traffic.</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Monitoring &amp; Logging:</a:t>
            </a:r>
            <a:r>
              <a:rPr lang="en-US" sz="2400">
                <a:latin typeface="Times New Roman"/>
                <a:ea typeface="Times New Roman"/>
                <a:cs typeface="Times New Roman"/>
                <a:sym typeface="Times New Roman"/>
              </a:rPr>
              <a:t> Track user activity and internet usage for compliance and security analysis.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Security Awareness:</a:t>
            </a:r>
            <a:r>
              <a:rPr lang="en-US" sz="2400">
                <a:latin typeface="Times New Roman"/>
                <a:ea typeface="Times New Roman"/>
                <a:cs typeface="Times New Roman"/>
                <a:sym typeface="Times New Roman"/>
              </a:rPr>
              <a:t> Educate users on safe internet practices (e.g., avoiding suspicious downloads, phishing sites).</a:t>
            </a:r>
            <a:endParaRPr/>
          </a:p>
          <a:p>
            <a:pPr marL="365760" lvl="0" indent="-103632" algn="l" rtl="0">
              <a:spcBef>
                <a:spcPts val="300"/>
              </a:spcBef>
              <a:spcAft>
                <a:spcPts val="0"/>
              </a:spcAft>
              <a:buSzPts val="2400"/>
              <a:buNone/>
            </a:pP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E-mail</a:t>
            </a:r>
            <a:br>
              <a:rPr lang="en-US">
                <a:latin typeface="Algerian"/>
                <a:ea typeface="Algerian"/>
                <a:cs typeface="Algerian"/>
                <a:sym typeface="Algerian"/>
              </a:rPr>
            </a:br>
            <a:endParaRPr>
              <a:latin typeface="Algerian"/>
              <a:ea typeface="Algerian"/>
              <a:cs typeface="Algerian"/>
              <a:sym typeface="Algerian"/>
            </a:endParaRPr>
          </a:p>
        </p:txBody>
      </p:sp>
      <p:sp>
        <p:nvSpPr>
          <p:cNvPr id="175" name="Google Shape;175;p24"/>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None/>
            </a:pPr>
            <a:r>
              <a:rPr lang="en-US" sz="2400">
                <a:latin typeface="Times New Roman"/>
                <a:ea typeface="Times New Roman"/>
                <a:cs typeface="Times New Roman"/>
                <a:sym typeface="Times New Roman"/>
              </a:rPr>
              <a:t>Email remains a major attack vector; securing email communication is vital for protecting information and preventing threats.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Spam Filtering:</a:t>
            </a:r>
            <a:r>
              <a:rPr lang="en-US" sz="2400">
                <a:latin typeface="Times New Roman"/>
                <a:ea typeface="Times New Roman"/>
                <a:cs typeface="Times New Roman"/>
                <a:sym typeface="Times New Roman"/>
              </a:rPr>
              <a:t> Block unsolicited and potentially harmful emails.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Phishing Detection:</a:t>
            </a:r>
            <a:r>
              <a:rPr lang="en-US" sz="2400">
                <a:latin typeface="Times New Roman"/>
                <a:ea typeface="Times New Roman"/>
                <a:cs typeface="Times New Roman"/>
                <a:sym typeface="Times New Roman"/>
              </a:rPr>
              <a:t> Identify and quarantine phishing attempts to prevent credential theft.</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Email Encryption:</a:t>
            </a:r>
            <a:r>
              <a:rPr lang="en-US" sz="2400">
                <a:latin typeface="Times New Roman"/>
                <a:ea typeface="Times New Roman"/>
                <a:cs typeface="Times New Roman"/>
                <a:sym typeface="Times New Roman"/>
              </a:rPr>
              <a:t> Protect message confidentiality and integrity during transmission (e.g., S/MIME, TLS).</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E-mail</a:t>
            </a:r>
            <a:br>
              <a:rPr lang="en-US">
                <a:latin typeface="Algerian"/>
                <a:ea typeface="Algerian"/>
                <a:cs typeface="Algerian"/>
                <a:sym typeface="Algerian"/>
              </a:rPr>
            </a:br>
            <a:endParaRPr/>
          </a:p>
        </p:txBody>
      </p:sp>
      <p:sp>
        <p:nvSpPr>
          <p:cNvPr id="181" name="Google Shape;181;p2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Char char="•"/>
            </a:pPr>
            <a:r>
              <a:rPr lang="en-US" b="1">
                <a:latin typeface="Times New Roman"/>
                <a:ea typeface="Times New Roman"/>
                <a:cs typeface="Times New Roman"/>
                <a:sym typeface="Times New Roman"/>
              </a:rPr>
              <a:t>Anti-Malware Scanning:</a:t>
            </a:r>
            <a:r>
              <a:rPr lang="en-US">
                <a:latin typeface="Times New Roman"/>
                <a:ea typeface="Times New Roman"/>
                <a:cs typeface="Times New Roman"/>
                <a:sym typeface="Times New Roman"/>
              </a:rPr>
              <a:t> Scan attachments and links for viruses or ransomware.</a:t>
            </a:r>
            <a:endParaRPr/>
          </a:p>
          <a:p>
            <a:pPr marL="365760" lvl="0" indent="-256032" algn="l" rtl="0">
              <a:spcBef>
                <a:spcPts val="300"/>
              </a:spcBef>
              <a:spcAft>
                <a:spcPts val="0"/>
              </a:spcAft>
              <a:buSzPct val="100000"/>
              <a:buChar char="•"/>
            </a:pPr>
            <a:r>
              <a:rPr lang="en-US" b="1">
                <a:latin typeface="Times New Roman"/>
                <a:ea typeface="Times New Roman"/>
                <a:cs typeface="Times New Roman"/>
                <a:sym typeface="Times New Roman"/>
              </a:rPr>
              <a:t>Email Authentication Protocols:</a:t>
            </a:r>
            <a:r>
              <a:rPr lang="en-US">
                <a:latin typeface="Times New Roman"/>
                <a:ea typeface="Times New Roman"/>
                <a:cs typeface="Times New Roman"/>
                <a:sym typeface="Times New Roman"/>
              </a:rPr>
              <a:t> Implement SPF, DKIM, and DMARC to reduce email spoofing.</a:t>
            </a:r>
            <a:endParaRPr/>
          </a:p>
          <a:p>
            <a:pPr marL="365760" lvl="0" indent="-256032" algn="l" rtl="0">
              <a:spcBef>
                <a:spcPts val="300"/>
              </a:spcBef>
              <a:spcAft>
                <a:spcPts val="0"/>
              </a:spcAft>
              <a:buSzPct val="100000"/>
              <a:buChar char="•"/>
            </a:pPr>
            <a:r>
              <a:rPr lang="en-US" b="1">
                <a:latin typeface="Times New Roman"/>
                <a:ea typeface="Times New Roman"/>
                <a:cs typeface="Times New Roman"/>
                <a:sym typeface="Times New Roman"/>
              </a:rPr>
              <a:t>Data Loss Prevention (DLP):</a:t>
            </a:r>
            <a:r>
              <a:rPr lang="en-US">
                <a:latin typeface="Times New Roman"/>
                <a:ea typeface="Times New Roman"/>
                <a:cs typeface="Times New Roman"/>
                <a:sym typeface="Times New Roman"/>
              </a:rPr>
              <a:t> Prevent sensitive information from being sent outside the organization.</a:t>
            </a:r>
            <a:endParaRPr/>
          </a:p>
          <a:p>
            <a:pPr marL="365760" lvl="0" indent="-256032" algn="l" rtl="0">
              <a:spcBef>
                <a:spcPts val="300"/>
              </a:spcBef>
              <a:spcAft>
                <a:spcPts val="0"/>
              </a:spcAft>
              <a:buSzPct val="100000"/>
              <a:buChar char="•"/>
            </a:pPr>
            <a:r>
              <a:rPr lang="en-US" b="1">
                <a:latin typeface="Times New Roman"/>
                <a:ea typeface="Times New Roman"/>
                <a:cs typeface="Times New Roman"/>
                <a:sym typeface="Times New Roman"/>
              </a:rPr>
              <a:t>User Training:</a:t>
            </a:r>
            <a:r>
              <a:rPr lang="en-US">
                <a:latin typeface="Times New Roman"/>
                <a:ea typeface="Times New Roman"/>
                <a:cs typeface="Times New Roman"/>
                <a:sym typeface="Times New Roman"/>
              </a:rPr>
              <a:t> Educate employees to recognize phishing, suspicious attachments, and social engineering tactics.</a:t>
            </a:r>
            <a:endParaRPr/>
          </a:p>
          <a:p>
            <a:pPr marL="365760" lvl="0" indent="-256032" algn="l" rtl="0">
              <a:spcBef>
                <a:spcPts val="300"/>
              </a:spcBef>
              <a:spcAft>
                <a:spcPts val="0"/>
              </a:spcAft>
              <a:buSzPct val="100000"/>
              <a:buChar char="•"/>
            </a:pPr>
            <a:r>
              <a:rPr lang="en-US" b="1">
                <a:latin typeface="Times New Roman"/>
                <a:ea typeface="Times New Roman"/>
                <a:cs typeface="Times New Roman"/>
                <a:sym typeface="Times New Roman"/>
              </a:rPr>
              <a:t>Retention Policies:</a:t>
            </a:r>
            <a:r>
              <a:rPr lang="en-US">
                <a:latin typeface="Times New Roman"/>
                <a:ea typeface="Times New Roman"/>
                <a:cs typeface="Times New Roman"/>
                <a:sym typeface="Times New Roman"/>
              </a:rPr>
              <a:t> Define how long emails are stored to comply with legal and regulatory requirements.</a:t>
            </a:r>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Digital Signature</a:t>
            </a:r>
            <a:br>
              <a:rPr lang="en-US">
                <a:latin typeface="Algerian"/>
                <a:ea typeface="Algerian"/>
                <a:cs typeface="Algerian"/>
                <a:sym typeface="Algerian"/>
              </a:rPr>
            </a:br>
            <a:endParaRPr>
              <a:latin typeface="Algerian"/>
              <a:ea typeface="Algerian"/>
              <a:cs typeface="Algerian"/>
              <a:sym typeface="Algerian"/>
            </a:endParaRPr>
          </a:p>
        </p:txBody>
      </p:sp>
      <p:sp>
        <p:nvSpPr>
          <p:cNvPr id="187" name="Google Shape;187;p26"/>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None/>
            </a:pPr>
            <a:r>
              <a:rPr lang="en-US" sz="2400">
                <a:latin typeface="Times New Roman"/>
                <a:ea typeface="Times New Roman"/>
                <a:cs typeface="Times New Roman"/>
                <a:sym typeface="Times New Roman"/>
              </a:rPr>
              <a:t>Digital signatures provide a secure way to authenticate the identity of the sender and ensure that a document or message has not been altered.</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Public Key Infrastructure (PKI):</a:t>
            </a:r>
            <a:r>
              <a:rPr lang="en-US" sz="2400">
                <a:latin typeface="Times New Roman"/>
                <a:ea typeface="Times New Roman"/>
                <a:cs typeface="Times New Roman"/>
                <a:sym typeface="Times New Roman"/>
              </a:rPr>
              <a:t> Uses asymmetric cryptography where a private key signs, and a public key verifies.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Non-repudiation:</a:t>
            </a:r>
            <a:r>
              <a:rPr lang="en-US" sz="2400">
                <a:latin typeface="Times New Roman"/>
                <a:ea typeface="Times New Roman"/>
                <a:cs typeface="Times New Roman"/>
                <a:sym typeface="Times New Roman"/>
              </a:rPr>
              <a:t> The signer cannot deny having signed the document.</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Integrity:</a:t>
            </a:r>
            <a:r>
              <a:rPr lang="en-US" sz="2400">
                <a:latin typeface="Times New Roman"/>
                <a:ea typeface="Times New Roman"/>
                <a:cs typeface="Times New Roman"/>
                <a:sym typeface="Times New Roman"/>
              </a:rPr>
              <a:t> Any change after signing invalidates the signature.</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Authentication:</a:t>
            </a:r>
            <a:r>
              <a:rPr lang="en-US" sz="2400">
                <a:latin typeface="Times New Roman"/>
                <a:ea typeface="Times New Roman"/>
                <a:cs typeface="Times New Roman"/>
                <a:sym typeface="Times New Roman"/>
              </a:rPr>
              <a:t> Confirms the signer’s identity.</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Digital Signature</a:t>
            </a:r>
            <a:br>
              <a:rPr lang="en-US">
                <a:latin typeface="Algerian"/>
                <a:ea typeface="Algerian"/>
                <a:cs typeface="Algerian"/>
                <a:sym typeface="Algerian"/>
              </a:rPr>
            </a:br>
            <a:endParaRPr/>
          </a:p>
        </p:txBody>
      </p:sp>
      <p:sp>
        <p:nvSpPr>
          <p:cNvPr id="193" name="Google Shape;193;p2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b="1">
                <a:latin typeface="Times New Roman"/>
                <a:ea typeface="Times New Roman"/>
                <a:cs typeface="Times New Roman"/>
                <a:sym typeface="Times New Roman"/>
              </a:rPr>
              <a:t>Legal Validity:</a:t>
            </a:r>
            <a:r>
              <a:rPr lang="en-US" sz="2400">
                <a:latin typeface="Times New Roman"/>
                <a:ea typeface="Times New Roman"/>
                <a:cs typeface="Times New Roman"/>
                <a:sym typeface="Times New Roman"/>
              </a:rPr>
              <a:t> Digital signatures are often legally recognized equivalent to handwritten signatures in many jurisdictions.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Common Uses:</a:t>
            </a:r>
            <a:r>
              <a:rPr lang="en-US" sz="2400">
                <a:latin typeface="Times New Roman"/>
                <a:ea typeface="Times New Roman"/>
                <a:cs typeface="Times New Roman"/>
                <a:sym typeface="Times New Roman"/>
              </a:rPr>
              <a:t> Contracts, approvals, financial transactions, software distribution.</a:t>
            </a:r>
            <a:endParaRPr/>
          </a:p>
          <a:p>
            <a:pPr marL="365760" lvl="0" indent="-103632" algn="l" rtl="0">
              <a:spcBef>
                <a:spcPts val="300"/>
              </a:spcBef>
              <a:spcAft>
                <a:spcPts val="0"/>
              </a:spcAft>
              <a:buSzPts val="2400"/>
              <a:buNone/>
            </a:pP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Outsourcing</a:t>
            </a:r>
            <a:br>
              <a:rPr lang="en-US">
                <a:latin typeface="Algerian"/>
                <a:ea typeface="Algerian"/>
                <a:cs typeface="Algerian"/>
                <a:sym typeface="Algerian"/>
              </a:rPr>
            </a:br>
            <a:endParaRPr>
              <a:latin typeface="Algerian"/>
              <a:ea typeface="Algerian"/>
              <a:cs typeface="Algerian"/>
              <a:sym typeface="Algerian"/>
            </a:endParaRPr>
          </a:p>
        </p:txBody>
      </p:sp>
      <p:sp>
        <p:nvSpPr>
          <p:cNvPr id="199" name="Google Shape;199;p28"/>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None/>
            </a:pPr>
            <a:r>
              <a:rPr lang="en-US" sz="2400">
                <a:latin typeface="Times New Roman"/>
                <a:ea typeface="Times New Roman"/>
                <a:cs typeface="Times New Roman"/>
                <a:sym typeface="Times New Roman"/>
              </a:rPr>
              <a:t>Outsourcing involves delegating IT services or business processes to third parties, which introduces additional risks.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Vendor Due Diligence:</a:t>
            </a:r>
            <a:r>
              <a:rPr lang="en-US" sz="2400">
                <a:latin typeface="Times New Roman"/>
                <a:ea typeface="Times New Roman"/>
                <a:cs typeface="Times New Roman"/>
                <a:sym typeface="Times New Roman"/>
              </a:rPr>
              <a:t> Evaluate third-party security posture, financial stability, and reputation before contracting.</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Contracts &amp; SLAs:</a:t>
            </a:r>
            <a:r>
              <a:rPr lang="en-US" sz="2400">
                <a:latin typeface="Times New Roman"/>
                <a:ea typeface="Times New Roman"/>
                <a:cs typeface="Times New Roman"/>
                <a:sym typeface="Times New Roman"/>
              </a:rPr>
              <a:t> Clearly define security responsibilities, data protection, incident response, audit rights, and compliance requirements.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Data Protection:</a:t>
            </a:r>
            <a:r>
              <a:rPr lang="en-US" sz="2400">
                <a:latin typeface="Times New Roman"/>
                <a:ea typeface="Times New Roman"/>
                <a:cs typeface="Times New Roman"/>
                <a:sym typeface="Times New Roman"/>
              </a:rPr>
              <a:t> Ensure third parties comply with data privacy laws and organizational policies.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Monitoring &amp; Auditing:</a:t>
            </a:r>
            <a:r>
              <a:rPr lang="en-US" sz="2400">
                <a:latin typeface="Times New Roman"/>
                <a:ea typeface="Times New Roman"/>
                <a:cs typeface="Times New Roman"/>
                <a:sym typeface="Times New Roman"/>
              </a:rPr>
              <a:t> Regular reviews and audits of vendor performance and security controls.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Outsourcing</a:t>
            </a:r>
            <a:br>
              <a:rPr lang="en-US">
                <a:latin typeface="Algerian"/>
                <a:ea typeface="Algerian"/>
                <a:cs typeface="Algerian"/>
                <a:sym typeface="Algerian"/>
              </a:rPr>
            </a:br>
            <a:endParaRPr/>
          </a:p>
        </p:txBody>
      </p:sp>
      <p:sp>
        <p:nvSpPr>
          <p:cNvPr id="205" name="Google Shape;205;p2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b="1">
                <a:latin typeface="Times New Roman"/>
                <a:ea typeface="Times New Roman"/>
                <a:cs typeface="Times New Roman"/>
                <a:sym typeface="Times New Roman"/>
              </a:rPr>
              <a:t>Incident Management:</a:t>
            </a:r>
            <a:r>
              <a:rPr lang="en-US" sz="2400">
                <a:latin typeface="Times New Roman"/>
                <a:ea typeface="Times New Roman"/>
                <a:cs typeface="Times New Roman"/>
                <a:sym typeface="Times New Roman"/>
              </a:rPr>
              <a:t> Define processes for breach notification and mitigation.</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Business Continuity:</a:t>
            </a:r>
            <a:r>
              <a:rPr lang="en-US" sz="2400">
                <a:latin typeface="Times New Roman"/>
                <a:ea typeface="Times New Roman"/>
                <a:cs typeface="Times New Roman"/>
                <a:sym typeface="Times New Roman"/>
              </a:rPr>
              <a:t> Assess vendor’s disaster recovery and continuity plans.</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Access Controls:</a:t>
            </a:r>
            <a:r>
              <a:rPr lang="en-US" sz="2400">
                <a:latin typeface="Times New Roman"/>
                <a:ea typeface="Times New Roman"/>
                <a:cs typeface="Times New Roman"/>
                <a:sym typeface="Times New Roman"/>
              </a:rPr>
              <a:t> Limit and monitor third-party access to systems and data.</a:t>
            </a:r>
            <a:endParaRPr/>
          </a:p>
          <a:p>
            <a:pPr marL="365760" lvl="0" indent="-256032" algn="l" rtl="0">
              <a:spcBef>
                <a:spcPts val="300"/>
              </a:spcBef>
              <a:spcAft>
                <a:spcPts val="0"/>
              </a:spcAft>
              <a:buSzPts val="2400"/>
              <a:buChar char="•"/>
            </a:pPr>
            <a:r>
              <a:rPr lang="en-US" sz="2400" b="1">
                <a:latin typeface="Times New Roman"/>
                <a:ea typeface="Times New Roman"/>
                <a:cs typeface="Times New Roman"/>
                <a:sym typeface="Times New Roman"/>
              </a:rPr>
              <a:t>Exit Strategy:</a:t>
            </a:r>
            <a:r>
              <a:rPr lang="en-US" sz="2400">
                <a:latin typeface="Times New Roman"/>
                <a:ea typeface="Times New Roman"/>
                <a:cs typeface="Times New Roman"/>
                <a:sym typeface="Times New Roman"/>
              </a:rPr>
              <a:t> Procedures for secure data return or destruction when ending the relationship.</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a:p>
            <a:pPr marL="365760" lvl="0" indent="-103632" algn="l" rtl="0">
              <a:spcBef>
                <a:spcPts val="300"/>
              </a:spcBef>
              <a:spcAft>
                <a:spcPts val="0"/>
              </a:spcAft>
              <a:buSzPts val="2400"/>
              <a:buNone/>
            </a:pP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0"/>
          <p:cNvSpPr txBox="1">
            <a:spLocks noGrp="1"/>
          </p:cNvSpPr>
          <p:nvPr>
            <p:ph type="title"/>
          </p:nvPr>
        </p:nvSpPr>
        <p:spPr>
          <a:xfrm>
            <a:off x="457200" y="274638"/>
            <a:ext cx="7467600" cy="1858218"/>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000"/>
              <a:buFont typeface="Algerian"/>
              <a:buNone/>
            </a:pPr>
            <a:r>
              <a:rPr lang="en-US" sz="4000">
                <a:latin typeface="Algerian"/>
                <a:ea typeface="Algerian"/>
                <a:cs typeface="Algerian"/>
                <a:sym typeface="Algerian"/>
              </a:rPr>
              <a:t>Cyber  security  Domains</a:t>
            </a:r>
            <a:br>
              <a:rPr lang="en-US" sz="4000">
                <a:latin typeface="Algerian"/>
                <a:ea typeface="Algerian"/>
                <a:cs typeface="Algerian"/>
                <a:sym typeface="Algerian"/>
              </a:rPr>
            </a:br>
            <a:endParaRPr sz="4000"/>
          </a:p>
        </p:txBody>
      </p:sp>
      <p:sp>
        <p:nvSpPr>
          <p:cNvPr id="211" name="Google Shape;211;p3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800"/>
              <a:buFont typeface="Noto Sans Symbols"/>
              <a:buChar char="⮚"/>
            </a:pPr>
            <a:r>
              <a:rPr lang="en-US">
                <a:latin typeface="Times New Roman"/>
                <a:ea typeface="Times New Roman"/>
                <a:cs typeface="Times New Roman"/>
                <a:sym typeface="Times New Roman"/>
              </a:rPr>
              <a:t>Incident response</a:t>
            </a:r>
            <a:endParaRPr/>
          </a:p>
          <a:p>
            <a:pPr marL="365760" lvl="0" indent="-256032" algn="l" rtl="0">
              <a:spcBef>
                <a:spcPts val="300"/>
              </a:spcBef>
              <a:spcAft>
                <a:spcPts val="0"/>
              </a:spcAft>
              <a:buSzPts val="2800"/>
              <a:buFont typeface="Noto Sans Symbols"/>
              <a:buChar char="⮚"/>
            </a:pPr>
            <a:r>
              <a:rPr lang="en-US">
                <a:latin typeface="Times New Roman"/>
                <a:ea typeface="Times New Roman"/>
                <a:cs typeface="Times New Roman"/>
                <a:sym typeface="Times New Roman"/>
              </a:rPr>
              <a:t>Security architecture</a:t>
            </a:r>
            <a:endParaRPr/>
          </a:p>
          <a:p>
            <a:pPr marL="365760" lvl="0" indent="-256032" algn="l" rtl="0">
              <a:spcBef>
                <a:spcPts val="300"/>
              </a:spcBef>
              <a:spcAft>
                <a:spcPts val="0"/>
              </a:spcAft>
              <a:buSzPts val="2800"/>
              <a:buFont typeface="Noto Sans Symbols"/>
              <a:buChar char="⮚"/>
            </a:pPr>
            <a:r>
              <a:rPr lang="en-US">
                <a:latin typeface="Times New Roman"/>
                <a:ea typeface="Times New Roman"/>
                <a:cs typeface="Times New Roman"/>
                <a:sym typeface="Times New Roman"/>
              </a:rPr>
              <a:t>Telecommunications security</a:t>
            </a:r>
            <a:endParaRPr/>
          </a:p>
          <a:p>
            <a:pPr marL="365760" lvl="0" indent="-256032" algn="l" rtl="0">
              <a:spcBef>
                <a:spcPts val="300"/>
              </a:spcBef>
              <a:spcAft>
                <a:spcPts val="0"/>
              </a:spcAft>
              <a:buSzPts val="2800"/>
              <a:buFont typeface="Noto Sans Symbols"/>
              <a:buChar char="⮚"/>
            </a:pPr>
            <a:r>
              <a:rPr lang="en-US">
                <a:latin typeface="Times New Roman"/>
                <a:ea typeface="Times New Roman"/>
                <a:cs typeface="Times New Roman"/>
                <a:sym typeface="Times New Roman"/>
              </a:rPr>
              <a:t>User education </a:t>
            </a:r>
            <a:endParaRPr/>
          </a:p>
          <a:p>
            <a:pPr marL="365760" lvl="0" indent="-256032" algn="l" rtl="0">
              <a:spcBef>
                <a:spcPts val="300"/>
              </a:spcBef>
              <a:spcAft>
                <a:spcPts val="0"/>
              </a:spcAft>
              <a:buSzPts val="28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1"/>
          <p:cNvSpPr txBox="1">
            <a:spLocks noGrp="1"/>
          </p:cNvSpPr>
          <p:nvPr>
            <p:ph type="title"/>
          </p:nvPr>
        </p:nvSpPr>
        <p:spPr>
          <a:xfrm>
            <a:off x="457200" y="274638"/>
            <a:ext cx="7467600" cy="164219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400"/>
              <a:buFont typeface="Algerian"/>
              <a:buNone/>
            </a:pPr>
            <a:r>
              <a:rPr lang="en-US" sz="4400">
                <a:latin typeface="Algerian"/>
                <a:ea typeface="Algerian"/>
                <a:cs typeface="Algerian"/>
                <a:sym typeface="Algerian"/>
              </a:rPr>
              <a:t>Parts of Cyber Domain</a:t>
            </a:r>
            <a:br>
              <a:rPr lang="en-US" sz="4400">
                <a:latin typeface="Algerian"/>
                <a:ea typeface="Algerian"/>
                <a:cs typeface="Algerian"/>
                <a:sym typeface="Algerian"/>
              </a:rPr>
            </a:br>
            <a:endParaRPr sz="4400">
              <a:latin typeface="Algerian"/>
              <a:ea typeface="Algerian"/>
              <a:cs typeface="Algerian"/>
              <a:sym typeface="Algerian"/>
            </a:endParaRPr>
          </a:p>
        </p:txBody>
      </p:sp>
      <p:sp>
        <p:nvSpPr>
          <p:cNvPr id="217" name="Google Shape;217;p31"/>
          <p:cNvSpPr txBox="1">
            <a:spLocks noGrp="1"/>
          </p:cNvSpPr>
          <p:nvPr>
            <p:ph idx="1"/>
          </p:nvPr>
        </p:nvSpPr>
        <p:spPr>
          <a:xfrm>
            <a:off x="457200" y="1571612"/>
            <a:ext cx="8229600" cy="5002924"/>
          </a:xfrm>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 Cyber domain is defined as the area in which computer systems and networks are used. It has a high degree of complexity and is continuously changing.</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Organizations necessitate developing a deeper understanding of the technologies and threats that exist in the cyber domain to be successful. </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There are 5 cyber domain parts, which are:</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physical domain</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logical domain</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data domain</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application domain</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user domain</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2"/>
          <p:cNvSpPr txBox="1">
            <a:spLocks noGrp="1"/>
          </p:cNvSpPr>
          <p:nvPr>
            <p:ph type="title"/>
          </p:nvPr>
        </p:nvSpPr>
        <p:spPr>
          <a:xfrm>
            <a:off x="457200" y="274638"/>
            <a:ext cx="7467600" cy="1498178"/>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Parts of Cyber Domain</a:t>
            </a:r>
            <a:br>
              <a:rPr lang="en-US" sz="4800">
                <a:latin typeface="Algerian"/>
                <a:ea typeface="Algerian"/>
                <a:cs typeface="Algerian"/>
                <a:sym typeface="Algerian"/>
              </a:rPr>
            </a:br>
            <a:endParaRPr sz="4800">
              <a:latin typeface="Algerian"/>
              <a:ea typeface="Algerian"/>
              <a:cs typeface="Algerian"/>
              <a:sym typeface="Algerian"/>
            </a:endParaRPr>
          </a:p>
        </p:txBody>
      </p:sp>
      <p:sp>
        <p:nvSpPr>
          <p:cNvPr id="223" name="Google Shape;223;p3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Char char="•"/>
            </a:pPr>
            <a:r>
              <a:rPr lang="en-US">
                <a:latin typeface="Times New Roman"/>
                <a:ea typeface="Times New Roman"/>
                <a:cs typeface="Times New Roman"/>
                <a:sym typeface="Times New Roman"/>
              </a:rPr>
              <a:t>Each part of the cyber domain has its own distinctive set of security challenges and risks that must be taken care of. To secure the cyber domain, organizations need to find the challenges and risks associated with every sub domain and mitigate the same. </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The physical domain and logical domain comprise the hardware and software, respectively, that go into a computer system. The physical domain includes I/O devices, networking components, processors, memory, storage, and other physical parts of a computer system</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3"/>
          <p:cNvSpPr txBox="1">
            <a:spLocks noGrp="1"/>
          </p:cNvSpPr>
          <p:nvPr>
            <p:ph type="title"/>
          </p:nvPr>
        </p:nvSpPr>
        <p:spPr>
          <a:xfrm>
            <a:off x="457200" y="274638"/>
            <a:ext cx="7467600" cy="17862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Parts of Cyber Domain</a:t>
            </a:r>
            <a:br>
              <a:rPr lang="en-US" sz="4800">
                <a:latin typeface="Algerian"/>
                <a:ea typeface="Algerian"/>
                <a:cs typeface="Algerian"/>
                <a:sym typeface="Algerian"/>
              </a:rPr>
            </a:br>
            <a:endParaRPr sz="4800">
              <a:latin typeface="Algerian"/>
              <a:ea typeface="Algerian"/>
              <a:cs typeface="Algerian"/>
              <a:sym typeface="Algerian"/>
            </a:endParaRPr>
          </a:p>
        </p:txBody>
      </p:sp>
      <p:sp>
        <p:nvSpPr>
          <p:cNvPr id="229" name="Google Shape;229;p3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800"/>
              <a:buChar char="•"/>
            </a:pPr>
            <a:r>
              <a:rPr lang="en-US">
                <a:latin typeface="Times New Roman"/>
                <a:ea typeface="Times New Roman"/>
                <a:cs typeface="Times New Roman"/>
                <a:sym typeface="Times New Roman"/>
              </a:rPr>
              <a:t>Software that runs on a computer system, including BIOS, operating systems, applications, and data forms the logical domain. It defines how data is accessed and manipulated. All the data stored on a computer comes under the data domain.</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The application domain contains all the applications available on a computer system while the user domain is the domain that contains user information. Securing it requires adding PINs, passwords, security phrases, and so on. </a:t>
            </a:r>
            <a:endParaRPr/>
          </a:p>
          <a:p>
            <a:pPr marL="365760" lvl="0" indent="-78232" algn="l" rtl="0">
              <a:spcBef>
                <a:spcPts val="300"/>
              </a:spcBef>
              <a:spcAft>
                <a:spcPts val="0"/>
              </a:spcAft>
              <a:buSzPts val="2800"/>
              <a:buNone/>
            </a:pP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a:spLocks noGrp="1"/>
          </p:cNvSpPr>
          <p:nvPr>
            <p:ph type="title"/>
          </p:nvPr>
        </p:nvSpPr>
        <p:spPr>
          <a:xfrm>
            <a:off x="457200" y="274638"/>
            <a:ext cx="7467600" cy="164219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5400"/>
              <a:buFont typeface="Algerian"/>
              <a:buNone/>
            </a:pPr>
            <a:r>
              <a:rPr lang="en-US" sz="5400">
                <a:latin typeface="Algerian"/>
                <a:ea typeface="Algerian"/>
                <a:cs typeface="Algerian"/>
                <a:sym typeface="Algerian"/>
              </a:rPr>
              <a:t>Parts of Cyber Domain</a:t>
            </a:r>
            <a:br>
              <a:rPr lang="en-US" sz="5400">
                <a:latin typeface="Algerian"/>
                <a:ea typeface="Algerian"/>
                <a:cs typeface="Algerian"/>
                <a:sym typeface="Algerian"/>
              </a:rPr>
            </a:br>
            <a:endParaRPr sz="5400">
              <a:latin typeface="Algerian"/>
              <a:ea typeface="Algerian"/>
              <a:cs typeface="Algerian"/>
              <a:sym typeface="Algerian"/>
            </a:endParaRPr>
          </a:p>
        </p:txBody>
      </p:sp>
      <p:sp>
        <p:nvSpPr>
          <p:cNvPr id="235" name="Google Shape;235;p3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800"/>
              <a:buChar char="•"/>
            </a:pPr>
            <a:r>
              <a:rPr lang="en-US">
                <a:latin typeface="Times New Roman"/>
                <a:ea typeface="Times New Roman"/>
                <a:cs typeface="Times New Roman"/>
                <a:sym typeface="Times New Roman"/>
              </a:rPr>
              <a:t>Cyber security domain refers to the different security approaches that we take to safeguard each type of cyber domain. We need to apply different approaches to different parts of cyber domains. In the next section we will discuss the various forms of cyber security domains. </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5"/>
          <p:cNvSpPr txBox="1">
            <a:spLocks noGrp="1"/>
          </p:cNvSpPr>
          <p:nvPr>
            <p:ph type="title"/>
          </p:nvPr>
        </p:nvSpPr>
        <p:spPr>
          <a:xfrm>
            <a:off x="457200" y="274638"/>
            <a:ext cx="7467600" cy="1858218"/>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List of Common Cyber Security Domains</a:t>
            </a:r>
            <a:br>
              <a:rPr lang="en-US" sz="4800">
                <a:latin typeface="Algerian"/>
                <a:ea typeface="Algerian"/>
                <a:cs typeface="Algerian"/>
                <a:sym typeface="Algerian"/>
              </a:rPr>
            </a:br>
            <a:endParaRPr sz="4800">
              <a:latin typeface="Algerian"/>
              <a:ea typeface="Algerian"/>
              <a:cs typeface="Algerian"/>
              <a:sym typeface="Algerian"/>
            </a:endParaRPr>
          </a:p>
        </p:txBody>
      </p:sp>
      <p:sp>
        <p:nvSpPr>
          <p:cNvPr id="241" name="Google Shape;241;p35"/>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800"/>
              <a:buNone/>
            </a:pPr>
            <a:r>
              <a:rPr lang="en-US" b="1">
                <a:latin typeface="Times New Roman"/>
                <a:ea typeface="Times New Roman"/>
                <a:cs typeface="Times New Roman"/>
                <a:sym typeface="Times New Roman"/>
              </a:rPr>
              <a:t>1. Frameworks &amp; Standards</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The best techniques to control Cyber security risk are outlined in Cyber security frameworks and guidelines. These provide you the option to establish controls and decide on your risk tolerance.</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Many Cyber security frameworks and standards are blends of previous frameworks and standards.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6"/>
          <p:cNvSpPr txBox="1">
            <a:spLocks noGrp="1"/>
          </p:cNvSpPr>
          <p:nvPr>
            <p:ph type="title"/>
          </p:nvPr>
        </p:nvSpPr>
        <p:spPr>
          <a:xfrm>
            <a:off x="457200" y="274638"/>
            <a:ext cx="7467600" cy="1498178"/>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Parts of Cyber Domain</a:t>
            </a:r>
            <a:br>
              <a:rPr lang="en-US" sz="4800">
                <a:latin typeface="Algerian"/>
                <a:ea typeface="Algerian"/>
                <a:cs typeface="Algerian"/>
                <a:sym typeface="Algerian"/>
              </a:rPr>
            </a:br>
            <a:endParaRPr sz="4800">
              <a:latin typeface="Algerian"/>
              <a:ea typeface="Algerian"/>
              <a:cs typeface="Algerian"/>
              <a:sym typeface="Algerian"/>
            </a:endParaRPr>
          </a:p>
        </p:txBody>
      </p:sp>
      <p:sp>
        <p:nvSpPr>
          <p:cNvPr id="247" name="Google Shape;247;p36"/>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800"/>
              <a:buChar char="•"/>
            </a:pPr>
            <a:r>
              <a:rPr lang="en-US">
                <a:latin typeface="Times New Roman"/>
                <a:ea typeface="Times New Roman"/>
                <a:cs typeface="Times New Roman"/>
                <a:sym typeface="Times New Roman"/>
              </a:rPr>
              <a:t>One needs to be familiar with the various cyber security frameworks and standards in order to create a strong Cyber security compliance program. The following are some of the most popular cyber security frameworks and standards:</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ASD (Australian Signals Directorate) Essential 8</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CIS (Center for Internet Security) Controls</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CISA (Cyber security and Infrastructure Security Agency) TSS (Transportation Systems Sector) Cyber security Framework</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ETSI (European Telecommunications Standards Institute)</a:t>
            </a:r>
            <a:endParaRPr/>
          </a:p>
          <a:p>
            <a:pPr marL="365760" lvl="0" indent="-78232" algn="l" rtl="0">
              <a:spcBef>
                <a:spcPts val="300"/>
              </a:spcBef>
              <a:spcAft>
                <a:spcPts val="0"/>
              </a:spcAft>
              <a:buSzPts val="2800"/>
              <a:buNone/>
            </a:pPr>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7"/>
          <p:cNvSpPr txBox="1">
            <a:spLocks noGrp="1"/>
          </p:cNvSpPr>
          <p:nvPr>
            <p:ph type="title"/>
          </p:nvPr>
        </p:nvSpPr>
        <p:spPr>
          <a:xfrm>
            <a:off x="457200" y="274638"/>
            <a:ext cx="7467600" cy="1498178"/>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Parts of Cyber Domain</a:t>
            </a:r>
            <a:br>
              <a:rPr lang="en-US" sz="4800">
                <a:latin typeface="Algerian"/>
                <a:ea typeface="Algerian"/>
                <a:cs typeface="Algerian"/>
                <a:sym typeface="Algerian"/>
              </a:rPr>
            </a:br>
            <a:endParaRPr sz="4800">
              <a:latin typeface="Algerian"/>
              <a:ea typeface="Algerian"/>
              <a:cs typeface="Algerian"/>
              <a:sym typeface="Algerian"/>
            </a:endParaRPr>
          </a:p>
        </p:txBody>
      </p:sp>
      <p:sp>
        <p:nvSpPr>
          <p:cNvPr id="253" name="Google Shape;253;p3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800"/>
              <a:buChar char="•"/>
            </a:pPr>
            <a:r>
              <a:rPr lang="en-US">
                <a:latin typeface="Times New Roman"/>
                <a:ea typeface="Times New Roman"/>
                <a:cs typeface="Times New Roman"/>
                <a:sym typeface="Times New Roman"/>
              </a:rPr>
              <a:t>NIST (National Institute of Technologies) CSF (Cyber security Framework)</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NIST SP (Special Publication) 800-82 Guide to ICS (Industrial Control Systems) Security</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OASIS SAML (Security Assertion Markup Language)</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PCI DSS (Payment Card Industry Data Security Standard)</a:t>
            </a:r>
            <a:endParaRPr/>
          </a:p>
          <a:p>
            <a:pPr marL="365760" lvl="0" indent="-78232" algn="l" rtl="0">
              <a:spcBef>
                <a:spcPts val="300"/>
              </a:spcBef>
              <a:spcAft>
                <a:spcPts val="0"/>
              </a:spcAft>
              <a:buSzPts val="2800"/>
              <a:buNone/>
            </a:pPr>
            <a:endParaRPr>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8"/>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ts val="5400"/>
              <a:buFont typeface="Algerian"/>
              <a:buNone/>
            </a:pPr>
            <a:r>
              <a:rPr lang="en-US" sz="5400">
                <a:latin typeface="Algerian"/>
                <a:ea typeface="Algerian"/>
                <a:cs typeface="Algerian"/>
                <a:sym typeface="Algerian"/>
              </a:rPr>
              <a:t>Application security</a:t>
            </a:r>
            <a:endParaRPr sz="5400">
              <a:latin typeface="Algerian"/>
              <a:ea typeface="Algerian"/>
              <a:cs typeface="Algerian"/>
              <a:sym typeface="Algerian"/>
            </a:endParaRPr>
          </a:p>
        </p:txBody>
      </p:sp>
      <p:pic>
        <p:nvPicPr>
          <p:cNvPr id="259" name="Google Shape;259;p38"/>
          <p:cNvPicPr preferRelativeResize="0">
            <a:picLocks noGrp="1"/>
          </p:cNvPicPr>
          <p:nvPr>
            <p:ph idx="1"/>
          </p:nvPr>
        </p:nvPicPr>
        <p:blipFill rotWithShape="1">
          <a:blip r:embed="rId3">
            <a:alphaModFix/>
          </a:blip>
          <a:srcRect/>
          <a:stretch/>
        </p:blipFill>
        <p:spPr>
          <a:xfrm>
            <a:off x="457200" y="1571612"/>
            <a:ext cx="7467600" cy="485778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Application security</a:t>
            </a:r>
            <a:endParaRPr sz="4800">
              <a:latin typeface="Algerian"/>
              <a:ea typeface="Algerian"/>
              <a:cs typeface="Algerian"/>
              <a:sym typeface="Algerian"/>
            </a:endParaRPr>
          </a:p>
        </p:txBody>
      </p:sp>
      <p:sp>
        <p:nvSpPr>
          <p:cNvPr id="265" name="Google Shape;265;p3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Char char="•"/>
            </a:pPr>
            <a:r>
              <a:rPr lang="en-US">
                <a:latin typeface="Times New Roman"/>
                <a:ea typeface="Times New Roman"/>
                <a:cs typeface="Times New Roman"/>
                <a:sym typeface="Times New Roman"/>
              </a:rPr>
              <a:t>Application security is installing many forms of defenses within all software and services belonging to an organization to provide protection from a diverse range of threats. It simply means to safeguard applications that an organization develops, deploys, and uses.</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There are several measures that are taken to limit unwanted access or change of application resources. This includes creating secure application architecture, implementing strong data input validation, threat modeling, writing secure code, etc.</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API security, S-SDLC, security QA, security UX, and source code scan are the various sub domains of application security.</a:t>
            </a:r>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0"/>
          <p:cNvSpPr txBox="1">
            <a:spLocks noGrp="1"/>
          </p:cNvSpPr>
          <p:nvPr>
            <p:ph type="title"/>
          </p:nvPr>
        </p:nvSpPr>
        <p:spPr>
          <a:xfrm>
            <a:off x="457200" y="274638"/>
            <a:ext cx="7467600" cy="157018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5400"/>
              <a:buFont typeface="Algerian"/>
              <a:buNone/>
            </a:pPr>
            <a:r>
              <a:rPr lang="en-US" sz="5400">
                <a:latin typeface="Algerian"/>
                <a:ea typeface="Algerian"/>
                <a:cs typeface="Algerian"/>
                <a:sym typeface="Algerian"/>
              </a:rPr>
              <a:t>3. Risk Assessment</a:t>
            </a:r>
            <a:br>
              <a:rPr lang="en-US" sz="5400">
                <a:latin typeface="Algerian"/>
                <a:ea typeface="Algerian"/>
                <a:cs typeface="Algerian"/>
                <a:sym typeface="Algerian"/>
              </a:rPr>
            </a:br>
            <a:endParaRPr sz="5400">
              <a:latin typeface="Algerian"/>
              <a:ea typeface="Algerian"/>
              <a:cs typeface="Algerian"/>
              <a:sym typeface="Algerian"/>
            </a:endParaRPr>
          </a:p>
        </p:txBody>
      </p:sp>
      <p:sp>
        <p:nvSpPr>
          <p:cNvPr id="271" name="Google Shape;271;p4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800"/>
              <a:buNone/>
            </a:pPr>
            <a:r>
              <a:rPr lang="en-US" b="1">
                <a:latin typeface="Times New Roman"/>
                <a:ea typeface="Times New Roman"/>
                <a:cs typeface="Times New Roman"/>
                <a:sym typeface="Times New Roman"/>
              </a:rPr>
              <a:t>Risk Assessment</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Risk assessment is the process of thoroughly examining the workplace to find situations, procedures, etc. that could endanger an organization’s assets, such as its people and systems. It includes:</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Hazard identification</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Risk analysis and risk evaluation</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Risk control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000"/>
              <a:buFont typeface="Trebuchet MS"/>
              <a:buNone/>
            </a:pPr>
            <a:r>
              <a:rPr lang="en-US" sz="4000"/>
              <a:t>3. Risk Assessment</a:t>
            </a:r>
            <a:br>
              <a:rPr lang="en-US" sz="4000"/>
            </a:br>
            <a:endParaRPr sz="4000"/>
          </a:p>
        </p:txBody>
      </p:sp>
      <p:sp>
        <p:nvSpPr>
          <p:cNvPr id="277" name="Google Shape;277;p4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Char char="•"/>
            </a:pPr>
            <a:r>
              <a:rPr lang="en-US">
                <a:latin typeface="Times New Roman"/>
                <a:ea typeface="Times New Roman"/>
                <a:cs typeface="Times New Roman"/>
                <a:sym typeface="Times New Roman"/>
              </a:rPr>
              <a:t>In the process of assessing risk, we look for potential threats and dangers. It is referred to as danger identification. To examine and evaluate the risks related to the recognized hazards and risk factors, risk analysis and risk evaluation are performed.</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The process of figuring out the best ways to reduce risks and hazards or to control them when they can’t be eliminated, is known as risk control. Risk assessment has several sub domains, including asset inventory, penetration testing, risk monitoring services and vulnerability scanning.</a:t>
            </a:r>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4. Enterprise Risk Management</a:t>
            </a:r>
            <a:br>
              <a:rPr lang="en-US" sz="3600">
                <a:latin typeface="Times New Roman"/>
                <a:ea typeface="Times New Roman"/>
                <a:cs typeface="Times New Roman"/>
                <a:sym typeface="Times New Roman"/>
              </a:rPr>
            </a:br>
            <a:endParaRPr sz="3600"/>
          </a:p>
        </p:txBody>
      </p:sp>
      <p:sp>
        <p:nvSpPr>
          <p:cNvPr id="283" name="Google Shape;283;p4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None/>
            </a:pPr>
            <a:r>
              <a:rPr lang="en-US" b="1">
                <a:latin typeface="Times New Roman"/>
                <a:ea typeface="Times New Roman"/>
                <a:cs typeface="Times New Roman"/>
                <a:sym typeface="Times New Roman"/>
              </a:rPr>
              <a:t>4. Enterprise Risk Management</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The goal of enterprise risk management, often known as ERM, is to recognize and get ready for risks that could affect an organization’s finances, goals, and operations. It is risk management used in a business setting. Enterprise risk management includes the following sub domains:</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Crisis Management</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Cyber Insurance</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Lines of Defense</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Risk Acceptance Statement</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Risk Appetite</a:t>
            </a:r>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rebuchet MS"/>
              <a:buNone/>
            </a:pPr>
            <a:r>
              <a:rPr lang="en-US" b="1"/>
              <a:t>5. Governance</a:t>
            </a:r>
            <a:br>
              <a:rPr lang="en-US" b="1"/>
            </a:br>
            <a:endParaRPr/>
          </a:p>
        </p:txBody>
      </p:sp>
      <p:sp>
        <p:nvSpPr>
          <p:cNvPr id="289" name="Google Shape;289;p4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None/>
            </a:pPr>
            <a:r>
              <a:rPr lang="en-US" b="1">
                <a:latin typeface="Times New Roman"/>
                <a:ea typeface="Times New Roman"/>
                <a:cs typeface="Times New Roman"/>
                <a:sym typeface="Times New Roman"/>
              </a:rPr>
              <a:t>5. Governance</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An organization’s risk appetite, accountability structures, and decision-making processes can all be strategically viewed via the lens of cyber security governance. It entails making decisions to put security policies into effect.</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The goal of governance is to make sure that a company can manage to make the best judgments a majority of the time and implement effective policies to reduce risk. Sub domains of governance include company written policy, executive management involvement, and rules and regulations.</a:t>
            </a:r>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rebuchet MS"/>
              <a:buNone/>
            </a:pPr>
            <a:r>
              <a:rPr lang="en-US" b="1"/>
              <a:t>6. Threat Intelligence</a:t>
            </a:r>
            <a:br>
              <a:rPr lang="en-US" b="1"/>
            </a:br>
            <a:endParaRPr/>
          </a:p>
        </p:txBody>
      </p:sp>
      <p:pic>
        <p:nvPicPr>
          <p:cNvPr id="295" name="Google Shape;295;p44"/>
          <p:cNvPicPr preferRelativeResize="0">
            <a:picLocks noGrp="1"/>
          </p:cNvPicPr>
          <p:nvPr>
            <p:ph idx="1"/>
          </p:nvPr>
        </p:nvPicPr>
        <p:blipFill rotWithShape="1">
          <a:blip r:embed="rId3">
            <a:alphaModFix/>
          </a:blip>
          <a:stretch/>
        </p:blipFill>
        <p:spPr>
          <a:xfrm>
            <a:off x="2049636" y="1846263"/>
            <a:ext cx="5089178" cy="4022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rebuchet MS"/>
              <a:buNone/>
            </a:pPr>
            <a:r>
              <a:rPr lang="en-US" b="1"/>
              <a:t>6. Threat Intelligence</a:t>
            </a:r>
            <a:br>
              <a:rPr lang="en-US" b="1"/>
            </a:br>
            <a:endParaRPr/>
          </a:p>
        </p:txBody>
      </p:sp>
      <p:sp>
        <p:nvSpPr>
          <p:cNvPr id="301" name="Google Shape;301;p4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800"/>
              <a:buNone/>
            </a:pPr>
            <a:r>
              <a:rPr lang="en-US" b="1">
                <a:latin typeface="Times New Roman"/>
                <a:ea typeface="Times New Roman"/>
                <a:cs typeface="Times New Roman"/>
                <a:sym typeface="Times New Roman"/>
              </a:rPr>
              <a:t>6. Threat Intelligence</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Threat intelligence, also referred to as cyber threat intelligence (CTI), is the procedure of gathering data from a broad range of sources regarding current or possible assaults against a business.</a:t>
            </a:r>
            <a:endParaRPr/>
          </a:p>
          <a:p>
            <a:pPr marL="365760" lvl="0" indent="-256032" algn="l" rtl="0">
              <a:spcBef>
                <a:spcPts val="300"/>
              </a:spcBef>
              <a:spcAft>
                <a:spcPts val="0"/>
              </a:spcAft>
              <a:buSzPts val="2800"/>
              <a:buChar char="•"/>
            </a:pPr>
            <a:r>
              <a:rPr lang="en-US">
                <a:latin typeface="Times New Roman"/>
                <a:ea typeface="Times New Roman"/>
                <a:cs typeface="Times New Roman"/>
                <a:sym typeface="Times New Roman"/>
              </a:rPr>
              <a:t>To reduce and manage Cyber security risks, the data gathered by CTI is examined and improved. It is employed to safeguard an organization against Cyber attacks along with other Cyber security solutions. External or internal threat intelligence is possible.</a:t>
            </a:r>
            <a:endParaRPr/>
          </a:p>
          <a:p>
            <a:pPr marL="365760" lvl="0" indent="-78232" algn="l" rtl="0">
              <a:spcBef>
                <a:spcPts val="300"/>
              </a:spcBef>
              <a:spcAft>
                <a:spcPts val="0"/>
              </a:spcAft>
              <a:buSzPts val="2800"/>
              <a:buNone/>
            </a:pPr>
            <a:endParaRPr>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imes New Roman"/>
              <a:buNone/>
            </a:pPr>
            <a:r>
              <a:rPr lang="en-US" b="1">
                <a:latin typeface="Times New Roman"/>
                <a:ea typeface="Times New Roman"/>
                <a:cs typeface="Times New Roman"/>
                <a:sym typeface="Times New Roman"/>
              </a:rPr>
              <a:t>7. End-user Education</a:t>
            </a:r>
            <a:br>
              <a:rPr lang="en-US" b="1">
                <a:latin typeface="Times New Roman"/>
                <a:ea typeface="Times New Roman"/>
                <a:cs typeface="Times New Roman"/>
                <a:sym typeface="Times New Roman"/>
              </a:rPr>
            </a:br>
            <a:endParaRPr/>
          </a:p>
        </p:txBody>
      </p:sp>
      <p:sp>
        <p:nvSpPr>
          <p:cNvPr id="307" name="Google Shape;307;p4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None/>
            </a:pPr>
            <a:r>
              <a:rPr lang="en-US" b="1">
                <a:latin typeface="Times New Roman"/>
                <a:ea typeface="Times New Roman"/>
                <a:cs typeface="Times New Roman"/>
                <a:sym typeface="Times New Roman"/>
              </a:rPr>
              <a:t>7. End-user Education</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The major goal of end-user education is to increase employee awareness and provide them with the necessary knowledge and equipment so they can defend the company against data breaches and assaults.</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Employees can educate themselves by learning about various cyber security-related issues, such as information security or info sec. Cyber security’s information security division focuses exclusively on safeguarding data and information systems.</a:t>
            </a:r>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imes New Roman"/>
              <a:buNone/>
            </a:pPr>
            <a:r>
              <a:rPr lang="en-US" b="1">
                <a:latin typeface="Times New Roman"/>
                <a:ea typeface="Times New Roman"/>
                <a:cs typeface="Times New Roman"/>
                <a:sym typeface="Times New Roman"/>
              </a:rPr>
              <a:t>7. End-user Education</a:t>
            </a:r>
            <a:br>
              <a:rPr lang="en-US" b="1">
                <a:latin typeface="Times New Roman"/>
                <a:ea typeface="Times New Roman"/>
                <a:cs typeface="Times New Roman"/>
                <a:sym typeface="Times New Roman"/>
              </a:rPr>
            </a:br>
            <a:endParaRPr/>
          </a:p>
        </p:txBody>
      </p:sp>
      <p:sp>
        <p:nvSpPr>
          <p:cNvPr id="313" name="Google Shape;313;p4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800"/>
              <a:buChar char="•"/>
            </a:pPr>
            <a:r>
              <a:rPr lang="en-US">
                <a:latin typeface="Times New Roman"/>
                <a:ea typeface="Times New Roman"/>
                <a:cs typeface="Times New Roman"/>
                <a:sym typeface="Times New Roman"/>
              </a:rPr>
              <a:t>Confidentiality, integrity, and availability are the three areas that make up information security. The CIA trio refers to these information security sectors as a whole. End-user education includes Cyber security training, awareness, and tabletop exercises.</a:t>
            </a:r>
            <a:endParaRPr/>
          </a:p>
          <a:p>
            <a:pPr marL="365760" lvl="0" indent="-78232" algn="l" rtl="0">
              <a:spcBef>
                <a:spcPts val="300"/>
              </a:spcBef>
              <a:spcAft>
                <a:spcPts val="0"/>
              </a:spcAft>
              <a:buSzPts val="2800"/>
              <a:buNone/>
            </a:pPr>
            <a:endParaRPr>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imes New Roman"/>
              <a:buNone/>
            </a:pPr>
            <a:r>
              <a:rPr lang="en-US" b="1">
                <a:latin typeface="Times New Roman"/>
                <a:ea typeface="Times New Roman"/>
                <a:cs typeface="Times New Roman"/>
                <a:sym typeface="Times New Roman"/>
              </a:rPr>
              <a:t>8. Security Operations</a:t>
            </a:r>
            <a:br>
              <a:rPr lang="en-US" b="1">
                <a:latin typeface="Times New Roman"/>
                <a:ea typeface="Times New Roman"/>
                <a:cs typeface="Times New Roman"/>
                <a:sym typeface="Times New Roman"/>
              </a:rPr>
            </a:br>
            <a:endParaRPr/>
          </a:p>
        </p:txBody>
      </p:sp>
      <p:sp>
        <p:nvSpPr>
          <p:cNvPr id="319" name="Google Shape;319;p4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None/>
            </a:pPr>
            <a:r>
              <a:rPr lang="en-US" sz="2400" b="1">
                <a:latin typeface="Times New Roman"/>
                <a:ea typeface="Times New Roman"/>
                <a:cs typeface="Times New Roman"/>
                <a:sym typeface="Times New Roman"/>
              </a:rPr>
              <a:t>8. Security Operations</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Security operations are the actions that carry out security plans. Applying resource protection strategies, disaster recovery, incident management, controlling physical security, comprehending and assisting investigations are all covered.</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In this area of cyber security, standards for investigation kinds, logging and monitoring services and resource provision security are also included.</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imes New Roman"/>
              <a:buNone/>
            </a:pPr>
            <a:r>
              <a:rPr lang="en-US" b="1">
                <a:latin typeface="Times New Roman"/>
                <a:ea typeface="Times New Roman"/>
                <a:cs typeface="Times New Roman"/>
                <a:sym typeface="Times New Roman"/>
              </a:rPr>
              <a:t>9. Physical Security</a:t>
            </a:r>
            <a:br>
              <a:rPr lang="en-US" b="1">
                <a:latin typeface="Times New Roman"/>
                <a:ea typeface="Times New Roman"/>
                <a:cs typeface="Times New Roman"/>
                <a:sym typeface="Times New Roman"/>
              </a:rPr>
            </a:br>
            <a:endParaRPr/>
          </a:p>
        </p:txBody>
      </p:sp>
      <p:sp>
        <p:nvSpPr>
          <p:cNvPr id="325" name="Google Shape;325;p4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None/>
            </a:pPr>
            <a:r>
              <a:rPr lang="en-US" sz="2400" b="1">
                <a:latin typeface="Times New Roman"/>
                <a:ea typeface="Times New Roman"/>
                <a:cs typeface="Times New Roman"/>
                <a:sym typeface="Times New Roman"/>
              </a:rPr>
              <a:t>9. Physical Security</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Protecting people, property and tangible assets from situations and occurrences that could cause harm or loss is known as physical security. To secure the digital and physical assets of a business, various Cyber security teams must collaborate with each other.</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This is because quickly developing technologies like the internet of things and artificial intelligence are increasing the complexity of physical security.</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imes New Roman"/>
              <a:buNone/>
            </a:pPr>
            <a:r>
              <a:rPr lang="en-US" b="1">
                <a:latin typeface="Times New Roman"/>
                <a:ea typeface="Times New Roman"/>
                <a:cs typeface="Times New Roman"/>
                <a:sym typeface="Times New Roman"/>
              </a:rPr>
              <a:t>10. Career Development</a:t>
            </a:r>
            <a:br>
              <a:rPr lang="en-US" b="1">
                <a:latin typeface="Times New Roman"/>
                <a:ea typeface="Times New Roman"/>
                <a:cs typeface="Times New Roman"/>
                <a:sym typeface="Times New Roman"/>
              </a:rPr>
            </a:br>
            <a:endParaRPr/>
          </a:p>
        </p:txBody>
      </p:sp>
      <p:sp>
        <p:nvSpPr>
          <p:cNvPr id="331" name="Google Shape;331;p5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None/>
            </a:pPr>
            <a:r>
              <a:rPr lang="en-US" b="1">
                <a:latin typeface="Times New Roman"/>
                <a:ea typeface="Times New Roman"/>
                <a:cs typeface="Times New Roman"/>
                <a:sym typeface="Times New Roman"/>
              </a:rPr>
              <a:t>10. Career Development</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Unbelievably, one of the cyber domains is also categorized as career growth. This is a result of the rise in demand for knowledgeable and certified Cyber security personnel.</a:t>
            </a:r>
            <a:endParaRPr/>
          </a:p>
          <a:p>
            <a:pPr marL="365760" lvl="0" indent="-256032" algn="l" rtl="0">
              <a:spcBef>
                <a:spcPts val="300"/>
              </a:spcBef>
              <a:spcAft>
                <a:spcPts val="0"/>
              </a:spcAft>
              <a:buSzPct val="100000"/>
              <a:buChar char="•"/>
            </a:pPr>
            <a:r>
              <a:rPr lang="en-US">
                <a:latin typeface="Times New Roman"/>
                <a:ea typeface="Times New Roman"/>
                <a:cs typeface="Times New Roman"/>
                <a:sym typeface="Times New Roman"/>
              </a:rPr>
              <a:t>Certifications, conferences, peer groups, self-study, training and other activities are all part of career growth in Cyber security. Additionally, students have a variety of topics to choose from and can enroll in courses like information security, risk analysis, or ethical hacking certification training.</a:t>
            </a:r>
            <a:endParaRPr/>
          </a:p>
          <a:p>
            <a:pPr marL="365760" lvl="0" indent="-91566" algn="l" rtl="0">
              <a:spcBef>
                <a:spcPts val="300"/>
              </a:spcBef>
              <a:spcAft>
                <a:spcPts val="0"/>
              </a:spcAft>
              <a:buSzPct val="100000"/>
              <a:buNone/>
            </a:pPr>
            <a:endParaRPr>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5400"/>
              <a:buFont typeface="Algerian"/>
              <a:buNone/>
            </a:pPr>
            <a:r>
              <a:rPr lang="en-US" sz="5400" b="0">
                <a:latin typeface="Algerian"/>
                <a:ea typeface="Algerian"/>
                <a:cs typeface="Algerian"/>
                <a:sym typeface="Algerian"/>
              </a:rPr>
              <a:t>Data Access</a:t>
            </a:r>
            <a:endParaRPr sz="5400" b="0">
              <a:latin typeface="Algerian"/>
              <a:ea typeface="Algerian"/>
              <a:cs typeface="Algerian"/>
              <a:sym typeface="Algerian"/>
            </a:endParaRPr>
          </a:p>
        </p:txBody>
      </p:sp>
      <p:sp>
        <p:nvSpPr>
          <p:cNvPr id="337" name="Google Shape;337;p5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64008" lvl="0" indent="0" algn="l" rtl="0">
              <a:spcBef>
                <a:spcPts val="0"/>
              </a:spcBef>
              <a:spcAft>
                <a:spcPts val="0"/>
              </a:spcAft>
              <a:buSzPts val="3600"/>
              <a:buNone/>
            </a:pPr>
            <a:r>
              <a:rPr lang="en-US" sz="3600" b="0">
                <a:latin typeface="Algerian"/>
                <a:ea typeface="Algerian"/>
                <a:cs typeface="Algerian"/>
                <a:sym typeface="Algerian"/>
              </a:rPr>
              <a:t>Unit 3</a:t>
            </a:r>
            <a:endParaRPr sz="3600" b="0">
              <a:latin typeface="Algerian"/>
              <a:ea typeface="Algerian"/>
              <a:cs typeface="Algerian"/>
              <a:sym typeface="Algeri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Data access</a:t>
            </a:r>
            <a:endParaRPr sz="4800">
              <a:latin typeface="Algerian"/>
              <a:ea typeface="Algerian"/>
              <a:cs typeface="Algerian"/>
              <a:sym typeface="Algerian"/>
            </a:endParaRPr>
          </a:p>
        </p:txBody>
      </p:sp>
      <p:sp>
        <p:nvSpPr>
          <p:cNvPr id="343" name="Google Shape;343;p5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Data access is the on-demand, authorized ability to retrieve, modify, copy, or move data from IT systems. With data access, users can perform these functions in any location and with data in motion or at rest. </a:t>
            </a:r>
            <a:endParaRPr sz="2400">
              <a:latin typeface="Times New Roman"/>
              <a:ea typeface="Times New Roman"/>
              <a:cs typeface="Times New Roman"/>
              <a:sym typeface="Times New Roman"/>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Specifically, data at rest is stored on disks or hard drives in a database, data warehouse, or modern cloud repository.</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Data access is the means by which users can get to this data and its location, in an authenticated manner approved by the organization in possession of the data.</a:t>
            </a:r>
            <a:endParaRPr sz="24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Data access</a:t>
            </a:r>
            <a:endParaRPr sz="4400"/>
          </a:p>
        </p:txBody>
      </p:sp>
      <p:sp>
        <p:nvSpPr>
          <p:cNvPr id="349" name="Google Shape;349;p5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1" algn="l" rtl="0">
              <a:spcBef>
                <a:spcPts val="0"/>
              </a:spcBef>
              <a:spcAft>
                <a:spcPts val="0"/>
              </a:spcAft>
              <a:buSzPct val="100000"/>
              <a:buFont typeface="Noto Sans Symbols"/>
              <a:buChar char="⮚"/>
            </a:pPr>
            <a:r>
              <a:rPr lang="en-US">
                <a:latin typeface="Times New Roman"/>
                <a:ea typeface="Times New Roman"/>
                <a:cs typeface="Times New Roman"/>
                <a:sym typeface="Times New Roman"/>
              </a:rPr>
              <a:t>Data access is one of the main outputs of effective data governance programs. </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Organizations should ideally have well thought out, structured means of granting data access to different users. </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This is reinforced by various permissions and levels of security required for data access. </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Frequently, these permissions are based on organizational roles or responsibilities, which are structured according to data governance policies.</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When data is at rest in a repository, there are two basic ways of accessing it: with sequential access and random access:</a:t>
            </a:r>
            <a:endParaRPr/>
          </a:p>
          <a:p>
            <a:pPr marL="365760" lvl="0" indent="-104901" algn="l" rtl="0">
              <a:spcBef>
                <a:spcPts val="300"/>
              </a:spcBef>
              <a:spcAft>
                <a:spcPts val="0"/>
              </a:spcAft>
              <a:buSzPct val="100000"/>
              <a:buFont typeface="Noto Sans Symbols"/>
              <a:buNone/>
            </a:pPr>
            <a:endParaRPr>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4"/>
          <p:cNvSpPr txBox="1">
            <a:spLocks noGrp="1"/>
          </p:cNvSpPr>
          <p:nvPr>
            <p:ph type="title"/>
          </p:nvPr>
        </p:nvSpPr>
        <p:spPr>
          <a:xfrm>
            <a:off x="457200" y="274638"/>
            <a:ext cx="7467600" cy="193022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6000"/>
              <a:buFont typeface="Algerian"/>
              <a:buNone/>
            </a:pPr>
            <a:r>
              <a:rPr lang="en-US" sz="6000">
                <a:latin typeface="Algerian"/>
                <a:ea typeface="Algerian"/>
                <a:cs typeface="Algerian"/>
                <a:sym typeface="Algerian"/>
              </a:rPr>
              <a:t>Sequential access</a:t>
            </a:r>
            <a:br>
              <a:rPr lang="en-US" sz="6000">
                <a:latin typeface="Algerian"/>
                <a:ea typeface="Algerian"/>
                <a:cs typeface="Algerian"/>
                <a:sym typeface="Algerian"/>
              </a:rPr>
            </a:br>
            <a:endParaRPr sz="6000">
              <a:latin typeface="Algerian"/>
              <a:ea typeface="Algerian"/>
              <a:cs typeface="Algerian"/>
              <a:sym typeface="Algerian"/>
            </a:endParaRPr>
          </a:p>
        </p:txBody>
      </p:sp>
      <p:sp>
        <p:nvSpPr>
          <p:cNvPr id="355" name="Google Shape;355;p5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b="1">
                <a:latin typeface="Times New Roman"/>
                <a:ea typeface="Times New Roman"/>
                <a:cs typeface="Times New Roman"/>
                <a:sym typeface="Times New Roman"/>
              </a:rPr>
              <a:t>Sequential access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It  uses a seek operation to move the different data on a disk until the requested data is found.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However, each data segment is read (in sequential order) until the sought after data is found, which can tax computational resources.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Still, this method is often faster than random access because it requires fewer seek procedures than random access does.</a:t>
            </a:r>
            <a:endParaRPr/>
          </a:p>
          <a:p>
            <a:pPr marL="365760" lvl="0" indent="-1036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5"/>
          <p:cNvSpPr txBox="1">
            <a:spLocks noGrp="1"/>
          </p:cNvSpPr>
          <p:nvPr>
            <p:ph type="title"/>
          </p:nvPr>
        </p:nvSpPr>
        <p:spPr>
          <a:xfrm>
            <a:off x="457200" y="274638"/>
            <a:ext cx="7467600" cy="171420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6000"/>
              <a:buFont typeface="Algerian"/>
              <a:buNone/>
            </a:pPr>
            <a:r>
              <a:rPr lang="en-US" sz="6000">
                <a:latin typeface="Algerian"/>
                <a:ea typeface="Algerian"/>
                <a:cs typeface="Algerian"/>
                <a:sym typeface="Algerian"/>
              </a:rPr>
              <a:t>Random access </a:t>
            </a:r>
            <a:br>
              <a:rPr lang="en-US" sz="6000">
                <a:latin typeface="Algerian"/>
                <a:ea typeface="Algerian"/>
                <a:cs typeface="Algerian"/>
                <a:sym typeface="Algerian"/>
              </a:rPr>
            </a:br>
            <a:endParaRPr sz="6000">
              <a:latin typeface="Algerian"/>
              <a:ea typeface="Algerian"/>
              <a:cs typeface="Algerian"/>
              <a:sym typeface="Algerian"/>
            </a:endParaRPr>
          </a:p>
        </p:txBody>
      </p:sp>
      <p:sp>
        <p:nvSpPr>
          <p:cNvPr id="361" name="Google Shape;361;p55"/>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None/>
            </a:pPr>
            <a:r>
              <a:rPr lang="en-US" sz="2400" b="1">
                <a:latin typeface="Times New Roman"/>
                <a:ea typeface="Times New Roman"/>
                <a:cs typeface="Times New Roman"/>
                <a:sym typeface="Times New Roman"/>
              </a:rPr>
              <a:t>Random access</a:t>
            </a:r>
            <a:r>
              <a:rPr lang="en-US" sz="2400">
                <a:latin typeface="Times New Roman"/>
                <a:ea typeface="Times New Roman"/>
                <a:cs typeface="Times New Roman"/>
                <a:sym typeface="Times New Roman"/>
              </a:rPr>
              <a:t>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It stores or retrieves data from anywhere on the disk.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advantage of this approach is that not all data has to be read in sequential order to find what a user’s looking for. </a:t>
            </a:r>
            <a:endParaRPr sz="2400">
              <a:latin typeface="Times New Roman"/>
              <a:ea typeface="Times New Roman"/>
              <a:cs typeface="Times New Roman"/>
              <a:sym typeface="Times New Roman"/>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Also, the data is located in constant time, which means there’s an upper limit to how long it will take for it to be retrieved.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When that limit is less than how long it could take to sequentially read and retrieve data, random access is preferable. </a:t>
            </a:r>
            <a:endParaRPr/>
          </a:p>
          <a:p>
            <a:pPr marL="365760" lvl="0" indent="-103632" algn="l" rtl="0">
              <a:spcBef>
                <a:spcPts val="300"/>
              </a:spcBef>
              <a:spcAft>
                <a:spcPts val="0"/>
              </a:spcAft>
              <a:buSzPts val="2400"/>
              <a:buFont typeface="Noto Sans Symbols"/>
              <a:buNone/>
            </a:pPr>
            <a:endParaRPr sz="24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56"/>
          <p:cNvSpPr txBox="1">
            <a:spLocks noGrp="1"/>
          </p:cNvSpPr>
          <p:nvPr>
            <p:ph type="title"/>
          </p:nvPr>
        </p:nvSpPr>
        <p:spPr>
          <a:xfrm>
            <a:off x="457200" y="1000108"/>
            <a:ext cx="7467600" cy="91672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Algerian"/>
              <a:buNone/>
            </a:pPr>
            <a:r>
              <a:rPr lang="en-US" sz="3600">
                <a:latin typeface="Algerian"/>
                <a:ea typeface="Algerian"/>
                <a:cs typeface="Algerian"/>
                <a:sym typeface="Algerian"/>
              </a:rPr>
              <a:t>Establishing data access requirements and standards</a:t>
            </a:r>
            <a:br>
              <a:rPr lang="en-US" sz="3600">
                <a:latin typeface="Algerian"/>
                <a:ea typeface="Algerian"/>
                <a:cs typeface="Algerian"/>
                <a:sym typeface="Algerian"/>
              </a:rPr>
            </a:br>
            <a:endParaRPr sz="3600">
              <a:latin typeface="Algerian"/>
              <a:ea typeface="Algerian"/>
              <a:cs typeface="Algerian"/>
              <a:sym typeface="Algerian"/>
            </a:endParaRPr>
          </a:p>
        </p:txBody>
      </p:sp>
      <p:sp>
        <p:nvSpPr>
          <p:cNvPr id="367" name="Google Shape;367;p56"/>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There are many requirements and standards needed to secure data access across an organization. Beginning with internal requirements, all users must have the proper authorization to access different data sets and sources.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To achieve this standard, database administrators are typically tasked with issuing and implementing permissions for secure data access based on each individual’s roles.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Additionally, establishing an enterprise-wide policy and implementing data access training makes data access best practices transparent to all employees.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200"/>
              <a:buFont typeface="Algerian"/>
              <a:buNone/>
            </a:pPr>
            <a:r>
              <a:rPr lang="en-US" sz="3200">
                <a:latin typeface="Algerian"/>
                <a:ea typeface="Algerian"/>
                <a:cs typeface="Algerian"/>
                <a:sym typeface="Algerian"/>
              </a:rPr>
              <a:t>Establishing data access requirements and standards</a:t>
            </a:r>
            <a:br>
              <a:rPr lang="en-US" sz="3200">
                <a:latin typeface="Algerian"/>
                <a:ea typeface="Algerian"/>
                <a:cs typeface="Algerian"/>
                <a:sym typeface="Algerian"/>
              </a:rPr>
            </a:br>
            <a:endParaRPr sz="4400"/>
          </a:p>
        </p:txBody>
      </p:sp>
      <p:sp>
        <p:nvSpPr>
          <p:cNvPr id="373" name="Google Shape;373;p5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On a more global level, organizations need to follow governance regulations.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Some of these standards, such as the General Data Protection Regulation (GDPR), dictate how organizations can access personally identifiable data, how it’s stored, for how long, and even for what purpose.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More importantly, these standards highlight the intersection of data access and data security.</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Data access is meaningless if it’s not based on security standards.</a:t>
            </a:r>
            <a:endParaRPr/>
          </a:p>
          <a:p>
            <a:pPr marL="365760" lvl="0" indent="-103632" algn="l" rtl="0">
              <a:spcBef>
                <a:spcPts val="300"/>
              </a:spcBef>
              <a:spcAft>
                <a:spcPts val="0"/>
              </a:spcAft>
              <a:buSzPts val="2400"/>
              <a:buFont typeface="Noto Sans Symbols"/>
              <a:buNone/>
            </a:pPr>
            <a:endParaRPr sz="2400">
              <a:latin typeface="Times New Roman"/>
              <a:ea typeface="Times New Roman"/>
              <a:cs typeface="Times New Roman"/>
              <a:sym typeface="Times New Roman"/>
            </a:endParaRPr>
          </a:p>
          <a:p>
            <a:pPr marL="365760" lvl="0" indent="-103632" algn="l" rtl="0">
              <a:spcBef>
                <a:spcPts val="300"/>
              </a:spcBef>
              <a:spcAft>
                <a:spcPts val="0"/>
              </a:spcAft>
              <a:buSzPts val="2400"/>
              <a:buFont typeface="Noto Sans Symbols"/>
              <a:buNone/>
            </a:pP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000"/>
              <a:buFont typeface="Algerian"/>
              <a:buNone/>
            </a:pPr>
            <a:r>
              <a:rPr lang="en-US" sz="4000">
                <a:latin typeface="Algerian"/>
                <a:ea typeface="Algerian"/>
                <a:cs typeface="Algerian"/>
                <a:sym typeface="Algerian"/>
              </a:rPr>
              <a:t>Physical access</a:t>
            </a:r>
            <a:endParaRPr sz="4000">
              <a:latin typeface="Algerian"/>
              <a:ea typeface="Algerian"/>
              <a:cs typeface="Algerian"/>
              <a:sym typeface="Algerian"/>
            </a:endParaRPr>
          </a:p>
        </p:txBody>
      </p:sp>
      <p:sp>
        <p:nvSpPr>
          <p:cNvPr id="379" name="Google Shape;379;p5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Physical access refers to actual hands-on, on-site access to computer and network hardware, or other parts of a hardware installation.</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Key issues with physical access revolve around security and authenticated use of hardware environments, from typical workstation to server rooms and other places where unauthorized physical access could lead to security risks</a:t>
            </a:r>
            <a:endParaRPr sz="2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Internet access</a:t>
            </a:r>
            <a:endParaRPr sz="4800">
              <a:latin typeface="Algerian"/>
              <a:ea typeface="Algerian"/>
              <a:cs typeface="Algerian"/>
              <a:sym typeface="Algerian"/>
            </a:endParaRPr>
          </a:p>
        </p:txBody>
      </p:sp>
      <p:sp>
        <p:nvSpPr>
          <p:cNvPr id="385" name="Google Shape;385;p5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Internet access is the process of connecting to the internet using personal computers, laptops or mobile devices by users or enterprises.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Internet access is subject to data signaling rates and users could be connected at different internet speeds.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Internet access enables individuals or</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organizations to avail internet services/web-based services</a:t>
            </a:r>
            <a:endParaRPr sz="2400">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email domain</a:t>
            </a:r>
            <a:endParaRPr sz="4800">
              <a:latin typeface="Algerian"/>
              <a:ea typeface="Algerian"/>
              <a:cs typeface="Algerian"/>
              <a:sym typeface="Algerian"/>
            </a:endParaRPr>
          </a:p>
        </p:txBody>
      </p:sp>
      <p:sp>
        <p:nvSpPr>
          <p:cNvPr id="391" name="Google Shape;391;p6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An email domain is the web address that comes after the @ symbol in an email address.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Common examples of email domains include gmail.com and yahoo.com, primarily used for personal email accounts.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An email domain will generally correspond with a business’s website to allow recipients to identify who the email is coming from quickly and must match the requirements of the hosting provider, consisting of only letters, digits, hyphens, and dots</a:t>
            </a:r>
            <a:endParaRPr sz="2400">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6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Algerian"/>
              <a:buNone/>
            </a:pPr>
            <a:r>
              <a:rPr lang="en-US" sz="4400">
                <a:latin typeface="Algerian"/>
                <a:ea typeface="Algerian"/>
                <a:cs typeface="Algerian"/>
                <a:sym typeface="Algerian"/>
              </a:rPr>
              <a:t>digital signature</a:t>
            </a:r>
            <a:endParaRPr sz="4400">
              <a:latin typeface="Algerian"/>
              <a:ea typeface="Algerian"/>
              <a:cs typeface="Algerian"/>
              <a:sym typeface="Algerian"/>
            </a:endParaRPr>
          </a:p>
        </p:txBody>
      </p:sp>
      <p:sp>
        <p:nvSpPr>
          <p:cNvPr id="397" name="Google Shape;397;p6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A digital signature is an electronic, encrypted stamp of authentication on digital information such as messages. The digital signature confirms the integrity of the message.</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This signature ensures that the information originated from the signer and was not altered, which proves the identity of the organization that created the digital signature.</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Any change made to the signed data invalidates the whole signature.</a:t>
            </a:r>
            <a:endParaRPr sz="2400">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800"/>
              <a:buFont typeface="Algerian"/>
              <a:buNone/>
            </a:pPr>
            <a:r>
              <a:rPr lang="en-US" sz="4800">
                <a:latin typeface="Algerian"/>
                <a:ea typeface="Algerian"/>
                <a:cs typeface="Algerian"/>
                <a:sym typeface="Algerian"/>
              </a:rPr>
              <a:t>digital signature</a:t>
            </a:r>
            <a:endParaRPr sz="4400"/>
          </a:p>
        </p:txBody>
      </p:sp>
      <p:sp>
        <p:nvSpPr>
          <p:cNvPr id="403" name="Google Shape;403;p62"/>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A digital signature for an electronic message is created by using a form of cryptography and is equivalent to a personal signature on a written document.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digital signature on a message provides a unique electronic binding of the identity of the signer to the origin of the message.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A digital signature provides proof of the message origin and a method to verify the integrity of the message.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6000"/>
              <a:buFont typeface="Algerian"/>
              <a:buNone/>
            </a:pPr>
            <a:r>
              <a:rPr lang="en-US" sz="6000">
                <a:latin typeface="Algerian"/>
                <a:ea typeface="Algerian"/>
                <a:cs typeface="Algerian"/>
                <a:sym typeface="Algerian"/>
              </a:rPr>
              <a:t>digital signature</a:t>
            </a:r>
            <a:endParaRPr sz="5400"/>
          </a:p>
        </p:txBody>
      </p:sp>
      <p:sp>
        <p:nvSpPr>
          <p:cNvPr id="409" name="Google Shape;409;p6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A digital certificate owner combines the data to be signed with their private key, and then transforms the data with an algorithm.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recipient of the message uses the corresponding certificate public key to decrypt the signature.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public key decryption also verifies the integrity of the signed message and verifies the sender as the source. Only the organization with the private key can create the digital signature.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However, anyone that has access to the corresponding public key can verify the digital signature.</a:t>
            </a:r>
            <a:endParaRPr/>
          </a:p>
          <a:p>
            <a:pPr marL="365760" lvl="0" indent="-103632" algn="l" rtl="0">
              <a:spcBef>
                <a:spcPts val="300"/>
              </a:spcBef>
              <a:spcAft>
                <a:spcPts val="0"/>
              </a:spcAft>
              <a:buSzPts val="2400"/>
              <a:buFont typeface="Noto Sans Symbols"/>
              <a:buNone/>
            </a:pP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6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000"/>
              <a:buFont typeface="Algerian"/>
              <a:buNone/>
            </a:pPr>
            <a:r>
              <a:rPr lang="en-US" sz="4000">
                <a:latin typeface="Algerian"/>
                <a:ea typeface="Algerian"/>
                <a:cs typeface="Algerian"/>
                <a:sym typeface="Algerian"/>
              </a:rPr>
              <a:t>Software development and acquisition</a:t>
            </a:r>
            <a:endParaRPr sz="4000">
              <a:latin typeface="Algerian"/>
              <a:ea typeface="Algerian"/>
              <a:cs typeface="Algerian"/>
              <a:sym typeface="Algerian"/>
            </a:endParaRPr>
          </a:p>
        </p:txBody>
      </p:sp>
      <p:sp>
        <p:nvSpPr>
          <p:cNvPr id="415" name="Google Shape;415;p6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Font typeface="Noto Sans Symbols"/>
              <a:buChar char="⮚"/>
            </a:pPr>
            <a:r>
              <a:rPr lang="en-US" sz="2400">
                <a:latin typeface="Times New Roman"/>
                <a:ea typeface="Times New Roman"/>
                <a:cs typeface="Times New Roman"/>
                <a:sym typeface="Times New Roman"/>
              </a:rPr>
              <a:t>Creating software is a complex process that requires large numbers of people with a diverse range of technical skills.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Making improvements to the software development process has been a challenge for many years, but throughout the short history of software development, a wide range of improvements have allowed the industry to increase the functionality, quality, and development efficiency of delivered systems. </a:t>
            </a:r>
            <a:endParaRPr sz="2400">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65"/>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000"/>
              <a:buFont typeface="Algerian"/>
              <a:buNone/>
            </a:pPr>
            <a:r>
              <a:rPr lang="en-US" sz="4000">
                <a:latin typeface="Algerian"/>
                <a:ea typeface="Algerian"/>
                <a:cs typeface="Algerian"/>
                <a:sym typeface="Algerian"/>
              </a:rPr>
              <a:t>Software development and acquisition</a:t>
            </a:r>
            <a:endParaRPr sz="3600">
              <a:latin typeface="Algerian"/>
              <a:ea typeface="Algerian"/>
              <a:cs typeface="Algerian"/>
              <a:sym typeface="Algerian"/>
            </a:endParaRPr>
          </a:p>
        </p:txBody>
      </p:sp>
      <p:sp>
        <p:nvSpPr>
          <p:cNvPr id="421" name="Google Shape;421;p6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1" algn="l" rtl="0">
              <a:spcBef>
                <a:spcPts val="0"/>
              </a:spcBef>
              <a:spcAft>
                <a:spcPts val="0"/>
              </a:spcAft>
              <a:buSzPct val="100000"/>
              <a:buChar char="•"/>
            </a:pPr>
            <a:r>
              <a:rPr lang="en-US">
                <a:latin typeface="Times New Roman"/>
                <a:ea typeface="Times New Roman"/>
                <a:cs typeface="Times New Roman"/>
                <a:sym typeface="Times New Roman"/>
              </a:rPr>
              <a:t>Increased quality earlier in the software development process provides increased productivity, and software development life cycles often become more predictable and thus more manageable, resulting in lower costs</a:t>
            </a:r>
            <a:endParaRPr/>
          </a:p>
          <a:p>
            <a:pPr marL="365760" lvl="0" indent="-256031" algn="l" rtl="0">
              <a:spcBef>
                <a:spcPts val="300"/>
              </a:spcBef>
              <a:spcAft>
                <a:spcPts val="0"/>
              </a:spcAft>
              <a:buSzPct val="100000"/>
              <a:buChar char="•"/>
            </a:pPr>
            <a:r>
              <a:rPr lang="en-US">
                <a:latin typeface="Times New Roman"/>
                <a:ea typeface="Times New Roman"/>
                <a:cs typeface="Times New Roman"/>
                <a:sym typeface="Times New Roman"/>
              </a:rPr>
              <a:t>During the development process there are many opportunities for the injection of defects into the resulting code.</a:t>
            </a:r>
            <a:endParaRPr/>
          </a:p>
          <a:p>
            <a:pPr marL="365760" lvl="0" indent="-256031" algn="l" rtl="0">
              <a:spcBef>
                <a:spcPts val="300"/>
              </a:spcBef>
              <a:spcAft>
                <a:spcPts val="0"/>
              </a:spcAft>
              <a:buSzPct val="100000"/>
              <a:buChar char="•"/>
            </a:pPr>
            <a:r>
              <a:rPr lang="en-US">
                <a:latin typeface="Times New Roman"/>
                <a:ea typeface="Times New Roman"/>
                <a:cs typeface="Times New Roman"/>
                <a:sym typeface="Times New Roman"/>
              </a:rPr>
              <a:t> A typical software development process usually consists of these general activities: </a:t>
            </a:r>
            <a:endParaRPr/>
          </a:p>
          <a:p>
            <a:pPr marL="365760" lvl="0" indent="-256032" algn="l" rtl="0">
              <a:spcBef>
                <a:spcPts val="300"/>
              </a:spcBef>
              <a:spcAft>
                <a:spcPts val="0"/>
              </a:spcAft>
              <a:buSzPct val="100000"/>
              <a:buNone/>
            </a:pPr>
            <a:r>
              <a:rPr lang="en-US">
                <a:latin typeface="Times New Roman"/>
                <a:ea typeface="Times New Roman"/>
                <a:cs typeface="Times New Roman"/>
                <a:sym typeface="Times New Roman"/>
              </a:rPr>
              <a:t>• requirements engineering </a:t>
            </a:r>
            <a:endParaRPr/>
          </a:p>
          <a:p>
            <a:pPr marL="365760" lvl="0" indent="-256032" algn="l" rtl="0">
              <a:spcBef>
                <a:spcPts val="300"/>
              </a:spcBef>
              <a:spcAft>
                <a:spcPts val="0"/>
              </a:spcAft>
              <a:buSzPct val="100000"/>
              <a:buNone/>
            </a:pPr>
            <a:r>
              <a:rPr lang="en-US">
                <a:latin typeface="Times New Roman"/>
                <a:ea typeface="Times New Roman"/>
                <a:cs typeface="Times New Roman"/>
                <a:sym typeface="Times New Roman"/>
              </a:rPr>
              <a:t>• architecture and detailed design </a:t>
            </a:r>
            <a:endParaRPr/>
          </a:p>
          <a:p>
            <a:pPr marL="365760" lvl="0" indent="-256032" algn="l" rtl="0">
              <a:spcBef>
                <a:spcPts val="300"/>
              </a:spcBef>
              <a:spcAft>
                <a:spcPts val="0"/>
              </a:spcAft>
              <a:buSzPct val="100000"/>
              <a:buNone/>
            </a:pPr>
            <a:r>
              <a:rPr lang="en-US">
                <a:latin typeface="Times New Roman"/>
                <a:ea typeface="Times New Roman"/>
                <a:cs typeface="Times New Roman"/>
                <a:sym typeface="Times New Roman"/>
              </a:rPr>
              <a:t>• code and unit test </a:t>
            </a:r>
            <a:endParaRPr/>
          </a:p>
          <a:p>
            <a:pPr marL="365760" lvl="0" indent="-256032" algn="l" rtl="0">
              <a:spcBef>
                <a:spcPts val="300"/>
              </a:spcBef>
              <a:spcAft>
                <a:spcPts val="0"/>
              </a:spcAft>
              <a:buSzPct val="100000"/>
              <a:buNone/>
            </a:pPr>
            <a:r>
              <a:rPr lang="en-US">
                <a:latin typeface="Times New Roman"/>
                <a:ea typeface="Times New Roman"/>
                <a:cs typeface="Times New Roman"/>
                <a:sym typeface="Times New Roman"/>
              </a:rPr>
              <a:t>• integration</a:t>
            </a:r>
            <a:endParaRPr/>
          </a:p>
          <a:p>
            <a:pPr marL="365760" lvl="0" indent="-256032" algn="l" rtl="0">
              <a:spcBef>
                <a:spcPts val="300"/>
              </a:spcBef>
              <a:spcAft>
                <a:spcPts val="0"/>
              </a:spcAft>
              <a:buSzPct val="100000"/>
              <a:buNone/>
            </a:pPr>
            <a:r>
              <a:rPr lang="en-US">
                <a:latin typeface="Times New Roman"/>
                <a:ea typeface="Times New Roman"/>
                <a:cs typeface="Times New Roman"/>
                <a:sym typeface="Times New Roman"/>
              </a:rPr>
              <a:t> • system test</a:t>
            </a:r>
            <a:endParaRPr>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Algerian"/>
              <a:buNone/>
            </a:pPr>
            <a:r>
              <a:rPr lang="en-US" sz="3600">
                <a:latin typeface="Algerian"/>
                <a:ea typeface="Algerian"/>
                <a:cs typeface="Algerian"/>
                <a:sym typeface="Algerian"/>
              </a:rPr>
              <a:t>Acquisition and Development Challenges </a:t>
            </a:r>
            <a:endParaRPr sz="3600">
              <a:latin typeface="Algerian"/>
              <a:ea typeface="Algerian"/>
              <a:cs typeface="Algerian"/>
              <a:sym typeface="Algerian"/>
            </a:endParaRPr>
          </a:p>
        </p:txBody>
      </p:sp>
      <p:sp>
        <p:nvSpPr>
          <p:cNvPr id="427" name="Google Shape;427;p66"/>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Many large development projects today involve an acquisition team (acquirer) working with a development team (developer) to create and deliver software-intensive systems. While the acquisition team usually focuses on the financial, business, and political aspects, they also need visibility into the technical development status and progress, and the quality of the developing system. </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the acquisition technical management process area from CMMI-ACQ (Capability Maturity Model-Integrated for Acquisition) focus the acquirer on the following activities</a:t>
            </a:r>
            <a:endParaRPr/>
          </a:p>
          <a:p>
            <a:pPr marL="365760" lvl="0" indent="-256032" algn="l" rtl="0">
              <a:spcBef>
                <a:spcPts val="300"/>
              </a:spcBef>
              <a:spcAft>
                <a:spcPts val="0"/>
              </a:spcAft>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67"/>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Acquisition and Development Challenges </a:t>
            </a:r>
            <a:endParaRPr/>
          </a:p>
        </p:txBody>
      </p:sp>
      <p:sp>
        <p:nvSpPr>
          <p:cNvPr id="433" name="Google Shape;433;p6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None/>
            </a:pPr>
            <a:r>
              <a:rPr lang="en-US" sz="2400">
                <a:latin typeface="Times New Roman"/>
                <a:ea typeface="Times New Roman"/>
                <a:cs typeface="Times New Roman"/>
                <a:sym typeface="Times New Roman"/>
              </a:rPr>
              <a:t>conducting technical reviews of the supplier’s technical solution</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 analyzing the development and implementation of the supplier’s technical solution to confirm technical progress criteria or contractual requirements are satisfied</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 managing selected interfaces</a:t>
            </a:r>
            <a:endParaRPr/>
          </a:p>
          <a:p>
            <a:pPr marL="365760" lvl="0" indent="-103632" algn="l" rtl="0">
              <a:spcBef>
                <a:spcPts val="300"/>
              </a:spcBef>
              <a:spcAft>
                <a:spcPts val="0"/>
              </a:spcAft>
              <a:buSzPts val="2400"/>
              <a:buNone/>
            </a:pP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6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3600"/>
              <a:buFont typeface="Algerian"/>
              <a:buNone/>
            </a:pPr>
            <a:r>
              <a:rPr lang="en-US" sz="3600">
                <a:latin typeface="Algerian"/>
                <a:ea typeface="Algerian"/>
                <a:cs typeface="Algerian"/>
                <a:sym typeface="Algerian"/>
              </a:rPr>
              <a:t>Acquisition and Development Process Improvement</a:t>
            </a:r>
            <a:endParaRPr sz="3600">
              <a:latin typeface="Algerian"/>
              <a:ea typeface="Algerian"/>
              <a:cs typeface="Algerian"/>
              <a:sym typeface="Algerian"/>
            </a:endParaRPr>
          </a:p>
        </p:txBody>
      </p:sp>
      <p:sp>
        <p:nvSpPr>
          <p:cNvPr id="439" name="Google Shape;439;p68"/>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The processes used by the developer to create the software directly affects the quality of the delivered software product. Mature software development tools and practices can give the acquirer important indicators and predictors of quality. </a:t>
            </a:r>
            <a:endParaRPr/>
          </a:p>
          <a:p>
            <a:pPr marL="365760" lvl="0" indent="-256032" algn="l" rtl="0">
              <a:spcBef>
                <a:spcPts val="300"/>
              </a:spcBef>
              <a:spcAft>
                <a:spcPts val="0"/>
              </a:spcAft>
              <a:buSzPts val="2400"/>
              <a:buChar char="•"/>
            </a:pPr>
            <a:r>
              <a:rPr lang="en-US" sz="2400">
                <a:latin typeface="Times New Roman"/>
                <a:ea typeface="Times New Roman"/>
                <a:cs typeface="Times New Roman"/>
                <a:sym typeface="Times New Roman"/>
              </a:rPr>
              <a:t>A key challenge from the acquirer’s point of view is gaining insight into the progress on and quality of the software being developed. </a:t>
            </a:r>
            <a:endParaRPr sz="2400">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69"/>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Algerian"/>
              <a:buNone/>
            </a:pPr>
            <a:r>
              <a:rPr lang="en-US">
                <a:latin typeface="Algerian"/>
                <a:ea typeface="Algerian"/>
                <a:cs typeface="Algerian"/>
                <a:sym typeface="Algerian"/>
              </a:rPr>
              <a:t>Acquisition and Development Process Improvement</a:t>
            </a:r>
            <a:endParaRPr/>
          </a:p>
        </p:txBody>
      </p:sp>
      <p:sp>
        <p:nvSpPr>
          <p:cNvPr id="445" name="Google Shape;445;p69"/>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Development of this insight can take many forms including</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observation of progress measures at key milestone events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review of process artifacts to gain insight as to how closely the developer followed the defined processes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review of intermediate work products and metrics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participation in the actual development processes through active review of code and artifacts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Side-by-side participation of acquisition personnel supplying real-time requirements, peer review, and verification </a:t>
            </a:r>
            <a:endParaRPr/>
          </a:p>
          <a:p>
            <a:pPr marL="365760" lvl="0" indent="-103632" algn="l" rtl="0">
              <a:spcBef>
                <a:spcPts val="300"/>
              </a:spcBef>
              <a:spcAft>
                <a:spcPts val="0"/>
              </a:spcAft>
              <a:buSzPts val="2400"/>
              <a:buNone/>
            </a:pPr>
            <a:endParaRPr sz="2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7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000"/>
              <a:buFont typeface="Algerian"/>
              <a:buNone/>
            </a:pPr>
            <a:r>
              <a:rPr lang="en-US" sz="4000">
                <a:latin typeface="Algerian"/>
                <a:ea typeface="Algerian"/>
                <a:cs typeface="Algerian"/>
                <a:sym typeface="Algerian"/>
              </a:rPr>
              <a:t>Software Development Tools</a:t>
            </a:r>
            <a:endParaRPr sz="4000">
              <a:latin typeface="Algerian"/>
              <a:ea typeface="Algerian"/>
              <a:cs typeface="Algerian"/>
              <a:sym typeface="Algerian"/>
            </a:endParaRPr>
          </a:p>
        </p:txBody>
      </p:sp>
      <p:sp>
        <p:nvSpPr>
          <p:cNvPr id="451" name="Google Shape;451;p7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ct val="100000"/>
              <a:buNone/>
            </a:pPr>
            <a:r>
              <a:rPr lang="en-US" b="1">
                <a:latin typeface="Times New Roman"/>
                <a:ea typeface="Times New Roman"/>
                <a:cs typeface="Times New Roman"/>
                <a:sym typeface="Times New Roman"/>
              </a:rPr>
              <a:t>1.Requirements, Architecture, and Design Overview</a:t>
            </a:r>
            <a:endParaRPr/>
          </a:p>
          <a:p>
            <a:pPr marL="365760" lvl="0" indent="-256031" algn="l" rtl="0">
              <a:spcBef>
                <a:spcPts val="300"/>
              </a:spcBef>
              <a:spcAft>
                <a:spcPts val="0"/>
              </a:spcAft>
              <a:buSzPct val="100000"/>
              <a:buFont typeface="Arial"/>
              <a:buChar char="•"/>
            </a:pPr>
            <a:r>
              <a:rPr lang="en-US" b="1">
                <a:latin typeface="Times New Roman"/>
                <a:ea typeface="Times New Roman"/>
                <a:cs typeface="Times New Roman"/>
                <a:sym typeface="Times New Roman"/>
              </a:rPr>
              <a:t>Requirements: </a:t>
            </a:r>
            <a:r>
              <a:rPr lang="en-US">
                <a:latin typeface="Times New Roman"/>
                <a:ea typeface="Times New Roman"/>
                <a:cs typeface="Times New Roman"/>
                <a:sym typeface="Times New Roman"/>
              </a:rPr>
              <a:t>Management databases to aid in tracking and tracing of requirements throughout the complete development life cycle </a:t>
            </a:r>
            <a:endParaRPr/>
          </a:p>
          <a:p>
            <a:pPr marL="365760" lvl="0" indent="-256032" algn="l" rtl="0">
              <a:spcBef>
                <a:spcPts val="300"/>
              </a:spcBef>
              <a:spcAft>
                <a:spcPts val="0"/>
              </a:spcAft>
              <a:buSzPct val="100000"/>
              <a:buNone/>
            </a:pPr>
            <a:r>
              <a:rPr lang="en-US">
                <a:latin typeface="Times New Roman"/>
                <a:ea typeface="Times New Roman"/>
                <a:cs typeface="Times New Roman"/>
                <a:sym typeface="Times New Roman"/>
              </a:rPr>
              <a:t>• </a:t>
            </a:r>
            <a:r>
              <a:rPr lang="en-US" b="1">
                <a:latin typeface="Times New Roman"/>
                <a:ea typeface="Times New Roman"/>
                <a:cs typeface="Times New Roman"/>
                <a:sym typeface="Times New Roman"/>
              </a:rPr>
              <a:t>Software Architecture: </a:t>
            </a:r>
            <a:r>
              <a:rPr lang="en-US">
                <a:latin typeface="Times New Roman"/>
                <a:ea typeface="Times New Roman"/>
                <a:cs typeface="Times New Roman"/>
                <a:sym typeface="Times New Roman"/>
              </a:rPr>
              <a:t>Modeling and simulation at a high level with focus on the quality attributes of the system. </a:t>
            </a:r>
            <a:endParaRPr/>
          </a:p>
          <a:p>
            <a:pPr marL="365760" lvl="0" indent="-256032" algn="l" rtl="0">
              <a:spcBef>
                <a:spcPts val="300"/>
              </a:spcBef>
              <a:spcAft>
                <a:spcPts val="0"/>
              </a:spcAft>
              <a:buSzPct val="100000"/>
              <a:buNone/>
            </a:pPr>
            <a:r>
              <a:rPr lang="en-US" b="1">
                <a:latin typeface="Times New Roman"/>
                <a:ea typeface="Times New Roman"/>
                <a:cs typeface="Times New Roman"/>
                <a:sym typeface="Times New Roman"/>
              </a:rPr>
              <a:t>2 Implementation </a:t>
            </a:r>
            <a:endParaRPr/>
          </a:p>
          <a:p>
            <a:pPr marL="365760" lvl="0" indent="-256032" algn="l" rtl="0">
              <a:spcBef>
                <a:spcPts val="300"/>
              </a:spcBef>
              <a:spcAft>
                <a:spcPts val="0"/>
              </a:spcAft>
              <a:buSzPct val="100000"/>
              <a:buNone/>
            </a:pPr>
            <a:r>
              <a:rPr lang="en-US">
                <a:latin typeface="Times New Roman"/>
                <a:ea typeface="Times New Roman"/>
                <a:cs typeface="Times New Roman"/>
                <a:sym typeface="Times New Roman"/>
              </a:rPr>
              <a:t>	writing code presents the easiest opportunity for defects to be introduced into the product. Many automated tools exist to instrument code in order to catch and remove defects before allowing the code to move into integration and test</a:t>
            </a:r>
            <a:endParaRPr>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7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lgerian"/>
              <a:buNone/>
            </a:pPr>
            <a:r>
              <a:rPr lang="en-US" sz="3200">
                <a:latin typeface="Algerian"/>
                <a:ea typeface="Algerian"/>
                <a:cs typeface="Algerian"/>
                <a:sym typeface="Algerian"/>
              </a:rPr>
              <a:t>Software Development Tools</a:t>
            </a:r>
            <a:endParaRPr/>
          </a:p>
        </p:txBody>
      </p:sp>
      <p:sp>
        <p:nvSpPr>
          <p:cNvPr id="457" name="Google Shape;457;p7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None/>
            </a:pPr>
            <a:r>
              <a:rPr lang="en-US" sz="2400" b="1">
                <a:latin typeface="Times New Roman"/>
                <a:ea typeface="Times New Roman"/>
                <a:cs typeface="Times New Roman"/>
                <a:sym typeface="Times New Roman"/>
              </a:rPr>
              <a:t>3. Coding Standards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Coding standards encourage programmers to follow a uniform set of rules and guidelines determined by the requirements of the project and organization</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objectives of coding standards are to increase the maintainability, reliability, and security of the code</a:t>
            </a:r>
            <a:endParaRPr sz="2400">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7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lgerian"/>
              <a:buNone/>
            </a:pPr>
            <a:r>
              <a:rPr lang="en-US" sz="3200">
                <a:latin typeface="Algerian"/>
                <a:ea typeface="Algerian"/>
                <a:cs typeface="Algerian"/>
                <a:sym typeface="Algerian"/>
              </a:rPr>
              <a:t>Software Development Tools</a:t>
            </a:r>
            <a:endParaRPr/>
          </a:p>
        </p:txBody>
      </p:sp>
      <p:sp>
        <p:nvSpPr>
          <p:cNvPr id="463" name="Google Shape;463;p72"/>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A coding standard usually covers these four areas:</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1. Common visualization: includes ways to have common layout, code indentation, and the usage of spaces </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2. Naming standards: requires developers to give variables and functions meaningful names using a common naming convention (e.g. under_score, and ALLCAPS) </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3. Comment standards: give guidance as to how many and what types of comments are expected </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4. Coding rules: help guide the programmer as to the proper use of common coding patterns such as if, switch, do, while, variable creation, initialization, and assignment</a:t>
            </a:r>
            <a:endParaRPr sz="2400">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7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lgerian"/>
              <a:buNone/>
            </a:pPr>
            <a:r>
              <a:rPr lang="en-US" sz="3200">
                <a:latin typeface="Algerian"/>
                <a:ea typeface="Algerian"/>
                <a:cs typeface="Algerian"/>
                <a:sym typeface="Algerian"/>
              </a:rPr>
              <a:t>Software Development Tools</a:t>
            </a:r>
            <a:endParaRPr/>
          </a:p>
        </p:txBody>
      </p:sp>
      <p:sp>
        <p:nvSpPr>
          <p:cNvPr id="469" name="Google Shape;469;p7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1" algn="l" rtl="0">
              <a:spcBef>
                <a:spcPts val="0"/>
              </a:spcBef>
              <a:spcAft>
                <a:spcPts val="0"/>
              </a:spcAft>
              <a:buSzPct val="100000"/>
              <a:buFont typeface="Noto Sans Symbols"/>
              <a:buChar char="⮚"/>
            </a:pPr>
            <a:r>
              <a:rPr lang="en-US">
                <a:latin typeface="Times New Roman"/>
                <a:ea typeface="Times New Roman"/>
                <a:cs typeface="Times New Roman"/>
                <a:sym typeface="Times New Roman"/>
              </a:rPr>
              <a:t>4.Testing </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	In addition to the implementation phase of the software development process, static analysis and other tools are necessary to integrate, verify, validate, and certify the delivered system. </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The acquirer needs to understand how these processes are executed as the results are quite often key inputs to the acquirer’s final acceptance process.</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 Integration and verification (also called integration CMU/SEI-2013-TN-017 | 9 and test) are quite often planned and executed by the same team of engineers.</a:t>
            </a:r>
            <a:endParaRPr/>
          </a:p>
          <a:p>
            <a:pPr marL="365760" lvl="0" indent="-256031" algn="l" rtl="0">
              <a:spcBef>
                <a:spcPts val="300"/>
              </a:spcBef>
              <a:spcAft>
                <a:spcPts val="0"/>
              </a:spcAft>
              <a:buSzPct val="100000"/>
              <a:buFont typeface="Noto Sans Symbols"/>
              <a:buChar char="⮚"/>
            </a:pPr>
            <a:r>
              <a:rPr lang="en-US">
                <a:latin typeface="Times New Roman"/>
                <a:ea typeface="Times New Roman"/>
                <a:cs typeface="Times New Roman"/>
                <a:sym typeface="Times New Roman"/>
              </a:rPr>
              <a:t> This sometimes causes confusion as these are separate processes with a different set of goals. </a:t>
            </a:r>
            <a:endParaRPr>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7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000"/>
              <a:buFont typeface="Algerian"/>
              <a:buNone/>
            </a:pPr>
            <a:r>
              <a:rPr lang="en-US" sz="4000">
                <a:latin typeface="Algerian"/>
                <a:ea typeface="Algerian"/>
                <a:cs typeface="Algerian"/>
                <a:sym typeface="Algerian"/>
              </a:rPr>
              <a:t>5. Dynamic Analysis</a:t>
            </a:r>
            <a:br>
              <a:rPr lang="en-US" sz="4000">
                <a:latin typeface="Algerian"/>
                <a:ea typeface="Algerian"/>
                <a:cs typeface="Algerian"/>
                <a:sym typeface="Algerian"/>
              </a:rPr>
            </a:br>
            <a:endParaRPr sz="4000">
              <a:latin typeface="Algerian"/>
              <a:ea typeface="Algerian"/>
              <a:cs typeface="Algerian"/>
              <a:sym typeface="Algerian"/>
            </a:endParaRPr>
          </a:p>
        </p:txBody>
      </p:sp>
      <p:sp>
        <p:nvSpPr>
          <p:cNvPr id="475" name="Google Shape;475;p7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None/>
            </a:pPr>
            <a:r>
              <a:rPr lang="en-US" sz="2400" b="1">
                <a:latin typeface="Times New Roman"/>
                <a:ea typeface="Times New Roman"/>
                <a:cs typeface="Times New Roman"/>
                <a:sym typeface="Times New Roman"/>
              </a:rPr>
              <a:t>5. Dynamic Analysis</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Dynamic analysis is an important type of tool usually used during integration and verification that helps to check for various qualities of the code such as performance, security, and availability. </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The use of dynamic analysis must be planned for from the beginning of the design phase.</a:t>
            </a:r>
            <a:endParaRPr/>
          </a:p>
          <a:p>
            <a:pPr marL="365760" lvl="0" indent="-256032" algn="l" rtl="0">
              <a:spcBef>
                <a:spcPts val="300"/>
              </a:spcBef>
              <a:spcAft>
                <a:spcPts val="0"/>
              </a:spcAft>
              <a:buSzPts val="2400"/>
              <a:buFont typeface="Noto Sans Symbols"/>
              <a:buChar char="⮚"/>
            </a:pPr>
            <a:r>
              <a:rPr lang="en-US" sz="2400">
                <a:latin typeface="Times New Roman"/>
                <a:ea typeface="Times New Roman"/>
                <a:cs typeface="Times New Roman"/>
                <a:sym typeface="Times New Roman"/>
              </a:rPr>
              <a:t> Dynamic analysis uses data gathered from additional instrumentation code whose purpose is to capture the events in real time.</a:t>
            </a:r>
            <a:endParaRPr sz="2400">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lgerian"/>
              <a:buNone/>
            </a:pPr>
            <a:r>
              <a:rPr lang="en-US" sz="3200">
                <a:latin typeface="Algerian"/>
                <a:ea typeface="Algerian"/>
                <a:cs typeface="Algerian"/>
                <a:sym typeface="Algerian"/>
              </a:rPr>
              <a:t>Software Development Tools</a:t>
            </a:r>
            <a:endParaRPr/>
          </a:p>
        </p:txBody>
      </p:sp>
      <p:sp>
        <p:nvSpPr>
          <p:cNvPr id="481" name="Google Shape;481;p7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2400"/>
              <a:buChar char="•"/>
            </a:pPr>
            <a:r>
              <a:rPr lang="en-US" sz="2400">
                <a:latin typeface="Times New Roman"/>
                <a:ea typeface="Times New Roman"/>
                <a:cs typeface="Times New Roman"/>
                <a:sym typeface="Times New Roman"/>
              </a:rPr>
              <a:t>Dynamic analysis checks for</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 performance degradation</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 memory management issues like leaks, bad allocations, and memory corruption </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threading and interlock conditions that can impact performance or cause run-time failures</a:t>
            </a:r>
            <a:endParaRPr/>
          </a:p>
          <a:p>
            <a:pPr marL="365760" lvl="0" indent="-256032" algn="l" rtl="0">
              <a:spcBef>
                <a:spcPts val="300"/>
              </a:spcBef>
              <a:spcAft>
                <a:spcPts val="0"/>
              </a:spcAft>
              <a:buSzPts val="2400"/>
              <a:buFont typeface="Arial"/>
              <a:buChar char="•"/>
            </a:pPr>
            <a:r>
              <a:rPr lang="en-US" sz="2400">
                <a:latin typeface="Times New Roman"/>
                <a:ea typeface="Times New Roman"/>
                <a:cs typeface="Times New Roman"/>
                <a:sym typeface="Times New Roman"/>
              </a:rPr>
              <a:t>race and deadlock conditions</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 security vulnerabilities </a:t>
            </a:r>
            <a:endParaRPr/>
          </a:p>
          <a:p>
            <a:pPr marL="365760" lvl="0" indent="-256032" algn="l" rtl="0">
              <a:spcBef>
                <a:spcPts val="300"/>
              </a:spcBef>
              <a:spcAft>
                <a:spcPts val="0"/>
              </a:spcAft>
              <a:buSzPts val="2400"/>
              <a:buNone/>
            </a:pPr>
            <a:r>
              <a:rPr lang="en-US" sz="2400">
                <a:latin typeface="Times New Roman"/>
                <a:ea typeface="Times New Roman"/>
                <a:cs typeface="Times New Roman"/>
                <a:sym typeface="Times New Roman"/>
              </a:rPr>
              <a:t>• code coverage monitoring</a:t>
            </a:r>
            <a:endParaRPr sz="2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0</TotalTime>
  <Words>4447</Words>
  <Application>Microsoft Office PowerPoint</Application>
  <PresentationFormat>On-screen Show (4:3)</PresentationFormat>
  <Paragraphs>293</Paragraphs>
  <Slides>63</Slides>
  <Notes>63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Algerian</vt:lpstr>
      <vt:lpstr>Arial</vt:lpstr>
      <vt:lpstr>Calibri</vt:lpstr>
      <vt:lpstr>Calibri Light</vt:lpstr>
      <vt:lpstr>Noto Sans Symbols</vt:lpstr>
      <vt:lpstr>Times New Roman</vt:lpstr>
      <vt:lpstr>Trebuchet MS</vt:lpstr>
      <vt:lpstr>Retrospect</vt:lpstr>
      <vt:lpstr>Domains of IT Security </vt:lpstr>
      <vt:lpstr>Cyber security Domains </vt:lpstr>
      <vt:lpstr>.</vt:lpstr>
      <vt:lpstr>User / Accepted Usage / Access</vt:lpstr>
      <vt:lpstr>User / Accepted Usage / Access</vt:lpstr>
      <vt:lpstr>Data Access </vt:lpstr>
      <vt:lpstr>Data Access </vt:lpstr>
      <vt:lpstr>Physical Access </vt:lpstr>
      <vt:lpstr>Physical Access </vt:lpstr>
      <vt:lpstr>Internet Access </vt:lpstr>
      <vt:lpstr>Internet Access </vt:lpstr>
      <vt:lpstr>E-mail </vt:lpstr>
      <vt:lpstr>E-mail </vt:lpstr>
      <vt:lpstr>Digital Signature </vt:lpstr>
      <vt:lpstr>Digital Signature </vt:lpstr>
      <vt:lpstr>Outsourcing </vt:lpstr>
      <vt:lpstr>Outsourcing </vt:lpstr>
      <vt:lpstr>Cyber  security  Domains </vt:lpstr>
      <vt:lpstr>Parts of Cyber Domain </vt:lpstr>
      <vt:lpstr>Parts of Cyber Domain </vt:lpstr>
      <vt:lpstr>Parts of Cyber Domain </vt:lpstr>
      <vt:lpstr>Parts of Cyber Domain </vt:lpstr>
      <vt:lpstr>List of Common Cyber Security Domains </vt:lpstr>
      <vt:lpstr>Parts of Cyber Domain </vt:lpstr>
      <vt:lpstr>Parts of Cyber Domain </vt:lpstr>
      <vt:lpstr>Application security</vt:lpstr>
      <vt:lpstr>Application security</vt:lpstr>
      <vt:lpstr>3. Risk Assessment </vt:lpstr>
      <vt:lpstr>3. Risk Assessment </vt:lpstr>
      <vt:lpstr>4. Enterprise Risk Management </vt:lpstr>
      <vt:lpstr>5. Governance </vt:lpstr>
      <vt:lpstr>6. Threat Intelligence </vt:lpstr>
      <vt:lpstr>6. Threat Intelligence </vt:lpstr>
      <vt:lpstr>7. End-user Education </vt:lpstr>
      <vt:lpstr>7. End-user Education </vt:lpstr>
      <vt:lpstr>8. Security Operations </vt:lpstr>
      <vt:lpstr>9. Physical Security </vt:lpstr>
      <vt:lpstr>10. Career Development </vt:lpstr>
      <vt:lpstr>Data Access</vt:lpstr>
      <vt:lpstr>Data access</vt:lpstr>
      <vt:lpstr>Data access</vt:lpstr>
      <vt:lpstr>Sequential access </vt:lpstr>
      <vt:lpstr>Random access  </vt:lpstr>
      <vt:lpstr>Establishing data access requirements and standards </vt:lpstr>
      <vt:lpstr>Establishing data access requirements and standards </vt:lpstr>
      <vt:lpstr>Physical access</vt:lpstr>
      <vt:lpstr>Internet access</vt:lpstr>
      <vt:lpstr>email domain</vt:lpstr>
      <vt:lpstr>digital signature</vt:lpstr>
      <vt:lpstr>digital signature</vt:lpstr>
      <vt:lpstr>digital signature</vt:lpstr>
      <vt:lpstr>Software development and acquisition</vt:lpstr>
      <vt:lpstr>Software development and acquisition</vt:lpstr>
      <vt:lpstr>Acquisition and Development Challenges </vt:lpstr>
      <vt:lpstr>Acquisition and Development Challenges </vt:lpstr>
      <vt:lpstr>Acquisition and Development Process Improvement</vt:lpstr>
      <vt:lpstr>Acquisition and Development Process Improvement</vt:lpstr>
      <vt:lpstr>Software Development Tools</vt:lpstr>
      <vt:lpstr>Software Development Tools</vt:lpstr>
      <vt:lpstr>Software Development Tools</vt:lpstr>
      <vt:lpstr>Software Development Tools</vt:lpstr>
      <vt:lpstr>5. Dynamic Analysis </vt:lpstr>
      <vt:lpstr>Software Development 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sammed bukshete</cp:lastModifiedBy>
  <cp:revision>1</cp:revision>
  <dcterms:modified xsi:type="dcterms:W3CDTF">2025-09-01T06:42:31Z</dcterms:modified>
</cp:coreProperties>
</file>